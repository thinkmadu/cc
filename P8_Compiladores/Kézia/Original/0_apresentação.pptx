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3" r:id="rId6"/>
    <p:sldMasterId id="2147483685" r:id="rId7"/>
    <p:sldMasterId id="214748369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</p:sldIdLst>
  <p:sldSz cy="6858000" cx="9144000"/>
  <p:notesSz cx="6858000" cy="9144000"/>
  <p:embeddedFontLs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29" roundtripDataSignature="AMtx7mjVo+LNWQ4eMy7iS6mMZU1Wpi56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customschemas.google.com/relationships/presentationmetadata" Target="metadata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 txBox="1"/>
          <p:nvPr>
            <p:ph idx="10" type="dt"/>
          </p:nvPr>
        </p:nvSpPr>
        <p:spPr>
          <a:xfrm>
            <a:off x="3884612" y="0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/>
          <p:nvPr>
            <p:ph idx="2" type="sldImg"/>
          </p:nvPr>
        </p:nvSpPr>
        <p:spPr>
          <a:xfrm>
            <a:off x="1143000" y="685800"/>
            <a:ext cx="4570412" cy="34274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/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n"/>
          <p:cNvSpPr txBox="1"/>
          <p:nvPr>
            <p:ph idx="12" type="sldNum"/>
          </p:nvPr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51" name="Google Shape;35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2" name="Google Shape;3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59" name="Google Shape;35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0" name="Google Shape;3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67" name="Google Shape;36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8" name="Google Shape;3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75" name="Google Shape;37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6" name="Google Shape;3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83" name="Google Shape;38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4" name="Google Shape;3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91" name="Google Shape;39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92" name="Google Shape;3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99" name="Google Shape;39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0" name="Google Shape;4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07" name="Google Shape;40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8" name="Google Shape;4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9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15" name="Google Shape;41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16" name="Google Shape;4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23" name="Google Shape;42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4" name="Google Shape;4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1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31" name="Google Shape;43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32" name="Google Shape;4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39" name="Google Shape;43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49" name="Google Shape;44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50" name="Google Shape;45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57" name="Google Shape;45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58" name="Google Shape;4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65" name="Google Shape;46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66" name="Google Shape;4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73" name="Google Shape;47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74" name="Google Shape;4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:notes"/>
          <p:cNvSpPr txBox="1"/>
          <p:nvPr/>
        </p:nvSpPr>
        <p:spPr>
          <a:xfrm>
            <a:off x="3884612" y="8685212"/>
            <a:ext cx="2970212" cy="4556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481" name="Google Shape;48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82" name="Google Shape;4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9"/>
          <p:cNvSpPr txBox="1"/>
          <p:nvPr>
            <p:ph type="title"/>
          </p:nvPr>
        </p:nvSpPr>
        <p:spPr>
          <a:xfrm>
            <a:off x="457200" y="152400"/>
            <a:ext cx="8228013" cy="9890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2"/>
          <p:cNvSpPr txBox="1"/>
          <p:nvPr>
            <p:ph type="title"/>
          </p:nvPr>
        </p:nvSpPr>
        <p:spPr>
          <a:xfrm rot="5400000">
            <a:off x="4669632" y="2112168"/>
            <a:ext cx="5975350" cy="205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" type="body"/>
          </p:nvPr>
        </p:nvSpPr>
        <p:spPr>
          <a:xfrm rot="5400000">
            <a:off x="479425" y="130175"/>
            <a:ext cx="597535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3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" type="body"/>
          </p:nvPr>
        </p:nvSpPr>
        <p:spPr>
          <a:xfrm rot="5400000">
            <a:off x="2116931" y="-440531"/>
            <a:ext cx="4908550" cy="822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34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4" name="Google Shape;44;p35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6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8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8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8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38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" type="body"/>
          </p:nvPr>
        </p:nvSpPr>
        <p:spPr>
          <a:xfrm>
            <a:off x="457200" y="1219200"/>
            <a:ext cx="4037013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2" type="body"/>
          </p:nvPr>
        </p:nvSpPr>
        <p:spPr>
          <a:xfrm>
            <a:off x="4646613" y="1219200"/>
            <a:ext cx="4038600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40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1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1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0" name="Google Shape;80;p42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2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 rot="5400000">
            <a:off x="4669632" y="2112168"/>
            <a:ext cx="5975350" cy="205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 rot="5400000">
            <a:off x="479425" y="130175"/>
            <a:ext cx="597535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3"/>
          <p:cNvSpPr txBox="1"/>
          <p:nvPr>
            <p:ph idx="1" type="body"/>
          </p:nvPr>
        </p:nvSpPr>
        <p:spPr>
          <a:xfrm rot="5400000">
            <a:off x="2116931" y="-440531"/>
            <a:ext cx="4908550" cy="822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4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4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8" name="Google Shape;108;p24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4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5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13" name="Google Shape;113;p25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4" name="Google Shape;114;p25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27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5" name="Google Shape;125;p27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457200" y="1219200"/>
            <a:ext cx="4037013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2" type="body"/>
          </p:nvPr>
        </p:nvSpPr>
        <p:spPr>
          <a:xfrm>
            <a:off x="4646613" y="1219200"/>
            <a:ext cx="4038600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7" name="Google Shape;137;p29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7" name="Google Shape;147;p31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4"/>
          <p:cNvSpPr txBox="1"/>
          <p:nvPr>
            <p:ph type="title"/>
          </p:nvPr>
        </p:nvSpPr>
        <p:spPr>
          <a:xfrm rot="5400000">
            <a:off x="4669632" y="2112168"/>
            <a:ext cx="5975350" cy="205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44"/>
          <p:cNvSpPr txBox="1"/>
          <p:nvPr>
            <p:ph idx="1" type="body"/>
          </p:nvPr>
        </p:nvSpPr>
        <p:spPr>
          <a:xfrm rot="5400000">
            <a:off x="479425" y="130175"/>
            <a:ext cx="597535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44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44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5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45"/>
          <p:cNvSpPr txBox="1"/>
          <p:nvPr>
            <p:ph idx="1" type="body"/>
          </p:nvPr>
        </p:nvSpPr>
        <p:spPr>
          <a:xfrm rot="5400000">
            <a:off x="2116931" y="-440531"/>
            <a:ext cx="4908550" cy="822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45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5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6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46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46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6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76" name="Google Shape;176;p4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77" name="Google Shape;177;p47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7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8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8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9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9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9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0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0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9" name="Google Shape;189;p50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50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1" name="Google Shape;191;p50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50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0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1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51"/>
          <p:cNvSpPr txBox="1"/>
          <p:nvPr>
            <p:ph idx="1" type="body"/>
          </p:nvPr>
        </p:nvSpPr>
        <p:spPr>
          <a:xfrm>
            <a:off x="457200" y="1219200"/>
            <a:ext cx="4037013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51"/>
          <p:cNvSpPr txBox="1"/>
          <p:nvPr>
            <p:ph idx="2" type="body"/>
          </p:nvPr>
        </p:nvSpPr>
        <p:spPr>
          <a:xfrm>
            <a:off x="4646613" y="1219200"/>
            <a:ext cx="4038600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51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1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2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2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3" name="Google Shape;203;p52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3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3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53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53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5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3" name="Google Shape;213;p54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54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6"/>
          <p:cNvSpPr txBox="1"/>
          <p:nvPr>
            <p:ph type="title"/>
          </p:nvPr>
        </p:nvSpPr>
        <p:spPr>
          <a:xfrm rot="5400000">
            <a:off x="4669632" y="2112168"/>
            <a:ext cx="5975350" cy="205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56"/>
          <p:cNvSpPr txBox="1"/>
          <p:nvPr>
            <p:ph idx="1" type="body"/>
          </p:nvPr>
        </p:nvSpPr>
        <p:spPr>
          <a:xfrm rot="5400000">
            <a:off x="479425" y="130175"/>
            <a:ext cx="597535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56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6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7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57"/>
          <p:cNvSpPr txBox="1"/>
          <p:nvPr>
            <p:ph idx="1" type="body"/>
          </p:nvPr>
        </p:nvSpPr>
        <p:spPr>
          <a:xfrm rot="5400000">
            <a:off x="2116931" y="-440531"/>
            <a:ext cx="4908550" cy="822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57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57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8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58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9" name="Google Shape;239;p58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58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5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44" name="Google Shape;244;p5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5" name="Google Shape;245;p59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59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0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60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1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61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61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6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7" name="Google Shape;257;p6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6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9" name="Google Shape;259;p6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p62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62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63"/>
          <p:cNvSpPr txBox="1"/>
          <p:nvPr>
            <p:ph idx="1" type="body"/>
          </p:nvPr>
        </p:nvSpPr>
        <p:spPr>
          <a:xfrm>
            <a:off x="457200" y="1219200"/>
            <a:ext cx="4037013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63"/>
          <p:cNvSpPr txBox="1"/>
          <p:nvPr>
            <p:ph idx="2" type="body"/>
          </p:nvPr>
        </p:nvSpPr>
        <p:spPr>
          <a:xfrm>
            <a:off x="4646613" y="1219200"/>
            <a:ext cx="4038600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63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63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6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1" name="Google Shape;271;p64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64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5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65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65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65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6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1" name="Google Shape;281;p66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66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8"/>
          <p:cNvSpPr txBox="1"/>
          <p:nvPr>
            <p:ph type="title"/>
          </p:nvPr>
        </p:nvSpPr>
        <p:spPr>
          <a:xfrm rot="5400000">
            <a:off x="4669632" y="2112168"/>
            <a:ext cx="5975350" cy="205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68"/>
          <p:cNvSpPr txBox="1"/>
          <p:nvPr>
            <p:ph idx="1" type="body"/>
          </p:nvPr>
        </p:nvSpPr>
        <p:spPr>
          <a:xfrm rot="5400000">
            <a:off x="479425" y="130175"/>
            <a:ext cx="597535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p68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68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9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69"/>
          <p:cNvSpPr txBox="1"/>
          <p:nvPr>
            <p:ph idx="1" type="body"/>
          </p:nvPr>
        </p:nvSpPr>
        <p:spPr>
          <a:xfrm rot="5400000">
            <a:off x="2116931" y="-440531"/>
            <a:ext cx="4908550" cy="822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9" name="Google Shape;299;p69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69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70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04" name="Google Shape;304;p70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05" name="Google Shape;305;p70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70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1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71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10" name="Google Shape;310;p71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11" name="Google Shape;311;p71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71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2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72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3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73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73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4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74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3" name="Google Shape;323;p74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4" name="Google Shape;324;p74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5" name="Google Shape;325;p74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6" name="Google Shape;326;p74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74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5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75"/>
          <p:cNvSpPr txBox="1"/>
          <p:nvPr>
            <p:ph idx="1" type="body"/>
          </p:nvPr>
        </p:nvSpPr>
        <p:spPr>
          <a:xfrm>
            <a:off x="457200" y="1219200"/>
            <a:ext cx="4037013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p75"/>
          <p:cNvSpPr txBox="1"/>
          <p:nvPr>
            <p:ph idx="2" type="body"/>
          </p:nvPr>
        </p:nvSpPr>
        <p:spPr>
          <a:xfrm>
            <a:off x="4646613" y="1219200"/>
            <a:ext cx="4038600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p75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75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7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37" name="Google Shape;337;p76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76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7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77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2" name="Google Shape;342;p77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77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7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3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7" name="Google Shape;347;p78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78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6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2" Type="http://schemas.openxmlformats.org/officeDocument/2006/relationships/theme" Target="../theme/theme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5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cap="rnd" cmpd="sng" w="9525">
            <a:solidFill>
              <a:srgbClr val="727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 txBox="1"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rgbClr val="9FB8C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8"/>
          <p:cNvSpPr txBox="1"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rgbClr val="727C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8"/>
          <p:cNvSpPr txBox="1"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rgbClr val="9FB8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6" name="Google Shape;16;p18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3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18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8"/>
          <p:cNvSpPr txBox="1"/>
          <p:nvPr/>
        </p:nvSpPr>
        <p:spPr>
          <a:xfrm>
            <a:off x="2898775" y="6354762"/>
            <a:ext cx="34750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1216025" y="6354762"/>
            <a:ext cx="121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3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0"/>
          <p:cNvSpPr txBox="1"/>
          <p:nvPr/>
        </p:nvSpPr>
        <p:spPr>
          <a:xfrm>
            <a:off x="2898775" y="6356350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20"/>
          <p:cNvCxnSpPr/>
          <p:nvPr/>
        </p:nvCxnSpPr>
        <p:spPr>
          <a:xfrm>
            <a:off x="457200" y="6353175"/>
            <a:ext cx="8229600" cy="1587"/>
          </a:xfrm>
          <a:prstGeom prst="straightConnector1">
            <a:avLst/>
          </a:prstGeom>
          <a:noFill/>
          <a:ln cap="sq" cmpd="sng" w="9525">
            <a:solidFill>
              <a:srgbClr val="9FB8CD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9" name="Google Shape;89;p20"/>
          <p:cNvCxnSpPr/>
          <p:nvPr/>
        </p:nvCxnSpPr>
        <p:spPr>
          <a:xfrm>
            <a:off x="457200" y="1143000"/>
            <a:ext cx="8229600" cy="1587"/>
          </a:xfrm>
          <a:prstGeom prst="straightConnector1">
            <a:avLst/>
          </a:prstGeom>
          <a:noFill/>
          <a:ln cap="sq" cmpd="sng" w="9525">
            <a:solidFill>
              <a:srgbClr val="9FB8CD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0" name="Google Shape;90;p20"/>
          <p:cNvSpPr/>
          <p:nvPr/>
        </p:nvSpPr>
        <p:spPr>
          <a:xfrm rot="5400000">
            <a:off x="420687" y="6467475"/>
            <a:ext cx="190500" cy="120650"/>
          </a:xfrm>
          <a:prstGeom prst="triangle">
            <a:avLst>
              <a:gd fmla="val 50000" name="adj"/>
            </a:avLst>
          </a:prstGeom>
          <a:solidFill>
            <a:srgbClr val="9FB8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64653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3"/>
          <p:cNvSpPr txBox="1"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cap="rnd" cmpd="sng" w="9525">
            <a:solidFill>
              <a:srgbClr val="727CA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3"/>
          <p:cNvSpPr txBox="1"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rgbClr val="727C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3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DDE9E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53" name="Google Shape;153;p43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300" u="none" cap="none" strike="noStrik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54" name="Google Shape;154;p43"/>
          <p:cNvSpPr txBox="1"/>
          <p:nvPr>
            <p:ph idx="10" type="dt"/>
          </p:nvPr>
        </p:nvSpPr>
        <p:spPr>
          <a:xfrm>
            <a:off x="6400800" y="6354762"/>
            <a:ext cx="22844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43"/>
          <p:cNvSpPr txBox="1"/>
          <p:nvPr/>
        </p:nvSpPr>
        <p:spPr>
          <a:xfrm>
            <a:off x="2898775" y="6354762"/>
            <a:ext cx="34750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3"/>
          <p:cNvSpPr txBox="1"/>
          <p:nvPr>
            <p:ph idx="12" type="sldNum"/>
          </p:nvPr>
        </p:nvSpPr>
        <p:spPr>
          <a:xfrm>
            <a:off x="1069975" y="6354762"/>
            <a:ext cx="15192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9EC"/>
              </a:buClr>
              <a:buSzPts val="1400"/>
              <a:buFont typeface="Gill Sans"/>
              <a:buNone/>
              <a:defRPr b="0" i="0" sz="1400" u="none">
                <a:solidFill>
                  <a:srgbClr val="DDE9E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Google Shape;216;p55"/>
          <p:cNvCxnSpPr/>
          <p:nvPr/>
        </p:nvCxnSpPr>
        <p:spPr>
          <a:xfrm>
            <a:off x="457200" y="6353175"/>
            <a:ext cx="8229600" cy="1587"/>
          </a:xfrm>
          <a:prstGeom prst="straightConnector1">
            <a:avLst/>
          </a:prstGeom>
          <a:noFill/>
          <a:ln cap="sq" cmpd="sng" w="9525">
            <a:solidFill>
              <a:srgbClr val="9FB8CD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17" name="Google Shape;217;p55"/>
          <p:cNvCxnSpPr/>
          <p:nvPr/>
        </p:nvCxnSpPr>
        <p:spPr>
          <a:xfrm>
            <a:off x="457200" y="1143000"/>
            <a:ext cx="8229600" cy="1587"/>
          </a:xfrm>
          <a:prstGeom prst="straightConnector1">
            <a:avLst/>
          </a:prstGeom>
          <a:noFill/>
          <a:ln cap="sq" cmpd="sng" w="9525">
            <a:solidFill>
              <a:srgbClr val="9FB8CD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8" name="Google Shape;218;p55"/>
          <p:cNvSpPr/>
          <p:nvPr/>
        </p:nvSpPr>
        <p:spPr>
          <a:xfrm rot="5400000">
            <a:off x="420687" y="6467475"/>
            <a:ext cx="190500" cy="120650"/>
          </a:xfrm>
          <a:prstGeom prst="triangle">
            <a:avLst>
              <a:gd fmla="val 50000" name="adj"/>
            </a:avLst>
          </a:prstGeom>
          <a:solidFill>
            <a:srgbClr val="9FB8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5"/>
          <p:cNvSpPr/>
          <p:nvPr/>
        </p:nvSpPr>
        <p:spPr>
          <a:xfrm rot="5400000">
            <a:off x="420687" y="6467475"/>
            <a:ext cx="190500" cy="120650"/>
          </a:xfrm>
          <a:prstGeom prst="triangle">
            <a:avLst>
              <a:gd fmla="val 50000" name="adj"/>
            </a:avLst>
          </a:prstGeom>
          <a:solidFill>
            <a:srgbClr val="9FB8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5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221" name="Google Shape;221;p55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3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22" name="Google Shape;222;p55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55"/>
          <p:cNvSpPr txBox="1"/>
          <p:nvPr/>
        </p:nvSpPr>
        <p:spPr>
          <a:xfrm>
            <a:off x="2898775" y="6356350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5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p67"/>
          <p:cNvCxnSpPr/>
          <p:nvPr/>
        </p:nvCxnSpPr>
        <p:spPr>
          <a:xfrm>
            <a:off x="457200" y="6353175"/>
            <a:ext cx="8229600" cy="1587"/>
          </a:xfrm>
          <a:prstGeom prst="straightConnector1">
            <a:avLst/>
          </a:prstGeom>
          <a:noFill/>
          <a:ln cap="sq" cmpd="sng" w="9525">
            <a:solidFill>
              <a:srgbClr val="9FB8CD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5" name="Google Shape;285;p67"/>
          <p:cNvSpPr/>
          <p:nvPr/>
        </p:nvSpPr>
        <p:spPr>
          <a:xfrm rot="5400000">
            <a:off x="420687" y="6467475"/>
            <a:ext cx="190500" cy="120650"/>
          </a:xfrm>
          <a:prstGeom prst="triangle">
            <a:avLst>
              <a:gd fmla="val 50000" name="adj"/>
            </a:avLst>
          </a:prstGeom>
          <a:solidFill>
            <a:srgbClr val="9FB8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7"/>
          <p:cNvSpPr txBox="1"/>
          <p:nvPr>
            <p:ph type="title"/>
          </p:nvPr>
        </p:nvSpPr>
        <p:spPr>
          <a:xfrm>
            <a:off x="457200" y="152400"/>
            <a:ext cx="8228012" cy="98901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287" name="Google Shape;287;p67"/>
          <p:cNvSpPr txBox="1"/>
          <p:nvPr>
            <p:ph idx="1" type="body"/>
          </p:nvPr>
        </p:nvSpPr>
        <p:spPr>
          <a:xfrm>
            <a:off x="457200" y="1219200"/>
            <a:ext cx="82280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3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88" name="Google Shape;288;p67"/>
          <p:cNvSpPr txBox="1"/>
          <p:nvPr>
            <p:ph idx="10" type="dt"/>
          </p:nvPr>
        </p:nvSpPr>
        <p:spPr>
          <a:xfrm>
            <a:off x="6400800" y="6356350"/>
            <a:ext cx="2287587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67"/>
          <p:cNvSpPr txBox="1"/>
          <p:nvPr/>
        </p:nvSpPr>
        <p:spPr>
          <a:xfrm>
            <a:off x="2898775" y="6356350"/>
            <a:ext cx="3505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67"/>
          <p:cNvSpPr txBox="1"/>
          <p:nvPr>
            <p:ph idx="12" type="sldNum"/>
          </p:nvPr>
        </p:nvSpPr>
        <p:spPr>
          <a:xfrm>
            <a:off x="612775" y="6356350"/>
            <a:ext cx="1979612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  <a:defRPr b="0" i="0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"/>
          <p:cNvSpPr txBox="1"/>
          <p:nvPr>
            <p:ph idx="4294967295" type="subTitle"/>
          </p:nvPr>
        </p:nvSpPr>
        <p:spPr>
          <a:xfrm>
            <a:off x="1500187" y="3857625"/>
            <a:ext cx="64008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r>
              <a:t/>
            </a:r>
            <a:endParaRPr b="0" i="0" sz="800" u="none" cap="none" strike="noStrike">
              <a:solidFill>
                <a:srgbClr val="46465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t/>
            </a:r>
            <a:endParaRPr b="0" i="0" sz="1300" u="none" cap="none" strike="noStrike">
              <a:solidFill>
                <a:srgbClr val="46465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Apresentação da Disciplina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r>
              <a:t/>
            </a:r>
            <a:endParaRPr b="0" i="0" sz="800" u="none" cap="none" strike="noStrike">
              <a:solidFill>
                <a:srgbClr val="46465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800" u="none">
              <a:solidFill>
                <a:srgbClr val="464653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355" name="Google Shape;355;p1"/>
          <p:cNvSpPr txBox="1"/>
          <p:nvPr/>
        </p:nvSpPr>
        <p:spPr>
          <a:xfrm>
            <a:off x="971550" y="357187"/>
            <a:ext cx="7815262" cy="177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B7E"/>
              </a:buClr>
              <a:buSzPts val="2000"/>
              <a:buFont typeface="Gill Sans"/>
              <a:buNone/>
            </a:pPr>
            <a:r>
              <a:rPr b="1" i="0" lang="en-US" sz="2000" u="none">
                <a:solidFill>
                  <a:srgbClr val="525B7E"/>
                </a:solidFill>
                <a:latin typeface="Gill Sans"/>
                <a:ea typeface="Gill Sans"/>
                <a:cs typeface="Gill Sans"/>
                <a:sym typeface="Gill Sans"/>
              </a:rPr>
              <a:t>Universidade Estadual da Paraíba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25B7E"/>
              </a:buClr>
              <a:buSzPts val="2000"/>
              <a:buFont typeface="Gill Sans"/>
              <a:buNone/>
            </a:pPr>
            <a:r>
              <a:rPr b="1" i="0" lang="en-US" sz="2000" u="none">
                <a:solidFill>
                  <a:srgbClr val="525B7E"/>
                </a:solidFill>
                <a:latin typeface="Gill Sans"/>
                <a:ea typeface="Gill Sans"/>
                <a:cs typeface="Gill Sans"/>
                <a:sym typeface="Gill Sans"/>
              </a:rPr>
              <a:t>Centro de Ciências e Tecnologia - CCT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25B7E"/>
              </a:buClr>
              <a:buSzPts val="2000"/>
              <a:buFont typeface="Gill Sans"/>
              <a:buNone/>
            </a:pPr>
            <a:r>
              <a:rPr b="1" i="0" lang="en-US" sz="2000" u="none">
                <a:solidFill>
                  <a:srgbClr val="525B7E"/>
                </a:solidFill>
                <a:latin typeface="Gill Sans"/>
                <a:ea typeface="Gill Sans"/>
                <a:cs typeface="Gill Sans"/>
                <a:sym typeface="Gill Sans"/>
              </a:rPr>
              <a:t>Departamento de Computação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25B7E"/>
              </a:buClr>
              <a:buSzPts val="2000"/>
              <a:buFont typeface="Gill Sans"/>
              <a:buNone/>
            </a:pPr>
            <a:r>
              <a:rPr b="1" i="0" lang="en-US" sz="2000" u="none">
                <a:solidFill>
                  <a:srgbClr val="525B7E"/>
                </a:solidFill>
                <a:latin typeface="Gill Sans"/>
                <a:ea typeface="Gill Sans"/>
                <a:cs typeface="Gill Sans"/>
                <a:sym typeface="Gill Sans"/>
              </a:rPr>
              <a:t>Curso de Ciência da Computação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525B7E"/>
              </a:buClr>
              <a:buSzPts val="2000"/>
              <a:buFont typeface="Gill Sans"/>
              <a:buNone/>
            </a:pPr>
            <a:r>
              <a:rPr b="1" i="0" lang="en-US" sz="2000" u="none">
                <a:solidFill>
                  <a:srgbClr val="525B7E"/>
                </a:solidFill>
                <a:latin typeface="Gill Sans"/>
                <a:ea typeface="Gill Sans"/>
                <a:cs typeface="Gill Sans"/>
                <a:sym typeface="Gill Sans"/>
              </a:rPr>
              <a:t>Disciplina: Compiladores</a:t>
            </a:r>
            <a:endParaRPr/>
          </a:p>
        </p:txBody>
      </p:sp>
      <p:sp>
        <p:nvSpPr>
          <p:cNvPr id="356" name="Google Shape;356;p1"/>
          <p:cNvSpPr txBox="1"/>
          <p:nvPr/>
        </p:nvSpPr>
        <p:spPr>
          <a:xfrm>
            <a:off x="1571625" y="5072062"/>
            <a:ext cx="6143625" cy="61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b="0" i="0" lang="en-US" sz="20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Professora: Kézia de Vasconcelos Oliveira Dantas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ill Sans"/>
              <a:buNone/>
            </a:pPr>
            <a:r>
              <a:rPr b="0" i="0" lang="en-US" sz="1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kezia.vasconcelos@servidor.uepb.edu.br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Plano de Curso</a:t>
            </a:r>
            <a:endParaRPr/>
          </a:p>
        </p:txBody>
      </p:sp>
      <p:sp>
        <p:nvSpPr>
          <p:cNvPr id="363" name="Google Shape;363;p2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Objetivos</a:t>
            </a:r>
            <a:endParaRPr/>
          </a:p>
          <a:p>
            <a:pPr indent="-155638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Ementa</a:t>
            </a:r>
            <a:endParaRPr/>
          </a:p>
          <a:p>
            <a:pPr indent="-155638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Conteúdo Programático</a:t>
            </a:r>
            <a:endParaRPr/>
          </a:p>
          <a:p>
            <a:pPr indent="-155638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Metodologia, Técnicas de Ensino</a:t>
            </a:r>
            <a:endParaRPr/>
          </a:p>
          <a:p>
            <a:pPr indent="-155638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Bibliografia</a:t>
            </a:r>
            <a:endParaRPr/>
          </a:p>
          <a:p>
            <a:pPr indent="-155638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Avaliação</a:t>
            </a:r>
            <a:endParaRPr/>
          </a:p>
          <a:p>
            <a:pPr indent="-273050" lvl="1" marL="546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4" name="Google Shape;364;p2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Objetivo Geral</a:t>
            </a:r>
            <a:endParaRPr/>
          </a:p>
        </p:txBody>
      </p:sp>
      <p:sp>
        <p:nvSpPr>
          <p:cNvPr id="371" name="Google Shape;371;p3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ill Sans"/>
              <a:buNone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/>
          </a:p>
          <a:p>
            <a:pPr indent="-271462" lvl="0" marL="271462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ill Sans"/>
              <a:buNone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Dar ao aluno uma visão geral (teórica e prática) de um compilador, seus módulos componentes e dos problemas relacionados com cada módulo.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2" name="Google Shape;372;p3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Objetivos Específicos</a:t>
            </a:r>
            <a:endParaRPr/>
          </a:p>
        </p:txBody>
      </p:sp>
      <p:sp>
        <p:nvSpPr>
          <p:cNvPr id="379" name="Google Shape;379;p4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5638" lvl="2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2" marL="27146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Entender a teoria de um compilador e suas abordagens de construção.</a:t>
            </a:r>
            <a:endParaRPr/>
          </a:p>
          <a:p>
            <a:pPr indent="-271462" lvl="2" marL="27146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2" marL="27146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Implementar os módulos que compõem um compilador para uma linguagem pré-definida.</a:t>
            </a:r>
            <a:endParaRPr/>
          </a:p>
          <a:p>
            <a:pPr indent="-271462" lvl="2" marL="27146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2" marL="271462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Aplicar o conhecimento adquirido no desenvolvimento de uma área afim.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0" name="Google Shape;380;p4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Ementa</a:t>
            </a:r>
            <a:endParaRPr/>
          </a:p>
        </p:txBody>
      </p:sp>
      <p:sp>
        <p:nvSpPr>
          <p:cNvPr id="387" name="Google Shape;387;p5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3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30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ill Sans"/>
              <a:buNone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	Introdução (Processadores de Linguagens, Estrutura de um Compilador); Tradutores de Linguagem; Análise Léxica; Análise Sintática (reconhecedores : analisadores top-down e bottom-up ; conjuntos First e Follow; tabelas preditivas e LR); Análise semântica (atributos semânticos herdados e sintetizados ; esquemas S e L atribuídos), Geração de código intermediário; Otimização; Recuperação de erros; Uso das ferramentas para geração de reconhecedores.</a:t>
            </a:r>
            <a:endParaRPr/>
          </a:p>
        </p:txBody>
      </p:sp>
      <p:sp>
        <p:nvSpPr>
          <p:cNvPr id="388" name="Google Shape;388;p5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Conteúdo Programático</a:t>
            </a:r>
            <a:endParaRPr/>
          </a:p>
        </p:txBody>
      </p:sp>
      <p:sp>
        <p:nvSpPr>
          <p:cNvPr id="395" name="Google Shape;395;p6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Módulo 1 - Introdução: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Processadores de Linguagens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Estrutura de um Compilador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Histórico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Aplicações da Tecnologia de Compiladores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Módulo 2 - Análise Léxica: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O Papel do Analisador Léxico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Erros léxicos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Conceitos Básicos em Linguagens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Especificação de tokens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Autômatos Finitos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Reconhecimento de tokens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Implementação do Analisador Léxico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Recuperação de Erros Léxicos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96" name="Google Shape;396;p6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Conteúdo Programático</a:t>
            </a:r>
            <a:endParaRPr/>
          </a:p>
        </p:txBody>
      </p:sp>
      <p:sp>
        <p:nvSpPr>
          <p:cNvPr id="403" name="Google Shape;403;p7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Módulo 3 - Análise Sintática: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O Papel do Analisador Sintático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Conceitos Básicos em Gramáticas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Analisador Sintático Descendente: com retrocesso, recursivo, preditor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Análise Sintática Ascendente: analisadores SLR, LR e LALR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Recuperação de Erros Sintáticos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824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Os módulos 1, 2 e 3 serão referentes aos assuntos da Unidade Temática I.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4" name="Google Shape;404;p7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Conteúdo Programático</a:t>
            </a:r>
            <a:endParaRPr/>
          </a:p>
        </p:txBody>
      </p:sp>
      <p:sp>
        <p:nvSpPr>
          <p:cNvPr id="411" name="Google Shape;411;p8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Módulo 4 - Análise Semântica:</a:t>
            </a:r>
            <a:endParaRPr/>
          </a:p>
          <a:p>
            <a:pPr indent="-271462" lvl="0" marL="2714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Introdução</a:t>
            </a:r>
            <a:endParaRPr/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Definição dirigida por sintaxe (SSD)</a:t>
            </a:r>
            <a:endParaRPr/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Atributos herdados e sintetizados</a:t>
            </a:r>
            <a:endParaRPr/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Ordem de avaliação de SSDs</a:t>
            </a:r>
            <a:endParaRPr/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Definições S-atribuídas e L-atribuídas</a:t>
            </a:r>
            <a:endParaRPr/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Esquemas de tradução dirigidos pela sintaxe</a:t>
            </a:r>
            <a:endParaRPr/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Implementação de SSDs L-atribuídas</a:t>
            </a:r>
            <a:br>
              <a:rPr b="0" i="1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</a:b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Conteúdo Programático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824"/>
              <a:buFont typeface="Noto Sans Symbols"/>
              <a:buChar char="🞂"/>
            </a:pPr>
            <a:r>
              <a:rPr b="0" i="0" lang="en-US" sz="24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Módulo 5 - Geração e Otimização de Código Intermediário:</a:t>
            </a:r>
            <a:endParaRPr/>
          </a:p>
          <a:p>
            <a:pPr indent="-271462" lvl="0" marL="2714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Introdução 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Variantes das Árvores de Sintaxe 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Código de Três Endereços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Verificação de Tipos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Otimização de Código Intermediário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824"/>
              <a:buFont typeface="Noto Sans Symbols"/>
              <a:buChar char="🞂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Os módulos 4 e 5 serão referentes aos assuntos da Unidade Temática II.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0" name="Google Shape;420;p9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Metodologia, Técnicas de Ensino</a:t>
            </a:r>
            <a:endParaRPr/>
          </a:p>
        </p:txBody>
      </p:sp>
      <p:sp>
        <p:nvSpPr>
          <p:cNvPr id="427" name="Google Shape;427;p10"/>
          <p:cNvSpPr txBox="1"/>
          <p:nvPr/>
        </p:nvSpPr>
        <p:spPr>
          <a:xfrm>
            <a:off x="468312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5985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Aulas expositivas.</a:t>
            </a:r>
            <a:endParaRPr/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Atividades individuais e em grupo.</a:t>
            </a:r>
            <a:endParaRPr/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8" name="Google Shape;428;p10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1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55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4445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Recursos Didáticos</a:t>
            </a:r>
            <a:endParaRPr/>
          </a:p>
        </p:txBody>
      </p:sp>
      <p:sp>
        <p:nvSpPr>
          <p:cNvPr id="435" name="Google Shape;435;p11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5985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5985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Suap</a:t>
            </a:r>
            <a:endParaRPr/>
          </a:p>
          <a:p>
            <a:pPr indent="-145985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5985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5985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Programas de simulação de domínio público.</a:t>
            </a:r>
            <a:endParaRPr/>
          </a:p>
          <a:p>
            <a:pPr indent="-145985" lvl="0" marL="271462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6" name="Google Shape;436;p11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Bibliografia</a:t>
            </a:r>
            <a:endParaRPr/>
          </a:p>
        </p:txBody>
      </p:sp>
      <p:sp>
        <p:nvSpPr>
          <p:cNvPr id="443" name="Google Shape;443;p12"/>
          <p:cNvSpPr txBox="1"/>
          <p:nvPr/>
        </p:nvSpPr>
        <p:spPr>
          <a:xfrm>
            <a:off x="457200" y="1219200"/>
            <a:ext cx="3970337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Básica:</a:t>
            </a:r>
            <a:endParaRPr/>
          </a:p>
          <a:p>
            <a:pPr indent="-271462" lvl="0" marL="271462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444"/>
              <a:buFont typeface="Noto Sans Symbols"/>
              <a:buChar char="🞂"/>
            </a:pPr>
            <a:r>
              <a:rPr b="0" i="0" lang="en-US" sz="19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AHO, Alfred et al. Compiladores: Princípios, Técnicas e Ferramentas. 2ª Edição PEARSON – Addison Wesley, 2007.</a:t>
            </a:r>
            <a:endParaRPr/>
          </a:p>
          <a:p>
            <a:pPr indent="-273050" lvl="1" marL="5461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444"/>
              <a:buFont typeface="Noto Sans Symbols"/>
              <a:buChar char="🞂"/>
            </a:pPr>
            <a:r>
              <a:rPr b="0" i="0" lang="en-US" sz="19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MENEZES, P. F. B.  Linguagens Formais e Autômatos. Porto Alegre: Bookman, 6ª Ed. 2011.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4" name="Google Shape;444;p12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445" name="Google Shape;445;p12"/>
          <p:cNvSpPr txBox="1"/>
          <p:nvPr/>
        </p:nvSpPr>
        <p:spPr>
          <a:xfrm>
            <a:off x="155575" y="-731837"/>
            <a:ext cx="1104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2" y="1844675"/>
            <a:ext cx="2514600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Bibliografia</a:t>
            </a:r>
            <a:endParaRPr/>
          </a:p>
        </p:txBody>
      </p:sp>
      <p:sp>
        <p:nvSpPr>
          <p:cNvPr id="453" name="Google Shape;453;p13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Complementar:</a:t>
            </a:r>
            <a:endParaRPr b="1" i="0" sz="16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APPEL, A. W; PALSBERG, J., Modern Compiler Implementation in JAVA. Cambridge University Press, 2002.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LEWIS, H. R.; PAPADIMITRIOU, C. Elementos de Teoria da Computação. Porto Alegre: 2a ed., Bookman, 1999.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LOUDEN, K. C., Compiladores: Princípios e Práticas. Ed. Thomson Learning, 2004.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MASON, Tony; BROWN, D. LEX &amp; YACC. O’Reilly &amp; Associates, 1990.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MAK, R. Writing Compiler and Interpreters: an Applied Approach. New York: John Wiley,2009.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PRICE, A.M.A.,TOSCANI, S. S., Implementação de Linguagens de Programação: Compiladores. Porto Alegre: Bookman, 2009.</a:t>
            </a:r>
            <a:endParaRPr/>
          </a:p>
          <a:p>
            <a:pPr indent="-271462" lvl="0" marL="2714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4" name="Google Shape;454;p13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Avaliação</a:t>
            </a:r>
            <a:endParaRPr/>
          </a:p>
        </p:txBody>
      </p:sp>
      <p:sp>
        <p:nvSpPr>
          <p:cNvPr id="461" name="Google Shape;461;p14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Serão consideradas as seguintes notas para cálculo da média final na disciplina: </a:t>
            </a:r>
            <a:endParaRPr/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182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Unidade Temática 1:</a:t>
            </a:r>
            <a:endParaRPr/>
          </a:p>
          <a:p>
            <a:pPr indent="-228599" lvl="2" marL="82073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CBCBC"/>
              </a:buClr>
              <a:buSzPts val="1140"/>
              <a:buFont typeface="Noto Sans Symbols"/>
              <a:buChar char="🞂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Média aritmética das avaliações</a:t>
            </a:r>
            <a:endParaRPr/>
          </a:p>
          <a:p>
            <a:pPr indent="-156209" lvl="2" marL="82073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CBCBC"/>
              </a:buClr>
              <a:buSzPts val="114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6182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86182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Unidade Temática I1:</a:t>
            </a:r>
            <a:endParaRPr/>
          </a:p>
          <a:p>
            <a:pPr indent="-228599" lvl="2" marL="82073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CBCBC"/>
              </a:buClr>
              <a:buSzPts val="1140"/>
              <a:buFont typeface="Noto Sans Symbols"/>
              <a:buChar char="🞂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Avaliação (40%)</a:t>
            </a:r>
            <a:endParaRPr/>
          </a:p>
          <a:p>
            <a:pPr indent="-228599" lvl="2" marL="82073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CBCBC"/>
              </a:buClr>
              <a:buSzPts val="1140"/>
              <a:buFont typeface="Noto Sans Symbols"/>
              <a:buChar char="🞂"/>
            </a:pPr>
            <a: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Projeto (60%)</a:t>
            </a:r>
            <a:endParaRPr/>
          </a:p>
          <a:p>
            <a:pPr indent="-228599" lvl="2" marL="82073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599" lvl="2" marL="82073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599" lvl="2" marL="82073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1462" lvl="0" marL="2714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2" name="Google Shape;462;p14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5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Avaliação</a:t>
            </a:r>
            <a:endParaRPr/>
          </a:p>
        </p:txBody>
      </p:sp>
      <p:sp>
        <p:nvSpPr>
          <p:cNvPr id="469" name="Google Shape;469;p15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Observações:</a:t>
            </a:r>
            <a:endParaRPr/>
          </a:p>
          <a:p>
            <a:pPr indent="-271462" lvl="0" marL="2714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Listas de exercícios não fazem parte da nota</a:t>
            </a:r>
            <a:endParaRPr/>
          </a:p>
          <a:p>
            <a:pPr indent="-186182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O aluno terá direito a repor uma avaliação por unidade temática, com exceção do projeto.</a:t>
            </a:r>
            <a:endParaRPr/>
          </a:p>
          <a:p>
            <a:pPr indent="-186182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Não haverá reposição da menor nota.</a:t>
            </a:r>
            <a:endParaRPr/>
          </a:p>
          <a:p>
            <a:pPr indent="-186182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O projeto é uma atividade obrigatória para a disciplina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O projeto será realizado em grupo, sendo atribuídas notas individuais para os projetos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0" name="Google Shape;470;p15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6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Avaliação</a:t>
            </a:r>
            <a:endParaRPr/>
          </a:p>
        </p:txBody>
      </p:sp>
      <p:sp>
        <p:nvSpPr>
          <p:cNvPr id="477" name="Google Shape;477;p16"/>
          <p:cNvSpPr txBox="1"/>
          <p:nvPr/>
        </p:nvSpPr>
        <p:spPr>
          <a:xfrm>
            <a:off x="457200" y="1219200"/>
            <a:ext cx="8229600" cy="493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1462" lvl="0" marL="2714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27CA3"/>
              </a:buClr>
              <a:buSzPts val="1976"/>
              <a:buFont typeface="Noto Sans Symbols"/>
              <a:buChar char="🞂"/>
            </a:pPr>
            <a:r>
              <a:rPr b="0" i="0" lang="en-US" sz="2600" u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Observações:</a:t>
            </a:r>
            <a:endParaRPr/>
          </a:p>
          <a:p>
            <a:pPr indent="-271462" lvl="0" marL="27146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b="1" i="0" sz="2000" u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Projeto: seminário de apresentação, demonstração, código fonte, documentação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FB8CD"/>
              </a:buClr>
              <a:buSzPts val="1368"/>
              <a:buFont typeface="Noto Sans Symbols"/>
              <a:buChar char="🞂"/>
            </a:pPr>
            <a:r>
              <a:rPr b="0" i="0" lang="en-US" sz="1800" u="none" cap="none" strike="noStrik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Projeto:</a:t>
            </a:r>
            <a:endParaRPr/>
          </a:p>
          <a:p>
            <a:pPr indent="-228599" lvl="2" marL="820737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CBCBC"/>
              </a:buClr>
              <a:buSzPts val="1140"/>
              <a:buFont typeface="Noto Sans Symbols"/>
              <a:buChar char="🞂"/>
            </a:pPr>
            <a:r>
              <a:rPr b="0" i="0" lang="en-US" sz="15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Cada equipe deve escolher uma linguagem de programação -&gt; Exceto PASCAL</a:t>
            </a:r>
            <a:endParaRPr/>
          </a:p>
          <a:p>
            <a:pPr indent="-228599" lvl="2" marL="820737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CBCBC"/>
              </a:buClr>
              <a:buSzPts val="1140"/>
              <a:buFont typeface="Noto Sans Symbols"/>
              <a:buChar char="🞂"/>
            </a:pPr>
            <a:r>
              <a:rPr b="0" i="0" lang="en-US" sz="15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Escopo a ser definido</a:t>
            </a:r>
            <a:endParaRPr/>
          </a:p>
          <a:p>
            <a:pPr indent="-273050" lvl="1" marL="5461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646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8" name="Google Shape;478;p16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7"/>
          <p:cNvSpPr txBox="1"/>
          <p:nvPr/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3200"/>
              <a:buFont typeface="Bookman Old Style"/>
              <a:buNone/>
            </a:pPr>
            <a:r>
              <a:rPr b="0" i="0" lang="en-US" sz="3200" u="none">
                <a:solidFill>
                  <a:srgbClr val="464653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Dúvidas</a:t>
            </a:r>
            <a:endParaRPr/>
          </a:p>
        </p:txBody>
      </p:sp>
      <p:sp>
        <p:nvSpPr>
          <p:cNvPr id="485" name="Google Shape;485;p17"/>
          <p:cNvSpPr txBox="1"/>
          <p:nvPr/>
        </p:nvSpPr>
        <p:spPr>
          <a:xfrm>
            <a:off x="612775" y="6356350"/>
            <a:ext cx="1981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53"/>
              </a:buClr>
              <a:buSzPts val="1400"/>
              <a:buFont typeface="Gill Sans"/>
              <a:buNone/>
            </a:pPr>
            <a:fld id="{00000000-1234-1234-1234-123412341234}" type="slidenum">
              <a:rPr b="0" i="0" lang="en-US" sz="1400" u="none">
                <a:solidFill>
                  <a:srgbClr val="464653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/>
          </a:p>
        </p:txBody>
      </p:sp>
      <p:sp>
        <p:nvSpPr>
          <p:cNvPr id="486" name="Google Shape;486;p17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7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50" y="1773237"/>
            <a:ext cx="5286375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2010-03-30T11:41:09Z</dcterms:created>
  <dc:creator>Arthur Victor</dc:creator>
</cp:coreProperties>
</file>