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35"/>
  </p:notesMasterIdLst>
  <p:handoutMasterIdLst>
    <p:handoutMasterId r:id="rId36"/>
  </p:handoutMasterIdLst>
  <p:sldIdLst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7" r:id="rId21"/>
    <p:sldId id="295" r:id="rId22"/>
    <p:sldId id="296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307" r:id="rId33"/>
    <p:sldId id="308" r:id="rId34"/>
  </p:sldIdLst>
  <p:sldSz cx="9906000" cy="6858000" type="A4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39" autoAdjust="0"/>
    <p:restoredTop sz="90929"/>
  </p:normalViewPr>
  <p:slideViewPr>
    <p:cSldViewPr>
      <p:cViewPr varScale="1">
        <p:scale>
          <a:sx n="57" d="100"/>
          <a:sy n="57" d="100"/>
        </p:scale>
        <p:origin x="612" y="4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050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pt-BR" altLang="en-US"/>
          </a:p>
        </p:txBody>
      </p:sp>
      <p:sp>
        <p:nvSpPr>
          <p:cNvPr id="20483" name="Rectangle 2051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pt-BR" altLang="en-US"/>
          </a:p>
        </p:txBody>
      </p:sp>
      <p:sp>
        <p:nvSpPr>
          <p:cNvPr id="20484" name="Rectangle 2052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pt-BR" altLang="en-US"/>
          </a:p>
        </p:txBody>
      </p:sp>
      <p:sp>
        <p:nvSpPr>
          <p:cNvPr id="20485" name="Rectangle 2053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F5B194F-9CAE-4D5A-8067-5260CDECFAC8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520286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pt-BR" altLang="en-US"/>
          </a:p>
        </p:txBody>
      </p:sp>
      <p:sp>
        <p:nvSpPr>
          <p:cNvPr id="2051" name="Rectangle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os estilos do texto mestre</a:t>
            </a:r>
          </a:p>
          <a:p>
            <a:pPr lvl="1"/>
            <a:r>
              <a:rPr lang="pt-BR" altLang="en-US"/>
              <a:t>Segundo nível</a:t>
            </a:r>
          </a:p>
          <a:p>
            <a:pPr lvl="2"/>
            <a:r>
              <a:rPr lang="pt-BR" altLang="en-US"/>
              <a:t>Terceiro nível</a:t>
            </a:r>
          </a:p>
          <a:p>
            <a:pPr lvl="3"/>
            <a:r>
              <a:rPr lang="pt-BR" altLang="en-US"/>
              <a:t>Quarto nível</a:t>
            </a:r>
          </a:p>
          <a:p>
            <a:pPr lvl="4"/>
            <a:r>
              <a:rPr lang="pt-BR" altLang="en-US"/>
              <a:t>Quinto nível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pt-BR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pt-BR" alt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D4207ED-54CB-4335-8C77-8CBF604367F0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3516099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ChangeArrowheads="1"/>
          </p:cNvSpPr>
          <p:nvPr/>
        </p:nvSpPr>
        <p:spPr bwMode="auto">
          <a:xfrm>
            <a:off x="412750" y="0"/>
            <a:ext cx="1568450" cy="6856413"/>
          </a:xfrm>
          <a:prstGeom prst="rect">
            <a:avLst/>
          </a:prstGeom>
          <a:gradFill rotWithShape="0">
            <a:gsLst>
              <a:gs pos="0">
                <a:schemeClr val="bg1">
                  <a:gamma/>
                  <a:shade val="61961"/>
                  <a:invGamma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bg1">
                  <a:gamma/>
                  <a:shade val="61961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kumimoji="1" lang="pt-BR" altLang="en-US" sz="2400"/>
          </a:p>
        </p:txBody>
      </p:sp>
      <p:sp>
        <p:nvSpPr>
          <p:cNvPr id="3075" name="Rectangle 1027"/>
          <p:cNvSpPr>
            <a:spLocks noChangeArrowheads="1"/>
          </p:cNvSpPr>
          <p:nvPr/>
        </p:nvSpPr>
        <p:spPr bwMode="auto">
          <a:xfrm>
            <a:off x="742950" y="2438400"/>
            <a:ext cx="9161463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15294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kumimoji="1" lang="pt-BR" altLang="en-US" sz="2400"/>
          </a:p>
        </p:txBody>
      </p:sp>
      <p:sp>
        <p:nvSpPr>
          <p:cNvPr id="3076" name="Rectangle 1028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altLang="en-US" noProof="0"/>
              <a:t>Clique para editar o título mestre</a:t>
            </a:r>
          </a:p>
        </p:txBody>
      </p:sp>
      <p:sp>
        <p:nvSpPr>
          <p:cNvPr id="3077" name="Rectangle 102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228850" y="4114800"/>
            <a:ext cx="69342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="0">
                <a:latin typeface="Times New Roman" pitchFamily="18" charset="0"/>
              </a:defRPr>
            </a:lvl1pPr>
          </a:lstStyle>
          <a:p>
            <a:pPr lvl="0"/>
            <a:r>
              <a:rPr lang="pt-BR" altLang="en-US" noProof="0"/>
              <a:t>Clique para editar o estilo do subtítulo mestre</a:t>
            </a:r>
          </a:p>
        </p:txBody>
      </p:sp>
      <p:sp>
        <p:nvSpPr>
          <p:cNvPr id="3078" name="Rectangle 1030"/>
          <p:cNvSpPr>
            <a:spLocks noGrp="1" noChangeArrowheads="1"/>
          </p:cNvSpPr>
          <p:nvPr>
            <p:ph type="dt" sz="quarter" idx="2"/>
          </p:nvPr>
        </p:nvSpPr>
        <p:spPr>
          <a:xfrm>
            <a:off x="742950" y="6019800"/>
            <a:ext cx="2063750" cy="609600"/>
          </a:xfrm>
        </p:spPr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3079" name="Rectangle 1031"/>
          <p:cNvSpPr>
            <a:spLocks noGrp="1" noChangeArrowheads="1"/>
          </p:cNvSpPr>
          <p:nvPr>
            <p:ph type="ftr" sz="quarter" idx="3"/>
          </p:nvPr>
        </p:nvSpPr>
        <p:spPr>
          <a:xfrm>
            <a:off x="3384550" y="6019800"/>
            <a:ext cx="3136900" cy="609600"/>
          </a:xfrm>
        </p:spPr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3080" name="Rectangle 1032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99300" y="6019800"/>
            <a:ext cx="2063750" cy="609600"/>
          </a:xfrm>
        </p:spPr>
        <p:txBody>
          <a:bodyPr/>
          <a:lstStyle>
            <a:lvl1pPr>
              <a:defRPr/>
            </a:lvl1pPr>
          </a:lstStyle>
          <a:p>
            <a:fld id="{279B63C0-3B95-4087-B474-6E197332964B}" type="slidenum">
              <a:rPr lang="pt-BR" altLang="en-US"/>
              <a:pPr/>
              <a:t>‹nº›</a:t>
            </a:fld>
            <a:endParaRPr lang="pt-BR" altLang="en-US"/>
          </a:p>
        </p:txBody>
      </p:sp>
      <p:sp>
        <p:nvSpPr>
          <p:cNvPr id="3081" name="Rectangle 1033"/>
          <p:cNvSpPr>
            <a:spLocks noChangeArrowheads="1"/>
          </p:cNvSpPr>
          <p:nvPr/>
        </p:nvSpPr>
        <p:spPr bwMode="auto">
          <a:xfrm>
            <a:off x="0" y="3505200"/>
            <a:ext cx="51181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kumimoji="1" lang="pt-BR" altLang="en-US" sz="24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E8A0A1-1383-480D-A787-3DDCFEA1116A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47841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AE1A5E-D723-4D79-8E6F-31C7572F40B2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007379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13385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29200" y="1981200"/>
            <a:ext cx="413385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CC9EBB-055E-4C2A-A685-38E008DA214F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71133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39967C-CB49-4F12-819B-3F8FCF37DCB0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12387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A6FCD8-458B-412E-B32D-AA80A982D207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566482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611B59-F7EA-451D-A01B-682F1F607552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921285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E99DF-2EF0-442B-9342-18B1567E7EB1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54013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EA4055-967F-4932-ABCE-F2156652E7DC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541393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6AFAC-48AF-4E8C-AE02-BFEE65769EC1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658321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58025" y="609600"/>
            <a:ext cx="2105025" cy="51816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742950" y="609600"/>
            <a:ext cx="6162675" cy="518160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653FF5-CB0F-4581-BE3C-421E7C916E63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633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412750" y="0"/>
            <a:ext cx="1568450" cy="6856413"/>
          </a:xfrm>
          <a:prstGeom prst="rect">
            <a:avLst/>
          </a:prstGeom>
          <a:gradFill rotWithShape="0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gamma/>
                  <a:shade val="61961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kumimoji="1" lang="pt-BR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65100" y="1752600"/>
            <a:ext cx="51181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kumimoji="1" lang="pt-BR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742950" y="6629400"/>
            <a:ext cx="3797300" cy="227013"/>
          </a:xfrm>
          <a:prstGeom prst="rect">
            <a:avLst/>
          </a:prstGeom>
          <a:gradFill rotWithShape="0">
            <a:gsLst>
              <a:gs pos="0">
                <a:schemeClr val="hlink">
                  <a:gamma/>
                  <a:shade val="46275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kumimoji="1" lang="pt-BR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825500" y="762000"/>
            <a:ext cx="9078913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15294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kumimoji="1" lang="pt-BR" altLang="en-US" sz="240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609600"/>
            <a:ext cx="84201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981200"/>
            <a:ext cx="84201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os estilos do texto mestre</a:t>
            </a:r>
          </a:p>
          <a:p>
            <a:pPr lvl="1"/>
            <a:r>
              <a:rPr lang="pt-BR" altLang="en-US"/>
              <a:t>Segundo nível</a:t>
            </a:r>
          </a:p>
          <a:p>
            <a:pPr lvl="2"/>
            <a:r>
              <a:rPr lang="pt-BR" altLang="en-US"/>
              <a:t>Terceiro nível</a:t>
            </a:r>
          </a:p>
          <a:p>
            <a:pPr lvl="3"/>
            <a:r>
              <a:rPr lang="pt-BR" altLang="en-US"/>
              <a:t>Quarto nível</a:t>
            </a:r>
          </a:p>
          <a:p>
            <a:pPr lvl="4"/>
            <a:r>
              <a:rPr lang="pt-BR" altLang="en-US"/>
              <a:t>Quinto nível</a:t>
            </a: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42950" y="5943600"/>
            <a:ext cx="20637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endParaRPr lang="pt-BR" alt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5943600"/>
            <a:ext cx="31369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pt-BR" alt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5943600"/>
            <a:ext cx="20637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7F4EE629-005F-405F-806D-B6C32D2A698D}" type="slidenum">
              <a:rPr lang="pt-BR" altLang="en-US"/>
              <a:pPr/>
              <a:t>‹nº›</a:t>
            </a:fld>
            <a:endParaRPr lang="pt-BR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l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 b="1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 b="1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 b="1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 b="1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robson.computacao.uepb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Computação Gráfica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/>
              <a:t>Plano de Ensino </a:t>
            </a:r>
          </a:p>
          <a:p>
            <a:r>
              <a:rPr lang="pt-BR"/>
              <a:t>Prof. Robson Pequeno de Sousa</a:t>
            </a:r>
          </a:p>
        </p:txBody>
      </p:sp>
      <p:sp>
        <p:nvSpPr>
          <p:cNvPr id="6146" name="Rectangle 14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Prof. Robson Pequeno de sousa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>
                <a:cs typeface="Courier New" pitchFamily="49" charset="0"/>
              </a:rPr>
              <a:t>DESCRI</a:t>
            </a:r>
            <a:r>
              <a:rPr lang="pt-BR">
                <a:latin typeface="Tahoma" pitchFamily="34" charset="0"/>
                <a:cs typeface="Courier New" pitchFamily="49" charset="0"/>
              </a:rPr>
              <a:t>Ç</a:t>
            </a:r>
            <a:r>
              <a:rPr lang="pt-BR">
                <a:cs typeface="Courier New" pitchFamily="49" charset="0"/>
              </a:rPr>
              <a:t>ÃO</a:t>
            </a:r>
            <a:br>
              <a:rPr lang="pt-BR">
                <a:cs typeface="Courier New" pitchFamily="49" charset="0"/>
              </a:rPr>
            </a:br>
            <a:endParaRPr lang="pt-BR">
              <a:cs typeface="Courier New" pitchFamily="49" charset="0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8648700" cy="4876800"/>
          </a:xfrm>
        </p:spPr>
        <p:txBody>
          <a:bodyPr/>
          <a:lstStyle/>
          <a:p>
            <a:pPr eaLnBrk="1" hangingPunct="1"/>
            <a:r>
              <a:rPr lang="pt-BR" b="1" dirty="0">
                <a:cs typeface="Courier New" pitchFamily="49" charset="0"/>
              </a:rPr>
              <a:t>Professor</a:t>
            </a:r>
            <a:r>
              <a:rPr lang="pt-BR" dirty="0">
                <a:cs typeface="Courier New" pitchFamily="49" charset="0"/>
              </a:rPr>
              <a:t>: </a:t>
            </a:r>
            <a:r>
              <a:rPr lang="pt-BR" b="1" dirty="0">
                <a:cs typeface="Times New Roman" pitchFamily="18" charset="0"/>
              </a:rPr>
              <a:t>Dr. Robson Pequeno de</a:t>
            </a:r>
            <a:r>
              <a:rPr lang="pt-BR" dirty="0">
                <a:cs typeface="Times New Roman" pitchFamily="18" charset="0"/>
              </a:rPr>
              <a:t> </a:t>
            </a:r>
            <a:r>
              <a:rPr lang="pt-BR" b="1" dirty="0">
                <a:cs typeface="Times New Roman" pitchFamily="18" charset="0"/>
              </a:rPr>
              <a:t>Sousa</a:t>
            </a:r>
          </a:p>
          <a:p>
            <a:pPr eaLnBrk="1" hangingPunct="1">
              <a:buFont typeface="Wingdings" pitchFamily="2" charset="2"/>
              <a:buNone/>
            </a:pPr>
            <a:endParaRPr lang="pt-BR" b="1" dirty="0">
              <a:cs typeface="Times New Roman" pitchFamily="18" charset="0"/>
            </a:endParaRPr>
          </a:p>
          <a:p>
            <a:pPr lvl="1" eaLnBrk="1" hangingPunct="1"/>
            <a:r>
              <a:rPr lang="pt-BR" b="1" dirty="0">
                <a:cs typeface="Times New Roman" pitchFamily="18" charset="0"/>
              </a:rPr>
              <a:t>e-mail : </a:t>
            </a:r>
            <a:r>
              <a:rPr lang="pt-BR" b="1" dirty="0">
                <a:solidFill>
                  <a:schemeClr val="bg2"/>
                </a:solidFill>
                <a:cs typeface="Times New Roman" pitchFamily="18" charset="0"/>
                <a:hlinkClick r:id="rId2"/>
              </a:rPr>
              <a:t>robson.computacao.uepb@gmail.com</a:t>
            </a:r>
            <a:endParaRPr lang="pt-BR" b="1" dirty="0">
              <a:solidFill>
                <a:schemeClr val="bg2"/>
              </a:solidFill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pt-BR" b="1" dirty="0">
              <a:cs typeface="Times New Roman" pitchFamily="18" charset="0"/>
            </a:endParaRPr>
          </a:p>
          <a:p>
            <a:pPr lvl="1" eaLnBrk="1" hangingPunct="1"/>
            <a:r>
              <a:rPr lang="pt-BR" b="1" dirty="0">
                <a:cs typeface="Times New Roman" pitchFamily="18" charset="0"/>
              </a:rPr>
              <a:t>DROPBOX: </a:t>
            </a:r>
          </a:p>
          <a:p>
            <a:pPr lvl="1"/>
            <a:r>
              <a:rPr lang="pt-BR" dirty="0">
                <a:cs typeface="Times New Roman" pitchFamily="18" charset="0"/>
              </a:rPr>
              <a:t>Atendimento:  Laboratório de computação</a:t>
            </a:r>
          </a:p>
          <a:p>
            <a:pPr lvl="1" eaLnBrk="1" hangingPunct="1"/>
            <a:endParaRPr lang="pt-BR" b="1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pt-BR" b="1" dirty="0">
              <a:cs typeface="Times New Roman" pitchFamily="18" charset="0"/>
            </a:endParaRPr>
          </a:p>
          <a:p>
            <a:pPr lvl="1" eaLnBrk="1" hangingPunct="1">
              <a:buFontTx/>
              <a:buNone/>
            </a:pPr>
            <a:endParaRPr lang="pt-BR" b="1" dirty="0">
              <a:cs typeface="Times New Roman" pitchFamily="18" charset="0"/>
            </a:endParaRPr>
          </a:p>
          <a:p>
            <a:pPr eaLnBrk="1" hangingPunct="1">
              <a:buFontTx/>
              <a:buNone/>
            </a:pPr>
            <a:endParaRPr lang="pt-BR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1246850" y="228600"/>
            <a:ext cx="8442457" cy="1531938"/>
          </a:xfrm>
        </p:spPr>
        <p:txBody>
          <a:bodyPr/>
          <a:lstStyle/>
          <a:p>
            <a:pPr algn="ctr" eaLnBrk="1" hangingPunct="1"/>
            <a:r>
              <a:rPr lang="pt-BR"/>
              <a:t>COMPUTA</a:t>
            </a:r>
            <a:r>
              <a:rPr lang="pt-BR">
                <a:latin typeface="Tahoma" pitchFamily="34" charset="0"/>
              </a:rPr>
              <a:t>Ç</a:t>
            </a:r>
            <a:r>
              <a:rPr lang="pt-BR"/>
              <a:t>ÃO GR</a:t>
            </a:r>
            <a:r>
              <a:rPr lang="pt-BR">
                <a:latin typeface="Tahoma" pitchFamily="34" charset="0"/>
              </a:rPr>
              <a:t>Á</a:t>
            </a:r>
            <a:r>
              <a:rPr lang="pt-BR"/>
              <a:t>FICA</a:t>
            </a:r>
            <a:r>
              <a:rPr lang="pt-BR" sz="2800">
                <a:latin typeface="Arial Black" pitchFamily="34" charset="0"/>
              </a:rPr>
              <a:t> 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1981200"/>
            <a:ext cx="87503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2400" b="1" dirty="0">
                <a:cs typeface="Courier New" pitchFamily="49" charset="0"/>
              </a:rPr>
              <a:t>Informação do Curso</a:t>
            </a:r>
          </a:p>
          <a:p>
            <a:pPr eaLnBrk="1" hangingPunct="1">
              <a:lnSpc>
                <a:spcPct val="80000"/>
              </a:lnSpc>
            </a:pPr>
            <a:endParaRPr lang="pt-BR" sz="1600" b="1" dirty="0"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pt-BR" sz="2000" b="1" dirty="0">
                <a:cs typeface="Times New Roman" pitchFamily="18" charset="0"/>
              </a:rPr>
              <a:t>Titulo: Computação Gráfica</a:t>
            </a:r>
            <a:r>
              <a:rPr lang="pt-BR" sz="2000" b="1" dirty="0">
                <a:cs typeface="Courier New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pt-BR" sz="2000" b="1" dirty="0">
                <a:cs typeface="Courier New" pitchFamily="49" charset="0"/>
              </a:rPr>
              <a:t>Créditos: 04</a:t>
            </a:r>
          </a:p>
          <a:p>
            <a:pPr eaLnBrk="1" hangingPunct="1">
              <a:lnSpc>
                <a:spcPct val="80000"/>
              </a:lnSpc>
            </a:pPr>
            <a:endParaRPr lang="pt-BR" sz="2000" b="1" dirty="0"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pt-BR" sz="2000" b="1" dirty="0">
                <a:cs typeface="Times New Roman" pitchFamily="18" charset="0"/>
              </a:rPr>
              <a:t>CH Semanal: </a:t>
            </a:r>
          </a:p>
          <a:p>
            <a:pPr lvl="1" eaLnBrk="1" hangingPunct="1">
              <a:lnSpc>
                <a:spcPct val="80000"/>
              </a:lnSpc>
            </a:pPr>
            <a:r>
              <a:rPr lang="pt-BR" sz="2000" b="1" dirty="0">
                <a:cs typeface="Times New Roman" pitchFamily="18" charset="0"/>
              </a:rPr>
              <a:t>Teórica - 3hs          </a:t>
            </a:r>
          </a:p>
          <a:p>
            <a:pPr lvl="1" eaLnBrk="1" hangingPunct="1">
              <a:lnSpc>
                <a:spcPct val="80000"/>
              </a:lnSpc>
            </a:pPr>
            <a:r>
              <a:rPr lang="pt-BR" sz="2000" b="1" dirty="0">
                <a:cs typeface="Times New Roman" pitchFamily="18" charset="0"/>
              </a:rPr>
              <a:t>Pratica (laboratório) - 1h</a:t>
            </a:r>
            <a:r>
              <a:rPr lang="pt-BR" sz="2000" b="1" dirty="0">
                <a:cs typeface="Courier New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</a:pPr>
            <a:endParaRPr lang="pt-BR" sz="2000" b="1" dirty="0"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pt-BR" sz="2000" b="1" dirty="0"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pt-BR" sz="2000" b="1" dirty="0">
                <a:cs typeface="Times New Roman" pitchFamily="18" charset="0"/>
              </a:rPr>
              <a:t>Horário: </a:t>
            </a:r>
          </a:p>
          <a:p>
            <a:pPr lvl="1" eaLnBrk="1" hangingPunct="1">
              <a:lnSpc>
                <a:spcPct val="80000"/>
              </a:lnSpc>
            </a:pPr>
            <a:r>
              <a:rPr lang="pt-BR" sz="2000" dirty="0">
                <a:cs typeface="Times New Roman" pitchFamily="18" charset="0"/>
              </a:rPr>
              <a:t>T</a:t>
            </a:r>
            <a:r>
              <a:rPr lang="pt-BR" sz="2000" b="1" dirty="0">
                <a:cs typeface="Times New Roman" pitchFamily="18" charset="0"/>
              </a:rPr>
              <a:t>  9:00/2h   I  11:00 /2h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endParaRPr lang="pt-BR" sz="2000" b="1" dirty="0"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800" b="1" dirty="0">
                <a:cs typeface="Times New Roman" pitchFamily="18" charset="0"/>
              </a:rPr>
              <a:t>         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800" b="1" dirty="0">
                <a:cs typeface="Times New Roman" pitchFamily="18" charset="0"/>
              </a:rPr>
              <a:t>         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800" dirty="0">
                <a:cs typeface="Courier New" pitchFamily="49" charset="0"/>
              </a:rPr>
              <a:t>	</a:t>
            </a:r>
          </a:p>
        </p:txBody>
      </p:sp>
      <p:graphicFrame>
        <p:nvGraphicFramePr>
          <p:cNvPr id="1026" name="Object 0"/>
          <p:cNvGraphicFramePr>
            <a:graphicFrameLocks noChangeAspect="1"/>
          </p:cNvGraphicFramePr>
          <p:nvPr/>
        </p:nvGraphicFramePr>
        <p:xfrm>
          <a:off x="3234929" y="539751"/>
          <a:ext cx="3725069" cy="193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áfico" r:id="rId2" imgW="3438754" imgH="1933956" progId="MSGraph.Chart.8">
                  <p:embed followColorScheme="full"/>
                </p:oleObj>
              </mc:Choice>
              <mc:Fallback>
                <p:oleObj name="Gráfico" r:id="rId2" imgW="3438754" imgH="1933956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4929" y="539751"/>
                        <a:ext cx="3725069" cy="1933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819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>
                <a:solidFill>
                  <a:schemeClr val="tx1"/>
                </a:solidFill>
              </a:rPr>
              <a:t>Plano de Ensino</a:t>
            </a:r>
          </a:p>
        </p:txBody>
      </p:sp>
      <p:sp>
        <p:nvSpPr>
          <p:cNvPr id="8196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Blip>
                <a:blip r:embed="rId2"/>
              </a:buBlip>
            </a:pPr>
            <a:endParaRPr lang="pt-BR">
              <a:solidFill>
                <a:schemeClr val="folHlink"/>
              </a:solidFill>
            </a:endParaRPr>
          </a:p>
          <a:p>
            <a:pPr eaLnBrk="1" hangingPunct="1">
              <a:buFont typeface="Wingdings" pitchFamily="2" charset="2"/>
              <a:buBlip>
                <a:blip r:embed="rId2"/>
              </a:buBlip>
            </a:pPr>
            <a:r>
              <a:rPr lang="pt-BR" b="1"/>
              <a:t>Objetivos</a:t>
            </a:r>
          </a:p>
          <a:p>
            <a:pPr eaLnBrk="1" hangingPunct="1">
              <a:buFont typeface="Wingdings" pitchFamily="2" charset="2"/>
              <a:buBlip>
                <a:blip r:embed="rId2"/>
              </a:buBlip>
            </a:pPr>
            <a:r>
              <a:rPr lang="pt-BR" b="1"/>
              <a:t>Ementa</a:t>
            </a:r>
          </a:p>
          <a:p>
            <a:pPr eaLnBrk="1" hangingPunct="1">
              <a:buFont typeface="Wingdings" pitchFamily="2" charset="2"/>
              <a:buBlip>
                <a:blip r:embed="rId2"/>
              </a:buBlip>
            </a:pPr>
            <a:r>
              <a:rPr lang="pt-BR" b="1"/>
              <a:t>Metodologia</a:t>
            </a:r>
          </a:p>
          <a:p>
            <a:pPr eaLnBrk="1" hangingPunct="1">
              <a:buFont typeface="Wingdings" pitchFamily="2" charset="2"/>
              <a:buBlip>
                <a:blip r:embed="rId2"/>
              </a:buBlip>
            </a:pPr>
            <a:r>
              <a:rPr lang="pt-BR" b="1"/>
              <a:t>Recursos Didáticos</a:t>
            </a:r>
          </a:p>
          <a:p>
            <a:pPr eaLnBrk="1" hangingPunct="1">
              <a:buFont typeface="Wingdings" pitchFamily="2" charset="2"/>
              <a:buBlip>
                <a:blip r:embed="rId2"/>
              </a:buBlip>
            </a:pPr>
            <a:r>
              <a:rPr lang="pt-BR" b="1"/>
              <a:t>Avaliação</a:t>
            </a:r>
          </a:p>
          <a:p>
            <a:pPr eaLnBrk="1" hangingPunct="1">
              <a:buFont typeface="Wingdings" pitchFamily="2" charset="2"/>
              <a:buBlip>
                <a:blip r:embed="rId2"/>
              </a:buBlip>
            </a:pPr>
            <a:r>
              <a:rPr lang="pt-BR" b="1"/>
              <a:t>Bibliografia</a:t>
            </a:r>
          </a:p>
          <a:p>
            <a:pPr eaLnBrk="1" hangingPunct="1">
              <a:buFont typeface="Wingdings" pitchFamily="2" charset="2"/>
              <a:buNone/>
            </a:pPr>
            <a:endParaRPr lang="pt-BR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Objetivos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81200"/>
            <a:ext cx="94488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sz="2800" dirty="0">
                <a:cs typeface="Arial" charset="0"/>
              </a:rPr>
              <a:t>Apresentar uma introdução aos principais conceitos, tópicos relacionados a pesquisa e  desenvolvimento em computação Gráfica e Processamento de Imagens. Incluindo uma discussão detalhada de novas tecnologias  e direções futuras.</a:t>
            </a:r>
          </a:p>
          <a:p>
            <a:pPr eaLnBrk="1" hangingPunct="1">
              <a:lnSpc>
                <a:spcPct val="90000"/>
              </a:lnSpc>
            </a:pPr>
            <a:endParaRPr lang="pt-BR" sz="2800" dirty="0"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pt-BR" sz="2800" dirty="0">
                <a:cs typeface="Arial" charset="0"/>
              </a:rPr>
              <a:t>Após o término do curso o aluno terá conhecimento necessário para entender as últimas inovações em Computação Gráfica e Processamento de Imagens.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>
                <a:cs typeface="Courier New" pitchFamily="49" charset="0"/>
              </a:rPr>
              <a:t>Ementa e Conte</a:t>
            </a:r>
            <a:r>
              <a:rPr lang="pt-BR">
                <a:latin typeface="Tahoma" pitchFamily="34" charset="0"/>
                <a:cs typeface="Courier New" pitchFamily="49" charset="0"/>
              </a:rPr>
              <a:t>ú</a:t>
            </a:r>
            <a:r>
              <a:rPr lang="pt-BR">
                <a:cs typeface="Courier New" pitchFamily="49" charset="0"/>
              </a:rPr>
              <a:t>do Program</a:t>
            </a:r>
            <a:r>
              <a:rPr lang="pt-BR">
                <a:latin typeface="Tahoma" pitchFamily="34" charset="0"/>
                <a:cs typeface="Courier New" pitchFamily="49" charset="0"/>
              </a:rPr>
              <a:t>á</a:t>
            </a:r>
            <a:r>
              <a:rPr lang="pt-BR">
                <a:cs typeface="Courier New" pitchFamily="49" charset="0"/>
              </a:rPr>
              <a:t>tico</a:t>
            </a:r>
            <a:endParaRPr lang="pt-BR" b="0">
              <a:cs typeface="Courier New" pitchFamily="49" charset="0"/>
            </a:endParaRP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600200"/>
            <a:ext cx="8667750" cy="4876800"/>
          </a:xfrm>
        </p:spPr>
        <p:txBody>
          <a:bodyPr/>
          <a:lstStyle/>
          <a:p>
            <a:pPr eaLnBrk="1" hangingPunct="1"/>
            <a:endParaRPr lang="pt-BR" sz="2000" b="1" dirty="0">
              <a:latin typeface="Courier New" pitchFamily="49" charset="0"/>
              <a:cs typeface="Times New Roman" pitchFamily="18" charset="0"/>
            </a:endParaRPr>
          </a:p>
          <a:p>
            <a:pPr eaLnBrk="1" hangingPunct="1"/>
            <a:r>
              <a:rPr lang="pt-BR" sz="2400" b="1" dirty="0">
                <a:cs typeface="Times New Roman" pitchFamily="18" charset="0"/>
              </a:rPr>
              <a:t>EMENTA : Visão geral da Computação Gráfica e Processamento de Imagens: </a:t>
            </a:r>
            <a:r>
              <a:rPr lang="pt-BR" sz="2400" dirty="0">
                <a:cs typeface="Times New Roman" pitchFamily="18" charset="0"/>
              </a:rPr>
              <a:t>Apresentando conceitos, métodos, técnicas e suas aplicações</a:t>
            </a:r>
            <a:r>
              <a:rPr lang="pt-BR" sz="2400" b="1" dirty="0">
                <a:cs typeface="Times New Roman" pitchFamily="18" charset="0"/>
              </a:rPr>
              <a:t>.</a:t>
            </a:r>
            <a:r>
              <a:rPr lang="pt-BR" sz="2000" b="1" dirty="0">
                <a:cs typeface="Times New Roman" pitchFamily="18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pt-BR" sz="2000" b="1" dirty="0">
              <a:cs typeface="Times New Roman" pitchFamily="18" charset="0"/>
            </a:endParaRPr>
          </a:p>
          <a:p>
            <a:pPr eaLnBrk="1" hangingPunct="1"/>
            <a:r>
              <a:rPr lang="pt-BR" sz="2400" b="1" dirty="0">
                <a:cs typeface="Times New Roman" pitchFamily="18" charset="0"/>
              </a:rPr>
              <a:t>CONTEÚDO PROGRAMÁTICO</a:t>
            </a:r>
            <a:r>
              <a:rPr lang="pt-BR" sz="2000" b="1" dirty="0">
                <a:cs typeface="Times New Roman" pitchFamily="18" charset="0"/>
              </a:rPr>
              <a:t> </a:t>
            </a:r>
          </a:p>
          <a:p>
            <a:pPr lvl="1" eaLnBrk="1" hangingPunct="1"/>
            <a:r>
              <a:rPr lang="pt-BR" sz="2000" b="1" dirty="0">
                <a:cs typeface="Times New Roman" pitchFamily="18" charset="0"/>
              </a:rPr>
              <a:t>INTRODUÇÃO</a:t>
            </a:r>
            <a:r>
              <a:rPr lang="pt-BR" sz="2000" dirty="0">
                <a:cs typeface="Times New Roman" pitchFamily="18" charset="0"/>
              </a:rPr>
              <a:t>: Origens da Computação Gráfica;  O que é Computação Gráfica; Aplicações da Computação Gráfica</a:t>
            </a:r>
            <a:r>
              <a:rPr lang="pt-BR" sz="2000" b="1" dirty="0">
                <a:cs typeface="Times New Roman" pitchFamily="18" charset="0"/>
              </a:rPr>
              <a:t>. </a:t>
            </a:r>
          </a:p>
          <a:p>
            <a:pPr lvl="1" eaLnBrk="1" hangingPunct="1"/>
            <a:r>
              <a:rPr lang="pt-BR" sz="2000" b="1" dirty="0">
                <a:cs typeface="Times New Roman" pitchFamily="18" charset="0"/>
              </a:rPr>
              <a:t>DISPOSITIVOS PERIFÉRICOS GRÁFICOS : </a:t>
            </a:r>
            <a:r>
              <a:rPr lang="pt-BR" sz="2000" dirty="0">
                <a:cs typeface="Times New Roman" pitchFamily="18" charset="0"/>
              </a:rPr>
              <a:t>Visão geral dos dispositivos utilizados em CG ;  Classificação dos dispositivos: matriciais x vetoriais; dispositivos de visualização; dispositivos de armazenamento; arquitetura básica da controladora de vídeo; </a:t>
            </a:r>
            <a:r>
              <a:rPr lang="pt-BR" sz="2000" dirty="0" err="1">
                <a:cs typeface="Times New Roman" pitchFamily="18" charset="0"/>
              </a:rPr>
              <a:t>palletes</a:t>
            </a:r>
            <a:r>
              <a:rPr lang="pt-BR" sz="2000" dirty="0">
                <a:cs typeface="Times New Roman" pitchFamily="18" charset="0"/>
              </a:rPr>
              <a:t> de cores. </a:t>
            </a:r>
          </a:p>
          <a:p>
            <a:pPr lvl="1" eaLnBrk="1" hangingPunct="1">
              <a:buFont typeface="Wingdings" pitchFamily="2" charset="2"/>
              <a:buNone/>
            </a:pPr>
            <a:endParaRPr lang="pt-BR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 dirty="0"/>
              <a:t>Prof. Robson Pequeno de </a:t>
            </a:r>
            <a:r>
              <a:rPr lang="pt-BR" dirty="0" err="1"/>
              <a:t>sousa</a:t>
            </a:r>
            <a:endParaRPr lang="pt-BR" dirty="0"/>
          </a:p>
        </p:txBody>
      </p:sp>
      <p:sp>
        <p:nvSpPr>
          <p:cNvPr id="11267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>
                <a:cs typeface="Courier New" pitchFamily="49" charset="0"/>
              </a:rPr>
              <a:t>Ementa e Conte</a:t>
            </a:r>
            <a:r>
              <a:rPr lang="pt-BR">
                <a:latin typeface="Tahoma" pitchFamily="34" charset="0"/>
                <a:cs typeface="Courier New" pitchFamily="49" charset="0"/>
              </a:rPr>
              <a:t>ú</a:t>
            </a:r>
            <a:r>
              <a:rPr lang="pt-BR">
                <a:cs typeface="Courier New" pitchFamily="49" charset="0"/>
              </a:rPr>
              <a:t>do Program</a:t>
            </a:r>
            <a:r>
              <a:rPr lang="pt-BR">
                <a:latin typeface="Tahoma" pitchFamily="34" charset="0"/>
                <a:cs typeface="Courier New" pitchFamily="49" charset="0"/>
              </a:rPr>
              <a:t>á</a:t>
            </a:r>
            <a:r>
              <a:rPr lang="pt-BR">
                <a:cs typeface="Courier New" pitchFamily="49" charset="0"/>
              </a:rPr>
              <a:t>tico</a:t>
            </a:r>
          </a:p>
        </p:txBody>
      </p:sp>
      <p:sp>
        <p:nvSpPr>
          <p:cNvPr id="11268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sz="2000" b="1" dirty="0">
                <a:cs typeface="Times New Roman" pitchFamily="18" charset="0"/>
              </a:rPr>
              <a:t>REVISÃO MATEMÁTICA : </a:t>
            </a:r>
            <a:r>
              <a:rPr lang="pt-BR" sz="2000" dirty="0">
                <a:cs typeface="Times New Roman" pitchFamily="18" charset="0"/>
              </a:rPr>
              <a:t>Principais conceitos matemáticos utilizados na Computação Gráfica.</a:t>
            </a:r>
            <a:endParaRPr lang="pt-BR" sz="2000" b="1" dirty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pt-BR" sz="2000" b="1" dirty="0">
                <a:cs typeface="Times New Roman" pitchFamily="18" charset="0"/>
              </a:rPr>
              <a:t>PRIMITIVAS GRAFICAS: </a:t>
            </a:r>
            <a:r>
              <a:rPr lang="pt-BR" sz="2000" dirty="0">
                <a:cs typeface="Times New Roman" pitchFamily="18" charset="0"/>
              </a:rPr>
              <a:t>Desenhos de primitivas gráficas: reta, circunferência, algoritmo DDA e Ponto Médio.</a:t>
            </a:r>
          </a:p>
          <a:p>
            <a:pPr eaLnBrk="1" hangingPunct="1">
              <a:lnSpc>
                <a:spcPct val="90000"/>
              </a:lnSpc>
            </a:pPr>
            <a:r>
              <a:rPr lang="pt-BR" sz="2000" b="1" dirty="0">
                <a:cs typeface="Times New Roman" pitchFamily="18" charset="0"/>
              </a:rPr>
              <a:t>COMPUTAÇÃO GRÁFICA 2D</a:t>
            </a:r>
            <a:r>
              <a:rPr lang="pt-BR" sz="2000" dirty="0">
                <a:cs typeface="Times New Roman" pitchFamily="18" charset="0"/>
              </a:rPr>
              <a:t>: Transformações geométricas 2D; Visualização de objetos 2D. </a:t>
            </a:r>
            <a:endParaRPr lang="pt-BR" sz="2000" dirty="0"/>
          </a:p>
          <a:p>
            <a:pPr eaLnBrk="1" hangingPunct="1">
              <a:lnSpc>
                <a:spcPct val="90000"/>
              </a:lnSpc>
            </a:pPr>
            <a:r>
              <a:rPr lang="pt-BR" sz="2000" b="1" dirty="0">
                <a:cs typeface="Times New Roman" pitchFamily="18" charset="0"/>
              </a:rPr>
              <a:t>PACOTE GRÁFICO OPENGL / WEBGL</a:t>
            </a:r>
            <a:r>
              <a:rPr lang="pt-BR" sz="2000" dirty="0">
                <a:cs typeface="Times New Roman" pitchFamily="18" charset="0"/>
              </a:rPr>
              <a:t>: Inicialização; Definição de entidades gráficas; Uso de transformações geométricas; Uso de cores; Diferenças entre </a:t>
            </a:r>
            <a:r>
              <a:rPr lang="pt-BR" sz="2000" dirty="0" err="1">
                <a:cs typeface="Times New Roman" pitchFamily="18" charset="0"/>
              </a:rPr>
              <a:t>OpenGL</a:t>
            </a:r>
            <a:r>
              <a:rPr lang="pt-BR" sz="2000" dirty="0">
                <a:cs typeface="Times New Roman" pitchFamily="18" charset="0"/>
              </a:rPr>
              <a:t>, GLUT E WEBGL.</a:t>
            </a:r>
            <a:r>
              <a:rPr lang="pt-BR" sz="2000" dirty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pt-BR" sz="2000" dirty="0">
                <a:cs typeface="Times New Roman" pitchFamily="18" charset="0"/>
              </a:rPr>
              <a:t> </a:t>
            </a:r>
            <a:r>
              <a:rPr lang="pt-BR" sz="2000" b="1" dirty="0">
                <a:cs typeface="Times New Roman" pitchFamily="18" charset="0"/>
              </a:rPr>
              <a:t>NOÇÕES DE MODELAGEM GEOMÉTRICA  E VISUALIZAÇÃO 3D</a:t>
            </a:r>
            <a:r>
              <a:rPr lang="pt-BR" sz="2000" dirty="0">
                <a:cs typeface="Times New Roman" pitchFamily="18" charset="0"/>
              </a:rPr>
              <a:t>: Sistemas de coordenadas espaciais; Mudança de sistemas de </a:t>
            </a:r>
            <a:r>
              <a:rPr lang="pt-BR" sz="2000" dirty="0" err="1">
                <a:cs typeface="Times New Roman" pitchFamily="18" charset="0"/>
              </a:rPr>
              <a:t>coordenadas;Transformações</a:t>
            </a:r>
            <a:r>
              <a:rPr lang="pt-BR" sz="2000" dirty="0">
                <a:cs typeface="Times New Roman" pitchFamily="18" charset="0"/>
              </a:rPr>
              <a:t> geométricas 3D; Projeções: paralela e em perspectiva; Formas de representação de objetos 3D e estruturas de dados;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>
                <a:cs typeface="Courier New" pitchFamily="49" charset="0"/>
              </a:rPr>
              <a:t>Ementa e Conte</a:t>
            </a:r>
            <a:r>
              <a:rPr lang="pt-BR">
                <a:latin typeface="Tahoma" pitchFamily="34" charset="0"/>
                <a:cs typeface="Courier New" pitchFamily="49" charset="0"/>
              </a:rPr>
              <a:t>ú</a:t>
            </a:r>
            <a:r>
              <a:rPr lang="pt-BR">
                <a:cs typeface="Courier New" pitchFamily="49" charset="0"/>
              </a:rPr>
              <a:t>do Program</a:t>
            </a:r>
            <a:r>
              <a:rPr lang="pt-BR">
                <a:latin typeface="Tahoma" pitchFamily="34" charset="0"/>
                <a:cs typeface="Courier New" pitchFamily="49" charset="0"/>
              </a:rPr>
              <a:t>á</a:t>
            </a:r>
            <a:r>
              <a:rPr lang="pt-BR">
                <a:cs typeface="Courier New" pitchFamily="49" charset="0"/>
              </a:rPr>
              <a:t>tico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2950" y="1981200"/>
            <a:ext cx="8477250" cy="4191000"/>
          </a:xfrm>
        </p:spPr>
        <p:txBody>
          <a:bodyPr/>
          <a:lstStyle/>
          <a:p>
            <a:pPr eaLnBrk="1" hangingPunct="1"/>
            <a:r>
              <a:rPr lang="pt-BR" sz="2000" b="1" dirty="0">
                <a:cs typeface="Times New Roman" pitchFamily="18" charset="0"/>
              </a:rPr>
              <a:t>FUNDAMENTOS DE IMAGENS DIGITAIS</a:t>
            </a:r>
            <a:r>
              <a:rPr lang="pt-BR" sz="2000" dirty="0">
                <a:cs typeface="Times New Roman" pitchFamily="18" charset="0"/>
              </a:rPr>
              <a:t>:  Aquisição e digitalização de imagens; propriedades de uma imagem digital; operações lógicas e aritméticas; operações de </a:t>
            </a:r>
            <a:r>
              <a:rPr lang="pt-BR" sz="2000" dirty="0" err="1">
                <a:cs typeface="Times New Roman" pitchFamily="18" charset="0"/>
              </a:rPr>
              <a:t>convolução</a:t>
            </a:r>
            <a:r>
              <a:rPr lang="pt-BR" sz="2000" dirty="0">
                <a:cs typeface="Times New Roman" pitchFamily="18" charset="0"/>
              </a:rPr>
              <a:t> com máscaras. </a:t>
            </a:r>
          </a:p>
          <a:p>
            <a:pPr eaLnBrk="1" hangingPunct="1"/>
            <a:r>
              <a:rPr lang="pt-BR" sz="2000" b="1" dirty="0">
                <a:cs typeface="Times New Roman" pitchFamily="18" charset="0"/>
              </a:rPr>
              <a:t>FILTRAGEM: REALCE E SUAVISAÇÃO DE IMAGENS</a:t>
            </a:r>
            <a:r>
              <a:rPr lang="pt-BR" sz="2000" dirty="0">
                <a:cs typeface="Times New Roman" pitchFamily="18" charset="0"/>
              </a:rPr>
              <a:t>:  Filtragem no domínio espacial; suavização de imagens no domínio espacial; Realce de imagens domínio espacial; </a:t>
            </a:r>
            <a:r>
              <a:rPr lang="pt-BR" sz="2000" dirty="0" err="1">
                <a:cs typeface="Times New Roman" pitchFamily="18" charset="0"/>
              </a:rPr>
              <a:t>Idéias</a:t>
            </a:r>
            <a:r>
              <a:rPr lang="pt-BR" sz="2000" dirty="0">
                <a:cs typeface="Times New Roman" pitchFamily="18" charset="0"/>
              </a:rPr>
              <a:t> do processamento de imagens coloridas; Filtros Morfológicos; Processamento de imagens no domínio da frequência.</a:t>
            </a:r>
          </a:p>
          <a:p>
            <a:pPr eaLnBrk="1" hangingPunct="1"/>
            <a:r>
              <a:rPr lang="pt-BR" sz="2000" b="1" dirty="0">
                <a:cs typeface="Times New Roman" pitchFamily="18" charset="0"/>
              </a:rPr>
              <a:t>TÉCNICAS DE MODIFICAÇÃO DE HISTOGRAMA</a:t>
            </a:r>
            <a:r>
              <a:rPr lang="pt-BR" sz="2000" dirty="0">
                <a:cs typeface="Times New Roman" pitchFamily="18" charset="0"/>
              </a:rPr>
              <a:t>:  Conceito de histograma; Transformações de intensidade; Equalização de histograma; Expansão e compressão de histograma.</a:t>
            </a:r>
          </a:p>
          <a:p>
            <a:pPr eaLnBrk="1" hangingPunct="1">
              <a:buFont typeface="Wingdings" pitchFamily="2" charset="2"/>
              <a:buNone/>
            </a:pPr>
            <a:endParaRPr lang="pt-BR" sz="2000" dirty="0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>
                <a:cs typeface="Courier New" pitchFamily="49" charset="0"/>
              </a:rPr>
              <a:t>Ementa e Conte</a:t>
            </a:r>
            <a:r>
              <a:rPr lang="pt-BR">
                <a:latin typeface="Tahoma" pitchFamily="34" charset="0"/>
                <a:cs typeface="Courier New" pitchFamily="49" charset="0"/>
              </a:rPr>
              <a:t>ú</a:t>
            </a:r>
            <a:r>
              <a:rPr lang="pt-BR">
                <a:cs typeface="Courier New" pitchFamily="49" charset="0"/>
              </a:rPr>
              <a:t>do Program</a:t>
            </a:r>
            <a:r>
              <a:rPr lang="pt-BR">
                <a:latin typeface="Tahoma" pitchFamily="34" charset="0"/>
                <a:cs typeface="Courier New" pitchFamily="49" charset="0"/>
              </a:rPr>
              <a:t>á</a:t>
            </a:r>
            <a:r>
              <a:rPr lang="pt-BR">
                <a:cs typeface="Courier New" pitchFamily="49" charset="0"/>
              </a:rPr>
              <a:t>tico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sz="2000" b="1" dirty="0">
                <a:cs typeface="Times New Roman" pitchFamily="18" charset="0"/>
              </a:rPr>
              <a:t>SEMINÁRIOS EM COMPUTAÇÃO</a:t>
            </a:r>
            <a:r>
              <a:rPr lang="pt-BR" sz="2000" dirty="0">
                <a:cs typeface="Times New Roman" pitchFamily="18" charset="0"/>
              </a:rPr>
              <a:t> </a:t>
            </a:r>
            <a:r>
              <a:rPr lang="pt-BR" sz="2000" b="1" dirty="0">
                <a:cs typeface="Times New Roman" pitchFamily="18" charset="0"/>
              </a:rPr>
              <a:t>GRÁFICA:</a:t>
            </a:r>
            <a:r>
              <a:rPr lang="pt-BR" sz="2000" dirty="0">
                <a:cs typeface="Times New Roman" pitchFamily="18" charset="0"/>
              </a:rPr>
              <a:t> Realidade Virtual; Princípios básicos, aplicações e dispositivos; Visualização Científica; Conceitos básicos, aplicações e exemplos de sistemas; Animação assistida por computador; Princípios básicos de </a:t>
            </a:r>
            <a:r>
              <a:rPr lang="pt-BR" sz="2000" dirty="0" err="1">
                <a:cs typeface="Times New Roman" pitchFamily="18" charset="0"/>
              </a:rPr>
              <a:t>renderização</a:t>
            </a:r>
            <a:r>
              <a:rPr lang="pt-BR" sz="2000" dirty="0">
                <a:cs typeface="Times New Roman" pitchFamily="18" charset="0"/>
              </a:rPr>
              <a:t>;  desenvolvimentos de aplicativos em processamento de imagens, Sistemas de reconhecimento de padrões; Realidade Virtual, Geometria fractal; Temas associados com as áreas de Computação Gráfica e Processamento de Imagens</a:t>
            </a:r>
            <a:r>
              <a:rPr lang="pt-BR" sz="2000" dirty="0"/>
              <a:t> digitais.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Bibliografia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981200"/>
            <a:ext cx="8629650" cy="4267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s-ES_tradnl" sz="1800" dirty="0">
              <a:cs typeface="Times New Roman" pitchFamily="18" charset="0"/>
            </a:endParaRPr>
          </a:p>
          <a:p>
            <a:pPr eaLnBrk="1" hangingPunct="1"/>
            <a:r>
              <a:rPr lang="es-ES_tradnl" sz="1800" dirty="0">
                <a:solidFill>
                  <a:schemeClr val="bg2"/>
                </a:solidFill>
                <a:cs typeface="Times New Roman" pitchFamily="18" charset="0"/>
              </a:rPr>
              <a:t>FOLEY, J. et al. </a:t>
            </a:r>
            <a:r>
              <a:rPr lang="en-US" sz="1800" b="1" dirty="0">
                <a:solidFill>
                  <a:schemeClr val="bg2"/>
                </a:solidFill>
                <a:cs typeface="Times New Roman" pitchFamily="18" charset="0"/>
              </a:rPr>
              <a:t>Computer graphics</a:t>
            </a:r>
            <a:r>
              <a:rPr lang="en-US" sz="1800" dirty="0">
                <a:solidFill>
                  <a:schemeClr val="bg2"/>
                </a:solidFill>
                <a:cs typeface="Times New Roman" pitchFamily="18" charset="0"/>
              </a:rPr>
              <a:t> </a:t>
            </a:r>
            <a:r>
              <a:rPr lang="en-US" sz="1800" b="1" dirty="0">
                <a:solidFill>
                  <a:schemeClr val="bg2"/>
                </a:solidFill>
                <a:cs typeface="Times New Roman" pitchFamily="18" charset="0"/>
              </a:rPr>
              <a:t>: Principles and Practice</a:t>
            </a:r>
            <a:r>
              <a:rPr lang="en-US" sz="1800" dirty="0">
                <a:solidFill>
                  <a:schemeClr val="bg2"/>
                </a:solidFill>
                <a:cs typeface="Times New Roman" pitchFamily="18" charset="0"/>
              </a:rPr>
              <a:t>. 3. ed. Pearson, 2014.</a:t>
            </a:r>
          </a:p>
          <a:p>
            <a:pPr eaLnBrk="1" hangingPunct="1"/>
            <a:r>
              <a:rPr lang="en-US" sz="1800" dirty="0">
                <a:solidFill>
                  <a:schemeClr val="bg2"/>
                </a:solidFill>
                <a:cs typeface="Times New Roman" pitchFamily="18" charset="0"/>
              </a:rPr>
              <a:t>GONZALEZ, R. C. e WOODS, R. E. </a:t>
            </a:r>
            <a:r>
              <a:rPr lang="en-US" sz="1800" b="1" dirty="0" err="1">
                <a:solidFill>
                  <a:schemeClr val="bg2"/>
                </a:solidFill>
                <a:cs typeface="Times New Roman" pitchFamily="18" charset="0"/>
              </a:rPr>
              <a:t>Processamento</a:t>
            </a:r>
            <a:r>
              <a:rPr lang="en-US" sz="1800" b="1" dirty="0">
                <a:solidFill>
                  <a:schemeClr val="bg2"/>
                </a:solidFill>
                <a:cs typeface="Times New Roman" pitchFamily="18" charset="0"/>
              </a:rPr>
              <a:t> Digital de </a:t>
            </a:r>
            <a:r>
              <a:rPr lang="en-US" sz="1800" b="1" dirty="0" err="1">
                <a:solidFill>
                  <a:schemeClr val="bg2"/>
                </a:solidFill>
                <a:cs typeface="Times New Roman" pitchFamily="18" charset="0"/>
              </a:rPr>
              <a:t>Imagens</a:t>
            </a:r>
            <a:r>
              <a:rPr lang="en-US" sz="1800" dirty="0">
                <a:solidFill>
                  <a:schemeClr val="bg2"/>
                </a:solidFill>
                <a:cs typeface="Times New Roman" pitchFamily="18" charset="0"/>
              </a:rPr>
              <a:t>. 3 ed. Pearson , 2010.</a:t>
            </a:r>
            <a:r>
              <a:rPr lang="pt-BR" sz="1800" dirty="0">
                <a:solidFill>
                  <a:schemeClr val="bg2"/>
                </a:solidFill>
                <a:cs typeface="Times New Roman" pitchFamily="18" charset="0"/>
              </a:rPr>
              <a:t> </a:t>
            </a:r>
          </a:p>
          <a:p>
            <a:pPr eaLnBrk="1" hangingPunct="1"/>
            <a:r>
              <a:rPr lang="en-US" sz="1800" dirty="0">
                <a:solidFill>
                  <a:schemeClr val="tx1">
                    <a:lumMod val="95000"/>
                  </a:schemeClr>
                </a:solidFill>
                <a:cs typeface="Times New Roman" pitchFamily="18" charset="0"/>
              </a:rPr>
              <a:t>HEARN, D., BAKER, M. P.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  <a:cs typeface="Times New Roman" pitchFamily="18" charset="0"/>
              </a:rPr>
              <a:t>Computer Graphics With </a:t>
            </a:r>
            <a:r>
              <a:rPr lang="en-US" sz="1800" b="1" dirty="0" err="1">
                <a:solidFill>
                  <a:schemeClr val="tx1">
                    <a:lumMod val="95000"/>
                  </a:schemeClr>
                </a:solidFill>
                <a:cs typeface="Times New Roman" pitchFamily="18" charset="0"/>
              </a:rPr>
              <a:t>OpenGl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  <a:cs typeface="Times New Roman" pitchFamily="18" charset="0"/>
              </a:rPr>
              <a:t>, 4. ed.: Prentice-Hall, 2011.</a:t>
            </a:r>
            <a:r>
              <a:rPr lang="en-US" sz="1800" dirty="0">
                <a:solidFill>
                  <a:schemeClr val="bg2"/>
                </a:solidFill>
                <a:cs typeface="Times New Roman" pitchFamily="18" charset="0"/>
              </a:rPr>
              <a:t> </a:t>
            </a:r>
          </a:p>
          <a:p>
            <a:pPr eaLnBrk="1" hangingPunct="1"/>
            <a:r>
              <a:rPr lang="en-US" sz="1800" dirty="0">
                <a:solidFill>
                  <a:schemeClr val="bg2"/>
                </a:solidFill>
                <a:cs typeface="Times New Roman" pitchFamily="18" charset="0"/>
              </a:rPr>
              <a:t>KLAWONN, F. </a:t>
            </a:r>
            <a:r>
              <a:rPr lang="en-US" sz="1800" b="1" dirty="0">
                <a:solidFill>
                  <a:schemeClr val="bg2"/>
                </a:solidFill>
                <a:cs typeface="Times New Roman" pitchFamily="18" charset="0"/>
              </a:rPr>
              <a:t>Introduction to Computer Graphics: Using Java 2D e 3D</a:t>
            </a:r>
            <a:r>
              <a:rPr lang="en-US" sz="1800" dirty="0">
                <a:solidFill>
                  <a:schemeClr val="bg2"/>
                </a:solidFill>
                <a:cs typeface="Times New Roman" pitchFamily="18" charset="0"/>
              </a:rPr>
              <a:t>. Springer, 2008.</a:t>
            </a:r>
          </a:p>
          <a:p>
            <a:pPr eaLnBrk="1" hangingPunct="1"/>
            <a:r>
              <a:rPr lang="pt-BR" sz="1800" dirty="0">
                <a:cs typeface="Times New Roman" pitchFamily="18" charset="0"/>
              </a:rPr>
              <a:t>PEDRINI,H.; SCHWARTZ,R.W. </a:t>
            </a:r>
            <a:r>
              <a:rPr lang="pt-BR" sz="1800" b="1" dirty="0">
                <a:cs typeface="Times New Roman" pitchFamily="18" charset="0"/>
              </a:rPr>
              <a:t>Análise de Imagens Digitais: Princípios, Algoritmos e Aplicações</a:t>
            </a:r>
            <a:r>
              <a:rPr lang="pt-BR" sz="1800" dirty="0">
                <a:cs typeface="Times New Roman" pitchFamily="18" charset="0"/>
              </a:rPr>
              <a:t>. Thomson, 2008.</a:t>
            </a:r>
          </a:p>
          <a:p>
            <a:pPr eaLnBrk="1" hangingPunct="1"/>
            <a:r>
              <a:rPr lang="pt-BR" sz="1800" dirty="0">
                <a:solidFill>
                  <a:schemeClr val="bg2"/>
                </a:solidFill>
                <a:cs typeface="Times New Roman" pitchFamily="18" charset="0"/>
              </a:rPr>
              <a:t>TRAINA, A.J.M. e OLIVEIRA, M.C.F. </a:t>
            </a:r>
            <a:r>
              <a:rPr lang="pt-BR" sz="1800" b="1" dirty="0">
                <a:solidFill>
                  <a:schemeClr val="bg2"/>
                </a:solidFill>
                <a:cs typeface="Times New Roman" pitchFamily="18" charset="0"/>
              </a:rPr>
              <a:t>Apostila de  Computação Gráfica</a:t>
            </a:r>
            <a:r>
              <a:rPr lang="pt-BR" sz="1800" dirty="0">
                <a:solidFill>
                  <a:schemeClr val="bg2"/>
                </a:solidFill>
                <a:cs typeface="Times New Roman" pitchFamily="18" charset="0"/>
              </a:rPr>
              <a:t>. IME-USP, 2006. </a:t>
            </a:r>
          </a:p>
          <a:p>
            <a:pPr marL="0" indent="0" eaLnBrk="1" hangingPunct="1">
              <a:buNone/>
            </a:pPr>
            <a:endParaRPr lang="pt-BR" sz="2000" dirty="0">
              <a:solidFill>
                <a:srgbClr val="000000"/>
              </a:solidFill>
              <a:cs typeface="Times New Roman" pitchFamily="18" charset="0"/>
            </a:endParaRPr>
          </a:p>
          <a:p>
            <a:pPr eaLnBrk="1" hangingPunct="1"/>
            <a:endParaRPr lang="en-US" sz="2000" dirty="0">
              <a:cs typeface="Times New Roman" pitchFamily="18" charset="0"/>
            </a:endParaRPr>
          </a:p>
          <a:p>
            <a:pPr eaLnBrk="1" hangingPunct="1"/>
            <a:endParaRPr lang="pt-BR" sz="2000" dirty="0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742950" y="228600"/>
            <a:ext cx="8915400" cy="1143000"/>
          </a:xfrm>
        </p:spPr>
        <p:txBody>
          <a:bodyPr/>
          <a:lstStyle/>
          <a:p>
            <a:pPr algn="ctr" eaLnBrk="1" hangingPunct="1"/>
            <a:br>
              <a:rPr lang="pt-BR" b="0">
                <a:solidFill>
                  <a:srgbClr val="FFCC00"/>
                </a:solidFill>
              </a:rPr>
            </a:br>
            <a:r>
              <a:rPr lang="pt-BR" b="0">
                <a:solidFill>
                  <a:schemeClr val="tx1"/>
                </a:solidFill>
              </a:rPr>
              <a:t>Metodologia,</a:t>
            </a:r>
            <a:r>
              <a:rPr lang="pt-BR">
                <a:solidFill>
                  <a:schemeClr val="tx1"/>
                </a:solidFill>
              </a:rPr>
              <a:t> </a:t>
            </a:r>
            <a:r>
              <a:rPr lang="pt-BR" b="0">
                <a:solidFill>
                  <a:schemeClr val="tx1"/>
                </a:solidFill>
              </a:rPr>
              <a:t> Técnicas e Recurso didáticos</a:t>
            </a:r>
            <a:r>
              <a:rPr lang="pt-BR"/>
              <a:t> </a:t>
            </a:r>
            <a:br>
              <a:rPr lang="pt-BR" b="0">
                <a:latin typeface="Courier New" pitchFamily="49" charset="0"/>
              </a:rPr>
            </a:br>
            <a:endParaRPr lang="pt-BR" b="0">
              <a:latin typeface="Courier New" pitchFamily="49" charset="0"/>
            </a:endParaRP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endParaRPr lang="pt-BR"/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pt-BR"/>
              <a:t>Aulas expositivas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pt-BR"/>
              <a:t>Aulas práticas de laboratório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pt-BR"/>
              <a:t>Atividades individuais e em grupo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endParaRPr lang="pt-BR"/>
          </a:p>
          <a:p>
            <a:pPr eaLnBrk="1" hangingPunct="1">
              <a:lnSpc>
                <a:spcPct val="90000"/>
              </a:lnSpc>
              <a:buClr>
                <a:srgbClr val="FF7C80"/>
              </a:buClr>
              <a:buFont typeface="Wingdings" pitchFamily="2" charset="2"/>
              <a:buChar char="Ø"/>
            </a:pPr>
            <a:r>
              <a:rPr lang="pt-BR"/>
              <a:t>Data Show</a:t>
            </a:r>
          </a:p>
          <a:p>
            <a:pPr eaLnBrk="1" hangingPunct="1">
              <a:lnSpc>
                <a:spcPct val="90000"/>
              </a:lnSpc>
              <a:buClr>
                <a:srgbClr val="FF7C80"/>
              </a:buClr>
              <a:buFont typeface="Wingdings" pitchFamily="2" charset="2"/>
              <a:buChar char="Ø"/>
            </a:pPr>
            <a:r>
              <a:rPr lang="pt-BR"/>
              <a:t>Aplicativos de domínio público </a:t>
            </a:r>
          </a:p>
          <a:p>
            <a:pPr eaLnBrk="1" hangingPunct="1">
              <a:lnSpc>
                <a:spcPct val="90000"/>
              </a:lnSpc>
              <a:buClr>
                <a:srgbClr val="FF7C80"/>
              </a:buClr>
              <a:buFont typeface="Wingdings" pitchFamily="2" charset="2"/>
              <a:buChar char="Ø"/>
            </a:pPr>
            <a:r>
              <a:rPr lang="pt-BR"/>
              <a:t>Quadro branco</a:t>
            </a:r>
          </a:p>
          <a:p>
            <a:pPr eaLnBrk="1" hangingPunct="1">
              <a:lnSpc>
                <a:spcPct val="90000"/>
              </a:lnSpc>
              <a:buClr>
                <a:srgbClr val="FF7C80"/>
              </a:buClr>
              <a:buFont typeface="Wingdings" pitchFamily="2" charset="2"/>
              <a:buChar char="Ø"/>
            </a:pPr>
            <a:r>
              <a:rPr lang="pt-BR"/>
              <a:t>Recursos laboratoriais</a:t>
            </a:r>
            <a:endParaRPr lang="pt-BR" sz="2400" b="1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pt-BR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/>
              <a:t>Avaliação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Ø"/>
            </a:pPr>
            <a:endParaRPr lang="pt-BR" sz="2400"/>
          </a:p>
          <a:p>
            <a:pPr eaLnBrk="1" hangingPunct="1">
              <a:buFont typeface="Wingdings" pitchFamily="2" charset="2"/>
              <a:buChar char="Ø"/>
            </a:pPr>
            <a:endParaRPr lang="pt-BR" sz="2400"/>
          </a:p>
          <a:p>
            <a:pPr eaLnBrk="1" hangingPunct="1">
              <a:buFont typeface="Wingdings" pitchFamily="2" charset="2"/>
              <a:buChar char="Ø"/>
            </a:pPr>
            <a:r>
              <a:rPr lang="pt-BR" sz="2400"/>
              <a:t>Contínua, mediante avaliações individuais e trabalhos em laboratório;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pt-BR" sz="2400"/>
              <a:t>Trabalhos interativos de pesquisa extra-classe individual e em grupo;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pt-BR" sz="2400"/>
              <a:t>Trabalhos de pesquisa intra-classe individual e em grupo.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Avaliação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/>
              <a:t>Avaliação 1</a:t>
            </a:r>
          </a:p>
          <a:p>
            <a:pPr lvl="1" eaLnBrk="1" hangingPunct="1"/>
            <a:endParaRPr lang="pt-BR"/>
          </a:p>
          <a:p>
            <a:pPr lvl="1" eaLnBrk="1" hangingPunct="1"/>
            <a:r>
              <a:rPr lang="pt-BR"/>
              <a:t>Atividades intra classe - AI</a:t>
            </a:r>
          </a:p>
          <a:p>
            <a:pPr lvl="1" eaLnBrk="1" hangingPunct="1">
              <a:buFont typeface="Wingdings" pitchFamily="2" charset="2"/>
              <a:buNone/>
            </a:pPr>
            <a:endParaRPr lang="pt-BR"/>
          </a:p>
          <a:p>
            <a:pPr lvl="1" eaLnBrk="1" hangingPunct="1"/>
            <a:r>
              <a:rPr lang="pt-BR"/>
              <a:t>Laboratório - LAB</a:t>
            </a:r>
          </a:p>
          <a:p>
            <a:pPr lvl="1" eaLnBrk="1" hangingPunct="1">
              <a:buFont typeface="Wingdings" pitchFamily="2" charset="2"/>
              <a:buNone/>
            </a:pPr>
            <a:endParaRPr lang="pt-BR"/>
          </a:p>
          <a:p>
            <a:pPr lvl="1" eaLnBrk="1" hangingPunct="1">
              <a:buFont typeface="Wingdings" pitchFamily="2" charset="2"/>
              <a:buNone/>
            </a:pPr>
            <a:endParaRPr lang="pt-BR"/>
          </a:p>
          <a:p>
            <a:pPr lvl="1" eaLnBrk="1" hangingPunct="1">
              <a:buFont typeface="Wingdings" pitchFamily="2" charset="2"/>
              <a:buNone/>
            </a:pPr>
            <a:endParaRPr lang="pt-BR"/>
          </a:p>
          <a:p>
            <a:pPr lvl="1" eaLnBrk="1" hangingPunct="1">
              <a:buFont typeface="Wingdings" pitchFamily="2" charset="2"/>
              <a:buNone/>
            </a:pPr>
            <a:endParaRPr lang="pt-BR"/>
          </a:p>
        </p:txBody>
      </p:sp>
      <p:graphicFrame>
        <p:nvGraphicFramePr>
          <p:cNvPr id="2050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7867716"/>
              </p:ext>
            </p:extLst>
          </p:nvPr>
        </p:nvGraphicFramePr>
        <p:xfrm>
          <a:off x="3276600" y="4953000"/>
          <a:ext cx="290300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79480" imgH="609480" progId="Equation.DSMT4">
                  <p:embed/>
                </p:oleObj>
              </mc:Choice>
              <mc:Fallback>
                <p:oleObj name="Equation" r:id="rId2" imgW="267948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953000"/>
                        <a:ext cx="2903008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Avaliação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/>
              <a:t>Avaliação 2</a:t>
            </a:r>
          </a:p>
          <a:p>
            <a:pPr lvl="1" eaLnBrk="1" hangingPunct="1"/>
            <a:endParaRPr lang="pt-BR"/>
          </a:p>
          <a:p>
            <a:pPr lvl="1" eaLnBrk="1" hangingPunct="1"/>
            <a:r>
              <a:rPr lang="pt-BR"/>
              <a:t>Atividades intra classe - AI</a:t>
            </a:r>
          </a:p>
          <a:p>
            <a:pPr lvl="1" eaLnBrk="1" hangingPunct="1"/>
            <a:r>
              <a:rPr lang="pt-BR"/>
              <a:t>Laboratório - LAB</a:t>
            </a:r>
          </a:p>
          <a:p>
            <a:pPr lvl="1" eaLnBrk="1" hangingPunct="1">
              <a:buFont typeface="Wingdings" pitchFamily="2" charset="2"/>
              <a:buNone/>
            </a:pPr>
            <a:endParaRPr lang="pt-BR"/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8494457"/>
              </p:ext>
            </p:extLst>
          </p:nvPr>
        </p:nvGraphicFramePr>
        <p:xfrm>
          <a:off x="3276600" y="4800600"/>
          <a:ext cx="29305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05040" imgH="609480" progId="Equation.DSMT4">
                  <p:embed/>
                </p:oleObj>
              </mc:Choice>
              <mc:Fallback>
                <p:oleObj name="Equation" r:id="rId2" imgW="270504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800600"/>
                        <a:ext cx="2930525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5"/>
          <p:cNvGraphicFramePr>
            <a:graphicFrameLocks noChangeAspect="1"/>
          </p:cNvGraphicFramePr>
          <p:nvPr/>
        </p:nvGraphicFramePr>
        <p:xfrm>
          <a:off x="0" y="0"/>
          <a:ext cx="9906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06720" progId="Equation.DSMT4">
                  <p:embed/>
                </p:oleObj>
              </mc:Choice>
              <mc:Fallback>
                <p:oleObj name="Equation" r:id="rId4" imgW="914400" imgH="306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90600" cy="30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6"/>
          <p:cNvGraphicFramePr>
            <a:graphicFrameLocks noChangeAspect="1"/>
          </p:cNvGraphicFramePr>
          <p:nvPr/>
        </p:nvGraphicFramePr>
        <p:xfrm>
          <a:off x="0" y="0"/>
          <a:ext cx="9906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06720" progId="Equation.DSMT4">
                  <p:embed/>
                </p:oleObj>
              </mc:Choice>
              <mc:Fallback>
                <p:oleObj name="Equation" r:id="rId4" imgW="914400" imgH="306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90600" cy="30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7411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Avaliação</a:t>
            </a:r>
          </a:p>
        </p:txBody>
      </p:sp>
      <p:sp>
        <p:nvSpPr>
          <p:cNvPr id="17412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pt-BR"/>
          </a:p>
          <a:p>
            <a:pPr eaLnBrk="1" hangingPunct="1"/>
            <a:endParaRPr lang="pt-BR"/>
          </a:p>
          <a:p>
            <a:pPr eaLnBrk="1" hangingPunct="1"/>
            <a:r>
              <a:rPr lang="pt-BR"/>
              <a:t>Média Final</a:t>
            </a:r>
          </a:p>
          <a:p>
            <a:pPr eaLnBrk="1" hangingPunct="1"/>
            <a:endParaRPr lang="pt-BR"/>
          </a:p>
          <a:p>
            <a:pPr lvl="1" eaLnBrk="1" hangingPunct="1"/>
            <a:r>
              <a:rPr lang="pt-BR"/>
              <a:t>Média  final = </a:t>
            </a:r>
            <a:r>
              <a:rPr lang="pt-BR" u="sng"/>
              <a:t>nota1 + nota2  </a:t>
            </a:r>
            <a:r>
              <a:rPr lang="pt-BR"/>
              <a:t>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pt-BR"/>
              <a:t>				          2</a:t>
            </a:r>
          </a:p>
          <a:p>
            <a:pPr lvl="1" eaLnBrk="1" hangingPunct="1">
              <a:buFont typeface="Wingdings" pitchFamily="2" charset="2"/>
              <a:buNone/>
            </a:pPr>
            <a:endParaRPr lang="pt-BR"/>
          </a:p>
          <a:p>
            <a:pPr lvl="1" eaLnBrk="1" hangingPunct="1">
              <a:buFont typeface="Wingdings" pitchFamily="2" charset="2"/>
              <a:buNone/>
            </a:pPr>
            <a:endParaRPr lang="pt-BR"/>
          </a:p>
          <a:p>
            <a:pPr eaLnBrk="1" hangingPunct="1">
              <a:buFont typeface="Wingdings" pitchFamily="2" charset="2"/>
              <a:buNone/>
            </a:pPr>
            <a:r>
              <a:rPr lang="pt-BR"/>
              <a:t>					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8435" name="Rectangle 307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/>
              <a:t>Descrição de Atividades</a:t>
            </a:r>
          </a:p>
        </p:txBody>
      </p:sp>
      <p:sp>
        <p:nvSpPr>
          <p:cNvPr id="18436" name="Rectangle 307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pt-BR" dirty="0"/>
          </a:p>
          <a:p>
            <a:pPr eaLnBrk="1" hangingPunct="1"/>
            <a:r>
              <a:rPr lang="pt-BR" dirty="0"/>
              <a:t>Atividades </a:t>
            </a:r>
            <a:r>
              <a:rPr lang="pt-BR" dirty="0" err="1"/>
              <a:t>Intra</a:t>
            </a:r>
            <a:r>
              <a:rPr lang="pt-BR" dirty="0"/>
              <a:t> classe</a:t>
            </a:r>
          </a:p>
          <a:p>
            <a:pPr lvl="1" eaLnBrk="1" hangingPunct="1"/>
            <a:r>
              <a:rPr lang="pt-BR" dirty="0"/>
              <a:t>Individual</a:t>
            </a:r>
          </a:p>
          <a:p>
            <a:pPr eaLnBrk="1" hangingPunct="1">
              <a:buFont typeface="Wingdings" pitchFamily="2" charset="2"/>
              <a:buNone/>
            </a:pPr>
            <a:endParaRPr lang="pt-BR" dirty="0"/>
          </a:p>
          <a:p>
            <a:pPr eaLnBrk="1" hangingPunct="1">
              <a:buFont typeface="Wingdings" pitchFamily="2" charset="2"/>
              <a:buNone/>
            </a:pPr>
            <a:endParaRPr lang="pt-BR" dirty="0"/>
          </a:p>
          <a:p>
            <a:pPr eaLnBrk="1" hangingPunct="1"/>
            <a:r>
              <a:rPr lang="pt-BR" dirty="0"/>
              <a:t>Atividades em laboratório</a:t>
            </a:r>
          </a:p>
          <a:p>
            <a:pPr lvl="1" eaLnBrk="1" hangingPunct="1"/>
            <a:r>
              <a:rPr lang="pt-BR" dirty="0"/>
              <a:t>Equipe: 3 alunos </a:t>
            </a:r>
          </a:p>
          <a:p>
            <a:pPr eaLnBrk="1" hangingPunct="1">
              <a:buFont typeface="Wingdings" pitchFamily="2" charset="2"/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ço Reservado para Rodapé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9459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/>
              <a:t>CONCEITO</a:t>
            </a:r>
          </a:p>
        </p:txBody>
      </p:sp>
      <p:sp>
        <p:nvSpPr>
          <p:cNvPr id="2" name="Retângulo 1"/>
          <p:cNvSpPr/>
          <p:nvPr/>
        </p:nvSpPr>
        <p:spPr>
          <a:xfrm>
            <a:off x="228600" y="1951672"/>
            <a:ext cx="96774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q"/>
            </a:pPr>
            <a:r>
              <a:rPr lang="pt-BR" sz="2400" b="1" dirty="0">
                <a:latin typeface="Tahoma" pitchFamily="34" charset="0"/>
              </a:rPr>
              <a:t>Conjunto de métodos e técnicas para transformar dados em imagem através de um dispositivo gráfico.</a:t>
            </a:r>
          </a:p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q"/>
            </a:pPr>
            <a:endParaRPr lang="pt-BR" sz="2400" b="1" dirty="0">
              <a:latin typeface="Tahoma" pitchFamily="34" charset="0"/>
            </a:endParaRPr>
          </a:p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q"/>
            </a:pPr>
            <a:endParaRPr lang="pt-BR" sz="2400" b="1" dirty="0">
              <a:latin typeface="Tahoma" pitchFamily="34" charset="0"/>
            </a:endParaRPr>
          </a:p>
          <a:p>
            <a:pPr>
              <a:spcBef>
                <a:spcPct val="50000"/>
              </a:spcBef>
              <a:buClr>
                <a:schemeClr val="folHlink"/>
              </a:buClr>
            </a:pPr>
            <a:r>
              <a:rPr lang="pt-BR" sz="3200" dirty="0">
                <a:solidFill>
                  <a:srgbClr val="FFFFFF"/>
                </a:solidFill>
                <a:latin typeface="Verdana" pitchFamily="34" charset="0"/>
                <a:cs typeface="Arial" charset="0"/>
              </a:rPr>
              <a:t>	</a:t>
            </a:r>
            <a:endParaRPr lang="pt-BR" sz="2400" b="1" dirty="0">
              <a:latin typeface="Tahoma" pitchFamily="34" charset="0"/>
            </a:endParaRPr>
          </a:p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q"/>
            </a:pPr>
            <a:endParaRPr lang="pt-BR" sz="2400" b="1" dirty="0">
              <a:latin typeface="Tahoma" pitchFamily="34" charset="0"/>
            </a:endParaRPr>
          </a:p>
          <a:p>
            <a:pPr>
              <a:spcBef>
                <a:spcPct val="50000"/>
              </a:spcBef>
            </a:pPr>
            <a:r>
              <a:rPr lang="pt-BR" sz="2400" dirty="0">
                <a:solidFill>
                  <a:srgbClr val="FFFFFF"/>
                </a:solidFill>
                <a:latin typeface="Verdana" pitchFamily="34" charset="0"/>
                <a:cs typeface="Arial" charset="0"/>
              </a:rPr>
              <a:t>	</a:t>
            </a:r>
            <a:endParaRPr lang="en-US" dirty="0"/>
          </a:p>
        </p:txBody>
      </p:sp>
      <p:sp>
        <p:nvSpPr>
          <p:cNvPr id="3" name="Retângulo 2"/>
          <p:cNvSpPr/>
          <p:nvPr/>
        </p:nvSpPr>
        <p:spPr bwMode="auto">
          <a:xfrm>
            <a:off x="990600" y="3581400"/>
            <a:ext cx="2057400" cy="8382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DADOS</a:t>
            </a:r>
            <a:endParaRPr kumimoji="0" lang="en-US" sz="18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3" name="Retângulo 12"/>
          <p:cNvSpPr/>
          <p:nvPr/>
        </p:nvSpPr>
        <p:spPr bwMode="auto">
          <a:xfrm>
            <a:off x="5943600" y="3521964"/>
            <a:ext cx="2057400" cy="8382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I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effectLst/>
              </a:rPr>
              <a:t>MAGEM</a:t>
            </a:r>
          </a:p>
        </p:txBody>
      </p:sp>
      <p:cxnSp>
        <p:nvCxnSpPr>
          <p:cNvPr id="5" name="Conector de seta reta 4"/>
          <p:cNvCxnSpPr/>
          <p:nvPr/>
        </p:nvCxnSpPr>
        <p:spPr bwMode="auto">
          <a:xfrm>
            <a:off x="3276600" y="4000500"/>
            <a:ext cx="2514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 b="0" i="1"/>
              <a:t>PROCESSAMENTO GRÁFICO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612900"/>
            <a:ext cx="8420100" cy="4530725"/>
          </a:xfrm>
        </p:spPr>
        <p:txBody>
          <a:bodyPr/>
          <a:lstStyle/>
          <a:p>
            <a:pPr eaLnBrk="1" hangingPunct="1"/>
            <a:endParaRPr lang="pt-BR" i="1"/>
          </a:p>
          <a:p>
            <a:pPr eaLnBrk="1" hangingPunct="1"/>
            <a:endParaRPr lang="pt-BR"/>
          </a:p>
        </p:txBody>
      </p:sp>
      <p:pic>
        <p:nvPicPr>
          <p:cNvPr id="22533" name="Picture 4" descr="Image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20800" y="2133601"/>
            <a:ext cx="7181850" cy="42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/>
              <a:t>Um Pouco de História</a:t>
            </a:r>
            <a:br>
              <a:rPr lang="pt-BR"/>
            </a:br>
            <a:endParaRPr lang="pt-BR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b="1"/>
              <a:t>Whirlwind I (</a:t>
            </a:r>
            <a:r>
              <a:rPr lang="pt-BR" b="1" i="1"/>
              <a:t>furacão </a:t>
            </a:r>
            <a:r>
              <a:rPr lang="pt-BR"/>
              <a:t>I</a:t>
            </a:r>
            <a:r>
              <a:rPr lang="pt-BR" b="1"/>
              <a:t>)</a:t>
            </a:r>
            <a:r>
              <a:rPr lang="pt-BR"/>
              <a:t> - 1950</a:t>
            </a:r>
          </a:p>
          <a:p>
            <a:pPr lvl="2" eaLnBrk="1" hangingPunct="1"/>
            <a:endParaRPr lang="pt-BR"/>
          </a:p>
          <a:p>
            <a:pPr lvl="2" eaLnBrk="1" hangingPunct="1"/>
            <a:r>
              <a:rPr lang="pt-BR"/>
              <a:t>Primeiro computador a possuir recursos gráficos de visualização de dados numéricos.</a:t>
            </a:r>
          </a:p>
          <a:p>
            <a:pPr lvl="3" eaLnBrk="1" hangingPunct="1"/>
            <a:endParaRPr lang="pt-BR"/>
          </a:p>
          <a:p>
            <a:pPr lvl="3" eaLnBrk="1" hangingPunct="1"/>
            <a:r>
              <a:rPr lang="pt-BR"/>
              <a:t>Desenvolvido pelo MIT</a:t>
            </a:r>
          </a:p>
          <a:p>
            <a:pPr lvl="3" eaLnBrk="1" hangingPunct="1"/>
            <a:r>
              <a:rPr lang="pt-BR"/>
              <a:t>Aplicações Acadêmicas </a:t>
            </a:r>
          </a:p>
          <a:p>
            <a:pPr lvl="3" eaLnBrk="1" hangingPunct="1"/>
            <a:r>
              <a:rPr lang="pt-BR"/>
              <a:t>Aplicações Militares: Sistema de monitoramento e controle de vôos (SAGE).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/>
              <a:t>Um Pouco de História</a:t>
            </a:r>
            <a:br>
              <a:rPr lang="pt-BR"/>
            </a:br>
            <a:endParaRPr lang="pt-BR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dirty="0"/>
              <a:t>Tese do Dr. Ivan Sutherland - 1962</a:t>
            </a:r>
          </a:p>
          <a:p>
            <a:pPr lvl="1" eaLnBrk="1" hangingPunct="1"/>
            <a:endParaRPr lang="pt-BR" i="1" dirty="0"/>
          </a:p>
          <a:p>
            <a:pPr lvl="1" eaLnBrk="1" hangingPunct="1"/>
            <a:r>
              <a:rPr lang="pt-BR" i="1" dirty="0" err="1"/>
              <a:t>Sketchpad</a:t>
            </a:r>
            <a:r>
              <a:rPr lang="pt-BR" i="1" dirty="0"/>
              <a:t> - A Man-</a:t>
            </a:r>
            <a:r>
              <a:rPr lang="pt-BR" i="1" dirty="0" err="1"/>
              <a:t>Machine</a:t>
            </a:r>
            <a:r>
              <a:rPr lang="pt-BR" i="1" dirty="0"/>
              <a:t> </a:t>
            </a:r>
            <a:r>
              <a:rPr lang="pt-BR" i="1" dirty="0" err="1"/>
              <a:t>Graphical</a:t>
            </a:r>
            <a:r>
              <a:rPr lang="pt-BR" i="1" dirty="0"/>
              <a:t> Communication System</a:t>
            </a:r>
          </a:p>
          <a:p>
            <a:pPr lvl="2" eaLnBrk="1" hangingPunct="1"/>
            <a:r>
              <a:rPr lang="pt-BR" dirty="0"/>
              <a:t>Propunha o que denominamos de interfaces </a:t>
            </a:r>
            <a:r>
              <a:rPr lang="pt-BR" i="1" dirty="0"/>
              <a:t>WIMP - </a:t>
            </a:r>
            <a:r>
              <a:rPr lang="pt-BR" b="1" i="1" dirty="0" err="1"/>
              <a:t>Window</a:t>
            </a:r>
            <a:r>
              <a:rPr lang="pt-BR" b="1" i="1" dirty="0"/>
              <a:t>-</a:t>
            </a:r>
            <a:r>
              <a:rPr lang="pt-BR" b="1" i="1" dirty="0" err="1"/>
              <a:t>Icon</a:t>
            </a:r>
            <a:r>
              <a:rPr lang="pt-BR" b="1" i="1" dirty="0"/>
              <a:t>-Menu-Pointer</a:t>
            </a:r>
            <a:r>
              <a:rPr lang="pt-BR" i="1" dirty="0"/>
              <a:t> </a:t>
            </a:r>
          </a:p>
          <a:p>
            <a:pPr lvl="2" eaLnBrk="1" hangingPunct="1"/>
            <a:r>
              <a:rPr lang="pt-BR" dirty="0"/>
              <a:t>Chamou a atenção das industrias automobilísticas e aeroespaciais.</a:t>
            </a:r>
          </a:p>
          <a:p>
            <a:pPr lvl="2" eaLnBrk="1" hangingPunct="1"/>
            <a:r>
              <a:rPr lang="pt-BR" dirty="0"/>
              <a:t>  Levou a General Motors a desenvolver o precursor do sistema CAD.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i="1"/>
              <a:t>Passiva ou Interativa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b="1"/>
              <a:t>Computação Gráfica Passiva</a:t>
            </a:r>
            <a:endParaRPr lang="pt-BR"/>
          </a:p>
          <a:p>
            <a:pPr lvl="1" eaLnBrk="1" hangingPunct="1"/>
            <a:r>
              <a:rPr lang="pt-BR"/>
              <a:t>O computador prepara e apresenta dados armazenados sob a forma de figuras e o observador/usuário não interfere nesse processo</a:t>
            </a:r>
          </a:p>
          <a:p>
            <a:pPr eaLnBrk="1" hangingPunct="1"/>
            <a:r>
              <a:rPr lang="pt-BR" b="1"/>
              <a:t>Computação Gráfica Interativa </a:t>
            </a:r>
            <a:endParaRPr lang="pt-BR"/>
          </a:p>
          <a:p>
            <a:pPr lvl="1" eaLnBrk="1" hangingPunct="1"/>
            <a:r>
              <a:rPr lang="pt-BR"/>
              <a:t>também se utiliza do computador para preparar e apresentar imagens. Nesse caso, entretanto, o observador/usuário pode interagir em tempo real com a imagem.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ço Reservado para Rodapé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/>
              <a:t>Sistema Gráfico Interativo</a:t>
            </a:r>
          </a:p>
        </p:txBody>
      </p:sp>
      <p:pic>
        <p:nvPicPr>
          <p:cNvPr id="24580" name="Picture 3" descr="ScreenHunter_01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7850" y="2286001"/>
            <a:ext cx="9113177" cy="380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662121" y="188913"/>
            <a:ext cx="8442457" cy="1455737"/>
          </a:xfrm>
        </p:spPr>
        <p:txBody>
          <a:bodyPr/>
          <a:lstStyle/>
          <a:p>
            <a:pPr algn="l" eaLnBrk="1" hangingPunct="1"/>
            <a:r>
              <a:rPr lang="pt-BR"/>
              <a:t>Profissionais da Computação Gráfica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sz="3200" b="1"/>
              <a:t>Usuários</a:t>
            </a:r>
          </a:p>
          <a:p>
            <a:pPr lvl="1" eaLnBrk="1" hangingPunct="1"/>
            <a:r>
              <a:rPr lang="pt-BR" b="1"/>
              <a:t>Usam para produzir desenhos e imagens</a:t>
            </a:r>
          </a:p>
          <a:p>
            <a:pPr eaLnBrk="1" hangingPunct="1"/>
            <a:r>
              <a:rPr lang="pt-BR" sz="3200" b="1"/>
              <a:t>Customizadores</a:t>
            </a:r>
          </a:p>
          <a:p>
            <a:pPr lvl="1" eaLnBrk="1" hangingPunct="1"/>
            <a:r>
              <a:rPr lang="pt-BR" b="1"/>
              <a:t>Adaptam programas existentes</a:t>
            </a:r>
          </a:p>
          <a:p>
            <a:pPr eaLnBrk="1" hangingPunct="1"/>
            <a:r>
              <a:rPr lang="pt-BR" sz="3200" b="1"/>
              <a:t>Programadores de aplicações</a:t>
            </a:r>
          </a:p>
          <a:p>
            <a:pPr lvl="1" eaLnBrk="1" hangingPunct="1"/>
            <a:r>
              <a:rPr lang="pt-BR" b="1"/>
              <a:t>Desenvolvem AutoCAD, Corel, ...</a:t>
            </a:r>
          </a:p>
          <a:p>
            <a:pPr eaLnBrk="1" hangingPunct="1"/>
            <a:r>
              <a:rPr lang="pt-BR" sz="3200" b="1"/>
              <a:t>Desenvolvedores de ferramentas</a:t>
            </a:r>
          </a:p>
          <a:p>
            <a:pPr lvl="1" eaLnBrk="1" hangingPunct="1"/>
            <a:r>
              <a:rPr lang="pt-BR" b="1"/>
              <a:t>Desenvolvem OpenGL, DirectX, ...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/>
              <a:t>Aplicação da Computação Gráfica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pt-BR" sz="2400"/>
          </a:p>
          <a:p>
            <a:pPr eaLnBrk="1" hangingPunct="1"/>
            <a:r>
              <a:rPr lang="pt-BR" sz="2400"/>
              <a:t>CAD</a:t>
            </a:r>
          </a:p>
          <a:p>
            <a:pPr eaLnBrk="1" hangingPunct="1"/>
            <a:r>
              <a:rPr lang="pt-BR" sz="2400"/>
              <a:t>Apresentações Gráficas</a:t>
            </a:r>
          </a:p>
          <a:p>
            <a:pPr eaLnBrk="1" hangingPunct="1"/>
            <a:r>
              <a:rPr lang="pt-BR" sz="2400"/>
              <a:t>Arte por Computador</a:t>
            </a:r>
          </a:p>
          <a:p>
            <a:pPr eaLnBrk="1" hangingPunct="1"/>
            <a:r>
              <a:rPr lang="pt-BR" sz="2400"/>
              <a:t>Entretenimento</a:t>
            </a:r>
          </a:p>
          <a:p>
            <a:pPr eaLnBrk="1" hangingPunct="1"/>
            <a:r>
              <a:rPr lang="pt-BR" sz="2400"/>
              <a:t>Educação e Treinamento</a:t>
            </a:r>
          </a:p>
          <a:p>
            <a:pPr eaLnBrk="1" hangingPunct="1"/>
            <a:r>
              <a:rPr lang="pt-BR" sz="2400"/>
              <a:t>Visualização Científica</a:t>
            </a:r>
          </a:p>
          <a:p>
            <a:pPr eaLnBrk="1" hangingPunct="1">
              <a:buFont typeface="Wingdings" pitchFamily="2" charset="2"/>
              <a:buNone/>
            </a:pPr>
            <a:endParaRPr lang="pt-BR" sz="2400"/>
          </a:p>
          <a:p>
            <a:pPr eaLnBrk="1" hangingPunct="1"/>
            <a:endParaRPr lang="pt-BR"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ço Reservado para Rodapé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/>
              <a:t>Exemplos de Aplicações</a:t>
            </a:r>
          </a:p>
        </p:txBody>
      </p:sp>
      <p:pic>
        <p:nvPicPr>
          <p:cNvPr id="27652" name="Picture 3" descr="ScreenHunter_02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0200" y="3886200"/>
            <a:ext cx="3714750" cy="1874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3" name="Text Box 4"/>
          <p:cNvSpPr txBox="1">
            <a:spLocks noChangeArrowheads="1"/>
          </p:cNvSpPr>
          <p:nvPr/>
        </p:nvSpPr>
        <p:spPr bwMode="auto">
          <a:xfrm>
            <a:off x="660400" y="2286001"/>
            <a:ext cx="5613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800">
                <a:latin typeface="Tahoma" pitchFamily="34" charset="0"/>
              </a:rPr>
              <a:t>Visualização da Informação</a:t>
            </a:r>
          </a:p>
        </p:txBody>
      </p:sp>
      <p:pic>
        <p:nvPicPr>
          <p:cNvPr id="27654" name="Picture 5" descr="ScreenHunter_02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00651" y="2895601"/>
            <a:ext cx="3986477" cy="283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5" name="Text Box 6"/>
          <p:cNvSpPr txBox="1">
            <a:spLocks noChangeArrowheads="1"/>
          </p:cNvSpPr>
          <p:nvPr/>
        </p:nvSpPr>
        <p:spPr bwMode="auto">
          <a:xfrm>
            <a:off x="330200" y="6019801"/>
            <a:ext cx="3797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>
                <a:latin typeface="Tahoma" pitchFamily="34" charset="0"/>
              </a:rPr>
              <a:t>Visualização em Medicina </a:t>
            </a:r>
          </a:p>
        </p:txBody>
      </p:sp>
      <p:sp>
        <p:nvSpPr>
          <p:cNvPr id="27656" name="Text Box 7"/>
          <p:cNvSpPr txBox="1">
            <a:spLocks noChangeArrowheads="1"/>
          </p:cNvSpPr>
          <p:nvPr/>
        </p:nvSpPr>
        <p:spPr bwMode="auto">
          <a:xfrm>
            <a:off x="5200650" y="6019800"/>
            <a:ext cx="4127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400">
                <a:latin typeface="Tahoma" pitchFamily="34" charset="0"/>
              </a:rPr>
              <a:t>Visualização Cientifica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ço Reservado para Rodapé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/>
              <a:t>Exemplos de Aplicações</a:t>
            </a:r>
          </a:p>
        </p:txBody>
      </p:sp>
      <p:pic>
        <p:nvPicPr>
          <p:cNvPr id="28676" name="Picture 3" descr="ScreenHunter_02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7650" y="2590800"/>
            <a:ext cx="3838575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7" name="Picture 4" descr="ScreenHunter_02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40250" y="2590801"/>
            <a:ext cx="4805098" cy="232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8" name="Text Box 5"/>
          <p:cNvSpPr txBox="1">
            <a:spLocks noChangeArrowheads="1"/>
          </p:cNvSpPr>
          <p:nvPr/>
        </p:nvSpPr>
        <p:spPr bwMode="auto">
          <a:xfrm>
            <a:off x="247650" y="5638800"/>
            <a:ext cx="3797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400">
                <a:latin typeface="Tahoma" pitchFamily="34" charset="0"/>
              </a:rPr>
              <a:t>Educação</a:t>
            </a:r>
          </a:p>
        </p:txBody>
      </p:sp>
      <p:sp>
        <p:nvSpPr>
          <p:cNvPr id="28679" name="Text Box 6"/>
          <p:cNvSpPr txBox="1">
            <a:spLocks noChangeArrowheads="1"/>
          </p:cNvSpPr>
          <p:nvPr/>
        </p:nvSpPr>
        <p:spPr bwMode="auto">
          <a:xfrm>
            <a:off x="4540250" y="5638800"/>
            <a:ext cx="5118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400">
                <a:latin typeface="Tahoma" pitchFamily="34" charset="0"/>
              </a:rPr>
              <a:t>Entretenimento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ço Reservado para Rodapé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/>
              <a:t>Exemplos de Aplicações</a:t>
            </a:r>
          </a:p>
        </p:txBody>
      </p:sp>
      <p:pic>
        <p:nvPicPr>
          <p:cNvPr id="29700" name="Picture 3" descr="ScreenHunter_02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4729" y="4005264"/>
            <a:ext cx="6029590" cy="238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1" name="Picture 4" descr="ScreenHunter_02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121" y="1916113"/>
            <a:ext cx="2624402" cy="18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2" name="Text Box 5"/>
          <p:cNvSpPr txBox="1">
            <a:spLocks noChangeArrowheads="1"/>
          </p:cNvSpPr>
          <p:nvPr/>
        </p:nvSpPr>
        <p:spPr bwMode="auto">
          <a:xfrm>
            <a:off x="3549650" y="1981200"/>
            <a:ext cx="5943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400" b="1">
                <a:latin typeface="Tahoma" pitchFamily="34" charset="0"/>
              </a:rPr>
              <a:t>Realidade Virtual</a:t>
            </a:r>
            <a:r>
              <a:rPr lang="pt-BR" sz="2400">
                <a:latin typeface="Tahoma" pitchFamily="34" charset="0"/>
              </a:rPr>
              <a:t>: </a:t>
            </a:r>
            <a:r>
              <a:rPr lang="pt-BR" sz="2000">
                <a:latin typeface="Tahoma" pitchFamily="34" charset="0"/>
              </a:rPr>
              <a:t>Síntese de ambientes imersivos que proporcionam a sensação de estar em outro lugar.</a:t>
            </a:r>
            <a:endParaRPr lang="pt-BR" sz="2400">
              <a:latin typeface="Tahoma" pitchFamily="34" charset="0"/>
            </a:endParaRPr>
          </a:p>
        </p:txBody>
      </p:sp>
      <p:sp>
        <p:nvSpPr>
          <p:cNvPr id="29703" name="Text Box 6"/>
          <p:cNvSpPr txBox="1">
            <a:spLocks noChangeArrowheads="1"/>
          </p:cNvSpPr>
          <p:nvPr/>
        </p:nvSpPr>
        <p:spPr bwMode="auto">
          <a:xfrm>
            <a:off x="6591962" y="4149726"/>
            <a:ext cx="3314038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 b="1">
                <a:latin typeface="Tahoma" pitchFamily="34" charset="0"/>
              </a:rPr>
              <a:t>Realidade aumentada</a:t>
            </a:r>
            <a:r>
              <a:rPr lang="pt-BR" sz="2000">
                <a:latin typeface="Tahoma" pitchFamily="34" charset="0"/>
              </a:rPr>
              <a:t>: Adição de Informação sobre imagem real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ço Reservado para Rodapé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/>
              <a:t>Exemplos de Aplicações</a:t>
            </a:r>
          </a:p>
        </p:txBody>
      </p:sp>
      <p:pic>
        <p:nvPicPr>
          <p:cNvPr id="30724" name="Picture 3" descr="ScreenHunter_02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" y="1905000"/>
            <a:ext cx="4681273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5" name="Text Box 4"/>
          <p:cNvSpPr txBox="1">
            <a:spLocks noChangeArrowheads="1"/>
          </p:cNvSpPr>
          <p:nvPr/>
        </p:nvSpPr>
        <p:spPr bwMode="auto">
          <a:xfrm>
            <a:off x="5283200" y="1981201"/>
            <a:ext cx="37147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400">
                <a:latin typeface="Tahoma" pitchFamily="34" charset="0"/>
              </a:rPr>
              <a:t>Sistema de Informação Geográfica</a:t>
            </a:r>
          </a:p>
        </p:txBody>
      </p:sp>
      <p:pic>
        <p:nvPicPr>
          <p:cNvPr id="30726" name="Picture 5" descr="ScreenHunter_02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1" y="4594226"/>
            <a:ext cx="3319198" cy="226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Text Box 6"/>
          <p:cNvSpPr txBox="1">
            <a:spLocks noChangeArrowheads="1"/>
          </p:cNvSpPr>
          <p:nvPr/>
        </p:nvSpPr>
        <p:spPr bwMode="auto">
          <a:xfrm>
            <a:off x="3962400" y="4800601"/>
            <a:ext cx="561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400">
                <a:latin typeface="Tahoma" pitchFamily="34" charset="0"/>
              </a:rPr>
              <a:t>CAD - Desenho Assistido por Computador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/>
              <a:t>Software livre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2950" y="1524000"/>
            <a:ext cx="8502650" cy="5105400"/>
          </a:xfrm>
        </p:spPr>
        <p:txBody>
          <a:bodyPr/>
          <a:lstStyle/>
          <a:p>
            <a:pPr eaLnBrk="1" hangingPunct="1"/>
            <a:r>
              <a:rPr lang="pt-BR" sz="3600" b="1" dirty="0"/>
              <a:t>Tecnologia de Baixo Nível</a:t>
            </a:r>
          </a:p>
          <a:p>
            <a:pPr eaLnBrk="1" hangingPunct="1"/>
            <a:endParaRPr lang="pt-BR" b="1" dirty="0"/>
          </a:p>
          <a:p>
            <a:pPr lvl="1" eaLnBrk="1" hangingPunct="1"/>
            <a:r>
              <a:rPr lang="pt-BR" b="1" dirty="0"/>
              <a:t>X WINDOWS SYSTEM (1984 MIT)</a:t>
            </a:r>
          </a:p>
          <a:p>
            <a:pPr lvl="1"/>
            <a:r>
              <a:rPr lang="pt-BR" dirty="0"/>
              <a:t>OpenGL(1993 – uma variante do IRIS GL)</a:t>
            </a:r>
          </a:p>
          <a:p>
            <a:pPr marL="457200" lvl="1" indent="0" eaLnBrk="1" hangingPunct="1">
              <a:buNone/>
            </a:pPr>
            <a:r>
              <a:rPr lang="pt-BR" dirty="0"/>
              <a:t>, WEBGL </a:t>
            </a:r>
            <a:r>
              <a:rPr lang="pt-BR" b="1" dirty="0"/>
              <a:t>www.opengl.org</a:t>
            </a:r>
          </a:p>
          <a:p>
            <a:pPr eaLnBrk="1" hangingPunct="1">
              <a:buFontTx/>
              <a:buNone/>
            </a:pPr>
            <a:r>
              <a:rPr lang="pt-BR" sz="2400" b="1" dirty="0"/>
              <a:t> </a:t>
            </a:r>
          </a:p>
          <a:p>
            <a:pPr eaLnBrk="1" hangingPunct="1"/>
            <a:r>
              <a:rPr lang="pt-BR" sz="3600" b="1"/>
              <a:t>Aplicações</a:t>
            </a:r>
            <a:endParaRPr lang="pt-BR" b="1" dirty="0"/>
          </a:p>
          <a:p>
            <a:pPr lvl="1" eaLnBrk="1" hangingPunct="1"/>
            <a:r>
              <a:rPr lang="pt-BR" b="1" dirty="0"/>
              <a:t>Geração de interfaces gráficas</a:t>
            </a:r>
          </a:p>
          <a:p>
            <a:pPr lvl="1" eaLnBrk="1" hangingPunct="1"/>
            <a:r>
              <a:rPr lang="pt-BR" b="1" dirty="0"/>
              <a:t>Geração de Formas geométricas e imagens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/>
              <a:t>Software livre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2950" y="1600200"/>
            <a:ext cx="866775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b="1" dirty="0"/>
              <a:t>Tecnologia de Alto Nível</a:t>
            </a:r>
          </a:p>
          <a:p>
            <a:pPr lvl="1" eaLnBrk="1" hangingPunct="1">
              <a:lnSpc>
                <a:spcPct val="90000"/>
              </a:lnSpc>
            </a:pPr>
            <a:r>
              <a:rPr lang="pt-BR" b="1" dirty="0"/>
              <a:t>Java 3D</a:t>
            </a:r>
          </a:p>
          <a:p>
            <a:pPr lvl="2" eaLnBrk="1" hangingPunct="1">
              <a:lnSpc>
                <a:spcPct val="90000"/>
              </a:lnSpc>
            </a:pPr>
            <a:r>
              <a:rPr lang="pt-BR" b="1" dirty="0"/>
              <a:t> Biblioteca padrão da linguagem Java, para criação de programas com gráficos 3D</a:t>
            </a:r>
            <a:endParaRPr lang="pt-BR" dirty="0"/>
          </a:p>
          <a:p>
            <a:pPr lvl="1" eaLnBrk="1" hangingPunct="1">
              <a:lnSpc>
                <a:spcPct val="90000"/>
              </a:lnSpc>
            </a:pPr>
            <a:r>
              <a:rPr lang="pt-BR" b="1" dirty="0"/>
              <a:t>VRML </a:t>
            </a:r>
          </a:p>
          <a:p>
            <a:pPr lvl="2" eaLnBrk="1" hangingPunct="1">
              <a:lnSpc>
                <a:spcPct val="90000"/>
              </a:lnSpc>
            </a:pPr>
            <a:r>
              <a:rPr lang="pt-BR" b="1" dirty="0"/>
              <a:t>Padrão utilizado para modelagem e transmissão de informação 3D e mundos virtuais</a:t>
            </a:r>
            <a:r>
              <a:rPr lang="pt-BR" dirty="0"/>
              <a:t>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pt-BR" sz="2400" b="1" dirty="0"/>
          </a:p>
          <a:p>
            <a:pPr eaLnBrk="1" hangingPunct="1">
              <a:lnSpc>
                <a:spcPct val="90000"/>
              </a:lnSpc>
            </a:pPr>
            <a:r>
              <a:rPr lang="pt-BR" b="1" dirty="0"/>
              <a:t>Aplicações</a:t>
            </a:r>
          </a:p>
          <a:p>
            <a:pPr lvl="1" eaLnBrk="1" hangingPunct="1">
              <a:lnSpc>
                <a:spcPct val="90000"/>
              </a:lnSpc>
            </a:pPr>
            <a:r>
              <a:rPr lang="pt-BR" b="1" dirty="0"/>
              <a:t>Criação de mundo virtuais</a:t>
            </a:r>
          </a:p>
          <a:p>
            <a:pPr lvl="1" eaLnBrk="1" hangingPunct="1">
              <a:lnSpc>
                <a:spcPct val="90000"/>
              </a:lnSpc>
            </a:pPr>
            <a:r>
              <a:rPr lang="pt-BR" b="1" dirty="0"/>
              <a:t>Criação de animações interativas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pt-BR" sz="2000"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03D6B-71DF-8167-5F67-A54073853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Uso de BOTS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BF806B-67FE-994A-5DD3-47D9CFAF4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IA CHATGPT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IA DEEP SEEK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331086"/>
      </p:ext>
    </p:extLst>
  </p:cSld>
  <p:clrMapOvr>
    <a:masterClrMapping/>
  </p:clrMapOvr>
</p:sld>
</file>

<file path=ppt/theme/theme1.xml><?xml version="1.0" encoding="utf-8"?>
<a:theme xmlns:a="http://schemas.openxmlformats.org/drawingml/2006/main" name="MS_BR_ProjectOverview">
  <a:themeElements>
    <a:clrScheme name="Tema do Office 1">
      <a:dk1>
        <a:srgbClr val="000000"/>
      </a:dk1>
      <a:lt1>
        <a:srgbClr val="FFFFFF"/>
      </a:lt1>
      <a:dk2>
        <a:srgbClr val="0066CC"/>
      </a:dk2>
      <a:lt2>
        <a:srgbClr val="CBCBCB"/>
      </a:lt2>
      <a:accent1>
        <a:srgbClr val="00CCFF"/>
      </a:accent1>
      <a:accent2>
        <a:srgbClr val="00FFCC"/>
      </a:accent2>
      <a:accent3>
        <a:srgbClr val="AAB8E2"/>
      </a:accent3>
      <a:accent4>
        <a:srgbClr val="DADADA"/>
      </a:accent4>
      <a:accent5>
        <a:srgbClr val="AAE2FF"/>
      </a:accent5>
      <a:accent6>
        <a:srgbClr val="00E7B9"/>
      </a:accent6>
      <a:hlink>
        <a:srgbClr val="FF3300"/>
      </a:hlink>
      <a:folHlink>
        <a:srgbClr val="FF7C80"/>
      </a:folHlink>
    </a:clrScheme>
    <a:fontScheme name="Tema do Office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ema do Office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o Office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LongProperties xmlns="http://schemas.microsoft.com/office/2006/metadata/longProperties"/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10287E5A-4E54-412D-BEC8-8F28F5C0A82F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6A437998-8EEA-4897-A3A5-88BFB4AFC7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MS_BR_ProjectOverview</Template>
  <TotalTime>289</TotalTime>
  <Words>1335</Words>
  <Application>Microsoft Office PowerPoint</Application>
  <PresentationFormat>Papel A4 (210 x 297 mm)</PresentationFormat>
  <Paragraphs>234</Paragraphs>
  <Slides>31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31</vt:i4>
      </vt:variant>
    </vt:vector>
  </HeadingPairs>
  <TitlesOfParts>
    <vt:vector size="41" baseType="lpstr">
      <vt:lpstr>Arial</vt:lpstr>
      <vt:lpstr>Arial Black</vt:lpstr>
      <vt:lpstr>Courier New</vt:lpstr>
      <vt:lpstr>Tahoma</vt:lpstr>
      <vt:lpstr>Times New Roman</vt:lpstr>
      <vt:lpstr>Verdana</vt:lpstr>
      <vt:lpstr>Wingdings</vt:lpstr>
      <vt:lpstr>MS_BR_ProjectOverview</vt:lpstr>
      <vt:lpstr>Gráfico</vt:lpstr>
      <vt:lpstr>Equation</vt:lpstr>
      <vt:lpstr>Computação Gráfica</vt:lpstr>
      <vt:lpstr>DESCRIÇÃO </vt:lpstr>
      <vt:lpstr>COMPUTAÇÃO GRÁFICA </vt:lpstr>
      <vt:lpstr>Plano de Ensino</vt:lpstr>
      <vt:lpstr>Objetivos</vt:lpstr>
      <vt:lpstr>Ementa e Conteúdo Programático</vt:lpstr>
      <vt:lpstr>Ementa e Conteúdo Programático</vt:lpstr>
      <vt:lpstr>Ementa e Conteúdo Programático</vt:lpstr>
      <vt:lpstr>Ementa e Conteúdo Programático</vt:lpstr>
      <vt:lpstr>Bibliografia</vt:lpstr>
      <vt:lpstr> Metodologia,  Técnicas e Recurso didáticos  </vt:lpstr>
      <vt:lpstr>Avaliação</vt:lpstr>
      <vt:lpstr>Avaliação</vt:lpstr>
      <vt:lpstr>Avaliação</vt:lpstr>
      <vt:lpstr>Avaliação</vt:lpstr>
      <vt:lpstr>Descrição de Atividades</vt:lpstr>
      <vt:lpstr>CONCEITO</vt:lpstr>
      <vt:lpstr>PROCESSAMENTO GRÁFICO</vt:lpstr>
      <vt:lpstr>Um Pouco de História </vt:lpstr>
      <vt:lpstr>Um Pouco de História </vt:lpstr>
      <vt:lpstr>Passiva ou Interativa</vt:lpstr>
      <vt:lpstr>Sistema Gráfico Interativo</vt:lpstr>
      <vt:lpstr>Profissionais da Computação Gráfica</vt:lpstr>
      <vt:lpstr>Aplicação da Computação Gráfica</vt:lpstr>
      <vt:lpstr>Exemplos de Aplicações</vt:lpstr>
      <vt:lpstr>Exemplos de Aplicações</vt:lpstr>
      <vt:lpstr>Exemplos de Aplicações</vt:lpstr>
      <vt:lpstr>Exemplos de Aplicações</vt:lpstr>
      <vt:lpstr>Software livre</vt:lpstr>
      <vt:lpstr>Software livre</vt:lpstr>
      <vt:lpstr>Uso de BOTS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DEPARTAMENTO DE COMPUTAÇÃO    CHEFE DO DEPARTAMENTO DE COMPUTAÇÃO: PROF. DR. ROBSON PEQUENO DE SOUSA    CHEFE ADJUNTO: PROF. DR. MISAEL ELIAS DE MORAIS</dc:title>
  <dc:creator>Robson</dc:creator>
  <cp:lastModifiedBy>robson sousa</cp:lastModifiedBy>
  <cp:revision>63</cp:revision>
  <cp:lastPrinted>1601-01-01T00:00:00Z</cp:lastPrinted>
  <dcterms:created xsi:type="dcterms:W3CDTF">2014-03-12T11:03:35Z</dcterms:created>
  <dcterms:modified xsi:type="dcterms:W3CDTF">2025-02-10T13:00:07Z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TC010468529990</vt:lpwstr>
  </property>
</Properties>
</file>