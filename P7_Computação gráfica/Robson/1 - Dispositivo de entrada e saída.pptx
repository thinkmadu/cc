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50"/>
  </p:notesMasterIdLst>
  <p:handoutMasterIdLst>
    <p:handoutMasterId r:id="rId51"/>
  </p:handoutMasterIdLst>
  <p:sldIdLst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3" r:id="rId49"/>
  </p:sldIdLst>
  <p:sldSz cx="9906000" cy="6858000" type="A4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18" autoAdjust="0"/>
    <p:restoredTop sz="90929"/>
  </p:normalViewPr>
  <p:slideViewPr>
    <p:cSldViewPr>
      <p:cViewPr>
        <p:scale>
          <a:sx n="75" d="100"/>
          <a:sy n="75" d="100"/>
        </p:scale>
        <p:origin x="1410" y="7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en-US"/>
          </a:p>
        </p:txBody>
      </p:sp>
      <p:sp>
        <p:nvSpPr>
          <p:cNvPr id="20483" name="Rectangle 2051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 altLang="en-US"/>
          </a:p>
        </p:txBody>
      </p:sp>
      <p:sp>
        <p:nvSpPr>
          <p:cNvPr id="20484" name="Rectangle 205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en-US"/>
          </a:p>
        </p:txBody>
      </p:sp>
      <p:sp>
        <p:nvSpPr>
          <p:cNvPr id="20485" name="Rectangle 205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F5B194F-9CAE-4D5A-8067-5260CDECFAC8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20286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en-US"/>
          </a:p>
        </p:txBody>
      </p:sp>
      <p:sp>
        <p:nvSpPr>
          <p:cNvPr id="2051" name="Rectangle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D4207ED-54CB-4335-8C77-8CBF604367F0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516099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207ED-54CB-4335-8C77-8CBF604367F0}" type="slidenum">
              <a:rPr lang="pt-BR" altLang="en-US" smtClean="0"/>
              <a:pPr/>
              <a:t>43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232679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ChangeArrowheads="1"/>
          </p:cNvSpPr>
          <p:nvPr/>
        </p:nvSpPr>
        <p:spPr bwMode="auto">
          <a:xfrm>
            <a:off x="412750" y="0"/>
            <a:ext cx="156845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742950" y="2438400"/>
            <a:ext cx="916146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3076" name="Rectangle 1028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en-US" noProof="0"/>
              <a:t>Clique para editar o título mestre</a:t>
            </a:r>
          </a:p>
        </p:txBody>
      </p:sp>
      <p:sp>
        <p:nvSpPr>
          <p:cNvPr id="3077" name="Rectangle 102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28850" y="4114800"/>
            <a:ext cx="6934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>
                <a:latin typeface="Times New Roman" pitchFamily="18" charset="0"/>
              </a:defRPr>
            </a:lvl1pPr>
          </a:lstStyle>
          <a:p>
            <a:pPr lvl="0"/>
            <a:r>
              <a:rPr lang="pt-BR" altLang="en-US" noProof="0"/>
              <a:t>Clique para editar o estilo do subtítulo mestre</a:t>
            </a:r>
          </a:p>
        </p:txBody>
      </p:sp>
      <p:sp>
        <p:nvSpPr>
          <p:cNvPr id="3078" name="Rectangle 1030"/>
          <p:cNvSpPr>
            <a:spLocks noGrp="1" noChangeArrowheads="1"/>
          </p:cNvSpPr>
          <p:nvPr>
            <p:ph type="dt" sz="quarter" idx="2"/>
          </p:nvPr>
        </p:nvSpPr>
        <p:spPr>
          <a:xfrm>
            <a:off x="742950" y="6019800"/>
            <a:ext cx="2063750" cy="609600"/>
          </a:xfrm>
        </p:spPr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079" name="Rectangle 1031"/>
          <p:cNvSpPr>
            <a:spLocks noGrp="1" noChangeArrowheads="1"/>
          </p:cNvSpPr>
          <p:nvPr>
            <p:ph type="ftr" sz="quarter" idx="3"/>
          </p:nvPr>
        </p:nvSpPr>
        <p:spPr>
          <a:xfrm>
            <a:off x="3384550" y="6019800"/>
            <a:ext cx="3136900" cy="609600"/>
          </a:xfrm>
        </p:spPr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080" name="Rectangle 1032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99300" y="6019800"/>
            <a:ext cx="2063750" cy="609600"/>
          </a:xfrm>
        </p:spPr>
        <p:txBody>
          <a:bodyPr/>
          <a:lstStyle>
            <a:lvl1pPr>
              <a:defRPr/>
            </a:lvl1pPr>
          </a:lstStyle>
          <a:p>
            <a:fld id="{279B63C0-3B95-4087-B474-6E197332964B}" type="slidenum">
              <a:rPr lang="pt-BR" altLang="en-US"/>
              <a:pPr/>
              <a:t>‹nº›</a:t>
            </a:fld>
            <a:endParaRPr lang="pt-BR" altLang="en-US"/>
          </a:p>
        </p:txBody>
      </p:sp>
      <p:sp>
        <p:nvSpPr>
          <p:cNvPr id="3081" name="Rectangle 1033"/>
          <p:cNvSpPr>
            <a:spLocks noChangeArrowheads="1"/>
          </p:cNvSpPr>
          <p:nvPr/>
        </p:nvSpPr>
        <p:spPr bwMode="auto">
          <a:xfrm>
            <a:off x="0" y="3505200"/>
            <a:ext cx="51181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E8A0A1-1383-480D-A787-3DDCFEA1116A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4784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E1A5E-D723-4D79-8E6F-31C7572F40B2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00737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13385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413385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C9EBB-055E-4C2A-A685-38E008DA214F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71133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39967C-CB49-4F12-819B-3F8FCF37DCB0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12387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A6FCD8-458B-412E-B32D-AA80A982D207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56648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611B59-F7EA-451D-A01B-682F1F607552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921285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E99DF-2EF0-442B-9342-18B1567E7EB1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54013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A4055-967F-4932-ABCE-F2156652E7DC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541393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6AFAC-48AF-4E8C-AE02-BFEE65769EC1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5832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58025" y="609600"/>
            <a:ext cx="2105025" cy="5181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742950" y="609600"/>
            <a:ext cx="6162675" cy="51816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653FF5-CB0F-4581-BE3C-421E7C916E63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63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2750" y="0"/>
            <a:ext cx="1568450" cy="6856413"/>
          </a:xfrm>
          <a:prstGeom prst="rect">
            <a:avLst/>
          </a:prstGeom>
          <a:gradFill rotWithShape="0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65100" y="1752600"/>
            <a:ext cx="51181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742950" y="6629400"/>
            <a:ext cx="3797300" cy="227013"/>
          </a:xfrm>
          <a:prstGeom prst="rect">
            <a:avLst/>
          </a:prstGeom>
          <a:gradFill rotWithShape="0">
            <a:gsLst>
              <a:gs pos="0">
                <a:schemeClr val="hlink">
                  <a:gamma/>
                  <a:shade val="46275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25500" y="762000"/>
            <a:ext cx="907891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kumimoji="1" lang="pt-BR" altLang="en-US" sz="24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09600"/>
            <a:ext cx="8420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84201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950" y="5943600"/>
            <a:ext cx="20637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pt-BR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5943600"/>
            <a:ext cx="31369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pt-BR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5943600"/>
            <a:ext cx="20637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F4EE629-005F-405F-806D-B6C32D2A698D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://www.forumpcs.com.br/review.php?r=124680&amp;page=2" TargetMode="Externa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://www.youtube.com/watch?v=ML2Cik7-7ic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youtube.com/watch?v=TDuP8PtDJbE&amp;feature=player_embedded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0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6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4"/>
          <p:cNvSpPr>
            <a:spLocks noGrp="1" noChangeArrowheads="1"/>
          </p:cNvSpPr>
          <p:nvPr>
            <p:ph type="ftr" sz="quarter" idx="4294967295"/>
          </p:nvPr>
        </p:nvSpPr>
        <p:spPr>
          <a:xfrm>
            <a:off x="3633920" y="6248400"/>
            <a:ext cx="31369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pt-BR" sz="3600"/>
              <a:t>Computação Gráfica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pt-BR"/>
              <a:t>Dispositivos de Entrada e Saída </a:t>
            </a:r>
          </a:p>
          <a:p>
            <a:pPr eaLnBrk="1" hangingPunct="1"/>
            <a:r>
              <a:rPr lang="pt-BR"/>
              <a:t>Prof. Robson Pequeno de Sousa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Alguns Dispositivos Gráficos de Entrada 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600200"/>
            <a:ext cx="8667750" cy="4572000"/>
          </a:xfrm>
        </p:spPr>
        <p:txBody>
          <a:bodyPr/>
          <a:lstStyle/>
          <a:p>
            <a:pPr eaLnBrk="1" hangingPunct="1"/>
            <a:r>
              <a:rPr lang="pt-BR" sz="2000" b="1"/>
              <a:t>Teclado</a:t>
            </a:r>
          </a:p>
          <a:p>
            <a:pPr eaLnBrk="1" hangingPunct="1"/>
            <a:r>
              <a:rPr lang="pt-BR" sz="2000" b="1"/>
              <a:t>Mouse</a:t>
            </a:r>
          </a:p>
          <a:p>
            <a:pPr eaLnBrk="1" hangingPunct="1"/>
            <a:r>
              <a:rPr lang="pt-BR" sz="2000" b="1" i="1"/>
              <a:t>Trackball</a:t>
            </a:r>
          </a:p>
          <a:p>
            <a:pPr eaLnBrk="1" hangingPunct="1"/>
            <a:r>
              <a:rPr lang="pt-BR" sz="2000" b="1" i="1"/>
              <a:t>Joystick</a:t>
            </a:r>
          </a:p>
          <a:p>
            <a:pPr eaLnBrk="1" hangingPunct="1"/>
            <a:r>
              <a:rPr lang="pt-BR" sz="2000" b="1" i="1"/>
              <a:t>Light Pen</a:t>
            </a:r>
            <a:r>
              <a:rPr lang="pt-BR" sz="2000"/>
              <a:t>: </a:t>
            </a:r>
            <a:r>
              <a:rPr lang="pt-BR" sz="1800"/>
              <a:t>É uma caneta ótica que fornece a posição absoluta na tela. Ela detecta o feixe eletrônico que redesenha a tela, por uma célula fotoelétrica montada na ponta de uma caneta.</a:t>
            </a:r>
          </a:p>
          <a:p>
            <a:pPr eaLnBrk="1" hangingPunct="1"/>
            <a:r>
              <a:rPr lang="pt-BR" sz="2000" b="1"/>
              <a:t>Telas sensíveis ao toque</a:t>
            </a:r>
            <a:r>
              <a:rPr lang="pt-BR" sz="2000"/>
              <a:t>: </a:t>
            </a:r>
            <a:r>
              <a:rPr lang="pt-BR" sz="1800"/>
              <a:t>É uma mistura de digitalizadores e canetas óticas pois funcionam com o contato do dedo do operador com a tela do monitor.</a:t>
            </a:r>
          </a:p>
          <a:p>
            <a:pPr eaLnBrk="1" hangingPunct="1"/>
            <a:r>
              <a:rPr lang="pt-BR" sz="2000" b="1"/>
              <a:t>Mesa Digitalizadora</a:t>
            </a:r>
            <a:r>
              <a:rPr lang="pt-BR" sz="1600" b="1"/>
              <a:t>: </a:t>
            </a:r>
            <a:r>
              <a:rPr lang="pt-BR" sz="1800"/>
              <a:t>Dispositivo vetorial que consiste de uma mesa e de um apontador. A cada vez que o usuário toca a mesa com o apontador é informado ao computador a coordenada deste ponto da mesa</a:t>
            </a:r>
            <a:endParaRPr lang="pt-BR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Dispositivos Gráficos de Saída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5500" y="1600200"/>
            <a:ext cx="8585200" cy="4876800"/>
          </a:xfrm>
        </p:spPr>
        <p:txBody>
          <a:bodyPr/>
          <a:lstStyle/>
          <a:p>
            <a:pPr eaLnBrk="1" hangingPunct="1"/>
            <a:r>
              <a:rPr lang="pt-BR" sz="2000" b="1" dirty="0" err="1"/>
              <a:t>Traçadores</a:t>
            </a:r>
            <a:r>
              <a:rPr lang="pt-BR" sz="2000" b="1" dirty="0"/>
              <a:t> Gráficos ou </a:t>
            </a:r>
            <a:r>
              <a:rPr lang="pt-BR" sz="2000" b="1" i="1" dirty="0"/>
              <a:t>Plotters</a:t>
            </a:r>
            <a:r>
              <a:rPr lang="pt-BR" sz="2000" b="1" dirty="0"/>
              <a:t>:</a:t>
            </a:r>
            <a:r>
              <a:rPr lang="pt-BR" sz="1800" b="1" dirty="0"/>
              <a:t> </a:t>
            </a:r>
            <a:r>
              <a:rPr lang="pt-BR" sz="2000" dirty="0"/>
              <a:t>São dispositivos vetoriais e </a:t>
            </a:r>
            <a:r>
              <a:rPr lang="pt-BR" sz="2000" dirty="0" err="1"/>
              <a:t>eletro-mecânicos</a:t>
            </a:r>
            <a:r>
              <a:rPr lang="pt-BR" sz="2000" dirty="0"/>
              <a:t> que de uma forma geral, produzem o desenho pelo movimento de uma caneta na superfície do papel. Existem dois tipos: o papel </a:t>
            </a:r>
            <a:r>
              <a:rPr lang="pt-BR" sz="2000" u="sng" dirty="0"/>
              <a:t>permanece fixo e a caneta produz desenhos sobre o mesmo pela combinação de movimentos horizontais e verticais</a:t>
            </a:r>
            <a:r>
              <a:rPr lang="pt-BR" sz="2000" dirty="0"/>
              <a:t>;  o desenho é produzido pela </a:t>
            </a:r>
            <a:r>
              <a:rPr lang="pt-BR" sz="2000" u="sng" dirty="0"/>
              <a:t>combinação dos movimentos do papel e da caneta </a:t>
            </a:r>
          </a:p>
          <a:p>
            <a:pPr eaLnBrk="1" hangingPunct="1"/>
            <a:endParaRPr lang="pt-BR" sz="2000" b="1" dirty="0"/>
          </a:p>
          <a:p>
            <a:pPr eaLnBrk="1" hangingPunct="1"/>
            <a:r>
              <a:rPr lang="pt-BR" sz="2000" b="1" dirty="0"/>
              <a:t>Impressoras</a:t>
            </a:r>
            <a:r>
              <a:rPr lang="pt-BR" sz="2000" dirty="0"/>
              <a:t>:</a:t>
            </a:r>
            <a:r>
              <a:rPr lang="pt-BR" sz="1800" dirty="0"/>
              <a:t> </a:t>
            </a:r>
            <a:r>
              <a:rPr lang="pt-BR" sz="2000" dirty="0"/>
              <a:t>Tem por principal função a impressão, em papel de textos compostos de caracteres alfanuméricos. Ex: matriciais, jato de tinta, laser,  térmicas e 3D.</a:t>
            </a:r>
          </a:p>
          <a:p>
            <a:pPr eaLnBrk="1" hangingPunct="1"/>
            <a:r>
              <a:rPr lang="pt-BR" sz="1800" dirty="0"/>
              <a:t> </a:t>
            </a:r>
            <a:r>
              <a:rPr lang="pt-BR" sz="2000" b="1" dirty="0"/>
              <a:t>Dispositivos de Vídeo:</a:t>
            </a:r>
            <a:r>
              <a:rPr lang="pt-BR" sz="1800" b="1" dirty="0"/>
              <a:t> </a:t>
            </a:r>
            <a:r>
              <a:rPr lang="pt-BR" sz="2000" dirty="0"/>
              <a:t>São os dispositivos de exibição adequados a ambientes interativos. Ex. vetoriais, </a:t>
            </a:r>
            <a:r>
              <a:rPr lang="pt-BR" sz="2000" i="1" dirty="0" err="1"/>
              <a:t>raster</a:t>
            </a:r>
            <a:r>
              <a:rPr lang="pt-BR" sz="2000" dirty="0"/>
              <a:t>, </a:t>
            </a:r>
            <a:r>
              <a:rPr lang="pt-BR" sz="2000" dirty="0" err="1"/>
              <a:t>lcd</a:t>
            </a:r>
            <a:r>
              <a:rPr lang="pt-BR" sz="2000" dirty="0"/>
              <a:t>, etc.</a:t>
            </a:r>
            <a:r>
              <a:rPr lang="pt-BR" sz="1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pt-BR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847726"/>
            <a:ext cx="6867129" cy="460375"/>
          </a:xfrm>
        </p:spPr>
        <p:txBody>
          <a:bodyPr/>
          <a:lstStyle/>
          <a:p>
            <a:pPr eaLnBrk="1" hangingPunct="1"/>
            <a:r>
              <a:rPr lang="pt-BR"/>
              <a:t>Dispositivos de Vídeo</a:t>
            </a:r>
            <a:endParaRPr lang="en-US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400" y="1524000"/>
            <a:ext cx="7099300" cy="4114800"/>
          </a:xfrm>
          <a:noFill/>
        </p:spPr>
        <p:txBody>
          <a:bodyPr/>
          <a:lstStyle/>
          <a:p>
            <a:pPr eaLnBrk="1" hangingPunct="1"/>
            <a:r>
              <a:rPr lang="pt-BR" i="1"/>
              <a:t>Display</a:t>
            </a:r>
            <a:r>
              <a:rPr lang="pt-BR"/>
              <a:t> Vetorizado - Histórico</a:t>
            </a:r>
          </a:p>
          <a:p>
            <a:pPr lvl="1" eaLnBrk="1" hangingPunct="1"/>
            <a:r>
              <a:rPr lang="pt-BR"/>
              <a:t>Tecnologia antiquada</a:t>
            </a:r>
          </a:p>
          <a:p>
            <a:pPr lvl="1" eaLnBrk="1" hangingPunct="1"/>
            <a:r>
              <a:rPr lang="pt-BR"/>
              <a:t>A imagem da tela é composta de linhas</a:t>
            </a:r>
          </a:p>
          <a:p>
            <a:pPr lvl="1" eaLnBrk="1" hangingPunct="1"/>
            <a:r>
              <a:rPr lang="pt-BR"/>
              <a:t>O usuário especifica listas de exibição de endpoints </a:t>
            </a:r>
          </a:p>
          <a:p>
            <a:pPr lvl="1" eaLnBrk="1" hangingPunct="1">
              <a:buFont typeface="Wingdings" pitchFamily="2" charset="2"/>
              <a:buNone/>
            </a:pPr>
            <a:endParaRPr lang="pt-BR"/>
          </a:p>
          <a:p>
            <a:pPr eaLnBrk="1" hangingPunct="1"/>
            <a:r>
              <a:rPr lang="pt-BR"/>
              <a:t> </a:t>
            </a:r>
            <a:r>
              <a:rPr lang="pt-BR" i="1"/>
              <a:t>Display raster</a:t>
            </a:r>
          </a:p>
          <a:p>
            <a:pPr lvl="1" eaLnBrk="1" hangingPunct="1"/>
            <a:r>
              <a:rPr lang="pt-BR"/>
              <a:t>Usados em todos os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/>
              <a:t>Dispositivos atuais </a:t>
            </a:r>
          </a:p>
        </p:txBody>
      </p:sp>
      <p:sp>
        <p:nvSpPr>
          <p:cNvPr id="10245" name="AutoShape 4"/>
          <p:cNvSpPr>
            <a:spLocks noChangeArrowheads="1"/>
          </p:cNvSpPr>
          <p:nvPr/>
        </p:nvSpPr>
        <p:spPr bwMode="auto">
          <a:xfrm>
            <a:off x="6108700" y="3886200"/>
            <a:ext cx="3384550" cy="2286000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Line 5"/>
          <p:cNvSpPr>
            <a:spLocks noChangeShapeType="1"/>
          </p:cNvSpPr>
          <p:nvPr/>
        </p:nvSpPr>
        <p:spPr bwMode="auto">
          <a:xfrm flipV="1">
            <a:off x="6493933" y="4457700"/>
            <a:ext cx="9906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0247" name="Line 6"/>
          <p:cNvSpPr>
            <a:spLocks noChangeShapeType="1"/>
          </p:cNvSpPr>
          <p:nvPr/>
        </p:nvSpPr>
        <p:spPr bwMode="auto">
          <a:xfrm>
            <a:off x="7484533" y="4457700"/>
            <a:ext cx="74295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0248" name="Line 7"/>
          <p:cNvSpPr>
            <a:spLocks noChangeShapeType="1"/>
          </p:cNvSpPr>
          <p:nvPr/>
        </p:nvSpPr>
        <p:spPr bwMode="auto">
          <a:xfrm flipH="1" flipV="1">
            <a:off x="6328833" y="4610100"/>
            <a:ext cx="189865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0249" name="Line 8"/>
          <p:cNvSpPr>
            <a:spLocks noChangeShapeType="1"/>
          </p:cNvSpPr>
          <p:nvPr/>
        </p:nvSpPr>
        <p:spPr bwMode="auto">
          <a:xfrm>
            <a:off x="6438900" y="4648200"/>
            <a:ext cx="21463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0250" name="Line 9"/>
          <p:cNvSpPr>
            <a:spLocks noChangeShapeType="1"/>
          </p:cNvSpPr>
          <p:nvPr/>
        </p:nvSpPr>
        <p:spPr bwMode="auto">
          <a:xfrm flipH="1">
            <a:off x="6604000" y="4876800"/>
            <a:ext cx="1981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0251" name="Line 10"/>
          <p:cNvSpPr>
            <a:spLocks noChangeShapeType="1"/>
          </p:cNvSpPr>
          <p:nvPr/>
        </p:nvSpPr>
        <p:spPr bwMode="auto">
          <a:xfrm>
            <a:off x="5200650" y="3505200"/>
            <a:ext cx="140335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Dispositivos de Vídeo Raster</a:t>
            </a:r>
            <a:endParaRPr lang="en-US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400" y="1905000"/>
            <a:ext cx="4992556" cy="4114800"/>
          </a:xfrm>
        </p:spPr>
        <p:txBody>
          <a:bodyPr/>
          <a:lstStyle/>
          <a:p>
            <a:pPr eaLnBrk="1" hangingPunct="1"/>
            <a:r>
              <a:rPr lang="pt-BR" i="1"/>
              <a:t>Raster</a:t>
            </a:r>
            <a:r>
              <a:rPr lang="pt-BR"/>
              <a:t>:  Um arranjo retangular de pontos</a:t>
            </a:r>
          </a:p>
          <a:p>
            <a:pPr eaLnBrk="1" hangingPunct="1"/>
            <a:r>
              <a:rPr lang="pt-BR" i="1"/>
              <a:t>Pixel</a:t>
            </a:r>
            <a:r>
              <a:rPr lang="pt-BR"/>
              <a:t> (Pel): Um ponto ou um elemento pictorial do Raster</a:t>
            </a:r>
          </a:p>
          <a:p>
            <a:pPr eaLnBrk="1" hangingPunct="1"/>
            <a:r>
              <a:rPr lang="pt-BR" i="1"/>
              <a:t>Scan line</a:t>
            </a:r>
            <a:r>
              <a:rPr lang="pt-BR"/>
              <a:t>: Uma linha de </a:t>
            </a:r>
            <a:r>
              <a:rPr lang="pt-BR" i="1"/>
              <a:t>pixel</a:t>
            </a:r>
            <a:r>
              <a:rPr lang="pt-BR"/>
              <a:t> (pontos)</a:t>
            </a:r>
          </a:p>
        </p:txBody>
      </p:sp>
      <p:pic>
        <p:nvPicPr>
          <p:cNvPr id="11269" name="Picture 4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78500" y="2286000"/>
            <a:ext cx="3948642" cy="1817688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1270" name="Text Box 5"/>
          <p:cNvSpPr txBox="1">
            <a:spLocks noChangeArrowheads="1"/>
          </p:cNvSpPr>
          <p:nvPr/>
        </p:nvSpPr>
        <p:spPr bwMode="auto">
          <a:xfrm>
            <a:off x="5861050" y="4191001"/>
            <a:ext cx="3797300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pt-BR" sz="2400">
                <a:latin typeface="Tahoma" pitchFamily="34" charset="0"/>
              </a:rPr>
              <a:t>Num dispositivo de vídeo raster as imagens  são exibidas desenhando os pixels consecutivamente em uma ordem fixa. </a:t>
            </a:r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5861050" y="3048000"/>
            <a:ext cx="3797300" cy="76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6292718" y="2689225"/>
            <a:ext cx="116946" cy="1079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Tubos de Raios Catódicos - CRT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/>
              <a:t>O principal elemento de um monitor é o cinescópio ou tubo de raios catódicos (CRT, </a:t>
            </a:r>
            <a:r>
              <a:rPr lang="pt-BR" i="1"/>
              <a:t>Cathode Ray Tube</a:t>
            </a:r>
            <a:r>
              <a:rPr lang="pt-BR"/>
              <a:t>). </a:t>
            </a:r>
          </a:p>
          <a:p>
            <a:pPr eaLnBrk="1" hangingPunct="1"/>
            <a:r>
              <a:rPr lang="pt-BR"/>
              <a:t>Apesar de os monitores passarem por modificações que buscam aperfeiçoar a qualidade das imagens, o projeto dos modelos baseados em tubos de imagem ainda usa os mesmos princípios básicos do CRT, criado em 1897, pelo cientista alemão </a:t>
            </a:r>
            <a:r>
              <a:rPr lang="pt-BR" b="1">
                <a:solidFill>
                  <a:schemeClr val="tx2"/>
                </a:solidFill>
              </a:rPr>
              <a:t>Ferdinand Braun.</a:t>
            </a:r>
          </a:p>
          <a:p>
            <a:pPr eaLnBrk="1" hangingPunct="1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Corte de Um CRT</a:t>
            </a:r>
          </a:p>
        </p:txBody>
      </p:sp>
      <p:pic>
        <p:nvPicPr>
          <p:cNvPr id="13316" name="Picture 3" descr="http://www.samsung.com.br/produtos/monitores/samsung_responde/images/componentes_tubo_crt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6100" y="1981200"/>
            <a:ext cx="5728627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889133" y="857250"/>
            <a:ext cx="3374322" cy="626838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lnSpc>
                <a:spcPct val="85000"/>
              </a:lnSpc>
            </a:pPr>
            <a:r>
              <a:rPr lang="en-US"/>
              <a:t>CRT Colorido</a:t>
            </a:r>
          </a:p>
        </p:txBody>
      </p:sp>
      <p:pic>
        <p:nvPicPr>
          <p:cNvPr id="14340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87351" y="1970088"/>
            <a:ext cx="3535892" cy="1892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434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74158" y="4335463"/>
            <a:ext cx="8605838" cy="1667123"/>
          </a:xfrm>
          <a:noFill/>
        </p:spPr>
        <p:txBody>
          <a:bodyPr lIns="63500" tIns="25400" rIns="63500" bIns="25400">
            <a:spAutoFit/>
          </a:bodyPr>
          <a:lstStyle/>
          <a:p>
            <a:pPr marL="228600" indent="-228600" eaLnBrk="1" hangingPunct="1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</a:pPr>
            <a:r>
              <a:rPr lang="pt-BR" sz="2000" i="1"/>
              <a:t>Fluorescência</a:t>
            </a:r>
            <a:r>
              <a:rPr lang="pt-BR" sz="2000"/>
              <a:t> – Luz emitida durante a exposição do feixe de eletrons</a:t>
            </a:r>
          </a:p>
          <a:p>
            <a:pPr marL="228600" indent="-228600" eaLnBrk="1" hangingPunct="1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</a:pPr>
            <a:r>
              <a:rPr lang="pt-BR" sz="2000" i="1"/>
              <a:t>Fosforescência</a:t>
            </a:r>
            <a:r>
              <a:rPr lang="pt-BR" sz="2000"/>
              <a:t> – Luz permanece acesa após o feixe de eletrons ter sido desativado</a:t>
            </a:r>
          </a:p>
          <a:p>
            <a:pPr marL="228600" indent="-228600" eaLnBrk="1" hangingPunct="1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</a:pPr>
            <a:r>
              <a:rPr lang="pt-BR" sz="2000" i="1"/>
              <a:t>Persistência</a:t>
            </a:r>
            <a:r>
              <a:rPr lang="pt-BR" sz="2000"/>
              <a:t> -. A duração da fosforescência.</a:t>
            </a: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742950" y="1600200"/>
            <a:ext cx="4798219" cy="16671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marL="228600" indent="-228600" eaLnBrk="0" hangingPunct="0">
              <a:lnSpc>
                <a:spcPct val="85000"/>
              </a:lnSpc>
              <a:spcAft>
                <a:spcPct val="50000"/>
              </a:spcAft>
              <a:buSzPct val="60000"/>
              <a:buFontTx/>
              <a:buBlip>
                <a:blip r:embed="rId3"/>
              </a:buBlip>
            </a:pPr>
            <a:r>
              <a:rPr lang="pt-BR" sz="2000">
                <a:latin typeface="Tahoma" pitchFamily="34" charset="0"/>
              </a:rPr>
              <a:t>Canhões de eletrons, vermelho, verde e azul.</a:t>
            </a:r>
          </a:p>
          <a:p>
            <a:pPr marL="228600" indent="-228600" eaLnBrk="0" hangingPunct="0">
              <a:lnSpc>
                <a:spcPct val="85000"/>
              </a:lnSpc>
              <a:spcAft>
                <a:spcPct val="50000"/>
              </a:spcAft>
              <a:buSzPct val="60000"/>
              <a:buFontTx/>
              <a:buBlip>
                <a:blip r:embed="rId3"/>
              </a:buBlip>
            </a:pPr>
            <a:r>
              <a:rPr lang="pt-BR" sz="2000">
                <a:latin typeface="Tahoma" pitchFamily="34" charset="0"/>
              </a:rPr>
              <a:t>A tela é coberta com triade de fósforo.</a:t>
            </a:r>
          </a:p>
          <a:p>
            <a:pPr marL="228600" indent="-228600" eaLnBrk="0" hangingPunct="0">
              <a:lnSpc>
                <a:spcPct val="85000"/>
              </a:lnSpc>
              <a:spcAft>
                <a:spcPct val="50000"/>
              </a:spcAft>
              <a:buSzPct val="60000"/>
              <a:buFontTx/>
              <a:buBlip>
                <a:blip r:embed="rId3"/>
              </a:buBlip>
            </a:pPr>
            <a:r>
              <a:rPr lang="pt-BR" sz="2000">
                <a:latin typeface="Tahoma" pitchFamily="34" charset="0"/>
              </a:rPr>
              <a:t>Cada tríade é composta de um ponto de fósforo, vermelho azul e verde.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856456" y="912814"/>
            <a:ext cx="4151778" cy="626838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lnSpc>
                <a:spcPct val="85000"/>
              </a:lnSpc>
            </a:pPr>
            <a:r>
              <a:rPr lang="en-US"/>
              <a:t>Mascara Metálica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400" y="1524001"/>
            <a:ext cx="9008269" cy="4218591"/>
          </a:xfrm>
          <a:noFill/>
        </p:spPr>
        <p:txBody>
          <a:bodyPr lIns="63500" tIns="25400" rIns="63500" bIns="25400">
            <a:spAutoFit/>
          </a:bodyPr>
          <a:lstStyle/>
          <a:p>
            <a:pPr marL="228600" indent="-228600" eaLnBrk="1" hangingPunct="1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</a:pPr>
            <a:r>
              <a:rPr lang="pt-BR" sz="2400" dirty="0">
                <a:latin typeface="Verdana" pitchFamily="34" charset="0"/>
              </a:rPr>
              <a:t>Insere uma fina folha de metal perfurado entre a tela e o canhão de elétrons; dessa forma, miram-se os respectivos feixes das três cores primárias em um mesmo orifício na placa, que direcionará a formação do ponto colorido na tela.</a:t>
            </a:r>
          </a:p>
          <a:p>
            <a:pPr marL="228600" indent="-228600" eaLnBrk="1" hangingPunct="1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</a:pPr>
            <a:endParaRPr lang="pt-BR" dirty="0">
              <a:solidFill>
                <a:srgbClr val="000000"/>
              </a:solidFill>
              <a:latin typeface="Verdana" pitchFamily="34" charset="0"/>
            </a:endParaRPr>
          </a:p>
          <a:p>
            <a:pPr marL="228600" indent="-228600" eaLnBrk="1" hangingPunct="1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  <a:buFont typeface="Wingdings" pitchFamily="2" charset="2"/>
              <a:buNone/>
            </a:pPr>
            <a:endParaRPr lang="pt-BR" dirty="0">
              <a:solidFill>
                <a:srgbClr val="000000"/>
              </a:solidFill>
              <a:latin typeface="Verdana" pitchFamily="34" charset="0"/>
            </a:endParaRPr>
          </a:p>
          <a:p>
            <a:pPr marL="228600" indent="-228600" eaLnBrk="1" hangingPunct="1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</a:pPr>
            <a:endParaRPr lang="pt-BR" dirty="0">
              <a:solidFill>
                <a:srgbClr val="000000"/>
              </a:solidFill>
              <a:latin typeface="Verdana" pitchFamily="34" charset="0"/>
            </a:endParaRPr>
          </a:p>
          <a:p>
            <a:pPr marL="228600" indent="-228600" eaLnBrk="1" hangingPunct="1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15365" name="Picture 5" descr="http://www.samsung.com.br/produtos/monitores/samsung_responde/images/shadow_mask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3401" y="3733800"/>
            <a:ext cx="3009635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Boa Definição da Imagem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/>
              <a:t>A máscara metálica, contudo, não consegue, por si só, garantir a perfeita definição dos elementos da imagem.</a:t>
            </a:r>
          </a:p>
          <a:p>
            <a:pPr eaLnBrk="1" hangingPunct="1"/>
            <a:endParaRPr lang="pt-BR">
              <a:solidFill>
                <a:schemeClr val="tx2"/>
              </a:solidFill>
            </a:endParaRPr>
          </a:p>
          <a:p>
            <a:pPr eaLnBrk="1" hangingPunct="1"/>
            <a:r>
              <a:rPr lang="pt-BR">
                <a:solidFill>
                  <a:schemeClr val="tx2"/>
                </a:solidFill>
              </a:rPr>
              <a:t>Conseqüência:</a:t>
            </a:r>
          </a:p>
          <a:p>
            <a:pPr lvl="1" eaLnBrk="1" hangingPunct="1"/>
            <a:endParaRPr lang="pt-BR">
              <a:solidFill>
                <a:schemeClr val="tx2"/>
              </a:solidFill>
            </a:endParaRPr>
          </a:p>
          <a:p>
            <a:pPr lvl="1" eaLnBrk="1" hangingPunct="1"/>
            <a:r>
              <a:rPr lang="pt-BR">
                <a:solidFill>
                  <a:schemeClr val="tx2"/>
                </a:solidFill>
              </a:rPr>
              <a:t>Qualidade do foco</a:t>
            </a:r>
          </a:p>
          <a:p>
            <a:pPr lvl="1" eaLnBrk="1" hangingPunct="1"/>
            <a:r>
              <a:rPr lang="pt-BR">
                <a:solidFill>
                  <a:schemeClr val="tx2"/>
                </a:solidFill>
              </a:rPr>
              <a:t>Pureza das cores</a:t>
            </a:r>
          </a:p>
          <a:p>
            <a:pPr lvl="1" eaLnBrk="1" hangingPunct="1"/>
            <a:r>
              <a:rPr lang="pt-BR">
                <a:solidFill>
                  <a:schemeClr val="tx2"/>
                </a:solidFill>
              </a:rPr>
              <a:t>Convergência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Erro de Convergência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pt-BR"/>
          </a:p>
          <a:p>
            <a:pPr eaLnBrk="1" hangingPunct="1"/>
            <a:r>
              <a:rPr lang="pt-BR"/>
              <a:t>O erro de convergência pode ser facilmente notado em imagens com fantasmas.</a:t>
            </a:r>
          </a:p>
          <a:p>
            <a:pPr eaLnBrk="1" hangingPunct="1"/>
            <a:endParaRPr lang="pt-BR"/>
          </a:p>
          <a:p>
            <a:pPr eaLnBrk="1" hangingPunct="1"/>
            <a:r>
              <a:rPr lang="pt-BR"/>
              <a:t>O erro ocorre porque os três feixes de elétrons (um para cada cor) não estão incidindo sobre o mesmo grupo de pontos.</a:t>
            </a:r>
          </a:p>
          <a:p>
            <a:pPr eaLnBrk="1" hangingPunct="1"/>
            <a:endParaRPr lang="pt-BR"/>
          </a:p>
          <a:p>
            <a:pPr eaLnBrk="1" hangingPunct="1">
              <a:buFont typeface="Wingdings" pitchFamily="2" charset="2"/>
              <a:buNone/>
            </a:pPr>
            <a:endParaRPr lang="pt-BR" sz="2000" i="1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Possível Solução</a:t>
            </a:r>
          </a:p>
        </p:txBody>
      </p:sp>
      <p:pic>
        <p:nvPicPr>
          <p:cNvPr id="18436" name="Picture 3" descr="http://www.samsung.com.br/produtos/monitores/samsung_responde/images/pontos_vizinhos_acesos_impr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525" y="2471738"/>
            <a:ext cx="3276203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3776663" y="2657475"/>
            <a:ext cx="5928122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000">
                <a:latin typeface="Tahoma" pitchFamily="34" charset="0"/>
              </a:rPr>
              <a:t>Pontos vizinhos acesos impropriamente</a:t>
            </a:r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3879850" y="3429000"/>
            <a:ext cx="5706269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000">
                <a:solidFill>
                  <a:schemeClr val="tx2"/>
                </a:solidFill>
                <a:latin typeface="Tahoma" pitchFamily="34" charset="0"/>
              </a:rPr>
              <a:t>Solução:</a:t>
            </a:r>
            <a:r>
              <a:rPr lang="pt-BR" sz="2000">
                <a:latin typeface="Tahoma" pitchFamily="34" charset="0"/>
              </a:rPr>
              <a:t> aumento na intensidade do feixe de eletrons</a:t>
            </a:r>
          </a:p>
          <a:p>
            <a:pPr>
              <a:lnSpc>
                <a:spcPct val="85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pt-BR" sz="2000">
                <a:solidFill>
                  <a:schemeClr val="tx2"/>
                </a:solidFill>
                <a:latin typeface="Tahoma" pitchFamily="34" charset="0"/>
              </a:rPr>
              <a:t>Conseqüência:</a:t>
            </a:r>
            <a:r>
              <a:rPr lang="pt-BR" sz="2000">
                <a:latin typeface="Tahoma" pitchFamily="34" charset="0"/>
              </a:rPr>
              <a:t> Efeito Doming (alongamento dos orifícios da mascara metálica)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908050" y="609601"/>
            <a:ext cx="6187591" cy="72840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/>
              <a:t>Varredura de uma Imagem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258" y="2070101"/>
            <a:ext cx="8571442" cy="4081951"/>
          </a:xfrm>
          <a:noFill/>
        </p:spPr>
        <p:txBody>
          <a:bodyPr lIns="63500" tIns="25400" rIns="63500" bIns="25400">
            <a:spAutoFit/>
          </a:bodyPr>
          <a:lstStyle/>
          <a:p>
            <a:pPr marL="228600" indent="-228600" eaLnBrk="1" hangingPunct="1"/>
            <a:r>
              <a:rPr lang="pt-BR"/>
              <a:t>Dispositivos de varredura:</a:t>
            </a:r>
          </a:p>
          <a:p>
            <a:pPr marL="685800" lvl="1" indent="-228600" eaLnBrk="1" hangingPunct="1"/>
            <a:r>
              <a:rPr lang="pt-BR"/>
              <a:t>a imagem é gerada pela varredura seqüencial da memória de imagem e do monitor;</a:t>
            </a:r>
          </a:p>
          <a:p>
            <a:pPr marL="685800" lvl="1" indent="-228600" eaLnBrk="1" hangingPunct="1"/>
            <a:r>
              <a:rPr lang="pt-BR" b="1"/>
              <a:t>quadro</a:t>
            </a:r>
            <a:r>
              <a:rPr lang="pt-BR"/>
              <a:t> (“frame’’) - imagem gerada em um ciclo de refrescamento;</a:t>
            </a:r>
          </a:p>
          <a:p>
            <a:pPr marL="685800" lvl="1" indent="-228600" eaLnBrk="1" hangingPunct="1"/>
            <a:r>
              <a:rPr lang="pt-BR" b="1"/>
              <a:t>cintilação</a:t>
            </a:r>
            <a:r>
              <a:rPr lang="pt-BR"/>
              <a:t> - piscamento que ocorre quando a taxa de refrescamento é insuficiente.</a:t>
            </a:r>
          </a:p>
          <a:p>
            <a:pPr marL="228600" indent="-228600" eaLnBrk="1" hangingPunct="1">
              <a:lnSpc>
                <a:spcPct val="94000"/>
              </a:lnSpc>
              <a:spcBef>
                <a:spcPct val="47000"/>
              </a:spcBef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Varredura de uma Imagem</a:t>
            </a:r>
            <a:endParaRPr lang="pt-BR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4000"/>
              </a:lnSpc>
              <a:spcBef>
                <a:spcPct val="47000"/>
              </a:spcBef>
            </a:pPr>
            <a:endParaRPr lang="en-US"/>
          </a:p>
          <a:p>
            <a:pPr eaLnBrk="1" hangingPunct="1">
              <a:lnSpc>
                <a:spcPct val="94000"/>
              </a:lnSpc>
              <a:spcBef>
                <a:spcPct val="47000"/>
              </a:spcBef>
            </a:pPr>
            <a:r>
              <a:rPr lang="pt-BR"/>
              <a:t>Frequência de Fuzão Crítica (CFF)</a:t>
            </a:r>
          </a:p>
          <a:p>
            <a:pPr lvl="1" eaLnBrk="1" hangingPunct="1">
              <a:lnSpc>
                <a:spcPct val="94000"/>
              </a:lnSpc>
              <a:spcBef>
                <a:spcPct val="47000"/>
              </a:spcBef>
            </a:pPr>
            <a:endParaRPr lang="pt-BR"/>
          </a:p>
          <a:p>
            <a:pPr lvl="1" eaLnBrk="1" hangingPunct="1">
              <a:lnSpc>
                <a:spcPct val="94000"/>
              </a:lnSpc>
              <a:spcBef>
                <a:spcPct val="47000"/>
              </a:spcBef>
            </a:pPr>
            <a:r>
              <a:rPr lang="pt-BR"/>
              <a:t>Um número mínimo de frames devem ser exibido em cada segundo  para eliminar pontos na imagem.</a:t>
            </a:r>
          </a:p>
          <a:p>
            <a:pPr lvl="1" eaLnBrk="1" hangingPunct="1">
              <a:lnSpc>
                <a:spcPct val="94000"/>
              </a:lnSpc>
              <a:spcBef>
                <a:spcPct val="47000"/>
              </a:spcBef>
            </a:pPr>
            <a:r>
              <a:rPr lang="pt-BR"/>
              <a:t>Tipicamente ~60 vezes por segundo para o display raster.</a:t>
            </a:r>
          </a:p>
          <a:p>
            <a:pPr eaLnBrk="1" hangingPunct="1"/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Varredura de uma Imagem</a:t>
            </a:r>
            <a:endParaRPr lang="pt-BR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1245" y="2017714"/>
            <a:ext cx="8420100" cy="4543425"/>
          </a:xfrm>
        </p:spPr>
        <p:txBody>
          <a:bodyPr/>
          <a:lstStyle/>
          <a:p>
            <a:pPr eaLnBrk="1" hangingPunct="1"/>
            <a:r>
              <a:rPr lang="pt-BR"/>
              <a:t>Tipos de varredura:</a:t>
            </a:r>
          </a:p>
          <a:p>
            <a:pPr lvl="1" eaLnBrk="1" hangingPunct="1"/>
            <a:endParaRPr lang="pt-BR" b="1"/>
          </a:p>
          <a:p>
            <a:pPr lvl="1" eaLnBrk="1" hangingPunct="1"/>
            <a:r>
              <a:rPr lang="pt-BR" b="1"/>
              <a:t>Progressiva</a:t>
            </a:r>
            <a:r>
              <a:rPr lang="pt-BR"/>
              <a:t> - linhas são lidas em ordem crescente, como na maioria dos monitores;</a:t>
            </a:r>
          </a:p>
          <a:p>
            <a:pPr lvl="1" eaLnBrk="1" hangingPunct="1"/>
            <a:endParaRPr lang="pt-BR" b="1"/>
          </a:p>
          <a:p>
            <a:pPr lvl="1" eaLnBrk="1" hangingPunct="1"/>
            <a:r>
              <a:rPr lang="pt-BR" b="1"/>
              <a:t>entrelaçada</a:t>
            </a:r>
            <a:r>
              <a:rPr lang="pt-BR"/>
              <a:t> - o quadro é dividido em dois campos (linhas pares e linhas ímpares), como na TV.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Varredura de uma Imagem</a:t>
            </a:r>
            <a:endParaRPr lang="pt-BR"/>
          </a:p>
        </p:txBody>
      </p:sp>
      <p:sp>
        <p:nvSpPr>
          <p:cNvPr id="102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0" y="2017713"/>
            <a:ext cx="9701345" cy="4314825"/>
          </a:xfrm>
          <a:noFill/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pt-BR" sz="2400"/>
              <a:t>            Varredura Progressiva            Varredura Entrelaçada</a:t>
            </a:r>
          </a:p>
        </p:txBody>
      </p:sp>
      <p:pic>
        <p:nvPicPr>
          <p:cNvPr id="1030" name="Picture 4"/>
          <p:cNvPicPr>
            <a:picLocks noChangeArrowheads="1"/>
          </p:cNvPicPr>
          <p:nvPr/>
        </p:nvPicPr>
        <p:blipFill>
          <a:blip r:embed="rId3" cstate="print">
            <a:lum bright="6000" contrast="6000"/>
          </a:blip>
          <a:srcRect/>
          <a:stretch>
            <a:fillRect/>
          </a:stretch>
        </p:blipFill>
        <p:spPr bwMode="auto">
          <a:xfrm>
            <a:off x="227013" y="2562226"/>
            <a:ext cx="4772422" cy="3419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aphicFrame>
        <p:nvGraphicFramePr>
          <p:cNvPr id="1026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5071666" y="2576514"/>
          <a:ext cx="4834334" cy="336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Documento" r:id="rId4" imgW="4134600" imgH="3409200" progId="Word.Document.8">
                  <p:embed/>
                </p:oleObj>
              </mc:Choice>
              <mc:Fallback>
                <p:oleObj name="Documento" r:id="rId4" imgW="4134600" imgH="3409200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1666" y="2576514"/>
                        <a:ext cx="4834334" cy="336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Varredura de uma Imagem</a:t>
            </a:r>
            <a:endParaRPr lang="pt-BR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/>
              <a:t>Parâmetros de varredura:</a:t>
            </a:r>
          </a:p>
          <a:p>
            <a:pPr lvl="1" eaLnBrk="1" hangingPunct="1"/>
            <a:endParaRPr lang="pt-BR" b="1"/>
          </a:p>
          <a:p>
            <a:pPr lvl="1" eaLnBrk="1" hangingPunct="1"/>
            <a:r>
              <a:rPr lang="pt-BR" b="1"/>
              <a:t>freqüência (de varredura) vertical </a:t>
            </a:r>
            <a:r>
              <a:rPr lang="pt-BR"/>
              <a:t>= número de quadros por segundo;</a:t>
            </a:r>
          </a:p>
          <a:p>
            <a:pPr lvl="1" eaLnBrk="1" hangingPunct="1"/>
            <a:r>
              <a:rPr lang="pt-BR" b="1"/>
              <a:t>freqüência (de varredura) horizontal </a:t>
            </a:r>
            <a:r>
              <a:rPr lang="pt-BR"/>
              <a:t>= número de linhas preenchidas por segundo;</a:t>
            </a:r>
          </a:p>
          <a:p>
            <a:pPr lvl="1" eaLnBrk="1" hangingPunct="1"/>
            <a:r>
              <a:rPr lang="pt-BR" b="1"/>
              <a:t>faixa de passagem </a:t>
            </a:r>
            <a:r>
              <a:rPr lang="pt-BR"/>
              <a:t>= número de pixels por segundo / 2.</a:t>
            </a:r>
          </a:p>
          <a:p>
            <a:pPr eaLnBrk="1" hangingPunct="1"/>
            <a:endParaRPr 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Varredura de uma Imagem</a:t>
            </a:r>
            <a:endParaRPr lang="pt-BR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/>
              <a:t>Freqüências típicas de alguns monitores:</a:t>
            </a:r>
          </a:p>
          <a:p>
            <a:pPr eaLnBrk="1" hangingPunct="1">
              <a:buFont typeface="Wingdings" pitchFamily="2" charset="2"/>
              <a:buNone/>
            </a:pPr>
            <a:endParaRPr lang="pt-BR"/>
          </a:p>
          <a:p>
            <a:pPr eaLnBrk="1" hangingPunct="1">
              <a:buFont typeface="Wingdings" pitchFamily="2" charset="2"/>
              <a:buNone/>
            </a:pPr>
            <a:endParaRPr lang="pt-BR"/>
          </a:p>
        </p:txBody>
      </p:sp>
      <p:graphicFrame>
        <p:nvGraphicFramePr>
          <p:cNvPr id="205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330201" y="3124200"/>
          <a:ext cx="9317831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Document" r:id="rId3" imgW="5488112" imgH="960702" progId="Word.Document.8">
                  <p:embed/>
                </p:oleObj>
              </mc:Choice>
              <mc:Fallback>
                <p:oleObj name="Document" r:id="rId3" imgW="5488112" imgH="960702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1" y="3124200"/>
                        <a:ext cx="9317831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i="1"/>
              <a:t>Dot pitch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742950" y="1676400"/>
            <a:ext cx="8750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400" dirty="0"/>
              <a:t>O </a:t>
            </a:r>
            <a:r>
              <a:rPr lang="pt-BR" sz="2400" i="1" dirty="0" err="1"/>
              <a:t>dot</a:t>
            </a:r>
            <a:r>
              <a:rPr lang="pt-BR" sz="2400" i="1" dirty="0"/>
              <a:t> </a:t>
            </a:r>
            <a:r>
              <a:rPr lang="pt-BR" sz="2400" i="1" dirty="0" err="1"/>
              <a:t>pitch</a:t>
            </a:r>
            <a:r>
              <a:rPr lang="pt-BR" sz="2400" dirty="0"/>
              <a:t> é medido em milímetros, e os valores encontrados nos modelos de monitores mais comuns são de 0,28 mm ou menores.</a:t>
            </a:r>
          </a:p>
          <a:p>
            <a:pPr>
              <a:spcBef>
                <a:spcPct val="50000"/>
              </a:spcBef>
            </a:pPr>
            <a:endParaRPr lang="pt-BR" sz="2400" dirty="0"/>
          </a:p>
        </p:txBody>
      </p:sp>
      <p:pic>
        <p:nvPicPr>
          <p:cNvPr id="23557" name="Picture 6" descr="http://www.samsung.com.br/produtos/monitores/samsung_responde/images/medida_dot_pitch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8650" y="2971801"/>
            <a:ext cx="5622000" cy="2297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8" name="Text Box 7"/>
          <p:cNvSpPr txBox="1">
            <a:spLocks noChangeArrowheads="1"/>
          </p:cNvSpPr>
          <p:nvPr/>
        </p:nvSpPr>
        <p:spPr bwMode="auto">
          <a:xfrm>
            <a:off x="1073150" y="5486401"/>
            <a:ext cx="7346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000"/>
              <a:t>http://www.samsung.com.br/produtos/monitores/samsung_responde/sams_resp_vol1.3.html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z="2800"/>
              <a:t>Terminal Vetorial (histórico)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600200"/>
            <a:ext cx="850265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t-BR"/>
          </a:p>
          <a:p>
            <a:pPr eaLnBrk="1" hangingPunct="1"/>
            <a:r>
              <a:rPr lang="pt-BR"/>
              <a:t>Problemas deste tipo de arquitetura</a:t>
            </a:r>
          </a:p>
          <a:p>
            <a:pPr lvl="1" eaLnBrk="1" hangingPunct="1"/>
            <a:r>
              <a:rPr lang="pt-BR" sz="2000"/>
              <a:t>Qualidade ruim da imagem </a:t>
            </a:r>
          </a:p>
          <a:p>
            <a:pPr lvl="1" eaLnBrk="1" hangingPunct="1"/>
            <a:r>
              <a:rPr lang="pt-BR" sz="2000"/>
              <a:t>Imagens complexas piscam devido a baixa taxa de redesenho.</a:t>
            </a:r>
            <a:r>
              <a:rPr lang="pt-BR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pt-BR"/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3013075" y="2366963"/>
            <a:ext cx="990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458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6700" y="3810000"/>
            <a:ext cx="4292600" cy="234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Terminal Raster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1981200"/>
            <a:ext cx="8420100" cy="4114800"/>
          </a:xfrm>
        </p:spPr>
        <p:txBody>
          <a:bodyPr/>
          <a:lstStyle/>
          <a:p>
            <a:pPr eaLnBrk="1" hangingPunct="1"/>
            <a:r>
              <a:rPr lang="pt-BR"/>
              <a:t>Frame buffer:  memória de imagem</a:t>
            </a:r>
          </a:p>
          <a:p>
            <a:pPr lvl="1" eaLnBrk="1" hangingPunct="1"/>
            <a:r>
              <a:rPr lang="pt-BR"/>
              <a:t>A imagem a ser visualizada é armazenada como uma matriz de pixels. </a:t>
            </a:r>
          </a:p>
          <a:p>
            <a:pPr eaLnBrk="1" hangingPunct="1">
              <a:buFont typeface="Wingdings" pitchFamily="2" charset="2"/>
              <a:buNone/>
            </a:pPr>
            <a:endParaRPr lang="pt-BR"/>
          </a:p>
          <a:p>
            <a:pPr eaLnBrk="1" hangingPunct="1">
              <a:buFont typeface="Wingdings" pitchFamily="2" charset="2"/>
              <a:buNone/>
            </a:pPr>
            <a:endParaRPr lang="pt-BR"/>
          </a:p>
        </p:txBody>
      </p:sp>
      <p:pic>
        <p:nvPicPr>
          <p:cNvPr id="25605" name="Picture 4" descr="E:\compgrafica\Dispositivos de Visualização_arquivos\fig24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1400" y="3733801"/>
            <a:ext cx="5283200" cy="231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Terminal Raster</a:t>
            </a:r>
          </a:p>
        </p:txBody>
      </p:sp>
      <p:pic>
        <p:nvPicPr>
          <p:cNvPr id="26628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651000" y="1828800"/>
            <a:ext cx="6433741" cy="4114800"/>
          </a:xfr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z="2800"/>
              <a:t>Arquitetura mais comum de terminal gráfico por varredura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524000"/>
            <a:ext cx="8420100" cy="4611688"/>
          </a:xfrm>
        </p:spPr>
        <p:txBody>
          <a:bodyPr/>
          <a:lstStyle/>
          <a:p>
            <a:pPr eaLnBrk="1" hangingPunct="1"/>
            <a:r>
              <a:rPr lang="pt-BR" sz="2400"/>
              <a:t>Uma parte da memória do sistema serve como frame buffer.</a:t>
            </a:r>
          </a:p>
          <a:p>
            <a:pPr eaLnBrk="1" hangingPunct="1"/>
            <a:r>
              <a:rPr lang="pt-BR" sz="2400"/>
              <a:t>O controlador de vídeo exibe a imagem armazenada  acessando esta parte de memória através de uma porta</a:t>
            </a:r>
            <a:r>
              <a:rPr lang="pt-BR" sz="2000"/>
              <a:t>.</a:t>
            </a:r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2940844" y="2505075"/>
            <a:ext cx="990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93950" y="3505200"/>
            <a:ext cx="5448300" cy="250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z="2800"/>
              <a:t>Arquitetura com Processador Gráfico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5700" y="1905000"/>
            <a:ext cx="8420100" cy="4800600"/>
          </a:xfrm>
        </p:spPr>
        <p:txBody>
          <a:bodyPr/>
          <a:lstStyle/>
          <a:p>
            <a:pPr eaLnBrk="1" hangingPunct="1"/>
            <a:r>
              <a:rPr lang="pt-BR" sz="2400"/>
              <a:t>Operação raster: copia, combinação de áreas retangulares de pixeis, etc.</a:t>
            </a:r>
          </a:p>
          <a:p>
            <a:pPr eaLnBrk="1" hangingPunct="1"/>
            <a:r>
              <a:rPr lang="pt-BR" sz="2400"/>
              <a:t>Gerar primitivas gráficas: pontos, retas, círculos, etc.</a:t>
            </a: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2930525" y="2195513"/>
            <a:ext cx="990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867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6700" y="3581401"/>
            <a:ext cx="40449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Terminais Coloridos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sz="2400"/>
              <a:t>Se existe apenas um bit associado a cada feixe de elétron (ou seja, três bits de memória por pixel), pode-se obter oito cores distintas, conforme mostrado na tabela abaixo.</a:t>
            </a:r>
          </a:p>
          <a:p>
            <a:pPr eaLnBrk="1" hangingPunct="1"/>
            <a:endParaRPr lang="pt-BR" sz="2400"/>
          </a:p>
        </p:txBody>
      </p:sp>
      <p:pic>
        <p:nvPicPr>
          <p:cNvPr id="29701" name="Picture 4" descr="C:\Temp\ScreenHunter_03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51" y="3352801"/>
            <a:ext cx="2823898" cy="286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Número de Cores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pt-BR"/>
          </a:p>
          <a:p>
            <a:pPr eaLnBrk="1" hangingPunct="1"/>
            <a:r>
              <a:rPr lang="pt-BR"/>
              <a:t>O número de bits associado a cada pixel é denominado de “profundidade do pixel”.</a:t>
            </a:r>
          </a:p>
          <a:p>
            <a:pPr eaLnBrk="1" hangingPunct="1"/>
            <a:endParaRPr lang="pt-BR"/>
          </a:p>
          <a:p>
            <a:pPr eaLnBrk="1" hangingPunct="1"/>
            <a:endParaRPr lang="pt-BR"/>
          </a:p>
          <a:p>
            <a:pPr eaLnBrk="1" hangingPunct="1"/>
            <a:r>
              <a:rPr lang="pt-BR"/>
              <a:t>Se cada feixe tem profundidade </a:t>
            </a:r>
            <a:r>
              <a:rPr lang="pt-BR" i="1"/>
              <a:t>p, </a:t>
            </a:r>
            <a:r>
              <a:rPr lang="pt-BR"/>
              <a:t>o pixel tem profundidade 3</a:t>
            </a:r>
            <a:r>
              <a:rPr lang="pt-BR" i="1"/>
              <a:t>p (colorido)</a:t>
            </a:r>
            <a:r>
              <a:rPr lang="pt-BR"/>
              <a:t>, e pode gerar 2</a:t>
            </a:r>
            <a:r>
              <a:rPr lang="pt-BR" baseline="30000"/>
              <a:t>3</a:t>
            </a:r>
            <a:r>
              <a:rPr lang="pt-BR" i="1" baseline="30000"/>
              <a:t>p</a:t>
            </a:r>
            <a:r>
              <a:rPr lang="pt-BR"/>
              <a:t> cores.</a:t>
            </a:r>
            <a:endParaRPr lang="pt-BR" i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i="1"/>
              <a:t>Look-up-table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400" y="1524000"/>
            <a:ext cx="8997950" cy="5029200"/>
          </a:xfrm>
        </p:spPr>
        <p:txBody>
          <a:bodyPr/>
          <a:lstStyle/>
          <a:p>
            <a:pPr eaLnBrk="1" hangingPunct="1"/>
            <a:r>
              <a:rPr lang="pt-BR" sz="2400"/>
              <a:t>Utiliza tabela de consulta de cores (</a:t>
            </a:r>
            <a:r>
              <a:rPr lang="pt-BR" sz="2400" i="1"/>
              <a:t>Look-up-table</a:t>
            </a:r>
            <a:r>
              <a:rPr lang="pt-BR" sz="2400"/>
              <a:t>). Cada pixel tem um valor de 8 bits associados.</a:t>
            </a:r>
          </a:p>
          <a:p>
            <a:pPr eaLnBrk="1" hangingPunct="1"/>
            <a:endParaRPr lang="pt-BR" sz="2000"/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2811860" y="1847850"/>
            <a:ext cx="990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31750" name="Picture 5" descr="E:\compgrafica\Dispositivos de Visualização_arquivos\fig2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7850" y="2971800"/>
            <a:ext cx="8048625" cy="246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1" name="Text Box 6"/>
          <p:cNvSpPr txBox="1">
            <a:spLocks noChangeArrowheads="1"/>
          </p:cNvSpPr>
          <p:nvPr/>
        </p:nvSpPr>
        <p:spPr bwMode="auto">
          <a:xfrm>
            <a:off x="825500" y="5638801"/>
            <a:ext cx="86677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400">
                <a:latin typeface="Tahoma" pitchFamily="34" charset="0"/>
              </a:rPr>
              <a:t>A figura mostra um frame buffer com 8 bits por pixel, e uma LUT com 12 bits por posição.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Exemplo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9163050" cy="4876800"/>
          </a:xfrm>
        </p:spPr>
        <p:txBody>
          <a:bodyPr/>
          <a:lstStyle/>
          <a:p>
            <a:pPr eaLnBrk="1" hangingPunct="1"/>
            <a:r>
              <a:rPr lang="pt-BR" dirty="0"/>
              <a:t>Para N bit planes/cor,  com W-bit-</a:t>
            </a:r>
            <a:r>
              <a:rPr lang="pt-BR" dirty="0" err="1"/>
              <a:t>wide</a:t>
            </a:r>
            <a:r>
              <a:rPr lang="pt-BR" dirty="0"/>
              <a:t> LUT.</a:t>
            </a:r>
          </a:p>
          <a:p>
            <a:pPr lvl="1" eaLnBrk="1" hangingPunct="1"/>
            <a:r>
              <a:rPr lang="pt-BR" dirty="0"/>
              <a:t>(2</a:t>
            </a:r>
            <a:r>
              <a:rPr lang="pt-BR" baseline="30000" dirty="0"/>
              <a:t>3</a:t>
            </a:r>
            <a:r>
              <a:rPr lang="pt-BR" dirty="0"/>
              <a:t>)</a:t>
            </a:r>
            <a:r>
              <a:rPr lang="pt-BR" baseline="30000" dirty="0"/>
              <a:t>N  </a:t>
            </a:r>
            <a:r>
              <a:rPr lang="pt-BR" dirty="0"/>
              <a:t>cores possíveis</a:t>
            </a:r>
          </a:p>
          <a:p>
            <a:pPr lvl="1" eaLnBrk="1" hangingPunct="1"/>
            <a:r>
              <a:rPr lang="pt-BR" dirty="0"/>
              <a:t>(2</a:t>
            </a:r>
            <a:r>
              <a:rPr lang="pt-BR" baseline="30000" dirty="0"/>
              <a:t>3</a:t>
            </a:r>
            <a:r>
              <a:rPr lang="pt-BR" dirty="0"/>
              <a:t>)</a:t>
            </a:r>
            <a:r>
              <a:rPr lang="pt-BR" baseline="30000" dirty="0"/>
              <a:t>W</a:t>
            </a:r>
            <a:r>
              <a:rPr lang="pt-BR" dirty="0"/>
              <a:t> cores possíveis de uma </a:t>
            </a:r>
            <a:r>
              <a:rPr lang="pt-BR" dirty="0" err="1"/>
              <a:t>pallete</a:t>
            </a:r>
            <a:endParaRPr lang="pt-BR" dirty="0"/>
          </a:p>
          <a:p>
            <a:pPr lvl="1" eaLnBrk="1" hangingPunct="1"/>
            <a:endParaRPr lang="pt-BR" dirty="0"/>
          </a:p>
          <a:p>
            <a:pPr lvl="1" eaLnBrk="1" hangingPunct="1"/>
            <a:endParaRPr lang="pt-BR" dirty="0"/>
          </a:p>
          <a:p>
            <a:pPr eaLnBrk="1" hangingPunct="1"/>
            <a:r>
              <a:rPr lang="pt-BR" dirty="0"/>
              <a:t>Para N=8 e W = 10, existem 16.777.216 (2</a:t>
            </a:r>
            <a:r>
              <a:rPr lang="pt-BR" baseline="30000" dirty="0"/>
              <a:t>3</a:t>
            </a:r>
            <a:r>
              <a:rPr lang="pt-BR" dirty="0"/>
              <a:t>)</a:t>
            </a:r>
            <a:r>
              <a:rPr lang="pt-BR" baseline="30000" dirty="0"/>
              <a:t>8</a:t>
            </a:r>
            <a:r>
              <a:rPr lang="pt-BR" dirty="0"/>
              <a:t> cores de uma </a:t>
            </a:r>
            <a:r>
              <a:rPr lang="pt-BR" dirty="0" err="1"/>
              <a:t>pallete</a:t>
            </a:r>
            <a:r>
              <a:rPr lang="pt-BR" dirty="0"/>
              <a:t> de 1.073.741.824 (2</a:t>
            </a:r>
            <a:r>
              <a:rPr lang="pt-BR" baseline="30000" dirty="0"/>
              <a:t>3</a:t>
            </a:r>
            <a:r>
              <a:rPr lang="pt-BR" dirty="0"/>
              <a:t>)</a:t>
            </a:r>
            <a:r>
              <a:rPr lang="pt-BR" baseline="30000" dirty="0"/>
              <a:t>10 </a:t>
            </a:r>
            <a:r>
              <a:rPr lang="pt-BR" dirty="0"/>
              <a:t> que pode ser mostrado alguma vez.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Exemplo de Frame Buffer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sz="2000"/>
              <a:t>6-bit-plane </a:t>
            </a:r>
          </a:p>
          <a:p>
            <a:pPr lvl="1" eaLnBrk="1" hangingPunct="1"/>
            <a:r>
              <a:rPr lang="pt-BR" sz="2000"/>
              <a:t>Frame buffer colorida</a:t>
            </a:r>
          </a:p>
          <a:p>
            <a:pPr lvl="2" eaLnBrk="1" hangingPunct="1"/>
            <a:r>
              <a:rPr lang="pt-BR" sz="2100"/>
              <a:t>Com W-bit-wide tabela de cores</a:t>
            </a:r>
          </a:p>
          <a:p>
            <a:pPr eaLnBrk="1" hangingPunct="1"/>
            <a:endParaRPr lang="pt-BR" sz="2000"/>
          </a:p>
        </p:txBody>
      </p:sp>
      <p:pic>
        <p:nvPicPr>
          <p:cNvPr id="33797" name="Picture 5" descr="C:\Temp\ScreenHunter_0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1000" y="2819400"/>
            <a:ext cx="6996113" cy="321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Comparação de Sistemas Raster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/>
              <a:t>Caro X Barato</a:t>
            </a:r>
          </a:p>
        </p:txBody>
      </p:sp>
      <p:sp>
        <p:nvSpPr>
          <p:cNvPr id="34821" name="Line 5"/>
          <p:cNvSpPr>
            <a:spLocks noChangeShapeType="1"/>
          </p:cNvSpPr>
          <p:nvPr/>
        </p:nvSpPr>
        <p:spPr bwMode="auto">
          <a:xfrm>
            <a:off x="3797300" y="36576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pic>
        <p:nvPicPr>
          <p:cNvPr id="34822" name="Picture 8" descr="C:\Temp\ScreenHunter_0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438401"/>
            <a:ext cx="4879050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3" name="Text Box 9"/>
          <p:cNvSpPr txBox="1">
            <a:spLocks noChangeArrowheads="1"/>
          </p:cNvSpPr>
          <p:nvPr/>
        </p:nvSpPr>
        <p:spPr bwMode="auto">
          <a:xfrm>
            <a:off x="5943600" y="2590801"/>
            <a:ext cx="3632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/>
              <a:t>Imagem: 1280 X 1024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420100" cy="1143000"/>
          </a:xfrm>
        </p:spPr>
        <p:txBody>
          <a:bodyPr/>
          <a:lstStyle/>
          <a:p>
            <a:pPr eaLnBrk="1" hangingPunct="1"/>
            <a:r>
              <a:rPr lang="pt-BR"/>
              <a:t>Tabela de cores</a:t>
            </a:r>
          </a:p>
        </p:txBody>
      </p:sp>
      <p:sp>
        <p:nvSpPr>
          <p:cNvPr id="35844" name="Rectangle 3"/>
          <p:cNvSpPr>
            <a:spLocks noChangeArrowheads="1"/>
          </p:cNvSpPr>
          <p:nvPr/>
        </p:nvSpPr>
        <p:spPr bwMode="auto">
          <a:xfrm>
            <a:off x="0" y="-4829175"/>
            <a:ext cx="9906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35845" name="Picture 716" descr="C:\Temp\ScreenHunter_00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8050" y="4800600"/>
            <a:ext cx="7305675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6" name="Picture 717" descr="C:\Temp\ScreenHunter_00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5501" y="1905000"/>
            <a:ext cx="734351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Novas tecnologias</a:t>
            </a:r>
            <a:endParaRPr lang="pt-BR"/>
          </a:p>
        </p:txBody>
      </p:sp>
      <p:sp>
        <p:nvSpPr>
          <p:cNvPr id="36867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90600" y="1600200"/>
            <a:ext cx="8564563" cy="4757738"/>
          </a:xfrm>
        </p:spPr>
        <p:txBody>
          <a:bodyPr/>
          <a:lstStyle/>
          <a:p>
            <a:r>
              <a:rPr lang="pt-BR" sz="2000" dirty="0"/>
              <a:t> LCD monitores de cristais </a:t>
            </a:r>
            <a:r>
              <a:rPr lang="pt-BR" sz="2000" dirty="0" err="1"/>
              <a:t>liquidos</a:t>
            </a:r>
            <a:endParaRPr lang="pt-BR" sz="2000" dirty="0"/>
          </a:p>
          <a:p>
            <a:pPr>
              <a:buFont typeface="Wingdings" pitchFamily="2" charset="2"/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pPr lvl="4">
              <a:buFont typeface="Wingdings" pitchFamily="2" charset="2"/>
              <a:buNone/>
            </a:pPr>
            <a:endParaRPr lang="pt-BR" sz="1000" dirty="0"/>
          </a:p>
          <a:p>
            <a:pPr lvl="4">
              <a:buFont typeface="Wingdings" pitchFamily="2" charset="2"/>
              <a:buNone/>
            </a:pPr>
            <a:endParaRPr lang="pt-BR" sz="1000" dirty="0">
              <a:hlinkClick r:id="rId2"/>
            </a:endParaRPr>
          </a:p>
          <a:p>
            <a:pPr lvl="4">
              <a:buFont typeface="Wingdings" pitchFamily="2" charset="2"/>
              <a:buNone/>
            </a:pPr>
            <a:endParaRPr lang="pt-BR" sz="1000" dirty="0">
              <a:hlinkClick r:id="rId2"/>
            </a:endParaRPr>
          </a:p>
          <a:p>
            <a:pPr lvl="4">
              <a:buFont typeface="Wingdings" pitchFamily="2" charset="2"/>
              <a:buNone/>
            </a:pPr>
            <a:endParaRPr lang="pt-BR" sz="1000" dirty="0">
              <a:hlinkClick r:id="rId2"/>
            </a:endParaRPr>
          </a:p>
          <a:p>
            <a:pPr>
              <a:buFont typeface="Wingdings" pitchFamily="2" charset="2"/>
              <a:buNone/>
            </a:pPr>
            <a:r>
              <a:rPr lang="pt-BR" sz="1000" dirty="0">
                <a:hlinkClick r:id="rId2"/>
              </a:rPr>
              <a:t>http://www.forumpcs.com.br/review.php?r=124680&amp;page=2</a:t>
            </a:r>
            <a:endParaRPr lang="pt-BR" sz="1000" dirty="0"/>
          </a:p>
          <a:p>
            <a:pPr>
              <a:buFont typeface="Wingdings" pitchFamily="2" charset="2"/>
              <a:buNone/>
            </a:pPr>
            <a:endParaRPr lang="pt-BR" sz="1600" dirty="0"/>
          </a:p>
          <a:p>
            <a:r>
              <a:rPr lang="pt-BR" sz="1600" dirty="0"/>
              <a:t>A imagem é formada por pequenas células de cristal líquido entre duas placas de vidro, que são ativadas através de pequenos pulsos elétricos.</a:t>
            </a:r>
            <a:endParaRPr lang="en-US" sz="1600" dirty="0"/>
          </a:p>
          <a:p>
            <a:pPr lvl="1"/>
            <a:endParaRPr lang="pt-BR" sz="1400" dirty="0"/>
          </a:p>
        </p:txBody>
      </p:sp>
      <p:sp>
        <p:nvSpPr>
          <p:cNvPr id="36868" name="Espaço Reservado para Rodapé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pic>
        <p:nvPicPr>
          <p:cNvPr id="36869" name="Picture 2" descr="http://www.forumpcs.com.br/artigos/lcd_files/image002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15642" y="2500313"/>
            <a:ext cx="3448182" cy="164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Novas Tecnologias</a:t>
            </a:r>
          </a:p>
        </p:txBody>
      </p:sp>
      <p:sp>
        <p:nvSpPr>
          <p:cNvPr id="37891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7892" name="Espaço Reservado para Conteú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Monitores</a:t>
            </a:r>
            <a:r>
              <a:rPr lang="en-US" sz="2000" dirty="0"/>
              <a:t> FED (</a:t>
            </a:r>
            <a:r>
              <a:rPr lang="pt-BR" sz="2000" dirty="0"/>
              <a:t>monitores de emissão de campos</a:t>
            </a:r>
            <a:r>
              <a:rPr lang="pt-BR" dirty="0"/>
              <a:t>)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pPr>
              <a:buFont typeface="Wingdings" pitchFamily="2" charset="2"/>
              <a:buNone/>
            </a:pPr>
            <a:r>
              <a:rPr lang="en-US" sz="1000" dirty="0"/>
              <a:t>http://www.guiadohardware.net/artigos/crt-finos</a:t>
            </a:r>
          </a:p>
          <a:p>
            <a:r>
              <a:rPr lang="pt-BR" sz="1000" dirty="0">
                <a:hlinkClick r:id="rId2"/>
              </a:rPr>
              <a:t>http://www.youtube.com/watch?v=ML2Cik7-7ic</a:t>
            </a:r>
            <a:endParaRPr lang="en-US" sz="1000" dirty="0"/>
          </a:p>
          <a:p>
            <a:pPr>
              <a:buFont typeface="Wingdings" pitchFamily="2" charset="2"/>
              <a:buNone/>
            </a:pPr>
            <a:endParaRPr lang="pt-BR" dirty="0"/>
          </a:p>
        </p:txBody>
      </p:sp>
      <p:pic>
        <p:nvPicPr>
          <p:cNvPr id="37893" name="Picture 4" descr="gdh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5122" y="2514600"/>
            <a:ext cx="270867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4" name="CaixaDeTexto 6"/>
          <p:cNvSpPr txBox="1">
            <a:spLocks noChangeArrowheads="1"/>
          </p:cNvSpPr>
          <p:nvPr/>
        </p:nvSpPr>
        <p:spPr bwMode="auto">
          <a:xfrm>
            <a:off x="5264283" y="2708276"/>
            <a:ext cx="241974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000"/>
              <a:t>-Tempo de resposta mais rápido</a:t>
            </a:r>
          </a:p>
          <a:p>
            <a:pPr>
              <a:buFontTx/>
              <a:buChar char="-"/>
            </a:pPr>
            <a:r>
              <a:rPr lang="pt-BR" sz="2000"/>
              <a:t>Menor consumo de energia    </a:t>
            </a:r>
          </a:p>
          <a:p>
            <a:pPr>
              <a:buFontTx/>
              <a:buChar char="-"/>
            </a:pPr>
            <a:r>
              <a:rPr lang="pt-BR" sz="2000"/>
              <a:t>Imagens mais realistas.</a:t>
            </a:r>
            <a:br>
              <a:rPr lang="pt-BR" sz="2000"/>
            </a:br>
            <a:endParaRPr lang="pt-BR"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Novas tecnologias</a:t>
            </a:r>
            <a:endParaRPr lang="pt-BR"/>
          </a:p>
        </p:txBody>
      </p:sp>
      <p:sp>
        <p:nvSpPr>
          <p:cNvPr id="38915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pic>
        <p:nvPicPr>
          <p:cNvPr id="38916" name="Picture 2" descr="http://www.gdhpress.com.br/hmc/leia/cap7-4_html_2ab3ee8f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5123" y="1700213"/>
            <a:ext cx="2528094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7" name="CaixaDeTexto 5"/>
          <p:cNvSpPr txBox="1">
            <a:spLocks noChangeArrowheads="1"/>
          </p:cNvSpPr>
          <p:nvPr/>
        </p:nvSpPr>
        <p:spPr bwMode="auto">
          <a:xfrm>
            <a:off x="4562609" y="1700213"/>
            <a:ext cx="5107781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/>
              <a:t>OLEDs de três cores, prensados entre um Catodo, emissor de cargas negativas e um Anodo, carregado com cargas positivas. A combinação das duas camadas faz com que as cargas elétricas passem pelos OLEDs produzindo luz.</a:t>
            </a:r>
          </a:p>
        </p:txBody>
      </p:sp>
      <p:pic>
        <p:nvPicPr>
          <p:cNvPr id="38918" name="Picture 8" descr="Camadas do Monitor OLED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896012" y="3860800"/>
            <a:ext cx="2517775" cy="2414588"/>
          </a:xfrm>
          <a:noFill/>
        </p:spPr>
      </p:pic>
      <p:sp>
        <p:nvSpPr>
          <p:cNvPr id="38919" name="CaixaDeTexto 7"/>
          <p:cNvSpPr txBox="1">
            <a:spLocks noChangeArrowheads="1"/>
          </p:cNvSpPr>
          <p:nvPr/>
        </p:nvSpPr>
        <p:spPr bwMode="auto">
          <a:xfrm>
            <a:off x="818621" y="6381751"/>
            <a:ext cx="351009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000"/>
              <a:t>http://www.lynko.com.br/tecnologia/monitores-oled</a:t>
            </a:r>
            <a:endParaRPr lang="pt-BR"/>
          </a:p>
        </p:txBody>
      </p:sp>
      <p:sp>
        <p:nvSpPr>
          <p:cNvPr id="38920" name="CaixaDeTexto 8"/>
          <p:cNvSpPr txBox="1">
            <a:spLocks noChangeArrowheads="1"/>
          </p:cNvSpPr>
          <p:nvPr/>
        </p:nvSpPr>
        <p:spPr bwMode="auto">
          <a:xfrm>
            <a:off x="4562608" y="5157788"/>
            <a:ext cx="499255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100" dirty="0">
                <a:hlinkClick r:id="rId4"/>
              </a:rPr>
              <a:t>http://www.youtube.com/watch?v=TDuP8PtDJbE&amp;</a:t>
            </a:r>
            <a:r>
              <a:rPr lang="pt-BR" sz="1100" dirty="0" err="1">
                <a:hlinkClick r:id="rId4"/>
              </a:rPr>
              <a:t>feature</a:t>
            </a:r>
            <a:r>
              <a:rPr lang="pt-BR" sz="1100" dirty="0">
                <a:hlinkClick r:id="rId4"/>
              </a:rPr>
              <a:t>=</a:t>
            </a:r>
            <a:r>
              <a:rPr lang="pt-BR" sz="1100" dirty="0" err="1">
                <a:hlinkClick r:id="rId4"/>
              </a:rPr>
              <a:t>player_embedded</a:t>
            </a:r>
            <a:endParaRPr lang="pt-BR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Distribuição</a:t>
            </a:r>
            <a:r>
              <a:rPr lang="en-US" dirty="0"/>
              <a:t> dos pixels no IPAD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Prof. Robson Pequeno de sousa</a:t>
            </a:r>
          </a:p>
        </p:txBody>
      </p:sp>
      <p:pic>
        <p:nvPicPr>
          <p:cNvPr id="56322" name="Picture 2" descr="C:\Aula CG\ipad3_7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0532" y="1628800"/>
            <a:ext cx="4105878" cy="2808312"/>
          </a:xfrm>
          <a:prstGeom prst="rect">
            <a:avLst/>
          </a:prstGeom>
          <a:noFill/>
        </p:spPr>
      </p:pic>
      <p:pic>
        <p:nvPicPr>
          <p:cNvPr id="56323" name="Picture 3" descr="C:\Aula CG\ipad3_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31009" y="1660032"/>
            <a:ext cx="4550506" cy="2016224"/>
          </a:xfrm>
          <a:prstGeom prst="rect">
            <a:avLst/>
          </a:prstGeom>
          <a:noFill/>
        </p:spPr>
      </p:pic>
      <p:pic>
        <p:nvPicPr>
          <p:cNvPr id="5122" name="Picture 2" descr="http://st2.tecnoblog.net/wp-content/uploads/2010/06/retina-display-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386" y="4005065"/>
            <a:ext cx="536575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740532" y="5301208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Retina display = 326 /</a:t>
            </a:r>
            <a:r>
              <a:rPr lang="pt-BR" sz="2000" dirty="0" err="1"/>
              <a:t>ppi</a:t>
            </a:r>
            <a:endParaRPr lang="pt-BR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AMOLED x SUPER AMOLED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Prof. Robson Pequeno de sousa</a:t>
            </a:r>
          </a:p>
        </p:txBody>
      </p:sp>
      <p:pic>
        <p:nvPicPr>
          <p:cNvPr id="5122" name="Picture 2" descr="Super AMOLED Plus (Foto: Divulgação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679" y="2276872"/>
            <a:ext cx="5694633" cy="392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251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Resolução Gráfica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Todos os dispositivos de entrada e saída gráficos utilizam virtualmente uma malha retangular de posições  endereçáveis a qual é definida como retângulo de visualização.</a:t>
            </a:r>
          </a:p>
          <a:p>
            <a:pPr eaLnBrk="1" hangingPunct="1"/>
            <a:endParaRPr lang="pt-BR" dirty="0"/>
          </a:p>
          <a:p>
            <a:pPr eaLnBrk="1" hangingPunct="1"/>
            <a:r>
              <a:rPr lang="pt-BR" dirty="0"/>
              <a:t>Resolução gráfica de um dispositivo é o número de posições (</a:t>
            </a:r>
            <a:r>
              <a:rPr lang="pt-BR" i="1" dirty="0"/>
              <a:t>pixels</a:t>
            </a:r>
            <a:r>
              <a:rPr lang="pt-BR" dirty="0"/>
              <a:t>) horizontais e verticais que ele pode distinguir.</a:t>
            </a:r>
          </a:p>
          <a:p>
            <a:pPr eaLnBrk="1" hangingPunct="1"/>
            <a:endParaRPr lang="pt-BR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Resolução Gráfica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8420100" cy="4572000"/>
          </a:xfrm>
        </p:spPr>
        <p:txBody>
          <a:bodyPr/>
          <a:lstStyle/>
          <a:p>
            <a:pPr eaLnBrk="1" hangingPunct="1"/>
            <a:r>
              <a:rPr lang="pt-BR"/>
              <a:t>Quatro parâmetros definem a resolução gráfica</a:t>
            </a:r>
          </a:p>
          <a:p>
            <a:pPr lvl="1" eaLnBrk="1" hangingPunct="1"/>
            <a:r>
              <a:rPr lang="pt-BR" i="1"/>
              <a:t>ndh</a:t>
            </a:r>
            <a:r>
              <a:rPr lang="pt-BR"/>
              <a:t> - o número de posições endereçáveis horizontalmente</a:t>
            </a:r>
          </a:p>
          <a:p>
            <a:pPr lvl="1" eaLnBrk="1" hangingPunct="1"/>
            <a:r>
              <a:rPr lang="pt-BR" i="1"/>
              <a:t>ndv</a:t>
            </a:r>
            <a:r>
              <a:rPr lang="pt-BR"/>
              <a:t> - o número de posições endereçáveis verticalmente.</a:t>
            </a:r>
          </a:p>
          <a:p>
            <a:pPr lvl="1" eaLnBrk="1" hangingPunct="1"/>
            <a:r>
              <a:rPr lang="pt-BR" i="1"/>
              <a:t>width</a:t>
            </a:r>
            <a:r>
              <a:rPr lang="pt-BR"/>
              <a:t> - a largura do retângulo de visualização em mm.</a:t>
            </a:r>
          </a:p>
          <a:p>
            <a:pPr lvl="1" eaLnBrk="1" hangingPunct="1"/>
            <a:r>
              <a:rPr lang="pt-BR" i="1"/>
              <a:t>height</a:t>
            </a:r>
            <a:r>
              <a:rPr lang="pt-BR"/>
              <a:t> - a altura do retângulo de visualização em mm.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Resolução Gráfica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5500" y="1600200"/>
            <a:ext cx="8915400" cy="4953000"/>
          </a:xfrm>
        </p:spPr>
        <p:txBody>
          <a:bodyPr/>
          <a:lstStyle/>
          <a:p>
            <a:pPr eaLnBrk="1" hangingPunct="1"/>
            <a:r>
              <a:rPr lang="pt-BR" sz="2400" dirty="0"/>
              <a:t>A partir dos 4 parâmetros as seguintes medidas são definidas:</a:t>
            </a:r>
          </a:p>
          <a:p>
            <a:pPr eaLnBrk="1" hangingPunct="1">
              <a:buFont typeface="Wingdings" pitchFamily="2" charset="2"/>
              <a:buNone/>
            </a:pPr>
            <a:endParaRPr lang="pt-BR" sz="2400" dirty="0"/>
          </a:p>
          <a:p>
            <a:pPr lvl="1" eaLnBrk="1" hangingPunct="1"/>
            <a:r>
              <a:rPr lang="pt-BR" sz="2000" dirty="0">
                <a:latin typeface="Times New Roman" pitchFamily="18" charset="0"/>
              </a:rPr>
              <a:t> resolução horizontal: </a:t>
            </a:r>
            <a:r>
              <a:rPr lang="pt-BR" sz="2000" i="1" dirty="0" err="1">
                <a:latin typeface="Times New Roman" pitchFamily="18" charset="0"/>
              </a:rPr>
              <a:t>horiz_res</a:t>
            </a:r>
            <a:r>
              <a:rPr lang="pt-BR" sz="2000" i="1" dirty="0">
                <a:latin typeface="Times New Roman" pitchFamily="18" charset="0"/>
              </a:rPr>
              <a:t> = </a:t>
            </a:r>
            <a:r>
              <a:rPr lang="pt-BR" sz="2000" i="1" dirty="0" err="1">
                <a:latin typeface="Times New Roman" pitchFamily="18" charset="0"/>
              </a:rPr>
              <a:t>ndh</a:t>
            </a:r>
            <a:r>
              <a:rPr lang="pt-BR" sz="2000" i="1" dirty="0">
                <a:latin typeface="Times New Roman" pitchFamily="18" charset="0"/>
              </a:rPr>
              <a:t> / </a:t>
            </a:r>
            <a:r>
              <a:rPr lang="pt-BR" sz="2000" i="1" dirty="0" err="1">
                <a:latin typeface="Times New Roman" pitchFamily="18" charset="0"/>
              </a:rPr>
              <a:t>width</a:t>
            </a:r>
            <a:endParaRPr lang="pt-BR" sz="2000" i="1" dirty="0">
              <a:latin typeface="Times New Roman" pitchFamily="18" charset="0"/>
            </a:endParaRPr>
          </a:p>
          <a:p>
            <a:pPr lvl="1" eaLnBrk="1" hangingPunct="1"/>
            <a:r>
              <a:rPr lang="pt-BR" sz="2000" dirty="0">
                <a:latin typeface="Times New Roman" pitchFamily="18" charset="0"/>
              </a:rPr>
              <a:t>resolução vertical: </a:t>
            </a:r>
            <a:r>
              <a:rPr lang="pt-BR" sz="2000" i="1" dirty="0" err="1">
                <a:latin typeface="Times New Roman" pitchFamily="18" charset="0"/>
              </a:rPr>
              <a:t>vert_res</a:t>
            </a:r>
            <a:r>
              <a:rPr lang="pt-BR" sz="2000" i="1" dirty="0">
                <a:latin typeface="Times New Roman" pitchFamily="18" charset="0"/>
              </a:rPr>
              <a:t> = </a:t>
            </a:r>
            <a:r>
              <a:rPr lang="pt-BR" sz="2000" i="1" dirty="0" err="1">
                <a:latin typeface="Times New Roman" pitchFamily="18" charset="0"/>
              </a:rPr>
              <a:t>ndv</a:t>
            </a:r>
            <a:r>
              <a:rPr lang="pt-BR" sz="2000" i="1" dirty="0">
                <a:latin typeface="Times New Roman" pitchFamily="18" charset="0"/>
              </a:rPr>
              <a:t> / </a:t>
            </a:r>
            <a:r>
              <a:rPr lang="pt-BR" sz="2000" i="1" dirty="0" err="1">
                <a:latin typeface="Times New Roman" pitchFamily="18" charset="0"/>
              </a:rPr>
              <a:t>height</a:t>
            </a:r>
            <a:endParaRPr lang="pt-BR" sz="2000" i="1" dirty="0">
              <a:latin typeface="Times New Roman" pitchFamily="18" charset="0"/>
            </a:endParaRPr>
          </a:p>
          <a:p>
            <a:pPr lvl="1" eaLnBrk="1" hangingPunct="1"/>
            <a:r>
              <a:rPr lang="pt-BR" sz="2000" dirty="0"/>
              <a:t> </a:t>
            </a:r>
            <a:r>
              <a:rPr lang="pt-BR" sz="2000" dirty="0">
                <a:latin typeface="Times New Roman" pitchFamily="18" charset="0"/>
              </a:rPr>
              <a:t>tamanho do ponto horizontal: </a:t>
            </a:r>
            <a:r>
              <a:rPr lang="pt-BR" sz="2000" i="1" dirty="0" err="1">
                <a:latin typeface="Times New Roman" pitchFamily="18" charset="0"/>
              </a:rPr>
              <a:t>horiz_dot_size</a:t>
            </a:r>
            <a:r>
              <a:rPr lang="pt-BR" sz="2000" i="1" dirty="0">
                <a:latin typeface="Times New Roman" pitchFamily="18" charset="0"/>
              </a:rPr>
              <a:t> = </a:t>
            </a:r>
            <a:r>
              <a:rPr lang="pt-BR" sz="2000" i="1" dirty="0" err="1">
                <a:latin typeface="Times New Roman" pitchFamily="18" charset="0"/>
              </a:rPr>
              <a:t>width</a:t>
            </a:r>
            <a:r>
              <a:rPr lang="pt-BR" sz="2000" i="1" dirty="0">
                <a:latin typeface="Times New Roman" pitchFamily="18" charset="0"/>
              </a:rPr>
              <a:t> / </a:t>
            </a:r>
            <a:r>
              <a:rPr lang="pt-BR" sz="2000" i="1" dirty="0" err="1">
                <a:latin typeface="Times New Roman" pitchFamily="18" charset="0"/>
              </a:rPr>
              <a:t>ndh</a:t>
            </a:r>
            <a:endParaRPr lang="pt-BR" sz="2000" i="1" dirty="0">
              <a:latin typeface="Times New Roman" pitchFamily="18" charset="0"/>
            </a:endParaRPr>
          </a:p>
          <a:p>
            <a:pPr lvl="1" eaLnBrk="1" hangingPunct="1"/>
            <a:r>
              <a:rPr lang="pt-BR" sz="2000" dirty="0"/>
              <a:t> </a:t>
            </a:r>
            <a:r>
              <a:rPr lang="pt-BR" sz="2000" dirty="0">
                <a:latin typeface="Times New Roman" pitchFamily="18" charset="0"/>
              </a:rPr>
              <a:t>tamanho do ponto vertical: </a:t>
            </a:r>
            <a:r>
              <a:rPr lang="pt-BR" sz="2000" i="1" dirty="0" err="1">
                <a:latin typeface="Times New Roman" pitchFamily="18" charset="0"/>
              </a:rPr>
              <a:t>vert_dot_size</a:t>
            </a:r>
            <a:r>
              <a:rPr lang="pt-BR" sz="2000" i="1" dirty="0">
                <a:latin typeface="Times New Roman" pitchFamily="18" charset="0"/>
              </a:rPr>
              <a:t> = </a:t>
            </a:r>
            <a:r>
              <a:rPr lang="pt-BR" sz="2000" i="1" dirty="0" err="1">
                <a:latin typeface="Times New Roman" pitchFamily="18" charset="0"/>
              </a:rPr>
              <a:t>height</a:t>
            </a:r>
            <a:r>
              <a:rPr lang="pt-BR" sz="2000" i="1" dirty="0">
                <a:latin typeface="Times New Roman" pitchFamily="18" charset="0"/>
              </a:rPr>
              <a:t> / </a:t>
            </a:r>
            <a:r>
              <a:rPr lang="pt-BR" sz="2000" i="1" dirty="0" err="1">
                <a:latin typeface="Times New Roman" pitchFamily="18" charset="0"/>
              </a:rPr>
              <a:t>ndv</a:t>
            </a:r>
            <a:endParaRPr lang="pt-BR" sz="2000" i="1" dirty="0">
              <a:latin typeface="Times New Roman" pitchFamily="18" charset="0"/>
            </a:endParaRPr>
          </a:p>
          <a:p>
            <a:pPr lvl="1" eaLnBrk="1" hangingPunct="1"/>
            <a:r>
              <a:rPr lang="pt-BR" sz="2000" dirty="0"/>
              <a:t> </a:t>
            </a:r>
            <a:r>
              <a:rPr lang="pt-BR" sz="2000" dirty="0">
                <a:latin typeface="Times New Roman" pitchFamily="18" charset="0"/>
              </a:rPr>
              <a:t>total de pontos endereçáveis: </a:t>
            </a:r>
            <a:r>
              <a:rPr lang="pt-BR" sz="2000" i="1" dirty="0" err="1">
                <a:latin typeface="Times New Roman" pitchFamily="18" charset="0"/>
              </a:rPr>
              <a:t>total_nr_dots</a:t>
            </a:r>
            <a:r>
              <a:rPr lang="pt-BR" sz="2000" i="1" dirty="0">
                <a:latin typeface="Times New Roman" pitchFamily="18" charset="0"/>
              </a:rPr>
              <a:t> = </a:t>
            </a:r>
            <a:r>
              <a:rPr lang="pt-BR" sz="2000" i="1" dirty="0" err="1">
                <a:latin typeface="Times New Roman" pitchFamily="18" charset="0"/>
              </a:rPr>
              <a:t>ndh</a:t>
            </a:r>
            <a:r>
              <a:rPr lang="pt-BR" sz="2000" i="1" dirty="0">
                <a:latin typeface="Times New Roman" pitchFamily="18" charset="0"/>
              </a:rPr>
              <a:t> * </a:t>
            </a:r>
            <a:r>
              <a:rPr lang="pt-BR" sz="2000" i="1" dirty="0" err="1">
                <a:latin typeface="Times New Roman" pitchFamily="18" charset="0"/>
              </a:rPr>
              <a:t>ndv</a:t>
            </a:r>
            <a:endParaRPr lang="pt-BR" sz="2000" i="1" dirty="0">
              <a:latin typeface="Times New Roman" pitchFamily="18" charset="0"/>
            </a:endParaRPr>
          </a:p>
          <a:p>
            <a:pPr lvl="1" eaLnBrk="1" hangingPunct="1"/>
            <a:r>
              <a:rPr lang="pt-BR" sz="2000" dirty="0"/>
              <a:t> </a:t>
            </a:r>
            <a:r>
              <a:rPr lang="pt-BR" sz="2000" dirty="0">
                <a:latin typeface="Times New Roman" pitchFamily="18" charset="0"/>
              </a:rPr>
              <a:t>resolução de área: </a:t>
            </a:r>
            <a:r>
              <a:rPr lang="pt-BR" sz="2000" dirty="0" err="1">
                <a:latin typeface="Times New Roman" pitchFamily="18" charset="0"/>
              </a:rPr>
              <a:t>area_res</a:t>
            </a:r>
            <a:r>
              <a:rPr lang="pt-BR" sz="2000" dirty="0">
                <a:latin typeface="Times New Roman" pitchFamily="18" charset="0"/>
              </a:rPr>
              <a:t> = </a:t>
            </a:r>
            <a:r>
              <a:rPr lang="pt-BR" sz="2000" i="1" dirty="0" err="1">
                <a:latin typeface="Times New Roman" pitchFamily="18" charset="0"/>
              </a:rPr>
              <a:t>total_nr_dots</a:t>
            </a:r>
            <a:r>
              <a:rPr lang="pt-BR" sz="2000" i="1" dirty="0">
                <a:latin typeface="Times New Roman" pitchFamily="18" charset="0"/>
              </a:rPr>
              <a:t> / (</a:t>
            </a:r>
            <a:r>
              <a:rPr lang="pt-BR" sz="2000" i="1" dirty="0" err="1">
                <a:latin typeface="Times New Roman" pitchFamily="18" charset="0"/>
              </a:rPr>
              <a:t>width</a:t>
            </a:r>
            <a:r>
              <a:rPr lang="pt-BR" sz="2000" i="1" dirty="0">
                <a:latin typeface="Times New Roman" pitchFamily="18" charset="0"/>
              </a:rPr>
              <a:t> * </a:t>
            </a:r>
            <a:r>
              <a:rPr lang="pt-BR" sz="2000" i="1" dirty="0" err="1">
                <a:latin typeface="Times New Roman" pitchFamily="18" charset="0"/>
              </a:rPr>
              <a:t>height</a:t>
            </a:r>
            <a:r>
              <a:rPr lang="pt-BR" sz="2000" i="1" dirty="0">
                <a:latin typeface="Times New Roman" pitchFamily="18" charset="0"/>
              </a:rPr>
              <a:t>)</a:t>
            </a:r>
          </a:p>
          <a:p>
            <a:pPr lvl="1" eaLnBrk="1" hangingPunct="1"/>
            <a:r>
              <a:rPr lang="pt-BR" sz="2000" dirty="0"/>
              <a:t> </a:t>
            </a:r>
            <a:r>
              <a:rPr lang="pt-BR" sz="2000" dirty="0">
                <a:latin typeface="Times New Roman" pitchFamily="18" charset="0"/>
              </a:rPr>
              <a:t>razão de aspecto gráfica: </a:t>
            </a:r>
            <a:r>
              <a:rPr lang="pt-BR" sz="2000" dirty="0" err="1">
                <a:latin typeface="Times New Roman" pitchFamily="18" charset="0"/>
              </a:rPr>
              <a:t>aspect_ratio</a:t>
            </a:r>
            <a:r>
              <a:rPr lang="pt-BR" sz="2000" dirty="0">
                <a:latin typeface="Times New Roman" pitchFamily="18" charset="0"/>
              </a:rPr>
              <a:t> = </a:t>
            </a:r>
            <a:r>
              <a:rPr lang="pt-BR" sz="2000" i="1" dirty="0" err="1">
                <a:latin typeface="Times New Roman" pitchFamily="18" charset="0"/>
              </a:rPr>
              <a:t>vert_dot_size</a:t>
            </a:r>
            <a:r>
              <a:rPr lang="pt-BR" sz="2000" i="1" dirty="0">
                <a:latin typeface="Times New Roman" pitchFamily="18" charset="0"/>
              </a:rPr>
              <a:t> / </a:t>
            </a:r>
            <a:r>
              <a:rPr lang="pt-BR" sz="2000" i="1" dirty="0" err="1">
                <a:latin typeface="Times New Roman" pitchFamily="18" charset="0"/>
              </a:rPr>
              <a:t>horiz_dot_</a:t>
            </a:r>
            <a:r>
              <a:rPr lang="pt-BR" sz="2000" i="1" dirty="0">
                <a:latin typeface="Times New Roman" pitchFamily="18" charset="0"/>
              </a:rPr>
              <a:t> </a:t>
            </a:r>
            <a:r>
              <a:rPr lang="pt-BR" sz="2000" i="1" dirty="0" err="1">
                <a:latin typeface="Times New Roman" pitchFamily="18" charset="0"/>
              </a:rPr>
              <a:t>size</a:t>
            </a:r>
            <a:endParaRPr lang="pt-BR" sz="2000" i="1" dirty="0">
              <a:latin typeface="Times New Roman" pitchFamily="18" charset="0"/>
            </a:endParaRPr>
          </a:p>
          <a:p>
            <a:pPr lvl="1" eaLnBrk="1" hangingPunct="1"/>
            <a:r>
              <a:rPr lang="pt-BR" sz="2000" dirty="0"/>
              <a:t> </a:t>
            </a:r>
            <a:r>
              <a:rPr lang="pt-BR" sz="2000" dirty="0">
                <a:latin typeface="Times New Roman" pitchFamily="18" charset="0"/>
              </a:rPr>
              <a:t>razão de aspecto físico: </a:t>
            </a:r>
            <a:r>
              <a:rPr lang="pt-BR" sz="2000" dirty="0" err="1">
                <a:latin typeface="Times New Roman" pitchFamily="18" charset="0"/>
              </a:rPr>
              <a:t>physical_aspect_ratio</a:t>
            </a:r>
            <a:r>
              <a:rPr lang="pt-BR" sz="2000" dirty="0">
                <a:latin typeface="Times New Roman" pitchFamily="18" charset="0"/>
              </a:rPr>
              <a:t> =</a:t>
            </a:r>
            <a:r>
              <a:rPr lang="pt-BR" sz="2000" i="1" dirty="0">
                <a:latin typeface="Times New Roman" pitchFamily="18" charset="0"/>
              </a:rPr>
              <a:t> </a:t>
            </a:r>
            <a:r>
              <a:rPr lang="pt-BR" sz="2000" i="1" dirty="0" err="1">
                <a:latin typeface="Times New Roman" pitchFamily="18" charset="0"/>
              </a:rPr>
              <a:t>width</a:t>
            </a:r>
            <a:r>
              <a:rPr lang="pt-BR" sz="2000" dirty="0">
                <a:latin typeface="Times New Roman" pitchFamily="18" charset="0"/>
              </a:rPr>
              <a:t> /</a:t>
            </a:r>
            <a:r>
              <a:rPr lang="pt-BR" sz="2000" dirty="0" err="1">
                <a:latin typeface="Times New Roman" pitchFamily="18" charset="0"/>
              </a:rPr>
              <a:t>height</a:t>
            </a:r>
            <a:r>
              <a:rPr lang="pt-BR" sz="2000" dirty="0">
                <a:latin typeface="Times New Roman" pitchFamily="18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pt-BR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Sistemas de Coordenadas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600200"/>
            <a:ext cx="8921750" cy="5105400"/>
          </a:xfrm>
        </p:spPr>
        <p:txBody>
          <a:bodyPr/>
          <a:lstStyle/>
          <a:p>
            <a:pPr eaLnBrk="1" hangingPunct="1"/>
            <a:r>
              <a:rPr lang="pt-BR" dirty="0"/>
              <a:t>De forma geral são definidos três sistemas de coordenadas:</a:t>
            </a:r>
          </a:p>
          <a:p>
            <a:pPr lvl="1"/>
            <a:r>
              <a:rPr lang="pt-BR" dirty="0"/>
              <a:t> Sistemas de coordenadas do mundo</a:t>
            </a:r>
          </a:p>
          <a:p>
            <a:pPr lvl="2" eaLnBrk="1" hangingPunct="1"/>
            <a:r>
              <a:rPr lang="pt-BR" dirty="0">
                <a:latin typeface="Times New Roman" pitchFamily="18" charset="0"/>
              </a:rPr>
              <a:t>É um conjunto de coordenadas cartesianas em um intervalo qualquer definido pelo usuário. </a:t>
            </a:r>
          </a:p>
          <a:p>
            <a:pPr lvl="1" eaLnBrk="1" hangingPunct="1"/>
            <a:endParaRPr lang="pt-BR" dirty="0"/>
          </a:p>
          <a:p>
            <a:pPr lvl="1" eaLnBrk="1" hangingPunct="1"/>
            <a:r>
              <a:rPr lang="pt-BR" dirty="0"/>
              <a:t>Sistemas de coordenadas do dispositivo</a:t>
            </a:r>
          </a:p>
          <a:p>
            <a:pPr lvl="2" eaLnBrk="1" hangingPunct="1"/>
            <a:r>
              <a:rPr lang="pt-BR" dirty="0">
                <a:latin typeface="Times New Roman" pitchFamily="18" charset="0"/>
              </a:rPr>
              <a:t>É um conjunto de </a:t>
            </a:r>
            <a:r>
              <a:rPr lang="pt-BR" i="1" dirty="0">
                <a:latin typeface="Times New Roman" pitchFamily="18" charset="0"/>
              </a:rPr>
              <a:t>pixels</a:t>
            </a:r>
            <a:r>
              <a:rPr lang="pt-BR" dirty="0">
                <a:latin typeface="Times New Roman" pitchFamily="18" charset="0"/>
              </a:rPr>
              <a:t> endereçáveis pelo dispositivo. Os pixels são endereçados por dois números inteiros que dão suas coordenadas horizontal e vertical.</a:t>
            </a:r>
            <a:endParaRPr lang="pt-BR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Sistemas de Coordenadas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pt-BR"/>
              <a:t>Sistema de coordenadas normalizadas do dispositivo (NDC).</a:t>
            </a:r>
          </a:p>
          <a:p>
            <a:pPr lvl="2" eaLnBrk="1" hangingPunct="1"/>
            <a:r>
              <a:rPr lang="pt-BR">
                <a:latin typeface="Times New Roman" pitchFamily="18" charset="0"/>
              </a:rPr>
              <a:t>Este sistema é intermediário  entre os dois anteriores, definido de tal forma que todo conteúdo da janela de visualização possua as coordenadas variando no intervalo [0,1] X [0,1]</a:t>
            </a:r>
          </a:p>
          <a:p>
            <a:pPr lvl="1" eaLnBrk="1" hangingPunct="1"/>
            <a:endParaRPr lang="pt-BR">
              <a:latin typeface="Times New Roman" pitchFamily="18" charset="0"/>
            </a:endParaRPr>
          </a:p>
          <a:p>
            <a:pPr lvl="1" eaLnBrk="1" hangingPunct="1"/>
            <a:r>
              <a:rPr lang="pt-BR">
                <a:latin typeface="Times New Roman" pitchFamily="18" charset="0"/>
              </a:rPr>
              <a:t>Vantagem da utilização de NDCs é que padrões gráficos podem ser discutidos usando um sistema de coordenadas independente de dispositivos gráficos específicos.</a:t>
            </a:r>
            <a:endParaRPr lang="pt-B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Sistemas de Coordenadas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9010650" cy="4876800"/>
          </a:xfrm>
        </p:spPr>
        <p:txBody>
          <a:bodyPr/>
          <a:lstStyle/>
          <a:p>
            <a:pPr eaLnBrk="1" hangingPunct="1"/>
            <a:r>
              <a:rPr lang="pt-BR" dirty="0"/>
              <a:t>Sistema de Coordenada do mundo.</a:t>
            </a:r>
          </a:p>
          <a:p>
            <a:pPr eaLnBrk="1" hangingPunct="1"/>
            <a:endParaRPr lang="pt-BR" dirty="0"/>
          </a:p>
          <a:p>
            <a:r>
              <a:rPr lang="pt-BR" dirty="0"/>
              <a:t>Sistema de Coordenada dispositivo</a:t>
            </a:r>
          </a:p>
          <a:p>
            <a:pPr eaLnBrk="1" hangingPunct="1">
              <a:buFont typeface="Wingdings" pitchFamily="2" charset="2"/>
              <a:buNone/>
            </a:pPr>
            <a:endParaRPr lang="pt-BR" dirty="0"/>
          </a:p>
          <a:p>
            <a:endParaRPr lang="pt-BR" dirty="0"/>
          </a:p>
          <a:p>
            <a:r>
              <a:rPr lang="pt-BR" dirty="0"/>
              <a:t>Sistema de Coordenada NDC</a:t>
            </a:r>
          </a:p>
          <a:p>
            <a:pPr eaLnBrk="1" hangingPunct="1"/>
            <a:endParaRPr lang="pt-BR" dirty="0"/>
          </a:p>
          <a:p>
            <a:pPr eaLnBrk="1" hangingPunct="1">
              <a:buFont typeface="Wingdings" pitchFamily="2" charset="2"/>
              <a:buNone/>
            </a:pPr>
            <a:endParaRPr lang="pt-BR" dirty="0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835434"/>
              </p:ext>
            </p:extLst>
          </p:nvPr>
        </p:nvGraphicFramePr>
        <p:xfrm>
          <a:off x="2667000" y="3886200"/>
          <a:ext cx="18573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Equation" r:id="rId3" imgW="1714320" imgH="685800" progId="Equation.DSMT4">
                  <p:embed/>
                </p:oleObj>
              </mc:Choice>
              <mc:Fallback>
                <p:oleObj name="Equation" r:id="rId3" imgW="171432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886200"/>
                        <a:ext cx="18573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557732"/>
              </p:ext>
            </p:extLst>
          </p:nvPr>
        </p:nvGraphicFramePr>
        <p:xfrm>
          <a:off x="2971800" y="2514600"/>
          <a:ext cx="203623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3" name="Equation" r:id="rId5" imgW="1879560" imgH="685800" progId="">
                  <p:embed/>
                </p:oleObj>
              </mc:Choice>
              <mc:Fallback>
                <p:oleObj name="Equation" r:id="rId5" imgW="1879560" imgH="685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14600"/>
                        <a:ext cx="203623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526660"/>
              </p:ext>
            </p:extLst>
          </p:nvPr>
        </p:nvGraphicFramePr>
        <p:xfrm>
          <a:off x="2819400" y="5486400"/>
          <a:ext cx="133455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4" name="Equation" r:id="rId7" imgW="1231560" imgH="685800" progId="">
                  <p:embed/>
                </p:oleObj>
              </mc:Choice>
              <mc:Fallback>
                <p:oleObj name="Equation" r:id="rId7" imgW="1231560" imgH="685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486400"/>
                        <a:ext cx="133455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Sistemas de Coordenadas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8667750" cy="5029200"/>
          </a:xfrm>
        </p:spPr>
        <p:txBody>
          <a:bodyPr/>
          <a:lstStyle/>
          <a:p>
            <a:pPr eaLnBrk="1" hangingPunct="1"/>
            <a:r>
              <a:rPr lang="pt-BR" dirty="0"/>
              <a:t>Transformação de </a:t>
            </a:r>
            <a:r>
              <a:rPr lang="pt-BR" dirty="0" err="1"/>
              <a:t>NDCs</a:t>
            </a:r>
            <a:r>
              <a:rPr lang="pt-BR" dirty="0"/>
              <a:t> para dispositivos</a:t>
            </a:r>
          </a:p>
          <a:p>
            <a:pPr eaLnBrk="1" hangingPunct="1"/>
            <a:endParaRPr lang="pt-BR" dirty="0"/>
          </a:p>
          <a:p>
            <a:pPr eaLnBrk="1" hangingPunct="1">
              <a:buFont typeface="Wingdings" pitchFamily="2" charset="2"/>
              <a:buNone/>
            </a:pPr>
            <a:endParaRPr lang="pt-BR" dirty="0"/>
          </a:p>
          <a:p>
            <a:r>
              <a:rPr lang="pt-BR" dirty="0"/>
              <a:t>Transformação de coordenadas do mundo para </a:t>
            </a:r>
            <a:r>
              <a:rPr lang="pt-BR" dirty="0" err="1"/>
              <a:t>NDCs</a:t>
            </a:r>
            <a:r>
              <a:rPr lang="pt-BR" dirty="0"/>
              <a:t>.</a:t>
            </a:r>
          </a:p>
          <a:p>
            <a:pPr eaLnBrk="1" hangingPunct="1"/>
            <a:endParaRPr lang="pt-BR" dirty="0"/>
          </a:p>
          <a:p>
            <a:pPr lvl="1" eaLnBrk="1" hangingPunct="1"/>
            <a:endParaRPr lang="pt-BR" dirty="0"/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80469"/>
              </p:ext>
            </p:extLst>
          </p:nvPr>
        </p:nvGraphicFramePr>
        <p:xfrm>
          <a:off x="3124200" y="2819400"/>
          <a:ext cx="386609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4" imgW="3568680" imgH="812520" progId="">
                  <p:embed/>
                </p:oleObj>
              </mc:Choice>
              <mc:Fallback>
                <p:oleObj name="Equation" r:id="rId4" imgW="3568680" imgH="81252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19400"/>
                        <a:ext cx="3866092" cy="812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35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289651"/>
              </p:ext>
            </p:extLst>
          </p:nvPr>
        </p:nvGraphicFramePr>
        <p:xfrm>
          <a:off x="5410200" y="4648200"/>
          <a:ext cx="3068108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Equation" r:id="rId6" imgW="2831760" imgH="1676160" progId="">
                  <p:embed/>
                </p:oleObj>
              </mc:Choice>
              <mc:Fallback>
                <p:oleObj name="Equation" r:id="rId6" imgW="2831760" imgH="16761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648200"/>
                        <a:ext cx="3068108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Sistemas de Coordenadas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400" y="1600200"/>
            <a:ext cx="8750300" cy="472440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pt-BR"/>
          </a:p>
          <a:p>
            <a:pPr eaLnBrk="1" hangingPunct="1"/>
            <a:r>
              <a:rPr lang="pt-BR"/>
              <a:t>Seqüência de transformações</a:t>
            </a:r>
          </a:p>
        </p:txBody>
      </p:sp>
      <p:pic>
        <p:nvPicPr>
          <p:cNvPr id="45061" name="Picture 4" descr="fig1_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50" y="3324225"/>
            <a:ext cx="8316913" cy="239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4608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Exercício</a:t>
            </a:r>
          </a:p>
        </p:txBody>
      </p:sp>
      <p:sp>
        <p:nvSpPr>
          <p:cNvPr id="4608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sz="2400" dirty="0"/>
              <a:t>Escreva os procedimentos "</a:t>
            </a:r>
            <a:r>
              <a:rPr lang="pt-BR" sz="2400" dirty="0" err="1"/>
              <a:t>inp_to_ndc</a:t>
            </a:r>
            <a:r>
              <a:rPr lang="pt-BR" sz="2400" dirty="0"/>
              <a:t>", "</a:t>
            </a:r>
            <a:r>
              <a:rPr lang="pt-BR" sz="2400" dirty="0" err="1"/>
              <a:t>ndc_to_user</a:t>
            </a:r>
            <a:r>
              <a:rPr lang="pt-BR" sz="2400" dirty="0"/>
              <a:t>", "</a:t>
            </a:r>
            <a:r>
              <a:rPr lang="pt-BR" sz="2400" dirty="0" err="1"/>
              <a:t>user_to_ndc</a:t>
            </a:r>
            <a:r>
              <a:rPr lang="pt-BR" sz="2400" dirty="0"/>
              <a:t>" </a:t>
            </a:r>
            <a:r>
              <a:rPr lang="pt-BR" sz="2400" dirty="0" err="1"/>
              <a:t>ndc_to_dc</a:t>
            </a:r>
            <a:r>
              <a:rPr lang="pt-BR" sz="2400" dirty="0"/>
              <a:t>, que transformam dados entre os vários sistemas de coordenadas, conforme ilustrado na figura anterior. Repita o exercício assumindo que o intervalo de variação do sistema NDC vai de:</a:t>
            </a:r>
          </a:p>
          <a:p>
            <a:pPr lvl="1" eaLnBrk="1" hangingPunct="1"/>
            <a:endParaRPr lang="pt-BR" sz="1800" dirty="0"/>
          </a:p>
          <a:p>
            <a:pPr lvl="1" eaLnBrk="1" hangingPunct="1"/>
            <a:r>
              <a:rPr lang="pt-BR" sz="1800" dirty="0"/>
              <a:t>-1 a +1 (coordenadas normalizadas centradas)</a:t>
            </a:r>
          </a:p>
          <a:p>
            <a:pPr lvl="1" eaLnBrk="1" hangingPunct="1"/>
            <a:r>
              <a:rPr lang="pt-BR" sz="1800" dirty="0"/>
              <a:t>0 a 50</a:t>
            </a:r>
          </a:p>
          <a:p>
            <a:pPr lvl="1" eaLnBrk="1" hangingPunct="1"/>
            <a:r>
              <a:rPr lang="pt-BR" sz="1800" dirty="0"/>
              <a:t>Mostre analiticamente a expressão final </a:t>
            </a:r>
          </a:p>
          <a:p>
            <a:pPr eaLnBrk="1" hangingPunct="1"/>
            <a:endParaRPr lang="pt-BR" sz="2400" dirty="0"/>
          </a:p>
          <a:p>
            <a:pPr eaLnBrk="1" hangingPunct="1"/>
            <a:r>
              <a:rPr lang="pt-BR" sz="2400" dirty="0"/>
              <a:t>Implemente os procedimentos acima.</a:t>
            </a:r>
          </a:p>
          <a:p>
            <a:pPr eaLnBrk="1" hangingPunct="1"/>
            <a:endParaRPr lang="pt-BR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Rodapé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t-BR"/>
              <a:t>Prof. Robson Pequeno de sousa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Exercícios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981200"/>
            <a:ext cx="9086850" cy="4876800"/>
          </a:xfrm>
        </p:spPr>
        <p:txBody>
          <a:bodyPr/>
          <a:lstStyle/>
          <a:p>
            <a:pPr eaLnBrk="1" hangingPunct="1"/>
            <a:r>
              <a:rPr lang="pt-BR" sz="2400" dirty="0">
                <a:latin typeface="AbadiMT-CondensedLight" charset="0"/>
              </a:rPr>
              <a:t>Identifique alguma aplicação de CG que faça parte do seu dia-a-dia e tente pensar em formas como ela foi (ou poderia ter sido) implementada.</a:t>
            </a:r>
          </a:p>
          <a:p>
            <a:pPr eaLnBrk="1" hangingPunct="1"/>
            <a:r>
              <a:rPr lang="pt-BR" sz="2400" dirty="0">
                <a:latin typeface="AbadiMT-CondensedLight" charset="0"/>
              </a:rPr>
              <a:t>Faça uma pesquisa sobre os seguintes dispositivos gráficos: CRT(histórico), LCD, Plasma, </a:t>
            </a:r>
            <a:r>
              <a:rPr lang="pt-BR" sz="2400" dirty="0" err="1">
                <a:latin typeface="AbadiMT-CondensedLight" charset="0"/>
              </a:rPr>
              <a:t>FEDs</a:t>
            </a:r>
            <a:r>
              <a:rPr lang="pt-BR" sz="2400" dirty="0">
                <a:latin typeface="AbadiMT-CondensedLight" charset="0"/>
              </a:rPr>
              <a:t>, OLEDS, AMOLED,  SUPER AMOLED Identificando: </a:t>
            </a:r>
          </a:p>
          <a:p>
            <a:pPr lvl="1"/>
            <a:r>
              <a:rPr lang="pt-BR" sz="1800">
                <a:latin typeface="AbadiMT-CondensedLight" charset="0"/>
              </a:rPr>
              <a:t>Especificações </a:t>
            </a:r>
            <a:r>
              <a:rPr lang="pt-BR" sz="1800" dirty="0">
                <a:latin typeface="AbadiMT-CondensedLight" charset="0"/>
              </a:rPr>
              <a:t>técnicas deste tipos de dispositivos</a:t>
            </a:r>
          </a:p>
          <a:p>
            <a:pPr lvl="1" eaLnBrk="1" hangingPunct="1"/>
            <a:r>
              <a:rPr lang="pt-BR" sz="1800" dirty="0">
                <a:latin typeface="AbadiMT-CondensedLight" charset="0"/>
              </a:rPr>
              <a:t>Por que o dispositivo é dito LCD, Plasma, </a:t>
            </a:r>
            <a:r>
              <a:rPr lang="pt-BR" sz="1800" dirty="0" err="1">
                <a:latin typeface="AbadiMT-CondensedLight" charset="0"/>
              </a:rPr>
              <a:t>FEDs</a:t>
            </a:r>
            <a:r>
              <a:rPr lang="pt-BR" sz="1800" dirty="0">
                <a:latin typeface="AbadiMT-CondensedLight" charset="0"/>
              </a:rPr>
              <a:t>, OLEDS</a:t>
            </a:r>
          </a:p>
          <a:p>
            <a:pPr lvl="1" eaLnBrk="1" hangingPunct="1"/>
            <a:r>
              <a:rPr lang="pt-BR" sz="1800" dirty="0">
                <a:latin typeface="AbadiMT-CondensedLight" charset="0"/>
              </a:rPr>
              <a:t>De que forma as especificações técnicas  se assemelham e/ou diferem</a:t>
            </a:r>
            <a:r>
              <a:rPr lang="pt-BR" sz="1800" dirty="0">
                <a:solidFill>
                  <a:srgbClr val="000000"/>
                </a:solidFill>
                <a:latin typeface="AbadiMT-CondensedLight" charset="0"/>
              </a:rPr>
              <a:t>.</a:t>
            </a:r>
          </a:p>
          <a:p>
            <a:r>
              <a:rPr lang="pt-BR" sz="2200" dirty="0">
                <a:latin typeface="AbadiMT-CondensedLight" charset="0"/>
              </a:rPr>
              <a:t>Implemente uma tabela de cores com 24 bits de profundidade  supondo que o sistema suporta imagem com uma profundidade de pixel de 12 bits ,</a:t>
            </a:r>
            <a:endParaRPr lang="pt-BR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S_BR_ProjectOverview">
  <a:themeElements>
    <a:clrScheme name="Tema do Office 1">
      <a:dk1>
        <a:srgbClr val="000000"/>
      </a:dk1>
      <a:lt1>
        <a:srgbClr val="FFFFFF"/>
      </a:lt1>
      <a:dk2>
        <a:srgbClr val="0066CC"/>
      </a:dk2>
      <a:lt2>
        <a:srgbClr val="CBCBCB"/>
      </a:lt2>
      <a:accent1>
        <a:srgbClr val="00CCFF"/>
      </a:accent1>
      <a:accent2>
        <a:srgbClr val="00FFCC"/>
      </a:accent2>
      <a:accent3>
        <a:srgbClr val="AAB8E2"/>
      </a:accent3>
      <a:accent4>
        <a:srgbClr val="DADADA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Tema do Offic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6A437998-8EEA-4897-A3A5-88BFB4AFC7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287E5A-4E54-412D-BEC8-8F28F5C0A82F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MS_BR_ProjectOverview</Template>
  <TotalTime>295</TotalTime>
  <Words>2254</Words>
  <Application>Microsoft Office PowerPoint</Application>
  <PresentationFormat>Papel A4 (210 x 297 mm)</PresentationFormat>
  <Paragraphs>288</Paragraphs>
  <Slides>46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46</vt:i4>
      </vt:variant>
    </vt:vector>
  </HeadingPairs>
  <TitlesOfParts>
    <vt:vector size="56" baseType="lpstr">
      <vt:lpstr>AbadiMT-CondensedLight</vt:lpstr>
      <vt:lpstr>Arial</vt:lpstr>
      <vt:lpstr>Tahoma</vt:lpstr>
      <vt:lpstr>Times New Roman</vt:lpstr>
      <vt:lpstr>Verdana</vt:lpstr>
      <vt:lpstr>Wingdings</vt:lpstr>
      <vt:lpstr>MS_BR_ProjectOverview</vt:lpstr>
      <vt:lpstr>Documento</vt:lpstr>
      <vt:lpstr>Document</vt:lpstr>
      <vt:lpstr>Equation</vt:lpstr>
      <vt:lpstr>Computação Gráfica</vt:lpstr>
      <vt:lpstr>Alguns Dispositivos Gráficos de Entrada </vt:lpstr>
      <vt:lpstr>Dispositivos Gráficos de Saída</vt:lpstr>
      <vt:lpstr>Dispositivos de Vídeo</vt:lpstr>
      <vt:lpstr>Dispositivos de Vídeo Raster</vt:lpstr>
      <vt:lpstr>Tubos de Raios Catódicos - CRT</vt:lpstr>
      <vt:lpstr>Corte de Um CRT</vt:lpstr>
      <vt:lpstr>CRT Colorido</vt:lpstr>
      <vt:lpstr>Mascara Metálica</vt:lpstr>
      <vt:lpstr>Boa Definição da Imagem</vt:lpstr>
      <vt:lpstr>Erro de Convergência</vt:lpstr>
      <vt:lpstr>Possível Solução</vt:lpstr>
      <vt:lpstr>Varredura de uma Imagem</vt:lpstr>
      <vt:lpstr>Varredura de uma Imagem</vt:lpstr>
      <vt:lpstr>Varredura de uma Imagem</vt:lpstr>
      <vt:lpstr>Varredura de uma Imagem</vt:lpstr>
      <vt:lpstr>Varredura de uma Imagem</vt:lpstr>
      <vt:lpstr>Varredura de uma Imagem</vt:lpstr>
      <vt:lpstr>Dot pitch</vt:lpstr>
      <vt:lpstr>Terminal Vetorial (histórico)</vt:lpstr>
      <vt:lpstr>Terminal Raster</vt:lpstr>
      <vt:lpstr>Terminal Raster</vt:lpstr>
      <vt:lpstr>Arquitetura mais comum de terminal gráfico por varredura</vt:lpstr>
      <vt:lpstr>Arquitetura com Processador Gráfico</vt:lpstr>
      <vt:lpstr>Terminais Coloridos</vt:lpstr>
      <vt:lpstr>Número de Cores</vt:lpstr>
      <vt:lpstr>Look-up-table</vt:lpstr>
      <vt:lpstr>Exemplo</vt:lpstr>
      <vt:lpstr>Exemplo de Frame Buffer</vt:lpstr>
      <vt:lpstr>Comparação de Sistemas Raster</vt:lpstr>
      <vt:lpstr>Tabela de cores</vt:lpstr>
      <vt:lpstr>Novas tecnologias</vt:lpstr>
      <vt:lpstr>Novas Tecnologias</vt:lpstr>
      <vt:lpstr>Novas tecnologias</vt:lpstr>
      <vt:lpstr>Distribuição dos pixels no IPAD</vt:lpstr>
      <vt:lpstr>AMOLED x SUPER AMOLED</vt:lpstr>
      <vt:lpstr>Resolução Gráfica</vt:lpstr>
      <vt:lpstr>Resolução Gráfica</vt:lpstr>
      <vt:lpstr>Resolução Gráfica</vt:lpstr>
      <vt:lpstr>Sistemas de Coordenadas</vt:lpstr>
      <vt:lpstr>Sistemas de Coordenadas</vt:lpstr>
      <vt:lpstr>Sistemas de Coordenadas</vt:lpstr>
      <vt:lpstr>Sistemas de Coordenadas</vt:lpstr>
      <vt:lpstr>Sistemas de Coordenadas</vt:lpstr>
      <vt:lpstr>Exercício</vt:lpstr>
      <vt:lpstr>Exercícios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DEPARTAMENTO DE COMPUTAÇÃO    CHEFE DO DEPARTAMENTO DE COMPUTAÇÃO: PROF. DR. ROBSON PEQUENO DE SOUSA    CHEFE ADJUNTO: PROF. DR. MISAEL ELIAS DE MORAIS</dc:title>
  <dc:creator>Robson</dc:creator>
  <cp:lastModifiedBy>Robson</cp:lastModifiedBy>
  <cp:revision>68</cp:revision>
  <cp:lastPrinted>1601-01-01T00:00:00Z</cp:lastPrinted>
  <dcterms:created xsi:type="dcterms:W3CDTF">2014-03-12T11:03:35Z</dcterms:created>
  <dcterms:modified xsi:type="dcterms:W3CDTF">2018-03-27T20:27:32Z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TC010468529990</vt:lpwstr>
  </property>
</Properties>
</file>