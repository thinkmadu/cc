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32"/>
  </p:notesMasterIdLst>
  <p:handoutMasterIdLst>
    <p:handoutMasterId r:id="rId33"/>
  </p:handoutMasterIdLst>
  <p:sldIdLst>
    <p:sldId id="271" r:id="rId2"/>
    <p:sldId id="289" r:id="rId3"/>
    <p:sldId id="290" r:id="rId4"/>
    <p:sldId id="291" r:id="rId5"/>
    <p:sldId id="321" r:id="rId6"/>
    <p:sldId id="286" r:id="rId7"/>
    <p:sldId id="287" r:id="rId8"/>
    <p:sldId id="288" r:id="rId9"/>
    <p:sldId id="292" r:id="rId10"/>
    <p:sldId id="293" r:id="rId11"/>
    <p:sldId id="294" r:id="rId12"/>
    <p:sldId id="295" r:id="rId13"/>
    <p:sldId id="324" r:id="rId14"/>
    <p:sldId id="296" r:id="rId15"/>
    <p:sldId id="297" r:id="rId16"/>
    <p:sldId id="310" r:id="rId17"/>
    <p:sldId id="299" r:id="rId18"/>
    <p:sldId id="311" r:id="rId19"/>
    <p:sldId id="312" r:id="rId20"/>
    <p:sldId id="313" r:id="rId21"/>
    <p:sldId id="319" r:id="rId22"/>
    <p:sldId id="314" r:id="rId23"/>
    <p:sldId id="315" r:id="rId24"/>
    <p:sldId id="316" r:id="rId25"/>
    <p:sldId id="326" r:id="rId26"/>
    <p:sldId id="323" r:id="rId27"/>
    <p:sldId id="325" r:id="rId28"/>
    <p:sldId id="318" r:id="rId29"/>
    <p:sldId id="306" r:id="rId30"/>
    <p:sldId id="322" r:id="rId31"/>
  </p:sldIdLst>
  <p:sldSz cx="9144000" cy="6858000" type="screen4x3"/>
  <p:notesSz cx="6858000" cy="954405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3600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sz="3600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sz="3600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sz="3600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6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741D"/>
    <a:srgbClr val="FF9933"/>
    <a:srgbClr val="4B33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20"/>
    <p:restoredTop sz="94660"/>
  </p:normalViewPr>
  <p:slideViewPr>
    <p:cSldViewPr>
      <p:cViewPr varScale="1">
        <p:scale>
          <a:sx n="112" d="100"/>
          <a:sy n="112" d="100"/>
        </p:scale>
        <p:origin x="222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60"/>
    </p:cViewPr>
  </p:sorterViewPr>
  <p:notesViewPr>
    <p:cSldViewPr>
      <p:cViewPr varScale="1">
        <p:scale>
          <a:sx n="41" d="100"/>
          <a:sy n="41" d="100"/>
        </p:scale>
        <p:origin x="-906" y="-120"/>
      </p:cViewPr>
      <p:guideLst>
        <p:guide orient="horz" pos="3006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2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066213"/>
            <a:ext cx="2971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9066213"/>
            <a:ext cx="2971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15A4EB5-5050-4826-9F95-3082C444332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43723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17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44575" y="715963"/>
            <a:ext cx="4770438" cy="35782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532313"/>
            <a:ext cx="5486400" cy="429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066213"/>
            <a:ext cx="2971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9066213"/>
            <a:ext cx="2971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5DA3655-1641-4318-A99D-C76E5AFB246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07926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8763000" cy="5943600"/>
            <a:chOff x="0" y="0"/>
            <a:chExt cx="5520" cy="3744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sz="2400">
                <a:latin typeface="Times New Roman" pitchFamily="18" charset="0"/>
              </a:endParaRPr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10" name="Rectangle 5"/>
              <p:cNvSpPr>
                <a:spLocks noChangeArrowheads="1"/>
              </p:cNvSpPr>
              <p:nvPr/>
            </p:nvSpPr>
            <p:spPr bwMode="ltGray"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pt-BR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white">
              <a:xfrm>
                <a:off x="654" y="2352"/>
                <a:ext cx="4818" cy="1347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pt-BR" sz="2400">
                  <a:latin typeface="Times New Roman" pitchFamily="18" charset="0"/>
                </a:endParaRPr>
              </a:p>
            </p:txBody>
          </p:sp>
          <p:sp>
            <p:nvSpPr>
              <p:cNvPr id="12" name="Line 7"/>
              <p:cNvSpPr>
                <a:spLocks noChangeShapeType="1"/>
              </p:cNvSpPr>
              <p:nvPr/>
            </p:nvSpPr>
            <p:spPr bwMode="auto">
              <a:xfrm>
                <a:off x="0" y="3072"/>
                <a:ext cx="624" cy="0"/>
              </a:xfrm>
              <a:prstGeom prst="line">
                <a:avLst/>
              </a:prstGeom>
              <a:noFill/>
              <a:ln w="508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pt-BR"/>
              </a:p>
            </p:txBody>
          </p:sp>
        </p:grpSp>
        <p:grpSp>
          <p:nvGrpSpPr>
            <p:cNvPr id="7" name="Group 8"/>
            <p:cNvGrpSpPr>
              <a:grpSpLocks/>
            </p:cNvGrpSpPr>
            <p:nvPr userDrawn="1"/>
          </p:nvGrpSpPr>
          <p:grpSpPr bwMode="auto"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8" name="Rectangle 9"/>
              <p:cNvSpPr>
                <a:spLocks noChangeArrowheads="1"/>
              </p:cNvSpPr>
              <p:nvPr/>
            </p:nvSpPr>
            <p:spPr bwMode="auto">
              <a:xfrm>
                <a:off x="3952" y="336"/>
                <a:ext cx="1536" cy="19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pt-BR" sz="2400">
                  <a:latin typeface="Times New Roman" pitchFamily="18" charset="0"/>
                </a:endParaRPr>
              </a:p>
            </p:txBody>
          </p:sp>
          <p:sp>
            <p:nvSpPr>
              <p:cNvPr id="9" name="Line 10"/>
              <p:cNvSpPr>
                <a:spLocks noChangeShapeType="1"/>
              </p:cNvSpPr>
              <p:nvPr/>
            </p:nvSpPr>
            <p:spPr bwMode="auto">
              <a:xfrm>
                <a:off x="400" y="432"/>
                <a:ext cx="5088" cy="0"/>
              </a:xfrm>
              <a:prstGeom prst="line">
                <a:avLst/>
              </a:prstGeom>
              <a:noFill/>
              <a:ln w="444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pt-BR"/>
              </a:p>
            </p:txBody>
          </p:sp>
        </p:grpSp>
      </p:grpSp>
      <p:sp>
        <p:nvSpPr>
          <p:cNvPr id="21515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2057400" y="1143000"/>
            <a:ext cx="6629400" cy="2209800"/>
          </a:xfrm>
        </p:spPr>
        <p:txBody>
          <a:bodyPr/>
          <a:lstStyle>
            <a:lvl1pPr>
              <a:defRPr sz="4300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21516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962400"/>
            <a:ext cx="6858000" cy="16002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13" name="Rectangle 13"/>
          <p:cNvSpPr>
            <a:spLocks noGrp="1" noChangeArrowheads="1"/>
          </p:cNvSpPr>
          <p:nvPr>
            <p:ph type="dt" sz="half" idx="10"/>
          </p:nvPr>
        </p:nvSpPr>
        <p:spPr>
          <a:xfrm>
            <a:off x="912813" y="6251575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4388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Prof. Robson Pequeno de sousa</a:t>
            </a:r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335B4F-8ACA-4D86-9F26-8625F5EE345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Prof. Robson Pequeno de sousa</a:t>
            </a: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3A4AED-8C3F-4D38-B3CB-8B0D8656EF33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Prof. Robson Pequeno de sousa</a:t>
            </a: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5267A7-D373-4BC6-87E3-A4442B8490A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914400" y="1600200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Prof. Robson Pequeno de sousa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42C568-C0E5-4431-9B73-6204B0EA9D3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Prof. Robson Pequeno de sousa</a:t>
            </a:r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E24459-3F19-47F9-914B-C5C3D11D65A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Prof. Robson Pequeno de sousa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34CBD2-7DE7-4AE6-BD49-DAE57D366F1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Prof. Robson Pequeno de sousa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5EAD06-E0D7-40FD-A161-DF7089BB7C1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Prof. Robson Pequeno de sousa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5FE3DA-7E51-4CE5-B10D-5D3FFBE3624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Prof. Robson Pequeno de sousa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25A9C-7074-4AC9-9F4F-F6D58F25A6F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Prof. Robson Pequeno de sousa</a:t>
            </a: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69AF64-C40D-4DDC-8C4D-7C0F5235B45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86550" y="533400"/>
            <a:ext cx="2000250" cy="5597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85800" y="533400"/>
            <a:ext cx="5848350" cy="5597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Prof. Robson Pequeno de sousa</a:t>
            </a: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CBBE3-2CFB-4A88-A48D-F8E05D703C7F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ítulo e texto e 2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0" y="533400"/>
            <a:ext cx="8001000" cy="865188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914400" y="1600200"/>
            <a:ext cx="3810000" cy="4530725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4876800" y="1600200"/>
            <a:ext cx="3810000" cy="218916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4876800" y="3941763"/>
            <a:ext cx="3810000" cy="2189162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Prof. Robson Pequeno de sousa</a:t>
            </a:r>
          </a:p>
        </p:txBody>
      </p:sp>
      <p:sp>
        <p:nvSpPr>
          <p:cNvPr id="8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FA6F77-FCA9-4918-9F66-B058427A7FB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0" y="533400"/>
            <a:ext cx="8001000" cy="865188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914400" y="1600200"/>
            <a:ext cx="3810000" cy="4530725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3810000" cy="4530725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Prof. Robson Pequeno de sousa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80DB20-17F2-4DB1-926E-BCD3A5BC012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0" y="533400"/>
            <a:ext cx="8001000" cy="865188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914400" y="1600200"/>
            <a:ext cx="7772400" cy="4530725"/>
          </a:xfrm>
        </p:spPr>
        <p:txBody>
          <a:bodyPr/>
          <a:lstStyle/>
          <a:p>
            <a:pPr lvl="0"/>
            <a:endParaRPr lang="pt-BR" noProof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Prof. Robson Pequeno de sousa</a:t>
            </a: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8F5280-D37F-466C-8840-6C38559B6A6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0" y="0"/>
            <a:ext cx="8686800" cy="4876800"/>
            <a:chOff x="0" y="0"/>
            <a:chExt cx="5472" cy="3072"/>
          </a:xfrm>
        </p:grpSpPr>
        <p:sp>
          <p:nvSpPr>
            <p:cNvPr id="20483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384" cy="3072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sz="2400">
                <a:latin typeface="Times New Roman" pitchFamily="18" charset="0"/>
              </a:endParaRPr>
            </a:p>
          </p:txBody>
        </p:sp>
        <p:grpSp>
          <p:nvGrpSpPr>
            <p:cNvPr id="9226" name="Group 4"/>
            <p:cNvGrpSpPr>
              <a:grpSpLocks/>
            </p:cNvGrpSpPr>
            <p:nvPr/>
          </p:nvGrpSpPr>
          <p:grpSpPr bwMode="auto">
            <a:xfrm>
              <a:off x="240" y="893"/>
              <a:ext cx="5232" cy="115"/>
              <a:chOff x="240" y="893"/>
              <a:chExt cx="5232" cy="115"/>
            </a:xfrm>
          </p:grpSpPr>
          <p:sp>
            <p:nvSpPr>
              <p:cNvPr id="20485" name="Rectangle 5"/>
              <p:cNvSpPr>
                <a:spLocks noChangeArrowheads="1"/>
              </p:cNvSpPr>
              <p:nvPr/>
            </p:nvSpPr>
            <p:spPr bwMode="auto">
              <a:xfrm>
                <a:off x="4320" y="893"/>
                <a:ext cx="1152" cy="11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pt-BR" sz="2400">
                  <a:latin typeface="Times New Roman" pitchFamily="18" charset="0"/>
                </a:endParaRPr>
              </a:p>
            </p:txBody>
          </p:sp>
          <p:sp>
            <p:nvSpPr>
              <p:cNvPr id="20486" name="Line 6"/>
              <p:cNvSpPr>
                <a:spLocks noChangeShapeType="1"/>
              </p:cNvSpPr>
              <p:nvPr/>
            </p:nvSpPr>
            <p:spPr bwMode="auto">
              <a:xfrm>
                <a:off x="240" y="941"/>
                <a:ext cx="5232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pt-BR"/>
              </a:p>
            </p:txBody>
          </p:sp>
        </p:grpSp>
      </p:grpSp>
      <p:sp>
        <p:nvSpPr>
          <p:cNvPr id="9219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533400"/>
            <a:ext cx="8001000" cy="865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9220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600200"/>
            <a:ext cx="77724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20489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51575"/>
            <a:ext cx="198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0490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2484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pPr>
              <a:defRPr/>
            </a:pPr>
            <a:r>
              <a:rPr lang="pt-BR"/>
              <a:t>Prof. Robson Pequeno de sousa</a:t>
            </a:r>
          </a:p>
        </p:txBody>
      </p:sp>
      <p:sp>
        <p:nvSpPr>
          <p:cNvPr id="20491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pPr>
              <a:defRPr/>
            </a:pPr>
            <a:fld id="{20DFB0FA-E9FA-42FB-9387-BCFCE139C1F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20492" name="Line 12"/>
          <p:cNvSpPr>
            <a:spLocks noChangeShapeType="1"/>
          </p:cNvSpPr>
          <p:nvPr/>
        </p:nvSpPr>
        <p:spPr bwMode="auto">
          <a:xfrm>
            <a:off x="0" y="4876800"/>
            <a:ext cx="609600" cy="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</p:sldLayoutIdLst>
  <p:transition/>
  <p:hf sldNum="0" hdr="0" dt="0"/>
  <p:txStyles>
    <p:titleStyle>
      <a:lvl1pPr algn="just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+mj-lt"/>
          <a:ea typeface="+mj-ea"/>
          <a:cs typeface="+mj-cs"/>
        </a:defRPr>
      </a:lvl1pPr>
      <a:lvl2pPr algn="just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itchFamily="34" charset="0"/>
          <a:ea typeface="Times New Roman" pitchFamily="18" charset="0"/>
          <a:cs typeface="Arial" pitchFamily="34" charset="0"/>
        </a:defRPr>
      </a:lvl2pPr>
      <a:lvl3pPr algn="just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itchFamily="34" charset="0"/>
          <a:ea typeface="Times New Roman" pitchFamily="18" charset="0"/>
          <a:cs typeface="Arial" pitchFamily="34" charset="0"/>
        </a:defRPr>
      </a:lvl3pPr>
      <a:lvl4pPr algn="just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itchFamily="34" charset="0"/>
          <a:ea typeface="Times New Roman" pitchFamily="18" charset="0"/>
          <a:cs typeface="Arial" pitchFamily="34" charset="0"/>
        </a:defRPr>
      </a:lvl4pPr>
      <a:lvl5pPr algn="just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itchFamily="34" charset="0"/>
          <a:ea typeface="Times New Roman" pitchFamily="18" charset="0"/>
          <a:cs typeface="Arial" pitchFamily="34" charset="0"/>
        </a:defRPr>
      </a:lvl5pPr>
      <a:lvl6pPr marL="457200" algn="just" rtl="0" fontAlgn="base"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itchFamily="34" charset="0"/>
          <a:ea typeface="Times New Roman" pitchFamily="18" charset="0"/>
          <a:cs typeface="Arial" pitchFamily="34" charset="0"/>
        </a:defRPr>
      </a:lvl6pPr>
      <a:lvl7pPr marL="914400" algn="just" rtl="0" fontAlgn="base"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itchFamily="34" charset="0"/>
          <a:ea typeface="Times New Roman" pitchFamily="18" charset="0"/>
          <a:cs typeface="Arial" pitchFamily="34" charset="0"/>
        </a:defRPr>
      </a:lvl7pPr>
      <a:lvl8pPr marL="1371600" algn="just" rtl="0" fontAlgn="base"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itchFamily="34" charset="0"/>
          <a:ea typeface="Times New Roman" pitchFamily="18" charset="0"/>
          <a:cs typeface="Arial" pitchFamily="34" charset="0"/>
        </a:defRPr>
      </a:lvl8pPr>
      <a:lvl9pPr marL="1828800" algn="just" rtl="0" fontAlgn="base"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itchFamily="34" charset="0"/>
          <a:ea typeface="Times New Roman" pitchFamily="18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q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5741D"/>
        </a:buClr>
        <a:buFont typeface="Wingdings" pitchFamily="2" charset="2"/>
        <a:buChar char="q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q"/>
        <a:defRPr sz="23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4B33FD"/>
        </a:buClr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FF9933"/>
        </a:buClr>
        <a:buFont typeface="Wingdings" pitchFamily="2" charset="2"/>
        <a:buChar char="q"/>
        <a:defRPr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FF9933"/>
        </a:buClr>
        <a:buFont typeface="Wingdings" pitchFamily="2" charset="2"/>
        <a:buChar char="q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FF9933"/>
        </a:buClr>
        <a:buFont typeface="Wingdings" pitchFamily="2" charset="2"/>
        <a:buChar char="q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FF9933"/>
        </a:buClr>
        <a:buFont typeface="Wingdings" pitchFamily="2" charset="2"/>
        <a:buChar char="q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FF9933"/>
        </a:buClr>
        <a:buFont typeface="Wingdings" pitchFamily="2" charset="2"/>
        <a:buChar char="q"/>
        <a:defRPr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wmf"/><Relationship Id="rId4" Type="http://schemas.openxmlformats.org/officeDocument/2006/relationships/oleObject" Target="../embeddings/oleObject4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4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 eaLnBrk="1" hangingPunct="1"/>
            <a:r>
              <a:rPr lang="pt-BR" sz="3600"/>
              <a:t>Conversão por Varredura de Primitivas Básicas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pt-BR"/>
              <a:t>Computação Gráfica</a:t>
            </a:r>
          </a:p>
          <a:p>
            <a:pPr eaLnBrk="1" hangingPunct="1"/>
            <a:r>
              <a:rPr lang="pt-BR"/>
              <a:t>Prof. Robson Pequeno de Sousa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762000"/>
            <a:ext cx="4216400" cy="600075"/>
          </a:xfrm>
          <a:noFill/>
        </p:spPr>
        <p:txBody>
          <a:bodyPr wrap="none" lIns="63500" tIns="25400" rIns="63500" bIns="25400" anchor="t">
            <a:spAutoFit/>
          </a:bodyPr>
          <a:lstStyle/>
          <a:p>
            <a:pPr eaLnBrk="1" hangingPunct="1"/>
            <a:r>
              <a:rPr lang="pt-BR"/>
              <a:t>Matemática Básica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4114800" cy="4600575"/>
          </a:xfrm>
          <a:noFill/>
        </p:spPr>
        <p:txBody>
          <a:bodyPr lIns="90487" tIns="44450" rIns="90487" bIns="44450"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pt-BR" sz="2000" b="1"/>
              <a:t>Equação da Reta 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pt-BR" sz="2000"/>
              <a:t>Dados dois pontos P</a:t>
            </a:r>
            <a:r>
              <a:rPr lang="pt-BR" sz="2000" baseline="-25000"/>
              <a:t>1</a:t>
            </a:r>
            <a:r>
              <a:rPr lang="pt-BR" sz="2000"/>
              <a:t>(X</a:t>
            </a:r>
            <a:r>
              <a:rPr lang="pt-BR" sz="2000" baseline="-25000"/>
              <a:t>1</a:t>
            </a:r>
            <a:r>
              <a:rPr lang="pt-BR" sz="2000"/>
              <a:t>,Y</a:t>
            </a:r>
            <a:r>
              <a:rPr lang="pt-BR" sz="2000" baseline="-25000"/>
              <a:t>1</a:t>
            </a:r>
            <a:r>
              <a:rPr lang="pt-BR" sz="2000"/>
              <a:t>), P</a:t>
            </a:r>
            <a:r>
              <a:rPr lang="pt-BR" sz="2000" baseline="-25000"/>
              <a:t>2</a:t>
            </a:r>
            <a:r>
              <a:rPr lang="pt-BR" sz="2000"/>
              <a:t>(X</a:t>
            </a:r>
            <a:r>
              <a:rPr lang="pt-BR" sz="2000" baseline="-25000"/>
              <a:t>2</a:t>
            </a:r>
            <a:r>
              <a:rPr lang="pt-BR" sz="2000"/>
              <a:t>, Y</a:t>
            </a:r>
            <a:r>
              <a:rPr lang="pt-BR" sz="2000" baseline="-25000"/>
              <a:t>2</a:t>
            </a:r>
            <a:r>
              <a:rPr lang="pt-BR" sz="2000"/>
              <a:t>).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pt-BR" sz="2000"/>
              <a:t>Considere um terceiro ponto sob a reta: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pt-BR" sz="2000"/>
              <a:t>	P = (X,Y)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pt-BR" sz="200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pt-BR" sz="2000"/>
              <a:t>Declive  = (Y</a:t>
            </a:r>
            <a:r>
              <a:rPr lang="pt-BR" sz="2000" baseline="-25000"/>
              <a:t>2</a:t>
            </a:r>
            <a:r>
              <a:rPr lang="pt-BR" sz="2000"/>
              <a:t> - Y</a:t>
            </a:r>
            <a:r>
              <a:rPr lang="pt-BR" sz="2000" baseline="-25000"/>
              <a:t>1</a:t>
            </a:r>
            <a:r>
              <a:rPr lang="pt-BR" sz="2000"/>
              <a:t>)/(X</a:t>
            </a:r>
            <a:r>
              <a:rPr lang="pt-BR" sz="2000" baseline="-25000"/>
              <a:t>2</a:t>
            </a:r>
            <a:r>
              <a:rPr lang="pt-BR" sz="2000"/>
              <a:t> - X</a:t>
            </a:r>
            <a:r>
              <a:rPr lang="pt-BR" sz="2000" baseline="-25000"/>
              <a:t>1</a:t>
            </a:r>
            <a:r>
              <a:rPr lang="pt-BR" sz="2000"/>
              <a:t>)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pt-BR" sz="2000"/>
              <a:t>               = (Y - Y</a:t>
            </a:r>
            <a:r>
              <a:rPr lang="pt-BR" sz="2000" baseline="-25000"/>
              <a:t>1</a:t>
            </a:r>
            <a:r>
              <a:rPr lang="pt-BR" sz="2000"/>
              <a:t>)/(X - X</a:t>
            </a:r>
            <a:r>
              <a:rPr lang="pt-BR" sz="2000" baseline="-25000"/>
              <a:t>1</a:t>
            </a:r>
            <a:r>
              <a:rPr lang="pt-BR" sz="2000"/>
              <a:t>)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pt-BR" sz="200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pt-BR" sz="2000"/>
              <a:t>Resolvendo para  Y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pt-BR" sz="2000"/>
              <a:t>	Y = [(Y</a:t>
            </a:r>
            <a:r>
              <a:rPr lang="pt-BR" sz="2000" baseline="-25000"/>
              <a:t>2</a:t>
            </a:r>
            <a:r>
              <a:rPr lang="pt-BR" sz="2000"/>
              <a:t>-Y</a:t>
            </a:r>
            <a:r>
              <a:rPr lang="pt-BR" sz="2000" baseline="-25000"/>
              <a:t>1</a:t>
            </a:r>
            <a:r>
              <a:rPr lang="pt-BR" sz="2000"/>
              <a:t>)/(X</a:t>
            </a:r>
            <a:r>
              <a:rPr lang="pt-BR" sz="2000" baseline="-25000"/>
              <a:t>2</a:t>
            </a:r>
            <a:r>
              <a:rPr lang="pt-BR" sz="2000"/>
              <a:t>-X</a:t>
            </a:r>
            <a:r>
              <a:rPr lang="pt-BR" sz="2000" baseline="-25000"/>
              <a:t>1</a:t>
            </a:r>
            <a:r>
              <a:rPr lang="pt-BR" sz="2000"/>
              <a:t>)]*(X-X</a:t>
            </a:r>
            <a:r>
              <a:rPr lang="pt-BR" sz="2000" baseline="-25000"/>
              <a:t>1</a:t>
            </a:r>
            <a:r>
              <a:rPr lang="pt-BR" sz="2000"/>
              <a:t>)+ Y</a:t>
            </a:r>
            <a:r>
              <a:rPr lang="pt-BR" sz="2000" baseline="-25000"/>
              <a:t>1</a:t>
            </a:r>
            <a:endParaRPr lang="pt-BR" sz="200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pt-BR" sz="2000" b="1"/>
              <a:t>	Y =</a:t>
            </a:r>
            <a:r>
              <a:rPr lang="en-US" sz="2000" b="1"/>
              <a:t> mx + b</a:t>
            </a:r>
          </a:p>
        </p:txBody>
      </p:sp>
      <p:sp>
        <p:nvSpPr>
          <p:cNvPr id="12293" name="Rectangle 4"/>
          <p:cNvSpPr>
            <a:spLocks noChangeArrowheads="1"/>
          </p:cNvSpPr>
          <p:nvPr/>
        </p:nvSpPr>
        <p:spPr bwMode="auto">
          <a:xfrm>
            <a:off x="5194300" y="1855788"/>
            <a:ext cx="3124200" cy="228600"/>
          </a:xfrm>
          <a:prstGeom prst="rect">
            <a:avLst/>
          </a:prstGeom>
          <a:solidFill>
            <a:srgbClr val="FFFFFF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294" name="Rectangle 5"/>
          <p:cNvSpPr>
            <a:spLocks noChangeArrowheads="1"/>
          </p:cNvSpPr>
          <p:nvPr/>
        </p:nvSpPr>
        <p:spPr bwMode="auto">
          <a:xfrm>
            <a:off x="5154613" y="1841500"/>
            <a:ext cx="3292475" cy="3016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eaLnBrk="0" hangingPunct="0"/>
            <a:r>
              <a:rPr lang="en-US" sz="1400" b="1">
                <a:solidFill>
                  <a:srgbClr val="000000"/>
                </a:solidFill>
                <a:latin typeface="Helvetica" pitchFamily="34" charset="0"/>
              </a:rPr>
              <a:t>Sistema de coordenadas cartesianas</a:t>
            </a:r>
          </a:p>
        </p:txBody>
      </p:sp>
      <p:sp>
        <p:nvSpPr>
          <p:cNvPr id="12295" name="Line 6"/>
          <p:cNvSpPr>
            <a:spLocks noChangeShapeType="1"/>
          </p:cNvSpPr>
          <p:nvPr/>
        </p:nvSpPr>
        <p:spPr bwMode="auto">
          <a:xfrm flipH="1">
            <a:off x="5207000" y="2205038"/>
            <a:ext cx="30861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2296" name="Line 7"/>
          <p:cNvSpPr>
            <a:spLocks noChangeShapeType="1"/>
          </p:cNvSpPr>
          <p:nvPr/>
        </p:nvSpPr>
        <p:spPr bwMode="auto">
          <a:xfrm>
            <a:off x="5175250" y="2433638"/>
            <a:ext cx="0" cy="29591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2297" name="Line 8"/>
          <p:cNvSpPr>
            <a:spLocks noChangeShapeType="1"/>
          </p:cNvSpPr>
          <p:nvPr/>
        </p:nvSpPr>
        <p:spPr bwMode="auto">
          <a:xfrm>
            <a:off x="4946650" y="5176838"/>
            <a:ext cx="29591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2298" name="Line 9"/>
          <p:cNvSpPr>
            <a:spLocks noChangeShapeType="1"/>
          </p:cNvSpPr>
          <p:nvPr/>
        </p:nvSpPr>
        <p:spPr bwMode="auto">
          <a:xfrm>
            <a:off x="5060950" y="4719638"/>
            <a:ext cx="2159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2299" name="Line 10"/>
          <p:cNvSpPr>
            <a:spLocks noChangeShapeType="1"/>
          </p:cNvSpPr>
          <p:nvPr/>
        </p:nvSpPr>
        <p:spPr bwMode="auto">
          <a:xfrm>
            <a:off x="5060950" y="4262438"/>
            <a:ext cx="2159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2300" name="Line 11"/>
          <p:cNvSpPr>
            <a:spLocks noChangeShapeType="1"/>
          </p:cNvSpPr>
          <p:nvPr/>
        </p:nvSpPr>
        <p:spPr bwMode="auto">
          <a:xfrm>
            <a:off x="5060950" y="3805238"/>
            <a:ext cx="2159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2301" name="Line 12"/>
          <p:cNvSpPr>
            <a:spLocks noChangeShapeType="1"/>
          </p:cNvSpPr>
          <p:nvPr/>
        </p:nvSpPr>
        <p:spPr bwMode="auto">
          <a:xfrm>
            <a:off x="5060950" y="3348038"/>
            <a:ext cx="2159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2302" name="Line 13"/>
          <p:cNvSpPr>
            <a:spLocks noChangeShapeType="1"/>
          </p:cNvSpPr>
          <p:nvPr/>
        </p:nvSpPr>
        <p:spPr bwMode="auto">
          <a:xfrm>
            <a:off x="5060950" y="2890838"/>
            <a:ext cx="2159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2303" name="Line 14"/>
          <p:cNvSpPr>
            <a:spLocks noChangeShapeType="1"/>
          </p:cNvSpPr>
          <p:nvPr/>
        </p:nvSpPr>
        <p:spPr bwMode="auto">
          <a:xfrm>
            <a:off x="5060950" y="2433638"/>
            <a:ext cx="2159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2304" name="Line 15"/>
          <p:cNvSpPr>
            <a:spLocks noChangeShapeType="1"/>
          </p:cNvSpPr>
          <p:nvPr/>
        </p:nvSpPr>
        <p:spPr bwMode="auto">
          <a:xfrm>
            <a:off x="5632450" y="5062538"/>
            <a:ext cx="0" cy="2159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2305" name="Line 16"/>
          <p:cNvSpPr>
            <a:spLocks noChangeShapeType="1"/>
          </p:cNvSpPr>
          <p:nvPr/>
        </p:nvSpPr>
        <p:spPr bwMode="auto">
          <a:xfrm>
            <a:off x="6089650" y="5062538"/>
            <a:ext cx="0" cy="2159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2306" name="Line 17"/>
          <p:cNvSpPr>
            <a:spLocks noChangeShapeType="1"/>
          </p:cNvSpPr>
          <p:nvPr/>
        </p:nvSpPr>
        <p:spPr bwMode="auto">
          <a:xfrm>
            <a:off x="6546850" y="5062538"/>
            <a:ext cx="0" cy="2159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2307" name="Line 18"/>
          <p:cNvSpPr>
            <a:spLocks noChangeShapeType="1"/>
          </p:cNvSpPr>
          <p:nvPr/>
        </p:nvSpPr>
        <p:spPr bwMode="auto">
          <a:xfrm>
            <a:off x="7004050" y="5062538"/>
            <a:ext cx="0" cy="2159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2308" name="Line 19"/>
          <p:cNvSpPr>
            <a:spLocks noChangeShapeType="1"/>
          </p:cNvSpPr>
          <p:nvPr/>
        </p:nvSpPr>
        <p:spPr bwMode="auto">
          <a:xfrm>
            <a:off x="7461250" y="5062538"/>
            <a:ext cx="0" cy="2159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2309" name="Line 20"/>
          <p:cNvSpPr>
            <a:spLocks noChangeShapeType="1"/>
          </p:cNvSpPr>
          <p:nvPr/>
        </p:nvSpPr>
        <p:spPr bwMode="auto">
          <a:xfrm>
            <a:off x="7918450" y="5062538"/>
            <a:ext cx="0" cy="2159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2310" name="Rectangle 21"/>
          <p:cNvSpPr>
            <a:spLocks noChangeArrowheads="1"/>
          </p:cNvSpPr>
          <p:nvPr/>
        </p:nvSpPr>
        <p:spPr bwMode="auto">
          <a:xfrm>
            <a:off x="4902200" y="4154488"/>
            <a:ext cx="203200" cy="190500"/>
          </a:xfrm>
          <a:prstGeom prst="rect">
            <a:avLst/>
          </a:prstGeom>
          <a:solidFill>
            <a:srgbClr val="FFFFFF"/>
          </a:solidFill>
          <a:ln w="1270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11" name="Rectangle 22"/>
          <p:cNvSpPr>
            <a:spLocks noChangeArrowheads="1"/>
          </p:cNvSpPr>
          <p:nvPr/>
        </p:nvSpPr>
        <p:spPr bwMode="auto">
          <a:xfrm>
            <a:off x="4862513" y="4138613"/>
            <a:ext cx="265112" cy="2714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eaLnBrk="0" hangingPunct="0"/>
            <a:r>
              <a:rPr lang="en-US" sz="1200" b="1">
                <a:solidFill>
                  <a:srgbClr val="000000"/>
                </a:solidFill>
                <a:latin typeface="Helvetica" pitchFamily="34" charset="0"/>
              </a:rPr>
              <a:t>2</a:t>
            </a:r>
          </a:p>
        </p:txBody>
      </p:sp>
      <p:sp>
        <p:nvSpPr>
          <p:cNvPr id="12312" name="Rectangle 23"/>
          <p:cNvSpPr>
            <a:spLocks noChangeArrowheads="1"/>
          </p:cNvSpPr>
          <p:nvPr/>
        </p:nvSpPr>
        <p:spPr bwMode="auto">
          <a:xfrm>
            <a:off x="4902200" y="3240088"/>
            <a:ext cx="203200" cy="190500"/>
          </a:xfrm>
          <a:prstGeom prst="rect">
            <a:avLst/>
          </a:prstGeom>
          <a:solidFill>
            <a:srgbClr val="FFFFFF"/>
          </a:solidFill>
          <a:ln w="1270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13" name="Rectangle 24"/>
          <p:cNvSpPr>
            <a:spLocks noChangeArrowheads="1"/>
          </p:cNvSpPr>
          <p:nvPr/>
        </p:nvSpPr>
        <p:spPr bwMode="auto">
          <a:xfrm>
            <a:off x="4862513" y="3224213"/>
            <a:ext cx="265112" cy="2714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eaLnBrk="0" hangingPunct="0"/>
            <a:r>
              <a:rPr lang="en-US" sz="1200" b="1">
                <a:solidFill>
                  <a:srgbClr val="000000"/>
                </a:solidFill>
                <a:latin typeface="Helvetica" pitchFamily="34" charset="0"/>
              </a:rPr>
              <a:t>4</a:t>
            </a:r>
          </a:p>
        </p:txBody>
      </p:sp>
      <p:sp>
        <p:nvSpPr>
          <p:cNvPr id="12314" name="Rectangle 25"/>
          <p:cNvSpPr>
            <a:spLocks noChangeArrowheads="1"/>
          </p:cNvSpPr>
          <p:nvPr/>
        </p:nvSpPr>
        <p:spPr bwMode="auto">
          <a:xfrm>
            <a:off x="5524500" y="5411788"/>
            <a:ext cx="203200" cy="190500"/>
          </a:xfrm>
          <a:prstGeom prst="rect">
            <a:avLst/>
          </a:prstGeom>
          <a:solidFill>
            <a:srgbClr val="FFFFFF"/>
          </a:solidFill>
          <a:ln w="1270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15" name="Rectangle 26"/>
          <p:cNvSpPr>
            <a:spLocks noChangeArrowheads="1"/>
          </p:cNvSpPr>
          <p:nvPr/>
        </p:nvSpPr>
        <p:spPr bwMode="auto">
          <a:xfrm>
            <a:off x="5484813" y="5395913"/>
            <a:ext cx="265112" cy="2714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eaLnBrk="0" hangingPunct="0"/>
            <a:r>
              <a:rPr lang="en-US" sz="1200" b="1">
                <a:solidFill>
                  <a:srgbClr val="000000"/>
                </a:solidFill>
                <a:latin typeface="Helvetica" pitchFamily="34" charset="0"/>
              </a:rPr>
              <a:t>1</a:t>
            </a:r>
          </a:p>
        </p:txBody>
      </p:sp>
      <p:sp>
        <p:nvSpPr>
          <p:cNvPr id="12316" name="Rectangle 27"/>
          <p:cNvSpPr>
            <a:spLocks noChangeArrowheads="1"/>
          </p:cNvSpPr>
          <p:nvPr/>
        </p:nvSpPr>
        <p:spPr bwMode="auto">
          <a:xfrm>
            <a:off x="5981700" y="5411788"/>
            <a:ext cx="203200" cy="190500"/>
          </a:xfrm>
          <a:prstGeom prst="rect">
            <a:avLst/>
          </a:prstGeom>
          <a:solidFill>
            <a:srgbClr val="FFFFFF"/>
          </a:solidFill>
          <a:ln w="1270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17" name="Rectangle 28"/>
          <p:cNvSpPr>
            <a:spLocks noChangeArrowheads="1"/>
          </p:cNvSpPr>
          <p:nvPr/>
        </p:nvSpPr>
        <p:spPr bwMode="auto">
          <a:xfrm>
            <a:off x="5942013" y="5395913"/>
            <a:ext cx="265112" cy="2714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eaLnBrk="0" hangingPunct="0"/>
            <a:r>
              <a:rPr lang="en-US" sz="1200" b="1">
                <a:solidFill>
                  <a:srgbClr val="000000"/>
                </a:solidFill>
                <a:latin typeface="Helvetica" pitchFamily="34" charset="0"/>
              </a:rPr>
              <a:t>2</a:t>
            </a:r>
          </a:p>
        </p:txBody>
      </p:sp>
      <p:sp>
        <p:nvSpPr>
          <p:cNvPr id="12318" name="Rectangle 29"/>
          <p:cNvSpPr>
            <a:spLocks noChangeArrowheads="1"/>
          </p:cNvSpPr>
          <p:nvPr/>
        </p:nvSpPr>
        <p:spPr bwMode="auto">
          <a:xfrm>
            <a:off x="6438900" y="5411788"/>
            <a:ext cx="203200" cy="190500"/>
          </a:xfrm>
          <a:prstGeom prst="rect">
            <a:avLst/>
          </a:prstGeom>
          <a:solidFill>
            <a:srgbClr val="FFFFFF"/>
          </a:solidFill>
          <a:ln w="1270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19" name="Rectangle 30"/>
          <p:cNvSpPr>
            <a:spLocks noChangeArrowheads="1"/>
          </p:cNvSpPr>
          <p:nvPr/>
        </p:nvSpPr>
        <p:spPr bwMode="auto">
          <a:xfrm>
            <a:off x="6399213" y="5395913"/>
            <a:ext cx="265112" cy="2714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eaLnBrk="0" hangingPunct="0"/>
            <a:r>
              <a:rPr lang="en-US" sz="1200" b="1">
                <a:solidFill>
                  <a:srgbClr val="000000"/>
                </a:solidFill>
                <a:latin typeface="Helvetica" pitchFamily="34" charset="0"/>
              </a:rPr>
              <a:t>3</a:t>
            </a:r>
          </a:p>
        </p:txBody>
      </p:sp>
      <p:sp>
        <p:nvSpPr>
          <p:cNvPr id="12320" name="Rectangle 31"/>
          <p:cNvSpPr>
            <a:spLocks noChangeArrowheads="1"/>
          </p:cNvSpPr>
          <p:nvPr/>
        </p:nvSpPr>
        <p:spPr bwMode="auto">
          <a:xfrm>
            <a:off x="6908800" y="5411788"/>
            <a:ext cx="203200" cy="190500"/>
          </a:xfrm>
          <a:prstGeom prst="rect">
            <a:avLst/>
          </a:prstGeom>
          <a:solidFill>
            <a:srgbClr val="FFFFFF"/>
          </a:solidFill>
          <a:ln w="1270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21" name="Rectangle 32"/>
          <p:cNvSpPr>
            <a:spLocks noChangeArrowheads="1"/>
          </p:cNvSpPr>
          <p:nvPr/>
        </p:nvSpPr>
        <p:spPr bwMode="auto">
          <a:xfrm>
            <a:off x="6869113" y="5395913"/>
            <a:ext cx="265112" cy="2714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eaLnBrk="0" hangingPunct="0"/>
            <a:r>
              <a:rPr lang="en-US" sz="1200" b="1">
                <a:solidFill>
                  <a:srgbClr val="000000"/>
                </a:solidFill>
                <a:latin typeface="Helvetica" pitchFamily="34" charset="0"/>
              </a:rPr>
              <a:t>4</a:t>
            </a:r>
          </a:p>
        </p:txBody>
      </p:sp>
      <p:sp>
        <p:nvSpPr>
          <p:cNvPr id="12322" name="Rectangle 33"/>
          <p:cNvSpPr>
            <a:spLocks noChangeArrowheads="1"/>
          </p:cNvSpPr>
          <p:nvPr/>
        </p:nvSpPr>
        <p:spPr bwMode="auto">
          <a:xfrm>
            <a:off x="7340600" y="5373688"/>
            <a:ext cx="203200" cy="190500"/>
          </a:xfrm>
          <a:prstGeom prst="rect">
            <a:avLst/>
          </a:prstGeom>
          <a:solidFill>
            <a:srgbClr val="FFFFFF"/>
          </a:solidFill>
          <a:ln w="1270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23" name="Rectangle 34"/>
          <p:cNvSpPr>
            <a:spLocks noChangeArrowheads="1"/>
          </p:cNvSpPr>
          <p:nvPr/>
        </p:nvSpPr>
        <p:spPr bwMode="auto">
          <a:xfrm>
            <a:off x="7300913" y="5391150"/>
            <a:ext cx="265112" cy="2714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eaLnBrk="0" hangingPunct="0"/>
            <a:r>
              <a:rPr lang="en-US" sz="1200" b="1">
                <a:solidFill>
                  <a:srgbClr val="000000"/>
                </a:solidFill>
                <a:latin typeface="Helvetica" pitchFamily="34" charset="0"/>
              </a:rPr>
              <a:t>5</a:t>
            </a:r>
          </a:p>
        </p:txBody>
      </p:sp>
      <p:sp>
        <p:nvSpPr>
          <p:cNvPr id="12324" name="Rectangle 35"/>
          <p:cNvSpPr>
            <a:spLocks noChangeArrowheads="1"/>
          </p:cNvSpPr>
          <p:nvPr/>
        </p:nvSpPr>
        <p:spPr bwMode="auto">
          <a:xfrm>
            <a:off x="7810500" y="5411788"/>
            <a:ext cx="203200" cy="190500"/>
          </a:xfrm>
          <a:prstGeom prst="rect">
            <a:avLst/>
          </a:prstGeom>
          <a:solidFill>
            <a:srgbClr val="FFFFFF"/>
          </a:solidFill>
          <a:ln w="1270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25" name="Rectangle 36"/>
          <p:cNvSpPr>
            <a:spLocks noChangeArrowheads="1"/>
          </p:cNvSpPr>
          <p:nvPr/>
        </p:nvSpPr>
        <p:spPr bwMode="auto">
          <a:xfrm>
            <a:off x="7770813" y="5395913"/>
            <a:ext cx="265112" cy="2714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eaLnBrk="0" hangingPunct="0"/>
            <a:r>
              <a:rPr lang="en-US" sz="1200" b="1">
                <a:solidFill>
                  <a:srgbClr val="000000"/>
                </a:solidFill>
                <a:latin typeface="Helvetica" pitchFamily="34" charset="0"/>
              </a:rPr>
              <a:t>6</a:t>
            </a:r>
          </a:p>
        </p:txBody>
      </p:sp>
      <p:sp>
        <p:nvSpPr>
          <p:cNvPr id="12326" name="Rectangle 37"/>
          <p:cNvSpPr>
            <a:spLocks noChangeArrowheads="1"/>
          </p:cNvSpPr>
          <p:nvPr/>
        </p:nvSpPr>
        <p:spPr bwMode="auto">
          <a:xfrm>
            <a:off x="4902200" y="3697288"/>
            <a:ext cx="203200" cy="190500"/>
          </a:xfrm>
          <a:prstGeom prst="rect">
            <a:avLst/>
          </a:prstGeom>
          <a:solidFill>
            <a:srgbClr val="FFFFFF"/>
          </a:solidFill>
          <a:ln w="1270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27" name="Rectangle 38"/>
          <p:cNvSpPr>
            <a:spLocks noChangeArrowheads="1"/>
          </p:cNvSpPr>
          <p:nvPr/>
        </p:nvSpPr>
        <p:spPr bwMode="auto">
          <a:xfrm>
            <a:off x="4862513" y="3681413"/>
            <a:ext cx="265112" cy="2714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eaLnBrk="0" hangingPunct="0"/>
            <a:r>
              <a:rPr lang="en-US" sz="1200" b="1">
                <a:solidFill>
                  <a:srgbClr val="000000"/>
                </a:solidFill>
                <a:latin typeface="Helvetica" pitchFamily="34" charset="0"/>
              </a:rPr>
              <a:t>3</a:t>
            </a:r>
          </a:p>
        </p:txBody>
      </p:sp>
      <p:sp>
        <p:nvSpPr>
          <p:cNvPr id="12328" name="Rectangle 39"/>
          <p:cNvSpPr>
            <a:spLocks noChangeArrowheads="1"/>
          </p:cNvSpPr>
          <p:nvPr/>
        </p:nvSpPr>
        <p:spPr bwMode="auto">
          <a:xfrm>
            <a:off x="4902200" y="2782888"/>
            <a:ext cx="203200" cy="190500"/>
          </a:xfrm>
          <a:prstGeom prst="rect">
            <a:avLst/>
          </a:prstGeom>
          <a:solidFill>
            <a:srgbClr val="FFFFFF"/>
          </a:solidFill>
          <a:ln w="1270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29" name="Rectangle 40"/>
          <p:cNvSpPr>
            <a:spLocks noChangeArrowheads="1"/>
          </p:cNvSpPr>
          <p:nvPr/>
        </p:nvSpPr>
        <p:spPr bwMode="auto">
          <a:xfrm>
            <a:off x="4862513" y="2767013"/>
            <a:ext cx="265112" cy="2714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eaLnBrk="0" hangingPunct="0"/>
            <a:r>
              <a:rPr lang="en-US" sz="1200" b="1">
                <a:solidFill>
                  <a:srgbClr val="000000"/>
                </a:solidFill>
                <a:latin typeface="Helvetica" pitchFamily="34" charset="0"/>
              </a:rPr>
              <a:t>5</a:t>
            </a:r>
          </a:p>
        </p:txBody>
      </p:sp>
      <p:sp>
        <p:nvSpPr>
          <p:cNvPr id="12330" name="Rectangle 41"/>
          <p:cNvSpPr>
            <a:spLocks noChangeArrowheads="1"/>
          </p:cNvSpPr>
          <p:nvPr/>
        </p:nvSpPr>
        <p:spPr bwMode="auto">
          <a:xfrm>
            <a:off x="4953000" y="2325688"/>
            <a:ext cx="203200" cy="190500"/>
          </a:xfrm>
          <a:prstGeom prst="rect">
            <a:avLst/>
          </a:prstGeom>
          <a:solidFill>
            <a:srgbClr val="FFFFFF"/>
          </a:solidFill>
          <a:ln w="1270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31" name="Rectangle 42"/>
          <p:cNvSpPr>
            <a:spLocks noChangeArrowheads="1"/>
          </p:cNvSpPr>
          <p:nvPr/>
        </p:nvSpPr>
        <p:spPr bwMode="auto">
          <a:xfrm>
            <a:off x="4857750" y="2309813"/>
            <a:ext cx="265113" cy="2714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eaLnBrk="0" hangingPunct="0"/>
            <a:r>
              <a:rPr lang="en-US" sz="1200" b="1">
                <a:solidFill>
                  <a:srgbClr val="000000"/>
                </a:solidFill>
                <a:latin typeface="Helvetica" pitchFamily="34" charset="0"/>
              </a:rPr>
              <a:t>6</a:t>
            </a:r>
          </a:p>
        </p:txBody>
      </p:sp>
      <p:sp>
        <p:nvSpPr>
          <p:cNvPr id="12332" name="Rectangle 43"/>
          <p:cNvSpPr>
            <a:spLocks noChangeArrowheads="1"/>
          </p:cNvSpPr>
          <p:nvPr/>
        </p:nvSpPr>
        <p:spPr bwMode="auto">
          <a:xfrm>
            <a:off x="4902200" y="4624388"/>
            <a:ext cx="203200" cy="190500"/>
          </a:xfrm>
          <a:prstGeom prst="rect">
            <a:avLst/>
          </a:prstGeom>
          <a:solidFill>
            <a:srgbClr val="FFFFFF"/>
          </a:solidFill>
          <a:ln w="1270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33" name="Rectangle 44"/>
          <p:cNvSpPr>
            <a:spLocks noChangeArrowheads="1"/>
          </p:cNvSpPr>
          <p:nvPr/>
        </p:nvSpPr>
        <p:spPr bwMode="auto">
          <a:xfrm>
            <a:off x="4862513" y="4608513"/>
            <a:ext cx="265112" cy="2714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eaLnBrk="0" hangingPunct="0"/>
            <a:r>
              <a:rPr lang="en-US" sz="1200" b="1">
                <a:solidFill>
                  <a:srgbClr val="000000"/>
                </a:solidFill>
                <a:latin typeface="Helvetica" pitchFamily="34" charset="0"/>
              </a:rPr>
              <a:t>1</a:t>
            </a:r>
          </a:p>
        </p:txBody>
      </p:sp>
      <p:sp>
        <p:nvSpPr>
          <p:cNvPr id="12334" name="Oval 45"/>
          <p:cNvSpPr>
            <a:spLocks noChangeArrowheads="1"/>
          </p:cNvSpPr>
          <p:nvPr/>
        </p:nvSpPr>
        <p:spPr bwMode="auto">
          <a:xfrm>
            <a:off x="6064250" y="4732338"/>
            <a:ext cx="38100" cy="381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35" name="Oval 46"/>
          <p:cNvSpPr>
            <a:spLocks noChangeArrowheads="1"/>
          </p:cNvSpPr>
          <p:nvPr/>
        </p:nvSpPr>
        <p:spPr bwMode="auto">
          <a:xfrm>
            <a:off x="6978650" y="3309938"/>
            <a:ext cx="38100" cy="381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36" name="Oval 47"/>
          <p:cNvSpPr>
            <a:spLocks noChangeArrowheads="1"/>
          </p:cNvSpPr>
          <p:nvPr/>
        </p:nvSpPr>
        <p:spPr bwMode="auto">
          <a:xfrm>
            <a:off x="7435850" y="2636838"/>
            <a:ext cx="38100" cy="381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37" name="Line 48"/>
          <p:cNvSpPr>
            <a:spLocks noChangeShapeType="1"/>
          </p:cNvSpPr>
          <p:nvPr/>
        </p:nvSpPr>
        <p:spPr bwMode="auto">
          <a:xfrm flipV="1">
            <a:off x="6089650" y="2478088"/>
            <a:ext cx="1498600" cy="22860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2338" name="Line 49"/>
          <p:cNvSpPr>
            <a:spLocks noChangeShapeType="1"/>
          </p:cNvSpPr>
          <p:nvPr/>
        </p:nvSpPr>
        <p:spPr bwMode="auto">
          <a:xfrm flipH="1">
            <a:off x="5918200" y="4745038"/>
            <a:ext cx="177800" cy="2667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2339" name="Rectangle 50"/>
          <p:cNvSpPr>
            <a:spLocks noChangeArrowheads="1"/>
          </p:cNvSpPr>
          <p:nvPr/>
        </p:nvSpPr>
        <p:spPr bwMode="auto">
          <a:xfrm>
            <a:off x="6273800" y="4675188"/>
            <a:ext cx="1193800" cy="190500"/>
          </a:xfrm>
          <a:prstGeom prst="rect">
            <a:avLst/>
          </a:prstGeom>
          <a:solidFill>
            <a:srgbClr val="FFFFFF"/>
          </a:solidFill>
          <a:ln w="1270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40" name="Rectangle 51"/>
          <p:cNvSpPr>
            <a:spLocks noChangeArrowheads="1"/>
          </p:cNvSpPr>
          <p:nvPr/>
        </p:nvSpPr>
        <p:spPr bwMode="auto">
          <a:xfrm>
            <a:off x="6234113" y="4659313"/>
            <a:ext cx="1057275" cy="2714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eaLnBrk="0" hangingPunct="0"/>
            <a:r>
              <a:rPr lang="en-US" sz="1200" b="1">
                <a:solidFill>
                  <a:srgbClr val="000000"/>
                </a:solidFill>
                <a:latin typeface="Helvetica" pitchFamily="34" charset="0"/>
              </a:rPr>
              <a:t>P1 = (X1,Y1)</a:t>
            </a:r>
          </a:p>
        </p:txBody>
      </p:sp>
      <p:sp>
        <p:nvSpPr>
          <p:cNvPr id="12341" name="Rectangle 52"/>
          <p:cNvSpPr>
            <a:spLocks noChangeArrowheads="1"/>
          </p:cNvSpPr>
          <p:nvPr/>
        </p:nvSpPr>
        <p:spPr bwMode="auto">
          <a:xfrm>
            <a:off x="7188200" y="3303588"/>
            <a:ext cx="1193800" cy="190500"/>
          </a:xfrm>
          <a:prstGeom prst="rect">
            <a:avLst/>
          </a:prstGeom>
          <a:solidFill>
            <a:srgbClr val="FFFFFF"/>
          </a:solidFill>
          <a:ln w="1270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42" name="Rectangle 53"/>
          <p:cNvSpPr>
            <a:spLocks noChangeArrowheads="1"/>
          </p:cNvSpPr>
          <p:nvPr/>
        </p:nvSpPr>
        <p:spPr bwMode="auto">
          <a:xfrm>
            <a:off x="7148513" y="3287713"/>
            <a:ext cx="1057275" cy="2714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eaLnBrk="0" hangingPunct="0"/>
            <a:r>
              <a:rPr lang="en-US" sz="1200" b="1">
                <a:solidFill>
                  <a:srgbClr val="000000"/>
                </a:solidFill>
                <a:latin typeface="Helvetica" pitchFamily="34" charset="0"/>
              </a:rPr>
              <a:t>P2 = (X2,Y2)</a:t>
            </a:r>
          </a:p>
        </p:txBody>
      </p:sp>
      <p:sp>
        <p:nvSpPr>
          <p:cNvPr id="12343" name="Rectangle 54"/>
          <p:cNvSpPr>
            <a:spLocks noChangeArrowheads="1"/>
          </p:cNvSpPr>
          <p:nvPr/>
        </p:nvSpPr>
        <p:spPr bwMode="auto">
          <a:xfrm>
            <a:off x="7708900" y="2554288"/>
            <a:ext cx="850900" cy="190500"/>
          </a:xfrm>
          <a:prstGeom prst="rect">
            <a:avLst/>
          </a:prstGeom>
          <a:solidFill>
            <a:srgbClr val="FFFFFF"/>
          </a:solidFill>
          <a:ln w="1270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44" name="Rectangle 55"/>
          <p:cNvSpPr>
            <a:spLocks noChangeArrowheads="1"/>
          </p:cNvSpPr>
          <p:nvPr/>
        </p:nvSpPr>
        <p:spPr bwMode="auto">
          <a:xfrm>
            <a:off x="7669213" y="2538413"/>
            <a:ext cx="804862" cy="2714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eaLnBrk="0" hangingPunct="0"/>
            <a:r>
              <a:rPr lang="en-US" sz="1200" b="1">
                <a:solidFill>
                  <a:srgbClr val="000000"/>
                </a:solidFill>
                <a:latin typeface="Helvetica" pitchFamily="34" charset="0"/>
              </a:rPr>
              <a:t>P = (X,Y)</a:t>
            </a:r>
          </a:p>
        </p:txBody>
      </p:sp>
      <p:sp>
        <p:nvSpPr>
          <p:cNvPr id="12345" name="Rectangle 56"/>
          <p:cNvSpPr>
            <a:spLocks noChangeArrowheads="1"/>
          </p:cNvSpPr>
          <p:nvPr/>
        </p:nvSpPr>
        <p:spPr bwMode="auto">
          <a:xfrm>
            <a:off x="5397500" y="5919788"/>
            <a:ext cx="863600" cy="188912"/>
          </a:xfrm>
          <a:prstGeom prst="rect">
            <a:avLst/>
          </a:prstGeom>
          <a:solidFill>
            <a:srgbClr val="FFFFFF"/>
          </a:solidFill>
          <a:ln w="1270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46" name="Rectangle 57"/>
          <p:cNvSpPr>
            <a:spLocks noChangeArrowheads="1"/>
          </p:cNvSpPr>
          <p:nvPr/>
        </p:nvSpPr>
        <p:spPr bwMode="auto">
          <a:xfrm>
            <a:off x="6019800" y="5943600"/>
            <a:ext cx="866775" cy="2714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eaLnBrk="0" hangingPunct="0"/>
            <a:r>
              <a:rPr lang="en-US" sz="1200" b="1">
                <a:solidFill>
                  <a:srgbClr val="000000"/>
                </a:solidFill>
                <a:latin typeface="Helvetica" pitchFamily="34" charset="0"/>
              </a:rPr>
              <a:t>           m  </a:t>
            </a:r>
          </a:p>
        </p:txBody>
      </p:sp>
      <p:sp>
        <p:nvSpPr>
          <p:cNvPr id="12347" name="Rectangle 58"/>
          <p:cNvSpPr>
            <a:spLocks noChangeArrowheads="1"/>
          </p:cNvSpPr>
          <p:nvPr/>
        </p:nvSpPr>
        <p:spPr bwMode="auto">
          <a:xfrm>
            <a:off x="6375400" y="5805488"/>
            <a:ext cx="495300" cy="188912"/>
          </a:xfrm>
          <a:prstGeom prst="rect">
            <a:avLst/>
          </a:prstGeom>
          <a:solidFill>
            <a:srgbClr val="FFFFFF"/>
          </a:solidFill>
          <a:ln w="1270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48" name="Rectangle 59"/>
          <p:cNvSpPr>
            <a:spLocks noChangeArrowheads="1"/>
          </p:cNvSpPr>
          <p:nvPr/>
        </p:nvSpPr>
        <p:spPr bwMode="auto">
          <a:xfrm>
            <a:off x="6375400" y="6148388"/>
            <a:ext cx="431800" cy="188912"/>
          </a:xfrm>
          <a:prstGeom prst="rect">
            <a:avLst/>
          </a:prstGeom>
          <a:solidFill>
            <a:srgbClr val="FFFFFF"/>
          </a:solidFill>
          <a:ln w="1270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49" name="Rectangle 60"/>
          <p:cNvSpPr>
            <a:spLocks noChangeArrowheads="1"/>
          </p:cNvSpPr>
          <p:nvPr/>
        </p:nvSpPr>
        <p:spPr bwMode="auto">
          <a:xfrm>
            <a:off x="6335713" y="6132513"/>
            <a:ext cx="557212" cy="2714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eaLnBrk="0" hangingPunct="0"/>
            <a:endParaRPr lang="en-US" sz="1200" b="1">
              <a:solidFill>
                <a:srgbClr val="000000"/>
              </a:solidFill>
              <a:latin typeface="Helvetica" pitchFamily="34" charset="0"/>
            </a:endParaRPr>
          </a:p>
        </p:txBody>
      </p:sp>
      <p:sp>
        <p:nvSpPr>
          <p:cNvPr id="12350" name="Rectangle 61"/>
          <p:cNvSpPr>
            <a:spLocks noChangeArrowheads="1"/>
          </p:cNvSpPr>
          <p:nvPr/>
        </p:nvSpPr>
        <p:spPr bwMode="auto">
          <a:xfrm>
            <a:off x="6997700" y="5983288"/>
            <a:ext cx="254000" cy="188912"/>
          </a:xfrm>
          <a:prstGeom prst="rect">
            <a:avLst/>
          </a:prstGeom>
          <a:solidFill>
            <a:srgbClr val="FFFFFF"/>
          </a:solidFill>
          <a:ln w="1270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51" name="Rectangle 62"/>
          <p:cNvSpPr>
            <a:spLocks noChangeArrowheads="1"/>
          </p:cNvSpPr>
          <p:nvPr/>
        </p:nvSpPr>
        <p:spPr bwMode="auto">
          <a:xfrm>
            <a:off x="6958013" y="5967413"/>
            <a:ext cx="336550" cy="2714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eaLnBrk="0" hangingPunct="0"/>
            <a:r>
              <a:rPr lang="en-US" sz="1200" b="1">
                <a:solidFill>
                  <a:srgbClr val="000000"/>
                </a:solidFill>
                <a:latin typeface="Helvetica" pitchFamily="34" charset="0"/>
              </a:rPr>
              <a:t>= </a:t>
            </a:r>
          </a:p>
        </p:txBody>
      </p:sp>
      <p:sp>
        <p:nvSpPr>
          <p:cNvPr id="12352" name="Rectangle 63"/>
          <p:cNvSpPr>
            <a:spLocks noChangeArrowheads="1"/>
          </p:cNvSpPr>
          <p:nvPr/>
        </p:nvSpPr>
        <p:spPr bwMode="auto">
          <a:xfrm>
            <a:off x="7289800" y="5805488"/>
            <a:ext cx="622300" cy="188912"/>
          </a:xfrm>
          <a:prstGeom prst="rect">
            <a:avLst/>
          </a:prstGeom>
          <a:solidFill>
            <a:srgbClr val="FFFFFF"/>
          </a:solidFill>
          <a:ln w="1270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53" name="Rectangle 64"/>
          <p:cNvSpPr>
            <a:spLocks noChangeArrowheads="1"/>
          </p:cNvSpPr>
          <p:nvPr/>
        </p:nvSpPr>
        <p:spPr bwMode="auto">
          <a:xfrm>
            <a:off x="7250113" y="5789613"/>
            <a:ext cx="814387" cy="2714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eaLnBrk="0" hangingPunct="0"/>
            <a:r>
              <a:rPr lang="en-US" sz="1200" b="1">
                <a:solidFill>
                  <a:srgbClr val="000000"/>
                </a:solidFill>
                <a:latin typeface="Helvetica" pitchFamily="34" charset="0"/>
              </a:rPr>
              <a:t>Y2-Y1</a:t>
            </a:r>
          </a:p>
        </p:txBody>
      </p:sp>
      <p:sp>
        <p:nvSpPr>
          <p:cNvPr id="12354" name="Rectangle 65"/>
          <p:cNvSpPr>
            <a:spLocks noChangeArrowheads="1"/>
          </p:cNvSpPr>
          <p:nvPr/>
        </p:nvSpPr>
        <p:spPr bwMode="auto">
          <a:xfrm>
            <a:off x="7289800" y="6148388"/>
            <a:ext cx="622300" cy="188912"/>
          </a:xfrm>
          <a:prstGeom prst="rect">
            <a:avLst/>
          </a:prstGeom>
          <a:solidFill>
            <a:srgbClr val="FFFFFF"/>
          </a:solidFill>
          <a:ln w="1270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55" name="Rectangle 66"/>
          <p:cNvSpPr>
            <a:spLocks noChangeArrowheads="1"/>
          </p:cNvSpPr>
          <p:nvPr/>
        </p:nvSpPr>
        <p:spPr bwMode="auto">
          <a:xfrm>
            <a:off x="7250113" y="6132513"/>
            <a:ext cx="890587" cy="2714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eaLnBrk="0" hangingPunct="0"/>
            <a:r>
              <a:rPr lang="en-US" sz="1200" b="1">
                <a:solidFill>
                  <a:srgbClr val="000000"/>
                </a:solidFill>
                <a:latin typeface="Helvetica" pitchFamily="34" charset="0"/>
              </a:rPr>
              <a:t>X2-X1</a:t>
            </a:r>
          </a:p>
        </p:txBody>
      </p:sp>
      <p:sp>
        <p:nvSpPr>
          <p:cNvPr id="12356" name="Line 67"/>
          <p:cNvSpPr>
            <a:spLocks noChangeShapeType="1"/>
          </p:cNvSpPr>
          <p:nvPr/>
        </p:nvSpPr>
        <p:spPr bwMode="auto">
          <a:xfrm>
            <a:off x="7283450" y="6103938"/>
            <a:ext cx="6223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>
          <a:xfrm>
            <a:off x="784225" y="830263"/>
            <a:ext cx="3429000" cy="600075"/>
          </a:xfrm>
          <a:noFill/>
        </p:spPr>
        <p:txBody>
          <a:bodyPr wrap="none" lIns="63500" tIns="25400" rIns="63500" bIns="25400" anchor="t">
            <a:spAutoFit/>
          </a:bodyPr>
          <a:lstStyle/>
          <a:p>
            <a:pPr eaLnBrk="1" hangingPunct="1"/>
            <a:r>
              <a:rPr lang="pt-BR"/>
              <a:t>Fórmulas</a:t>
            </a:r>
            <a:r>
              <a:rPr lang="en-US"/>
              <a:t> Úteis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905000"/>
            <a:ext cx="7391400" cy="4191000"/>
          </a:xfrm>
          <a:noFill/>
        </p:spPr>
        <p:txBody>
          <a:bodyPr lIns="90487" tIns="44450" rIns="90487" bIns="44450"/>
          <a:lstStyle/>
          <a:p>
            <a:pPr eaLnBrk="1" hangingPunct="1"/>
            <a:r>
              <a:rPr lang="pt-BR" sz="2000" b="1"/>
              <a:t>O comprimento do segmento de reta entre P</a:t>
            </a:r>
            <a:r>
              <a:rPr lang="pt-BR" sz="2000" b="1" baseline="-25000"/>
              <a:t>1</a:t>
            </a:r>
            <a:r>
              <a:rPr lang="pt-BR" sz="2000" b="1"/>
              <a:t> e P</a:t>
            </a:r>
            <a:r>
              <a:rPr lang="pt-BR" sz="2000" b="1" baseline="-25000"/>
              <a:t>2</a:t>
            </a:r>
            <a:endParaRPr lang="pt-BR" sz="2400"/>
          </a:p>
          <a:p>
            <a:pPr eaLnBrk="1" hangingPunct="1">
              <a:buFont typeface="Wingdings" pitchFamily="2" charset="2"/>
              <a:buNone/>
            </a:pPr>
            <a:r>
              <a:rPr lang="pt-BR" sz="2400"/>
              <a:t>	L =</a:t>
            </a:r>
          </a:p>
          <a:p>
            <a:pPr eaLnBrk="1" hangingPunct="1"/>
            <a:endParaRPr lang="pt-BR" sz="2400"/>
          </a:p>
          <a:p>
            <a:pPr eaLnBrk="1" hangingPunct="1"/>
            <a:r>
              <a:rPr lang="pt-BR" sz="2000" b="1"/>
              <a:t>O ponto médio do segmento de reta entre P</a:t>
            </a:r>
            <a:r>
              <a:rPr lang="pt-BR" sz="2000" b="1" baseline="-25000"/>
              <a:t>1</a:t>
            </a:r>
            <a:r>
              <a:rPr lang="pt-BR" sz="2000" b="1"/>
              <a:t> e P</a:t>
            </a:r>
            <a:r>
              <a:rPr lang="pt-BR" sz="2000" b="1" baseline="-25000"/>
              <a:t>3</a:t>
            </a:r>
            <a:endParaRPr lang="pt-BR" sz="2400" b="1"/>
          </a:p>
          <a:p>
            <a:pPr eaLnBrk="1" hangingPunct="1">
              <a:buFont typeface="Wingdings" pitchFamily="2" charset="2"/>
              <a:buNone/>
            </a:pPr>
            <a:r>
              <a:rPr lang="pt-BR" sz="2400"/>
              <a:t>	P</a:t>
            </a:r>
            <a:r>
              <a:rPr lang="pt-BR" sz="2400" baseline="-25000"/>
              <a:t>2</a:t>
            </a:r>
            <a:r>
              <a:rPr lang="pt-BR" sz="2400"/>
              <a:t> = ( (X</a:t>
            </a:r>
            <a:r>
              <a:rPr lang="pt-BR" sz="2400" baseline="-25000"/>
              <a:t>1</a:t>
            </a:r>
            <a:r>
              <a:rPr lang="pt-BR" sz="2400"/>
              <a:t>+X</a:t>
            </a:r>
            <a:r>
              <a:rPr lang="pt-BR" sz="2400" baseline="-25000"/>
              <a:t>3</a:t>
            </a:r>
            <a:r>
              <a:rPr lang="pt-BR" sz="2400"/>
              <a:t>)/2 , (Y</a:t>
            </a:r>
            <a:r>
              <a:rPr lang="pt-BR" sz="2400" baseline="-25000"/>
              <a:t>1</a:t>
            </a:r>
            <a:r>
              <a:rPr lang="pt-BR" sz="2400"/>
              <a:t>+Y</a:t>
            </a:r>
            <a:r>
              <a:rPr lang="pt-BR" sz="2400" baseline="-25000"/>
              <a:t>3</a:t>
            </a:r>
            <a:r>
              <a:rPr lang="pt-BR" sz="2400"/>
              <a:t>)/2 )</a:t>
            </a:r>
          </a:p>
          <a:p>
            <a:pPr eaLnBrk="1" hangingPunct="1"/>
            <a:endParaRPr lang="pt-BR" sz="2400"/>
          </a:p>
          <a:p>
            <a:pPr eaLnBrk="1" hangingPunct="1"/>
            <a:r>
              <a:rPr lang="pt-BR" sz="2000"/>
              <a:t>Duas retas são  </a:t>
            </a:r>
            <a:r>
              <a:rPr lang="pt-BR" sz="2000" b="1"/>
              <a:t>perpendiculares</a:t>
            </a:r>
            <a:r>
              <a:rPr lang="pt-BR" sz="2000"/>
              <a:t> se e somente se</a:t>
            </a:r>
          </a:p>
          <a:p>
            <a:pPr lvl="1" eaLnBrk="1" hangingPunct="1"/>
            <a:r>
              <a:rPr lang="pt-BR" sz="2000"/>
              <a:t>  M</a:t>
            </a:r>
            <a:r>
              <a:rPr lang="pt-BR" sz="2000" baseline="-25000"/>
              <a:t>1</a:t>
            </a:r>
            <a:r>
              <a:rPr lang="pt-BR" sz="2000"/>
              <a:t> =  -1/M</a:t>
            </a:r>
            <a:r>
              <a:rPr lang="pt-BR" sz="2000" baseline="-25000"/>
              <a:t>2</a:t>
            </a:r>
            <a:endParaRPr lang="pt-BR" sz="2000"/>
          </a:p>
          <a:p>
            <a:pPr lvl="1" eaLnBrk="1" hangingPunct="1"/>
            <a:r>
              <a:rPr lang="pt-BR" sz="2000"/>
              <a:t> </a:t>
            </a:r>
            <a:r>
              <a:rPr lang="pt-BR" sz="1800"/>
              <a:t>O cosseno do ângulo entre elas é  0</a:t>
            </a:r>
            <a:r>
              <a:rPr lang="pt-BR" sz="2000"/>
              <a:t>.</a:t>
            </a:r>
          </a:p>
          <a:p>
            <a:pPr eaLnBrk="1" hangingPunct="1">
              <a:buFont typeface="Wingdings" pitchFamily="2" charset="2"/>
              <a:buNone/>
            </a:pPr>
            <a:endParaRPr lang="pt-BR" sz="2400"/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2271713" y="2427288"/>
          <a:ext cx="243840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35100" imgH="241300" progId="Equation.3">
                  <p:embed/>
                </p:oleObj>
              </mc:Choice>
              <mc:Fallback>
                <p:oleObj name="Equation" r:id="rId2" imgW="1435100" imgH="241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1713" y="2427288"/>
                        <a:ext cx="2438400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762000"/>
            <a:ext cx="6661150" cy="600075"/>
          </a:xfrm>
          <a:noFill/>
        </p:spPr>
        <p:txBody>
          <a:bodyPr lIns="63500" tIns="25400" rIns="63500" bIns="25400" anchor="t">
            <a:spAutoFit/>
          </a:bodyPr>
          <a:lstStyle/>
          <a:p>
            <a:pPr eaLnBrk="1" hangingPunct="1"/>
            <a:r>
              <a:rPr lang="en-US"/>
              <a:t>Forma paramétrica da Reta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600200"/>
            <a:ext cx="7315200" cy="5029200"/>
          </a:xfrm>
          <a:noFill/>
        </p:spPr>
        <p:txBody>
          <a:bodyPr lIns="90487" tIns="44450" rIns="90487" bIns="44450"/>
          <a:lstStyle/>
          <a:p>
            <a:pPr eaLnBrk="1" hangingPunct="1">
              <a:lnSpc>
                <a:spcPct val="90000"/>
              </a:lnSpc>
            </a:pPr>
            <a:r>
              <a:rPr lang="pt-BR" sz="2400"/>
              <a:t>O parâmetro t representa o “momento” em que a curva atinge o ponto (x,y).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pt-BR" sz="240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pt-BR" sz="2000"/>
              <a:t>Dados os pontos  P</a:t>
            </a:r>
            <a:r>
              <a:rPr lang="pt-BR" sz="2000" baseline="-25000"/>
              <a:t>1</a:t>
            </a:r>
            <a:r>
              <a:rPr lang="pt-BR" sz="2000"/>
              <a:t> = (X</a:t>
            </a:r>
            <a:r>
              <a:rPr lang="pt-BR" sz="2000" baseline="-25000"/>
              <a:t>1</a:t>
            </a:r>
            <a:r>
              <a:rPr lang="pt-BR" sz="2000"/>
              <a:t>, Y</a:t>
            </a:r>
            <a:r>
              <a:rPr lang="pt-BR" sz="2000" baseline="-25000"/>
              <a:t>1</a:t>
            </a:r>
            <a:r>
              <a:rPr lang="pt-BR" sz="2000"/>
              <a:t>)    e   P</a:t>
            </a:r>
            <a:r>
              <a:rPr lang="pt-BR" sz="2000" baseline="-25000"/>
              <a:t>2</a:t>
            </a:r>
            <a:r>
              <a:rPr lang="pt-BR" sz="2000"/>
              <a:t> = (X</a:t>
            </a:r>
            <a:r>
              <a:rPr lang="pt-BR" sz="2000" baseline="-25000"/>
              <a:t>2</a:t>
            </a:r>
            <a:r>
              <a:rPr lang="pt-BR" sz="2000"/>
              <a:t>, Y</a:t>
            </a:r>
            <a:r>
              <a:rPr lang="pt-BR" sz="2000" baseline="-25000"/>
              <a:t>2</a:t>
            </a:r>
            <a:r>
              <a:rPr lang="pt-BR" sz="2000"/>
              <a:t>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pt-BR" sz="2000" b="1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pt-BR" sz="2000" b="1"/>
              <a:t>			X = X</a:t>
            </a:r>
            <a:r>
              <a:rPr lang="pt-BR" sz="2000" b="1" baseline="-25000"/>
              <a:t>1</a:t>
            </a:r>
            <a:r>
              <a:rPr lang="pt-BR" sz="2000" b="1"/>
              <a:t> + t(X</a:t>
            </a:r>
            <a:r>
              <a:rPr lang="pt-BR" sz="2000" b="1" baseline="-25000"/>
              <a:t>2</a:t>
            </a:r>
            <a:r>
              <a:rPr lang="pt-BR" sz="2000" b="1"/>
              <a:t>-X</a:t>
            </a:r>
            <a:r>
              <a:rPr lang="pt-BR" sz="2000" b="1" baseline="-25000"/>
              <a:t>1</a:t>
            </a:r>
            <a:r>
              <a:rPr lang="pt-BR" sz="2000" b="1"/>
              <a:t>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pt-BR" sz="2000" b="1"/>
              <a:t>			Y = Y</a:t>
            </a:r>
            <a:r>
              <a:rPr lang="pt-BR" sz="2000" b="1" baseline="-25000"/>
              <a:t>1</a:t>
            </a:r>
            <a:r>
              <a:rPr lang="pt-BR" sz="2000" b="1"/>
              <a:t> + t(Y</a:t>
            </a:r>
            <a:r>
              <a:rPr lang="pt-BR" sz="2000" b="1" baseline="-25000"/>
              <a:t>2</a:t>
            </a:r>
            <a:r>
              <a:rPr lang="pt-BR" sz="2000" b="1"/>
              <a:t>-Y</a:t>
            </a:r>
            <a:r>
              <a:rPr lang="pt-BR" sz="2000" b="1" baseline="-25000"/>
              <a:t>1</a:t>
            </a:r>
            <a:r>
              <a:rPr lang="pt-BR" sz="2000" b="1"/>
              <a:t>)</a:t>
            </a:r>
            <a:endParaRPr lang="pt-BR" sz="200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pt-BR" sz="200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pt-BR" sz="2000"/>
              <a:t>t é o parâmetro.  </a:t>
            </a:r>
          </a:p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pt-BR" sz="2000" b="1"/>
              <a:t>t = 0  temos (X</a:t>
            </a:r>
            <a:r>
              <a:rPr lang="pt-BR" sz="2000" b="1" baseline="-25000"/>
              <a:t>1</a:t>
            </a:r>
            <a:r>
              <a:rPr lang="pt-BR" sz="2000" b="1"/>
              <a:t>,Y</a:t>
            </a:r>
            <a:r>
              <a:rPr lang="pt-BR" sz="2000" b="1" baseline="-25000"/>
              <a:t>1</a:t>
            </a:r>
            <a:r>
              <a:rPr lang="pt-BR" sz="2000" b="1"/>
              <a:t>)</a:t>
            </a:r>
          </a:p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pt-BR" sz="2000" b="1"/>
              <a:t>t = 1  temos (X</a:t>
            </a:r>
            <a:r>
              <a:rPr lang="pt-BR" sz="2000" b="1" baseline="-25000"/>
              <a:t>2</a:t>
            </a:r>
            <a:r>
              <a:rPr lang="pt-BR" sz="2000" b="1"/>
              <a:t>,Y</a:t>
            </a:r>
            <a:r>
              <a:rPr lang="pt-BR" sz="2000" b="1" baseline="-25000"/>
              <a:t>2</a:t>
            </a:r>
            <a:r>
              <a:rPr lang="pt-BR" sz="2000" b="1"/>
              <a:t>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pt-BR" sz="200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pt-BR" sz="2000"/>
              <a:t>Se  0 &lt; t &lt; 1 Tem-se todos os pontos sobre o segmento de reta entre (X</a:t>
            </a:r>
            <a:r>
              <a:rPr lang="pt-BR" sz="2000" baseline="-25000"/>
              <a:t>1</a:t>
            </a:r>
            <a:r>
              <a:rPr lang="pt-BR" sz="2000"/>
              <a:t>,Y</a:t>
            </a:r>
            <a:r>
              <a:rPr lang="pt-BR" sz="2000" baseline="-25000"/>
              <a:t>1</a:t>
            </a:r>
            <a:r>
              <a:rPr lang="pt-BR" sz="2000"/>
              <a:t>) e (X</a:t>
            </a:r>
            <a:r>
              <a:rPr lang="pt-BR" sz="2000" baseline="-25000"/>
              <a:t>2</a:t>
            </a:r>
            <a:r>
              <a:rPr lang="pt-BR" sz="2000"/>
              <a:t>,Y</a:t>
            </a:r>
            <a:r>
              <a:rPr lang="pt-BR" sz="2000" baseline="-25000"/>
              <a:t>2</a:t>
            </a:r>
            <a:r>
              <a:rPr lang="pt-BR" sz="2000"/>
              <a:t>).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Exercício</a:t>
            </a:r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524000"/>
            <a:ext cx="7848600" cy="4648200"/>
          </a:xfrm>
        </p:spPr>
        <p:txBody>
          <a:bodyPr/>
          <a:lstStyle/>
          <a:p>
            <a:pPr eaLnBrk="1" hangingPunct="1"/>
            <a:r>
              <a:rPr lang="pt-BR" sz="1800"/>
              <a:t>Determine a equação da reta cujo declive é 3 e passa pelo ponto P</a:t>
            </a:r>
            <a:r>
              <a:rPr lang="pt-BR" sz="1800" baseline="-25000"/>
              <a:t>0</a:t>
            </a:r>
            <a:r>
              <a:rPr lang="pt-BR" sz="1800"/>
              <a:t>(1,5).</a:t>
            </a:r>
          </a:p>
          <a:p>
            <a:pPr eaLnBrk="1" hangingPunct="1"/>
            <a:r>
              <a:rPr lang="pt-BR" sz="1800"/>
              <a:t>Determine a distância entre os pontos cuja as coordenadas são</a:t>
            </a:r>
          </a:p>
          <a:p>
            <a:pPr lvl="1" eaLnBrk="1" hangingPunct="1"/>
            <a:r>
              <a:rPr lang="pt-BR" sz="1800"/>
              <a:t>(5,2) e (7,3); (0,1) e (2,0)</a:t>
            </a:r>
          </a:p>
          <a:p>
            <a:pPr eaLnBrk="1" hangingPunct="1"/>
            <a:r>
              <a:rPr lang="pt-BR" sz="1800"/>
              <a:t>Determine a equação da reta que passa pelos pontos P</a:t>
            </a:r>
            <a:r>
              <a:rPr lang="pt-BR" sz="1800" baseline="-25000"/>
              <a:t>1</a:t>
            </a:r>
            <a:r>
              <a:rPr lang="pt-BR" sz="1800"/>
              <a:t>(2,3) e P</a:t>
            </a:r>
            <a:r>
              <a:rPr lang="pt-BR" sz="1800" baseline="-25000"/>
              <a:t>2</a:t>
            </a:r>
            <a:r>
              <a:rPr lang="pt-BR" sz="1800"/>
              <a:t>(4,-2).</a:t>
            </a:r>
          </a:p>
          <a:p>
            <a:pPr eaLnBrk="1" hangingPunct="1"/>
            <a:r>
              <a:rPr lang="pt-BR" sz="1800"/>
              <a:t>Sejam as equações de uma  reta 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pt-BR" sz="1800"/>
              <a:t>          </a:t>
            </a:r>
          </a:p>
          <a:p>
            <a:pPr eaLnBrk="1" hangingPunct="1">
              <a:buFont typeface="Wingdings" pitchFamily="2" charset="2"/>
              <a:buNone/>
            </a:pPr>
            <a:endParaRPr lang="pt-BR" sz="1800"/>
          </a:p>
          <a:p>
            <a:pPr eaLnBrk="1" hangingPunct="1"/>
            <a:endParaRPr lang="pt-BR" sz="1800"/>
          </a:p>
          <a:p>
            <a:pPr lvl="1" eaLnBrk="1" hangingPunct="1"/>
            <a:r>
              <a:rPr lang="pt-BR" sz="1800"/>
              <a:t>Trace uma reta para todos os valores de t</a:t>
            </a:r>
          </a:p>
          <a:p>
            <a:pPr lvl="1" eaLnBrk="1" hangingPunct="1"/>
            <a:r>
              <a:rPr lang="pt-BR" sz="1800"/>
              <a:t>Trace o segmento de reta no intervalo [0 , 8]</a:t>
            </a:r>
          </a:p>
          <a:p>
            <a:pPr lvl="1" eaLnBrk="1" hangingPunct="1"/>
            <a:r>
              <a:rPr lang="pt-BR" sz="1800"/>
              <a:t>Determine o declive da reta</a:t>
            </a:r>
          </a:p>
          <a:p>
            <a:pPr eaLnBrk="1" hangingPunct="1"/>
            <a:endParaRPr lang="pt-BR" sz="1800"/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/>
        </p:nvGraphicFramePr>
        <p:xfrm>
          <a:off x="2133600" y="3657600"/>
          <a:ext cx="2413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12720" imgH="736560" progId="Equation.DSMT4">
                  <p:embed/>
                </p:oleObj>
              </mc:Choice>
              <mc:Fallback>
                <p:oleObj name="Equation" r:id="rId2" imgW="2412720" imgH="7365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657600"/>
                        <a:ext cx="24130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5549900" cy="865188"/>
          </a:xfrm>
        </p:spPr>
        <p:txBody>
          <a:bodyPr/>
          <a:lstStyle/>
          <a:p>
            <a:pPr eaLnBrk="1" hangingPunct="1"/>
            <a:r>
              <a:rPr lang="en-US"/>
              <a:t>Primitivas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7772400" cy="4530725"/>
          </a:xfrm>
        </p:spPr>
        <p:txBody>
          <a:bodyPr/>
          <a:lstStyle/>
          <a:p>
            <a:pPr eaLnBrk="1" hangingPunct="1"/>
            <a:endParaRPr lang="pt-BR" dirty="0"/>
          </a:p>
          <a:p>
            <a:pPr eaLnBrk="1" hangingPunct="1"/>
            <a:r>
              <a:rPr lang="pt-BR" dirty="0"/>
              <a:t>Retas:</a:t>
            </a:r>
          </a:p>
          <a:p>
            <a:pPr lvl="1" eaLnBrk="1" hangingPunct="1"/>
            <a:endParaRPr lang="pt-BR" dirty="0"/>
          </a:p>
          <a:p>
            <a:pPr lvl="1" eaLnBrk="1" hangingPunct="1"/>
            <a:r>
              <a:rPr lang="pt-BR" sz="2000" dirty="0"/>
              <a:t>A mais comum primitiva 2D </a:t>
            </a:r>
          </a:p>
          <a:p>
            <a:pPr lvl="1" eaLnBrk="1" hangingPunct="1"/>
            <a:r>
              <a:rPr lang="pt-BR" sz="2000" dirty="0"/>
              <a:t>Todo </a:t>
            </a:r>
            <a:r>
              <a:rPr lang="pt-BR" sz="2000" i="1" dirty="0" err="1"/>
              <a:t>wireframes</a:t>
            </a:r>
            <a:r>
              <a:rPr lang="pt-BR" sz="2000" dirty="0"/>
              <a:t>(aramados) 3D são eventualmente retas 2D.</a:t>
            </a:r>
          </a:p>
          <a:p>
            <a:pPr lvl="1" eaLnBrk="1" hangingPunct="1"/>
            <a:endParaRPr lang="pt-BR" sz="2000" dirty="0"/>
          </a:p>
          <a:p>
            <a:pPr lvl="1" eaLnBrk="1" hangingPunct="1"/>
            <a:endParaRPr lang="pt-BR" sz="2000" dirty="0"/>
          </a:p>
          <a:p>
            <a:pPr lvl="1" eaLnBrk="1" hangingPunct="1"/>
            <a:endParaRPr lang="pt-BR" sz="2000" dirty="0"/>
          </a:p>
          <a:p>
            <a:pPr lvl="1" eaLnBrk="1" hangingPunct="1"/>
            <a:r>
              <a:rPr lang="pt-BR" sz="2000" dirty="0"/>
              <a:t>Os algoritmos aperfeiçoados contêm numerosas técnicas e truques que ajudam a projetar algoritmos mais avançados</a:t>
            </a:r>
          </a:p>
        </p:txBody>
      </p:sp>
      <p:pic>
        <p:nvPicPr>
          <p:cNvPr id="10244" name="Picture 4" descr="https://upload.wikimedia.org/wikipedia/commons/thumb/0/06/Wire_frame.svg/200px-Wire_frame.svg.png">
            <a:extLst>
              <a:ext uri="{FF2B5EF4-FFF2-40B4-BE49-F238E27FC236}">
                <a16:creationId xmlns:a16="http://schemas.microsoft.com/office/drawing/2014/main" id="{6D42A0C1-0B47-47F5-BEF1-46F777BEDF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4149080"/>
            <a:ext cx="190500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8077200" cy="1149350"/>
          </a:xfrm>
          <a:noFill/>
        </p:spPr>
        <p:txBody>
          <a:bodyPr lIns="63500" tIns="25400" rIns="63500" bIns="25400" anchor="t">
            <a:spAutoFit/>
          </a:bodyPr>
          <a:lstStyle/>
          <a:p>
            <a:pPr algn="l" eaLnBrk="1" hangingPunct="1"/>
            <a:r>
              <a:rPr lang="pt-BR"/>
              <a:t>Características Desejáveis para Algoritmos de Rasterização da Reta</a:t>
            </a:r>
            <a:endParaRPr lang="en-US"/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7924800" cy="4797425"/>
          </a:xfrm>
          <a:noFill/>
        </p:spPr>
        <p:txBody>
          <a:bodyPr lIns="90487" tIns="44450" rIns="90487" bIns="44450"/>
          <a:lstStyle/>
          <a:p>
            <a:pPr lvl="1" eaLnBrk="1" hangingPunct="1">
              <a:buClr>
                <a:schemeClr val="accent1"/>
              </a:buClr>
            </a:pPr>
            <a:r>
              <a:rPr lang="pt-BR" b="1"/>
              <a:t>linearidade</a:t>
            </a:r>
            <a:r>
              <a:rPr lang="pt-BR"/>
              <a:t> - </a:t>
            </a:r>
            <a:r>
              <a:rPr lang="pt-BR" sz="2000"/>
              <a:t>Os </a:t>
            </a:r>
            <a:r>
              <a:rPr lang="pt-BR" sz="2000" i="1"/>
              <a:t>pixels</a:t>
            </a:r>
            <a:r>
              <a:rPr lang="pt-BR" sz="2000"/>
              <a:t> traçados devem dar a aparência de que estão sobre uma reta. </a:t>
            </a:r>
          </a:p>
          <a:p>
            <a:pPr lvl="1" eaLnBrk="1" hangingPunct="1">
              <a:buClr>
                <a:schemeClr val="accent1"/>
              </a:buClr>
            </a:pPr>
            <a:r>
              <a:rPr lang="pt-BR" b="1"/>
              <a:t>Espessura (densidade) uniforme</a:t>
            </a:r>
            <a:r>
              <a:rPr lang="pt-BR"/>
              <a:t> - </a:t>
            </a:r>
            <a:r>
              <a:rPr lang="pt-BR" sz="2000"/>
              <a:t>A densidade da reta é dada pelo </a:t>
            </a:r>
            <a:r>
              <a:rPr lang="pt-BR" sz="2000" u="sng"/>
              <a:t>número de </a:t>
            </a:r>
            <a:r>
              <a:rPr lang="pt-BR" sz="2000" i="1" u="sng"/>
              <a:t>pixels</a:t>
            </a:r>
            <a:r>
              <a:rPr lang="pt-BR" sz="2000" u="sng"/>
              <a:t> traçados dividido pelo comprimento da reta</a:t>
            </a:r>
            <a:r>
              <a:rPr lang="pt-BR" sz="2000"/>
              <a:t>. Para manter a densidade constante, os pixels devem ser igualmente espaçados. A imagem do segmento de reta  não deve variar de intensidade ou espessura ao longo de sua extensão.</a:t>
            </a:r>
            <a:r>
              <a:rPr lang="pt-BR"/>
              <a:t> </a:t>
            </a:r>
            <a:endParaRPr lang="pt-BR" sz="1800"/>
          </a:p>
          <a:p>
            <a:pPr lvl="1" eaLnBrk="1" hangingPunct="1"/>
            <a:endParaRPr lang="en-US" sz="1800"/>
          </a:p>
          <a:p>
            <a:pPr lvl="1" eaLnBrk="1" hangingPunct="1">
              <a:buFont typeface="Wingdings" pitchFamily="2" charset="2"/>
              <a:buNone/>
            </a:pPr>
            <a:endParaRPr lang="en-US" sz="1800"/>
          </a:p>
        </p:txBody>
      </p:sp>
      <p:grpSp>
        <p:nvGrpSpPr>
          <p:cNvPr id="15365" name="Group 4"/>
          <p:cNvGrpSpPr>
            <a:grpSpLocks/>
          </p:cNvGrpSpPr>
          <p:nvPr/>
        </p:nvGrpSpPr>
        <p:grpSpPr bwMode="auto">
          <a:xfrm>
            <a:off x="1447800" y="4876800"/>
            <a:ext cx="1309688" cy="1309688"/>
            <a:chOff x="958" y="3060"/>
            <a:chExt cx="825" cy="825"/>
          </a:xfrm>
        </p:grpSpPr>
        <p:sp>
          <p:nvSpPr>
            <p:cNvPr id="15500" name="Rectangle 5"/>
            <p:cNvSpPr>
              <a:spLocks noChangeArrowheads="1"/>
            </p:cNvSpPr>
            <p:nvPr/>
          </p:nvSpPr>
          <p:spPr bwMode="auto">
            <a:xfrm>
              <a:off x="1115" y="3426"/>
              <a:ext cx="92" cy="94"/>
            </a:xfrm>
            <a:prstGeom prst="rect">
              <a:avLst/>
            </a:prstGeom>
            <a:noFill/>
            <a:ln w="12700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01" name="Rectangle 6"/>
            <p:cNvSpPr>
              <a:spLocks noChangeArrowheads="1"/>
            </p:cNvSpPr>
            <p:nvPr/>
          </p:nvSpPr>
          <p:spPr bwMode="auto">
            <a:xfrm>
              <a:off x="958" y="3060"/>
              <a:ext cx="93" cy="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02" name="Rectangle 7"/>
            <p:cNvSpPr>
              <a:spLocks noChangeArrowheads="1"/>
            </p:cNvSpPr>
            <p:nvPr/>
          </p:nvSpPr>
          <p:spPr bwMode="auto">
            <a:xfrm>
              <a:off x="958" y="3166"/>
              <a:ext cx="93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03" name="Rectangle 8"/>
            <p:cNvSpPr>
              <a:spLocks noChangeArrowheads="1"/>
            </p:cNvSpPr>
            <p:nvPr/>
          </p:nvSpPr>
          <p:spPr bwMode="auto">
            <a:xfrm>
              <a:off x="958" y="3269"/>
              <a:ext cx="93" cy="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04" name="Rectangle 9"/>
            <p:cNvSpPr>
              <a:spLocks noChangeArrowheads="1"/>
            </p:cNvSpPr>
            <p:nvPr/>
          </p:nvSpPr>
          <p:spPr bwMode="auto">
            <a:xfrm>
              <a:off x="958" y="3375"/>
              <a:ext cx="93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05" name="Rectangle 10"/>
            <p:cNvSpPr>
              <a:spLocks noChangeArrowheads="1"/>
            </p:cNvSpPr>
            <p:nvPr/>
          </p:nvSpPr>
          <p:spPr bwMode="auto">
            <a:xfrm>
              <a:off x="958" y="3479"/>
              <a:ext cx="93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06" name="Rectangle 11"/>
            <p:cNvSpPr>
              <a:spLocks noChangeArrowheads="1"/>
            </p:cNvSpPr>
            <p:nvPr/>
          </p:nvSpPr>
          <p:spPr bwMode="auto">
            <a:xfrm>
              <a:off x="958" y="3583"/>
              <a:ext cx="93" cy="9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07" name="Rectangle 12"/>
            <p:cNvSpPr>
              <a:spLocks noChangeArrowheads="1"/>
            </p:cNvSpPr>
            <p:nvPr/>
          </p:nvSpPr>
          <p:spPr bwMode="auto">
            <a:xfrm>
              <a:off x="958" y="3688"/>
              <a:ext cx="93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08" name="Rectangle 13"/>
            <p:cNvSpPr>
              <a:spLocks noChangeArrowheads="1"/>
            </p:cNvSpPr>
            <p:nvPr/>
          </p:nvSpPr>
          <p:spPr bwMode="auto">
            <a:xfrm>
              <a:off x="958" y="3793"/>
              <a:ext cx="93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09" name="Rectangle 14"/>
            <p:cNvSpPr>
              <a:spLocks noChangeArrowheads="1"/>
            </p:cNvSpPr>
            <p:nvPr/>
          </p:nvSpPr>
          <p:spPr bwMode="auto">
            <a:xfrm>
              <a:off x="1064" y="3060"/>
              <a:ext cx="92" cy="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10" name="Rectangle 15"/>
            <p:cNvSpPr>
              <a:spLocks noChangeArrowheads="1"/>
            </p:cNvSpPr>
            <p:nvPr/>
          </p:nvSpPr>
          <p:spPr bwMode="auto">
            <a:xfrm>
              <a:off x="1064" y="3166"/>
              <a:ext cx="92" cy="9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11" name="Rectangle 16"/>
            <p:cNvSpPr>
              <a:spLocks noChangeArrowheads="1"/>
            </p:cNvSpPr>
            <p:nvPr/>
          </p:nvSpPr>
          <p:spPr bwMode="auto">
            <a:xfrm>
              <a:off x="1064" y="3269"/>
              <a:ext cx="92" cy="93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12" name="Rectangle 17"/>
            <p:cNvSpPr>
              <a:spLocks noChangeArrowheads="1"/>
            </p:cNvSpPr>
            <p:nvPr/>
          </p:nvSpPr>
          <p:spPr bwMode="auto">
            <a:xfrm>
              <a:off x="1064" y="3375"/>
              <a:ext cx="92" cy="9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13" name="Rectangle 18"/>
            <p:cNvSpPr>
              <a:spLocks noChangeArrowheads="1"/>
            </p:cNvSpPr>
            <p:nvPr/>
          </p:nvSpPr>
          <p:spPr bwMode="auto">
            <a:xfrm>
              <a:off x="1064" y="3583"/>
              <a:ext cx="92" cy="94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14" name="Rectangle 19"/>
            <p:cNvSpPr>
              <a:spLocks noChangeArrowheads="1"/>
            </p:cNvSpPr>
            <p:nvPr/>
          </p:nvSpPr>
          <p:spPr bwMode="auto">
            <a:xfrm>
              <a:off x="1064" y="3688"/>
              <a:ext cx="92" cy="9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15" name="Rectangle 20"/>
            <p:cNvSpPr>
              <a:spLocks noChangeArrowheads="1"/>
            </p:cNvSpPr>
            <p:nvPr/>
          </p:nvSpPr>
          <p:spPr bwMode="auto">
            <a:xfrm>
              <a:off x="1064" y="3793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16" name="Rectangle 21"/>
            <p:cNvSpPr>
              <a:spLocks noChangeArrowheads="1"/>
            </p:cNvSpPr>
            <p:nvPr/>
          </p:nvSpPr>
          <p:spPr bwMode="auto">
            <a:xfrm>
              <a:off x="1167" y="3060"/>
              <a:ext cx="93" cy="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17" name="Rectangle 22"/>
            <p:cNvSpPr>
              <a:spLocks noChangeArrowheads="1"/>
            </p:cNvSpPr>
            <p:nvPr/>
          </p:nvSpPr>
          <p:spPr bwMode="auto">
            <a:xfrm>
              <a:off x="1167" y="3166"/>
              <a:ext cx="93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18" name="Rectangle 23"/>
            <p:cNvSpPr>
              <a:spLocks noChangeArrowheads="1"/>
            </p:cNvSpPr>
            <p:nvPr/>
          </p:nvSpPr>
          <p:spPr bwMode="auto">
            <a:xfrm>
              <a:off x="1167" y="3269"/>
              <a:ext cx="93" cy="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19" name="Rectangle 24"/>
            <p:cNvSpPr>
              <a:spLocks noChangeArrowheads="1"/>
            </p:cNvSpPr>
            <p:nvPr/>
          </p:nvSpPr>
          <p:spPr bwMode="auto">
            <a:xfrm>
              <a:off x="1064" y="3479"/>
              <a:ext cx="92" cy="9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20" name="Rectangle 25"/>
            <p:cNvSpPr>
              <a:spLocks noChangeArrowheads="1"/>
            </p:cNvSpPr>
            <p:nvPr/>
          </p:nvSpPr>
          <p:spPr bwMode="auto">
            <a:xfrm>
              <a:off x="1167" y="3479"/>
              <a:ext cx="93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21" name="Rectangle 26"/>
            <p:cNvSpPr>
              <a:spLocks noChangeArrowheads="1"/>
            </p:cNvSpPr>
            <p:nvPr/>
          </p:nvSpPr>
          <p:spPr bwMode="auto">
            <a:xfrm>
              <a:off x="1167" y="3583"/>
              <a:ext cx="93" cy="9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22" name="Rectangle 27"/>
            <p:cNvSpPr>
              <a:spLocks noChangeArrowheads="1"/>
            </p:cNvSpPr>
            <p:nvPr/>
          </p:nvSpPr>
          <p:spPr bwMode="auto">
            <a:xfrm>
              <a:off x="1167" y="3688"/>
              <a:ext cx="93" cy="9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23" name="Rectangle 28"/>
            <p:cNvSpPr>
              <a:spLocks noChangeArrowheads="1"/>
            </p:cNvSpPr>
            <p:nvPr/>
          </p:nvSpPr>
          <p:spPr bwMode="auto">
            <a:xfrm>
              <a:off x="1167" y="3793"/>
              <a:ext cx="93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24" name="Rectangle 29"/>
            <p:cNvSpPr>
              <a:spLocks noChangeArrowheads="1"/>
            </p:cNvSpPr>
            <p:nvPr/>
          </p:nvSpPr>
          <p:spPr bwMode="auto">
            <a:xfrm>
              <a:off x="1273" y="3060"/>
              <a:ext cx="92" cy="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25" name="Rectangle 30"/>
            <p:cNvSpPr>
              <a:spLocks noChangeArrowheads="1"/>
            </p:cNvSpPr>
            <p:nvPr/>
          </p:nvSpPr>
          <p:spPr bwMode="auto">
            <a:xfrm>
              <a:off x="1273" y="3166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26" name="Rectangle 31"/>
            <p:cNvSpPr>
              <a:spLocks noChangeArrowheads="1"/>
            </p:cNvSpPr>
            <p:nvPr/>
          </p:nvSpPr>
          <p:spPr bwMode="auto">
            <a:xfrm>
              <a:off x="1273" y="3269"/>
              <a:ext cx="92" cy="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27" name="Rectangle 32"/>
            <p:cNvSpPr>
              <a:spLocks noChangeArrowheads="1"/>
            </p:cNvSpPr>
            <p:nvPr/>
          </p:nvSpPr>
          <p:spPr bwMode="auto">
            <a:xfrm>
              <a:off x="1273" y="3375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28" name="Rectangle 33"/>
            <p:cNvSpPr>
              <a:spLocks noChangeArrowheads="1"/>
            </p:cNvSpPr>
            <p:nvPr/>
          </p:nvSpPr>
          <p:spPr bwMode="auto">
            <a:xfrm>
              <a:off x="1273" y="3479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29" name="Rectangle 34"/>
            <p:cNvSpPr>
              <a:spLocks noChangeArrowheads="1"/>
            </p:cNvSpPr>
            <p:nvPr/>
          </p:nvSpPr>
          <p:spPr bwMode="auto">
            <a:xfrm>
              <a:off x="1273" y="3583"/>
              <a:ext cx="92" cy="9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30" name="Rectangle 35"/>
            <p:cNvSpPr>
              <a:spLocks noChangeArrowheads="1"/>
            </p:cNvSpPr>
            <p:nvPr/>
          </p:nvSpPr>
          <p:spPr bwMode="auto">
            <a:xfrm>
              <a:off x="1273" y="3688"/>
              <a:ext cx="92" cy="9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31" name="Rectangle 36"/>
            <p:cNvSpPr>
              <a:spLocks noChangeArrowheads="1"/>
            </p:cNvSpPr>
            <p:nvPr/>
          </p:nvSpPr>
          <p:spPr bwMode="auto">
            <a:xfrm>
              <a:off x="1273" y="3793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32" name="Rectangle 37"/>
            <p:cNvSpPr>
              <a:spLocks noChangeArrowheads="1"/>
            </p:cNvSpPr>
            <p:nvPr/>
          </p:nvSpPr>
          <p:spPr bwMode="auto">
            <a:xfrm>
              <a:off x="1377" y="3060"/>
              <a:ext cx="92" cy="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33" name="Rectangle 38"/>
            <p:cNvSpPr>
              <a:spLocks noChangeArrowheads="1"/>
            </p:cNvSpPr>
            <p:nvPr/>
          </p:nvSpPr>
          <p:spPr bwMode="auto">
            <a:xfrm>
              <a:off x="1377" y="3166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34" name="Rectangle 39"/>
            <p:cNvSpPr>
              <a:spLocks noChangeArrowheads="1"/>
            </p:cNvSpPr>
            <p:nvPr/>
          </p:nvSpPr>
          <p:spPr bwMode="auto">
            <a:xfrm>
              <a:off x="1377" y="3269"/>
              <a:ext cx="92" cy="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35" name="Rectangle 40"/>
            <p:cNvSpPr>
              <a:spLocks noChangeArrowheads="1"/>
            </p:cNvSpPr>
            <p:nvPr/>
          </p:nvSpPr>
          <p:spPr bwMode="auto">
            <a:xfrm>
              <a:off x="1377" y="3375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36" name="Rectangle 41"/>
            <p:cNvSpPr>
              <a:spLocks noChangeArrowheads="1"/>
            </p:cNvSpPr>
            <p:nvPr/>
          </p:nvSpPr>
          <p:spPr bwMode="auto">
            <a:xfrm>
              <a:off x="1377" y="3479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37" name="Rectangle 42"/>
            <p:cNvSpPr>
              <a:spLocks noChangeArrowheads="1"/>
            </p:cNvSpPr>
            <p:nvPr/>
          </p:nvSpPr>
          <p:spPr bwMode="auto">
            <a:xfrm>
              <a:off x="1377" y="3583"/>
              <a:ext cx="92" cy="9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38" name="Rectangle 43"/>
            <p:cNvSpPr>
              <a:spLocks noChangeArrowheads="1"/>
            </p:cNvSpPr>
            <p:nvPr/>
          </p:nvSpPr>
          <p:spPr bwMode="auto">
            <a:xfrm>
              <a:off x="1377" y="3688"/>
              <a:ext cx="92" cy="9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39" name="Rectangle 44"/>
            <p:cNvSpPr>
              <a:spLocks noChangeArrowheads="1"/>
            </p:cNvSpPr>
            <p:nvPr/>
          </p:nvSpPr>
          <p:spPr bwMode="auto">
            <a:xfrm>
              <a:off x="1377" y="3793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40" name="Rectangle 45"/>
            <p:cNvSpPr>
              <a:spLocks noChangeArrowheads="1"/>
            </p:cNvSpPr>
            <p:nvPr/>
          </p:nvSpPr>
          <p:spPr bwMode="auto">
            <a:xfrm>
              <a:off x="1481" y="3060"/>
              <a:ext cx="94" cy="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41" name="Rectangle 46"/>
            <p:cNvSpPr>
              <a:spLocks noChangeArrowheads="1"/>
            </p:cNvSpPr>
            <p:nvPr/>
          </p:nvSpPr>
          <p:spPr bwMode="auto">
            <a:xfrm>
              <a:off x="1481" y="3166"/>
              <a:ext cx="94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42" name="Rectangle 47"/>
            <p:cNvSpPr>
              <a:spLocks noChangeArrowheads="1"/>
            </p:cNvSpPr>
            <p:nvPr/>
          </p:nvSpPr>
          <p:spPr bwMode="auto">
            <a:xfrm>
              <a:off x="1481" y="3269"/>
              <a:ext cx="94" cy="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43" name="Rectangle 48"/>
            <p:cNvSpPr>
              <a:spLocks noChangeArrowheads="1"/>
            </p:cNvSpPr>
            <p:nvPr/>
          </p:nvSpPr>
          <p:spPr bwMode="auto">
            <a:xfrm>
              <a:off x="1481" y="3375"/>
              <a:ext cx="94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44" name="Rectangle 49"/>
            <p:cNvSpPr>
              <a:spLocks noChangeArrowheads="1"/>
            </p:cNvSpPr>
            <p:nvPr/>
          </p:nvSpPr>
          <p:spPr bwMode="auto">
            <a:xfrm>
              <a:off x="1481" y="3479"/>
              <a:ext cx="94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45" name="Rectangle 50"/>
            <p:cNvSpPr>
              <a:spLocks noChangeArrowheads="1"/>
            </p:cNvSpPr>
            <p:nvPr/>
          </p:nvSpPr>
          <p:spPr bwMode="auto">
            <a:xfrm>
              <a:off x="1481" y="3583"/>
              <a:ext cx="94" cy="9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46" name="Rectangle 51"/>
            <p:cNvSpPr>
              <a:spLocks noChangeArrowheads="1"/>
            </p:cNvSpPr>
            <p:nvPr/>
          </p:nvSpPr>
          <p:spPr bwMode="auto">
            <a:xfrm>
              <a:off x="1481" y="3688"/>
              <a:ext cx="94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47" name="Rectangle 52"/>
            <p:cNvSpPr>
              <a:spLocks noChangeArrowheads="1"/>
            </p:cNvSpPr>
            <p:nvPr/>
          </p:nvSpPr>
          <p:spPr bwMode="auto">
            <a:xfrm>
              <a:off x="1481" y="3793"/>
              <a:ext cx="94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48" name="Rectangle 53"/>
            <p:cNvSpPr>
              <a:spLocks noChangeArrowheads="1"/>
            </p:cNvSpPr>
            <p:nvPr/>
          </p:nvSpPr>
          <p:spPr bwMode="auto">
            <a:xfrm>
              <a:off x="1586" y="3060"/>
              <a:ext cx="92" cy="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49" name="Rectangle 54"/>
            <p:cNvSpPr>
              <a:spLocks noChangeArrowheads="1"/>
            </p:cNvSpPr>
            <p:nvPr/>
          </p:nvSpPr>
          <p:spPr bwMode="auto">
            <a:xfrm>
              <a:off x="1586" y="3166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50" name="Rectangle 55"/>
            <p:cNvSpPr>
              <a:spLocks noChangeArrowheads="1"/>
            </p:cNvSpPr>
            <p:nvPr/>
          </p:nvSpPr>
          <p:spPr bwMode="auto">
            <a:xfrm>
              <a:off x="1586" y="3269"/>
              <a:ext cx="92" cy="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51" name="Rectangle 56"/>
            <p:cNvSpPr>
              <a:spLocks noChangeArrowheads="1"/>
            </p:cNvSpPr>
            <p:nvPr/>
          </p:nvSpPr>
          <p:spPr bwMode="auto">
            <a:xfrm>
              <a:off x="1586" y="3375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52" name="Rectangle 57"/>
            <p:cNvSpPr>
              <a:spLocks noChangeArrowheads="1"/>
            </p:cNvSpPr>
            <p:nvPr/>
          </p:nvSpPr>
          <p:spPr bwMode="auto">
            <a:xfrm>
              <a:off x="1586" y="3479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53" name="Rectangle 58"/>
            <p:cNvSpPr>
              <a:spLocks noChangeArrowheads="1"/>
            </p:cNvSpPr>
            <p:nvPr/>
          </p:nvSpPr>
          <p:spPr bwMode="auto">
            <a:xfrm>
              <a:off x="1586" y="3583"/>
              <a:ext cx="92" cy="9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54" name="Rectangle 59"/>
            <p:cNvSpPr>
              <a:spLocks noChangeArrowheads="1"/>
            </p:cNvSpPr>
            <p:nvPr/>
          </p:nvSpPr>
          <p:spPr bwMode="auto">
            <a:xfrm>
              <a:off x="1586" y="3688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55" name="Rectangle 60"/>
            <p:cNvSpPr>
              <a:spLocks noChangeArrowheads="1"/>
            </p:cNvSpPr>
            <p:nvPr/>
          </p:nvSpPr>
          <p:spPr bwMode="auto">
            <a:xfrm>
              <a:off x="1586" y="3793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56" name="Rectangle 61"/>
            <p:cNvSpPr>
              <a:spLocks noChangeArrowheads="1"/>
            </p:cNvSpPr>
            <p:nvPr/>
          </p:nvSpPr>
          <p:spPr bwMode="auto">
            <a:xfrm>
              <a:off x="1691" y="3060"/>
              <a:ext cx="92" cy="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57" name="Rectangle 62"/>
            <p:cNvSpPr>
              <a:spLocks noChangeArrowheads="1"/>
            </p:cNvSpPr>
            <p:nvPr/>
          </p:nvSpPr>
          <p:spPr bwMode="auto">
            <a:xfrm>
              <a:off x="1691" y="3166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58" name="Rectangle 63"/>
            <p:cNvSpPr>
              <a:spLocks noChangeArrowheads="1"/>
            </p:cNvSpPr>
            <p:nvPr/>
          </p:nvSpPr>
          <p:spPr bwMode="auto">
            <a:xfrm>
              <a:off x="1691" y="3269"/>
              <a:ext cx="92" cy="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59" name="Rectangle 64"/>
            <p:cNvSpPr>
              <a:spLocks noChangeArrowheads="1"/>
            </p:cNvSpPr>
            <p:nvPr/>
          </p:nvSpPr>
          <p:spPr bwMode="auto">
            <a:xfrm>
              <a:off x="1691" y="3375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60" name="Rectangle 65"/>
            <p:cNvSpPr>
              <a:spLocks noChangeArrowheads="1"/>
            </p:cNvSpPr>
            <p:nvPr/>
          </p:nvSpPr>
          <p:spPr bwMode="auto">
            <a:xfrm>
              <a:off x="1691" y="3479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61" name="Rectangle 66"/>
            <p:cNvSpPr>
              <a:spLocks noChangeArrowheads="1"/>
            </p:cNvSpPr>
            <p:nvPr/>
          </p:nvSpPr>
          <p:spPr bwMode="auto">
            <a:xfrm>
              <a:off x="1691" y="3583"/>
              <a:ext cx="92" cy="9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62" name="Rectangle 67"/>
            <p:cNvSpPr>
              <a:spLocks noChangeArrowheads="1"/>
            </p:cNvSpPr>
            <p:nvPr/>
          </p:nvSpPr>
          <p:spPr bwMode="auto">
            <a:xfrm>
              <a:off x="1691" y="3688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63" name="Rectangle 68"/>
            <p:cNvSpPr>
              <a:spLocks noChangeArrowheads="1"/>
            </p:cNvSpPr>
            <p:nvPr/>
          </p:nvSpPr>
          <p:spPr bwMode="auto">
            <a:xfrm>
              <a:off x="1691" y="3793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5366" name="Group 69"/>
          <p:cNvGrpSpPr>
            <a:grpSpLocks/>
          </p:cNvGrpSpPr>
          <p:nvPr/>
        </p:nvGrpSpPr>
        <p:grpSpPr bwMode="auto">
          <a:xfrm>
            <a:off x="5105400" y="4800600"/>
            <a:ext cx="1309688" cy="1309688"/>
            <a:chOff x="3118" y="3055"/>
            <a:chExt cx="825" cy="825"/>
          </a:xfrm>
        </p:grpSpPr>
        <p:sp>
          <p:nvSpPr>
            <p:cNvPr id="15436" name="Rectangle 70"/>
            <p:cNvSpPr>
              <a:spLocks noChangeArrowheads="1"/>
            </p:cNvSpPr>
            <p:nvPr/>
          </p:nvSpPr>
          <p:spPr bwMode="auto">
            <a:xfrm>
              <a:off x="3118" y="3055"/>
              <a:ext cx="93" cy="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37" name="Rectangle 71"/>
            <p:cNvSpPr>
              <a:spLocks noChangeArrowheads="1"/>
            </p:cNvSpPr>
            <p:nvPr/>
          </p:nvSpPr>
          <p:spPr bwMode="auto">
            <a:xfrm>
              <a:off x="3118" y="3161"/>
              <a:ext cx="93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38" name="Rectangle 72"/>
            <p:cNvSpPr>
              <a:spLocks noChangeArrowheads="1"/>
            </p:cNvSpPr>
            <p:nvPr/>
          </p:nvSpPr>
          <p:spPr bwMode="auto">
            <a:xfrm>
              <a:off x="3118" y="3264"/>
              <a:ext cx="93" cy="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39" name="Rectangle 73"/>
            <p:cNvSpPr>
              <a:spLocks noChangeArrowheads="1"/>
            </p:cNvSpPr>
            <p:nvPr/>
          </p:nvSpPr>
          <p:spPr bwMode="auto">
            <a:xfrm>
              <a:off x="3118" y="3370"/>
              <a:ext cx="93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40" name="Rectangle 74"/>
            <p:cNvSpPr>
              <a:spLocks noChangeArrowheads="1"/>
            </p:cNvSpPr>
            <p:nvPr/>
          </p:nvSpPr>
          <p:spPr bwMode="auto">
            <a:xfrm>
              <a:off x="3118" y="3474"/>
              <a:ext cx="93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41" name="Rectangle 75"/>
            <p:cNvSpPr>
              <a:spLocks noChangeArrowheads="1"/>
            </p:cNvSpPr>
            <p:nvPr/>
          </p:nvSpPr>
          <p:spPr bwMode="auto">
            <a:xfrm>
              <a:off x="3118" y="3578"/>
              <a:ext cx="93" cy="9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42" name="Rectangle 76"/>
            <p:cNvSpPr>
              <a:spLocks noChangeArrowheads="1"/>
            </p:cNvSpPr>
            <p:nvPr/>
          </p:nvSpPr>
          <p:spPr bwMode="auto">
            <a:xfrm>
              <a:off x="3118" y="3683"/>
              <a:ext cx="93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43" name="Rectangle 77"/>
            <p:cNvSpPr>
              <a:spLocks noChangeArrowheads="1"/>
            </p:cNvSpPr>
            <p:nvPr/>
          </p:nvSpPr>
          <p:spPr bwMode="auto">
            <a:xfrm>
              <a:off x="3118" y="3788"/>
              <a:ext cx="93" cy="9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44" name="Rectangle 78"/>
            <p:cNvSpPr>
              <a:spLocks noChangeArrowheads="1"/>
            </p:cNvSpPr>
            <p:nvPr/>
          </p:nvSpPr>
          <p:spPr bwMode="auto">
            <a:xfrm>
              <a:off x="3224" y="3055"/>
              <a:ext cx="92" cy="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45" name="Rectangle 79"/>
            <p:cNvSpPr>
              <a:spLocks noChangeArrowheads="1"/>
            </p:cNvSpPr>
            <p:nvPr/>
          </p:nvSpPr>
          <p:spPr bwMode="auto">
            <a:xfrm>
              <a:off x="3224" y="3161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46" name="Rectangle 80"/>
            <p:cNvSpPr>
              <a:spLocks noChangeArrowheads="1"/>
            </p:cNvSpPr>
            <p:nvPr/>
          </p:nvSpPr>
          <p:spPr bwMode="auto">
            <a:xfrm>
              <a:off x="3224" y="3264"/>
              <a:ext cx="92" cy="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47" name="Rectangle 81"/>
            <p:cNvSpPr>
              <a:spLocks noChangeArrowheads="1"/>
            </p:cNvSpPr>
            <p:nvPr/>
          </p:nvSpPr>
          <p:spPr bwMode="auto">
            <a:xfrm>
              <a:off x="3224" y="3370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48" name="Rectangle 82"/>
            <p:cNvSpPr>
              <a:spLocks noChangeArrowheads="1"/>
            </p:cNvSpPr>
            <p:nvPr/>
          </p:nvSpPr>
          <p:spPr bwMode="auto">
            <a:xfrm>
              <a:off x="3224" y="3474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49" name="Rectangle 83"/>
            <p:cNvSpPr>
              <a:spLocks noChangeArrowheads="1"/>
            </p:cNvSpPr>
            <p:nvPr/>
          </p:nvSpPr>
          <p:spPr bwMode="auto">
            <a:xfrm>
              <a:off x="3224" y="3578"/>
              <a:ext cx="92" cy="9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50" name="Rectangle 84"/>
            <p:cNvSpPr>
              <a:spLocks noChangeArrowheads="1"/>
            </p:cNvSpPr>
            <p:nvPr/>
          </p:nvSpPr>
          <p:spPr bwMode="auto">
            <a:xfrm>
              <a:off x="3224" y="3683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51" name="Rectangle 85"/>
            <p:cNvSpPr>
              <a:spLocks noChangeArrowheads="1"/>
            </p:cNvSpPr>
            <p:nvPr/>
          </p:nvSpPr>
          <p:spPr bwMode="auto">
            <a:xfrm>
              <a:off x="3224" y="3788"/>
              <a:ext cx="92" cy="9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52" name="Rectangle 86"/>
            <p:cNvSpPr>
              <a:spLocks noChangeArrowheads="1"/>
            </p:cNvSpPr>
            <p:nvPr/>
          </p:nvSpPr>
          <p:spPr bwMode="auto">
            <a:xfrm>
              <a:off x="3327" y="3055"/>
              <a:ext cx="93" cy="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53" name="Rectangle 87"/>
            <p:cNvSpPr>
              <a:spLocks noChangeArrowheads="1"/>
            </p:cNvSpPr>
            <p:nvPr/>
          </p:nvSpPr>
          <p:spPr bwMode="auto">
            <a:xfrm>
              <a:off x="3327" y="3161"/>
              <a:ext cx="93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54" name="Rectangle 88"/>
            <p:cNvSpPr>
              <a:spLocks noChangeArrowheads="1"/>
            </p:cNvSpPr>
            <p:nvPr/>
          </p:nvSpPr>
          <p:spPr bwMode="auto">
            <a:xfrm>
              <a:off x="3327" y="3264"/>
              <a:ext cx="93" cy="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55" name="Rectangle 89"/>
            <p:cNvSpPr>
              <a:spLocks noChangeArrowheads="1"/>
            </p:cNvSpPr>
            <p:nvPr/>
          </p:nvSpPr>
          <p:spPr bwMode="auto">
            <a:xfrm>
              <a:off x="3327" y="3370"/>
              <a:ext cx="93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56" name="Rectangle 90"/>
            <p:cNvSpPr>
              <a:spLocks noChangeArrowheads="1"/>
            </p:cNvSpPr>
            <p:nvPr/>
          </p:nvSpPr>
          <p:spPr bwMode="auto">
            <a:xfrm>
              <a:off x="3327" y="3474"/>
              <a:ext cx="93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57" name="Rectangle 91"/>
            <p:cNvSpPr>
              <a:spLocks noChangeArrowheads="1"/>
            </p:cNvSpPr>
            <p:nvPr/>
          </p:nvSpPr>
          <p:spPr bwMode="auto">
            <a:xfrm>
              <a:off x="3327" y="3578"/>
              <a:ext cx="93" cy="9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58" name="Rectangle 92"/>
            <p:cNvSpPr>
              <a:spLocks noChangeArrowheads="1"/>
            </p:cNvSpPr>
            <p:nvPr/>
          </p:nvSpPr>
          <p:spPr bwMode="auto">
            <a:xfrm>
              <a:off x="3327" y="3683"/>
              <a:ext cx="93" cy="9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59" name="Rectangle 93"/>
            <p:cNvSpPr>
              <a:spLocks noChangeArrowheads="1"/>
            </p:cNvSpPr>
            <p:nvPr/>
          </p:nvSpPr>
          <p:spPr bwMode="auto">
            <a:xfrm>
              <a:off x="3327" y="3788"/>
              <a:ext cx="93" cy="9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60" name="Rectangle 94"/>
            <p:cNvSpPr>
              <a:spLocks noChangeArrowheads="1"/>
            </p:cNvSpPr>
            <p:nvPr/>
          </p:nvSpPr>
          <p:spPr bwMode="auto">
            <a:xfrm>
              <a:off x="3433" y="3055"/>
              <a:ext cx="92" cy="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61" name="Rectangle 95"/>
            <p:cNvSpPr>
              <a:spLocks noChangeArrowheads="1"/>
            </p:cNvSpPr>
            <p:nvPr/>
          </p:nvSpPr>
          <p:spPr bwMode="auto">
            <a:xfrm>
              <a:off x="3433" y="3161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62" name="Rectangle 96"/>
            <p:cNvSpPr>
              <a:spLocks noChangeArrowheads="1"/>
            </p:cNvSpPr>
            <p:nvPr/>
          </p:nvSpPr>
          <p:spPr bwMode="auto">
            <a:xfrm>
              <a:off x="3433" y="3264"/>
              <a:ext cx="92" cy="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63" name="Rectangle 97"/>
            <p:cNvSpPr>
              <a:spLocks noChangeArrowheads="1"/>
            </p:cNvSpPr>
            <p:nvPr/>
          </p:nvSpPr>
          <p:spPr bwMode="auto">
            <a:xfrm>
              <a:off x="3433" y="3370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64" name="Rectangle 98"/>
            <p:cNvSpPr>
              <a:spLocks noChangeArrowheads="1"/>
            </p:cNvSpPr>
            <p:nvPr/>
          </p:nvSpPr>
          <p:spPr bwMode="auto">
            <a:xfrm>
              <a:off x="3433" y="3474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65" name="Rectangle 99"/>
            <p:cNvSpPr>
              <a:spLocks noChangeArrowheads="1"/>
            </p:cNvSpPr>
            <p:nvPr/>
          </p:nvSpPr>
          <p:spPr bwMode="auto">
            <a:xfrm>
              <a:off x="3433" y="3578"/>
              <a:ext cx="92" cy="9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66" name="Rectangle 100"/>
            <p:cNvSpPr>
              <a:spLocks noChangeArrowheads="1"/>
            </p:cNvSpPr>
            <p:nvPr/>
          </p:nvSpPr>
          <p:spPr bwMode="auto">
            <a:xfrm>
              <a:off x="3433" y="3683"/>
              <a:ext cx="92" cy="9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67" name="Rectangle 101"/>
            <p:cNvSpPr>
              <a:spLocks noChangeArrowheads="1"/>
            </p:cNvSpPr>
            <p:nvPr/>
          </p:nvSpPr>
          <p:spPr bwMode="auto">
            <a:xfrm>
              <a:off x="3433" y="3788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68" name="Rectangle 102"/>
            <p:cNvSpPr>
              <a:spLocks noChangeArrowheads="1"/>
            </p:cNvSpPr>
            <p:nvPr/>
          </p:nvSpPr>
          <p:spPr bwMode="auto">
            <a:xfrm>
              <a:off x="3537" y="3055"/>
              <a:ext cx="92" cy="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69" name="Rectangle 103"/>
            <p:cNvSpPr>
              <a:spLocks noChangeArrowheads="1"/>
            </p:cNvSpPr>
            <p:nvPr/>
          </p:nvSpPr>
          <p:spPr bwMode="auto">
            <a:xfrm>
              <a:off x="3537" y="3161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70" name="Rectangle 104"/>
            <p:cNvSpPr>
              <a:spLocks noChangeArrowheads="1"/>
            </p:cNvSpPr>
            <p:nvPr/>
          </p:nvSpPr>
          <p:spPr bwMode="auto">
            <a:xfrm>
              <a:off x="3537" y="3264"/>
              <a:ext cx="92" cy="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71" name="Rectangle 105"/>
            <p:cNvSpPr>
              <a:spLocks noChangeArrowheads="1"/>
            </p:cNvSpPr>
            <p:nvPr/>
          </p:nvSpPr>
          <p:spPr bwMode="auto">
            <a:xfrm>
              <a:off x="3537" y="3370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72" name="Rectangle 106"/>
            <p:cNvSpPr>
              <a:spLocks noChangeArrowheads="1"/>
            </p:cNvSpPr>
            <p:nvPr/>
          </p:nvSpPr>
          <p:spPr bwMode="auto">
            <a:xfrm>
              <a:off x="3537" y="3474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73" name="Rectangle 107"/>
            <p:cNvSpPr>
              <a:spLocks noChangeArrowheads="1"/>
            </p:cNvSpPr>
            <p:nvPr/>
          </p:nvSpPr>
          <p:spPr bwMode="auto">
            <a:xfrm>
              <a:off x="3537" y="3578"/>
              <a:ext cx="92" cy="94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74" name="Rectangle 108"/>
            <p:cNvSpPr>
              <a:spLocks noChangeArrowheads="1"/>
            </p:cNvSpPr>
            <p:nvPr/>
          </p:nvSpPr>
          <p:spPr bwMode="auto">
            <a:xfrm>
              <a:off x="3537" y="3683"/>
              <a:ext cx="92" cy="9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75" name="Rectangle 109"/>
            <p:cNvSpPr>
              <a:spLocks noChangeArrowheads="1"/>
            </p:cNvSpPr>
            <p:nvPr/>
          </p:nvSpPr>
          <p:spPr bwMode="auto">
            <a:xfrm>
              <a:off x="3537" y="3788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76" name="Rectangle 110"/>
            <p:cNvSpPr>
              <a:spLocks noChangeArrowheads="1"/>
            </p:cNvSpPr>
            <p:nvPr/>
          </p:nvSpPr>
          <p:spPr bwMode="auto">
            <a:xfrm>
              <a:off x="3641" y="3055"/>
              <a:ext cx="94" cy="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77" name="Rectangle 111"/>
            <p:cNvSpPr>
              <a:spLocks noChangeArrowheads="1"/>
            </p:cNvSpPr>
            <p:nvPr/>
          </p:nvSpPr>
          <p:spPr bwMode="auto">
            <a:xfrm>
              <a:off x="3641" y="3161"/>
              <a:ext cx="94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78" name="Rectangle 112"/>
            <p:cNvSpPr>
              <a:spLocks noChangeArrowheads="1"/>
            </p:cNvSpPr>
            <p:nvPr/>
          </p:nvSpPr>
          <p:spPr bwMode="auto">
            <a:xfrm>
              <a:off x="3641" y="3264"/>
              <a:ext cx="94" cy="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79" name="Rectangle 113"/>
            <p:cNvSpPr>
              <a:spLocks noChangeArrowheads="1"/>
            </p:cNvSpPr>
            <p:nvPr/>
          </p:nvSpPr>
          <p:spPr bwMode="auto">
            <a:xfrm>
              <a:off x="3641" y="3370"/>
              <a:ext cx="94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80" name="Rectangle 114"/>
            <p:cNvSpPr>
              <a:spLocks noChangeArrowheads="1"/>
            </p:cNvSpPr>
            <p:nvPr/>
          </p:nvSpPr>
          <p:spPr bwMode="auto">
            <a:xfrm>
              <a:off x="3641" y="3474"/>
              <a:ext cx="94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81" name="Rectangle 115"/>
            <p:cNvSpPr>
              <a:spLocks noChangeArrowheads="1"/>
            </p:cNvSpPr>
            <p:nvPr/>
          </p:nvSpPr>
          <p:spPr bwMode="auto">
            <a:xfrm>
              <a:off x="3641" y="3578"/>
              <a:ext cx="94" cy="94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82" name="Rectangle 116"/>
            <p:cNvSpPr>
              <a:spLocks noChangeArrowheads="1"/>
            </p:cNvSpPr>
            <p:nvPr/>
          </p:nvSpPr>
          <p:spPr bwMode="auto">
            <a:xfrm>
              <a:off x="3641" y="3683"/>
              <a:ext cx="94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83" name="Rectangle 117"/>
            <p:cNvSpPr>
              <a:spLocks noChangeArrowheads="1"/>
            </p:cNvSpPr>
            <p:nvPr/>
          </p:nvSpPr>
          <p:spPr bwMode="auto">
            <a:xfrm>
              <a:off x="3641" y="3788"/>
              <a:ext cx="94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84" name="Rectangle 118"/>
            <p:cNvSpPr>
              <a:spLocks noChangeArrowheads="1"/>
            </p:cNvSpPr>
            <p:nvPr/>
          </p:nvSpPr>
          <p:spPr bwMode="auto">
            <a:xfrm>
              <a:off x="3746" y="3055"/>
              <a:ext cx="92" cy="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85" name="Rectangle 119"/>
            <p:cNvSpPr>
              <a:spLocks noChangeArrowheads="1"/>
            </p:cNvSpPr>
            <p:nvPr/>
          </p:nvSpPr>
          <p:spPr bwMode="auto">
            <a:xfrm>
              <a:off x="3746" y="3161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86" name="Rectangle 120"/>
            <p:cNvSpPr>
              <a:spLocks noChangeArrowheads="1"/>
            </p:cNvSpPr>
            <p:nvPr/>
          </p:nvSpPr>
          <p:spPr bwMode="auto">
            <a:xfrm>
              <a:off x="3746" y="3264"/>
              <a:ext cx="92" cy="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87" name="Rectangle 121"/>
            <p:cNvSpPr>
              <a:spLocks noChangeArrowheads="1"/>
            </p:cNvSpPr>
            <p:nvPr/>
          </p:nvSpPr>
          <p:spPr bwMode="auto">
            <a:xfrm>
              <a:off x="3746" y="3370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88" name="Rectangle 122"/>
            <p:cNvSpPr>
              <a:spLocks noChangeArrowheads="1"/>
            </p:cNvSpPr>
            <p:nvPr/>
          </p:nvSpPr>
          <p:spPr bwMode="auto">
            <a:xfrm>
              <a:off x="3746" y="3474"/>
              <a:ext cx="92" cy="9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89" name="Rectangle 123"/>
            <p:cNvSpPr>
              <a:spLocks noChangeArrowheads="1"/>
            </p:cNvSpPr>
            <p:nvPr/>
          </p:nvSpPr>
          <p:spPr bwMode="auto">
            <a:xfrm>
              <a:off x="3746" y="3578"/>
              <a:ext cx="92" cy="94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90" name="Rectangle 124"/>
            <p:cNvSpPr>
              <a:spLocks noChangeArrowheads="1"/>
            </p:cNvSpPr>
            <p:nvPr/>
          </p:nvSpPr>
          <p:spPr bwMode="auto">
            <a:xfrm>
              <a:off x="3746" y="3683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91" name="Rectangle 125"/>
            <p:cNvSpPr>
              <a:spLocks noChangeArrowheads="1"/>
            </p:cNvSpPr>
            <p:nvPr/>
          </p:nvSpPr>
          <p:spPr bwMode="auto">
            <a:xfrm>
              <a:off x="3746" y="3788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92" name="Rectangle 126"/>
            <p:cNvSpPr>
              <a:spLocks noChangeArrowheads="1"/>
            </p:cNvSpPr>
            <p:nvPr/>
          </p:nvSpPr>
          <p:spPr bwMode="auto">
            <a:xfrm>
              <a:off x="3851" y="3055"/>
              <a:ext cx="92" cy="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93" name="Rectangle 127"/>
            <p:cNvSpPr>
              <a:spLocks noChangeArrowheads="1"/>
            </p:cNvSpPr>
            <p:nvPr/>
          </p:nvSpPr>
          <p:spPr bwMode="auto">
            <a:xfrm>
              <a:off x="3851" y="3161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94" name="Rectangle 128"/>
            <p:cNvSpPr>
              <a:spLocks noChangeArrowheads="1"/>
            </p:cNvSpPr>
            <p:nvPr/>
          </p:nvSpPr>
          <p:spPr bwMode="auto">
            <a:xfrm>
              <a:off x="3851" y="3264"/>
              <a:ext cx="92" cy="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95" name="Rectangle 129"/>
            <p:cNvSpPr>
              <a:spLocks noChangeArrowheads="1"/>
            </p:cNvSpPr>
            <p:nvPr/>
          </p:nvSpPr>
          <p:spPr bwMode="auto">
            <a:xfrm>
              <a:off x="3851" y="3370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96" name="Rectangle 130"/>
            <p:cNvSpPr>
              <a:spLocks noChangeArrowheads="1"/>
            </p:cNvSpPr>
            <p:nvPr/>
          </p:nvSpPr>
          <p:spPr bwMode="auto">
            <a:xfrm>
              <a:off x="3851" y="3474"/>
              <a:ext cx="92" cy="9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97" name="Rectangle 131"/>
            <p:cNvSpPr>
              <a:spLocks noChangeArrowheads="1"/>
            </p:cNvSpPr>
            <p:nvPr/>
          </p:nvSpPr>
          <p:spPr bwMode="auto">
            <a:xfrm>
              <a:off x="3851" y="3578"/>
              <a:ext cx="92" cy="9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98" name="Rectangle 132"/>
            <p:cNvSpPr>
              <a:spLocks noChangeArrowheads="1"/>
            </p:cNvSpPr>
            <p:nvPr/>
          </p:nvSpPr>
          <p:spPr bwMode="auto">
            <a:xfrm>
              <a:off x="3851" y="3683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99" name="Rectangle 133"/>
            <p:cNvSpPr>
              <a:spLocks noChangeArrowheads="1"/>
            </p:cNvSpPr>
            <p:nvPr/>
          </p:nvSpPr>
          <p:spPr bwMode="auto">
            <a:xfrm>
              <a:off x="3851" y="3788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5367" name="Group 134"/>
          <p:cNvGrpSpPr>
            <a:grpSpLocks/>
          </p:cNvGrpSpPr>
          <p:nvPr/>
        </p:nvGrpSpPr>
        <p:grpSpPr bwMode="auto">
          <a:xfrm>
            <a:off x="3276600" y="4800600"/>
            <a:ext cx="1309688" cy="1309688"/>
            <a:chOff x="2048" y="3056"/>
            <a:chExt cx="825" cy="825"/>
          </a:xfrm>
        </p:grpSpPr>
        <p:sp>
          <p:nvSpPr>
            <p:cNvPr id="15372" name="Rectangle 135"/>
            <p:cNvSpPr>
              <a:spLocks noChangeArrowheads="1"/>
            </p:cNvSpPr>
            <p:nvPr/>
          </p:nvSpPr>
          <p:spPr bwMode="auto">
            <a:xfrm>
              <a:off x="2048" y="3056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73" name="Rectangle 136"/>
            <p:cNvSpPr>
              <a:spLocks noChangeArrowheads="1"/>
            </p:cNvSpPr>
            <p:nvPr/>
          </p:nvSpPr>
          <p:spPr bwMode="auto">
            <a:xfrm>
              <a:off x="2048" y="3161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74" name="Rectangle 137"/>
            <p:cNvSpPr>
              <a:spLocks noChangeArrowheads="1"/>
            </p:cNvSpPr>
            <p:nvPr/>
          </p:nvSpPr>
          <p:spPr bwMode="auto">
            <a:xfrm>
              <a:off x="2048" y="3264"/>
              <a:ext cx="92" cy="9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75" name="Rectangle 138"/>
            <p:cNvSpPr>
              <a:spLocks noChangeArrowheads="1"/>
            </p:cNvSpPr>
            <p:nvPr/>
          </p:nvSpPr>
          <p:spPr bwMode="auto">
            <a:xfrm>
              <a:off x="2048" y="3370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76" name="Rectangle 139"/>
            <p:cNvSpPr>
              <a:spLocks noChangeArrowheads="1"/>
            </p:cNvSpPr>
            <p:nvPr/>
          </p:nvSpPr>
          <p:spPr bwMode="auto">
            <a:xfrm>
              <a:off x="2048" y="3474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77" name="Rectangle 140"/>
            <p:cNvSpPr>
              <a:spLocks noChangeArrowheads="1"/>
            </p:cNvSpPr>
            <p:nvPr/>
          </p:nvSpPr>
          <p:spPr bwMode="auto">
            <a:xfrm>
              <a:off x="2048" y="3579"/>
              <a:ext cx="92" cy="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78" name="Rectangle 141"/>
            <p:cNvSpPr>
              <a:spLocks noChangeArrowheads="1"/>
            </p:cNvSpPr>
            <p:nvPr/>
          </p:nvSpPr>
          <p:spPr bwMode="auto">
            <a:xfrm>
              <a:off x="2048" y="3683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79" name="Rectangle 142"/>
            <p:cNvSpPr>
              <a:spLocks noChangeArrowheads="1"/>
            </p:cNvSpPr>
            <p:nvPr/>
          </p:nvSpPr>
          <p:spPr bwMode="auto">
            <a:xfrm>
              <a:off x="2048" y="3788"/>
              <a:ext cx="92" cy="93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80" name="Rectangle 143"/>
            <p:cNvSpPr>
              <a:spLocks noChangeArrowheads="1"/>
            </p:cNvSpPr>
            <p:nvPr/>
          </p:nvSpPr>
          <p:spPr bwMode="auto">
            <a:xfrm>
              <a:off x="2153" y="3056"/>
              <a:ext cx="93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81" name="Rectangle 144"/>
            <p:cNvSpPr>
              <a:spLocks noChangeArrowheads="1"/>
            </p:cNvSpPr>
            <p:nvPr/>
          </p:nvSpPr>
          <p:spPr bwMode="auto">
            <a:xfrm>
              <a:off x="2153" y="3161"/>
              <a:ext cx="93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82" name="Rectangle 145"/>
            <p:cNvSpPr>
              <a:spLocks noChangeArrowheads="1"/>
            </p:cNvSpPr>
            <p:nvPr/>
          </p:nvSpPr>
          <p:spPr bwMode="auto">
            <a:xfrm>
              <a:off x="2153" y="3264"/>
              <a:ext cx="93" cy="9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83" name="Rectangle 146"/>
            <p:cNvSpPr>
              <a:spLocks noChangeArrowheads="1"/>
            </p:cNvSpPr>
            <p:nvPr/>
          </p:nvSpPr>
          <p:spPr bwMode="auto">
            <a:xfrm>
              <a:off x="2153" y="3370"/>
              <a:ext cx="93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84" name="Rectangle 147"/>
            <p:cNvSpPr>
              <a:spLocks noChangeArrowheads="1"/>
            </p:cNvSpPr>
            <p:nvPr/>
          </p:nvSpPr>
          <p:spPr bwMode="auto">
            <a:xfrm>
              <a:off x="2153" y="3474"/>
              <a:ext cx="93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85" name="Rectangle 148"/>
            <p:cNvSpPr>
              <a:spLocks noChangeArrowheads="1"/>
            </p:cNvSpPr>
            <p:nvPr/>
          </p:nvSpPr>
          <p:spPr bwMode="auto">
            <a:xfrm>
              <a:off x="2153" y="3579"/>
              <a:ext cx="93" cy="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86" name="Rectangle 149"/>
            <p:cNvSpPr>
              <a:spLocks noChangeArrowheads="1"/>
            </p:cNvSpPr>
            <p:nvPr/>
          </p:nvSpPr>
          <p:spPr bwMode="auto">
            <a:xfrm>
              <a:off x="2153" y="3683"/>
              <a:ext cx="93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87" name="Rectangle 150"/>
            <p:cNvSpPr>
              <a:spLocks noChangeArrowheads="1"/>
            </p:cNvSpPr>
            <p:nvPr/>
          </p:nvSpPr>
          <p:spPr bwMode="auto">
            <a:xfrm>
              <a:off x="2153" y="3788"/>
              <a:ext cx="93" cy="93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88" name="Rectangle 151"/>
            <p:cNvSpPr>
              <a:spLocks noChangeArrowheads="1"/>
            </p:cNvSpPr>
            <p:nvPr/>
          </p:nvSpPr>
          <p:spPr bwMode="auto">
            <a:xfrm>
              <a:off x="2257" y="3056"/>
              <a:ext cx="93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89" name="Rectangle 152"/>
            <p:cNvSpPr>
              <a:spLocks noChangeArrowheads="1"/>
            </p:cNvSpPr>
            <p:nvPr/>
          </p:nvSpPr>
          <p:spPr bwMode="auto">
            <a:xfrm>
              <a:off x="2257" y="3161"/>
              <a:ext cx="93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90" name="Rectangle 153"/>
            <p:cNvSpPr>
              <a:spLocks noChangeArrowheads="1"/>
            </p:cNvSpPr>
            <p:nvPr/>
          </p:nvSpPr>
          <p:spPr bwMode="auto">
            <a:xfrm>
              <a:off x="2257" y="3264"/>
              <a:ext cx="93" cy="9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91" name="Rectangle 154"/>
            <p:cNvSpPr>
              <a:spLocks noChangeArrowheads="1"/>
            </p:cNvSpPr>
            <p:nvPr/>
          </p:nvSpPr>
          <p:spPr bwMode="auto">
            <a:xfrm>
              <a:off x="2257" y="3370"/>
              <a:ext cx="93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92" name="Rectangle 155"/>
            <p:cNvSpPr>
              <a:spLocks noChangeArrowheads="1"/>
            </p:cNvSpPr>
            <p:nvPr/>
          </p:nvSpPr>
          <p:spPr bwMode="auto">
            <a:xfrm>
              <a:off x="2257" y="3474"/>
              <a:ext cx="93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93" name="Rectangle 156"/>
            <p:cNvSpPr>
              <a:spLocks noChangeArrowheads="1"/>
            </p:cNvSpPr>
            <p:nvPr/>
          </p:nvSpPr>
          <p:spPr bwMode="auto">
            <a:xfrm>
              <a:off x="2257" y="3579"/>
              <a:ext cx="93" cy="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94" name="Rectangle 157"/>
            <p:cNvSpPr>
              <a:spLocks noChangeArrowheads="1"/>
            </p:cNvSpPr>
            <p:nvPr/>
          </p:nvSpPr>
          <p:spPr bwMode="auto">
            <a:xfrm>
              <a:off x="2257" y="3683"/>
              <a:ext cx="93" cy="9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95" name="Rectangle 158"/>
            <p:cNvSpPr>
              <a:spLocks noChangeArrowheads="1"/>
            </p:cNvSpPr>
            <p:nvPr/>
          </p:nvSpPr>
          <p:spPr bwMode="auto">
            <a:xfrm>
              <a:off x="2257" y="3788"/>
              <a:ext cx="93" cy="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96" name="Rectangle 159"/>
            <p:cNvSpPr>
              <a:spLocks noChangeArrowheads="1"/>
            </p:cNvSpPr>
            <p:nvPr/>
          </p:nvSpPr>
          <p:spPr bwMode="auto">
            <a:xfrm>
              <a:off x="2362" y="3056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97" name="Rectangle 160"/>
            <p:cNvSpPr>
              <a:spLocks noChangeArrowheads="1"/>
            </p:cNvSpPr>
            <p:nvPr/>
          </p:nvSpPr>
          <p:spPr bwMode="auto">
            <a:xfrm>
              <a:off x="2362" y="3161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98" name="Rectangle 161"/>
            <p:cNvSpPr>
              <a:spLocks noChangeArrowheads="1"/>
            </p:cNvSpPr>
            <p:nvPr/>
          </p:nvSpPr>
          <p:spPr bwMode="auto">
            <a:xfrm>
              <a:off x="2362" y="3264"/>
              <a:ext cx="92" cy="9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99" name="Rectangle 162"/>
            <p:cNvSpPr>
              <a:spLocks noChangeArrowheads="1"/>
            </p:cNvSpPr>
            <p:nvPr/>
          </p:nvSpPr>
          <p:spPr bwMode="auto">
            <a:xfrm>
              <a:off x="2362" y="3370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00" name="Rectangle 163"/>
            <p:cNvSpPr>
              <a:spLocks noChangeArrowheads="1"/>
            </p:cNvSpPr>
            <p:nvPr/>
          </p:nvSpPr>
          <p:spPr bwMode="auto">
            <a:xfrm>
              <a:off x="2362" y="3474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01" name="Rectangle 164"/>
            <p:cNvSpPr>
              <a:spLocks noChangeArrowheads="1"/>
            </p:cNvSpPr>
            <p:nvPr/>
          </p:nvSpPr>
          <p:spPr bwMode="auto">
            <a:xfrm>
              <a:off x="2362" y="3579"/>
              <a:ext cx="92" cy="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02" name="Rectangle 165"/>
            <p:cNvSpPr>
              <a:spLocks noChangeArrowheads="1"/>
            </p:cNvSpPr>
            <p:nvPr/>
          </p:nvSpPr>
          <p:spPr bwMode="auto">
            <a:xfrm>
              <a:off x="2362" y="3683"/>
              <a:ext cx="92" cy="9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03" name="Rectangle 166"/>
            <p:cNvSpPr>
              <a:spLocks noChangeArrowheads="1"/>
            </p:cNvSpPr>
            <p:nvPr/>
          </p:nvSpPr>
          <p:spPr bwMode="auto">
            <a:xfrm>
              <a:off x="2362" y="3788"/>
              <a:ext cx="92" cy="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04" name="Rectangle 167"/>
            <p:cNvSpPr>
              <a:spLocks noChangeArrowheads="1"/>
            </p:cNvSpPr>
            <p:nvPr/>
          </p:nvSpPr>
          <p:spPr bwMode="auto">
            <a:xfrm>
              <a:off x="2467" y="3056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05" name="Rectangle 168"/>
            <p:cNvSpPr>
              <a:spLocks noChangeArrowheads="1"/>
            </p:cNvSpPr>
            <p:nvPr/>
          </p:nvSpPr>
          <p:spPr bwMode="auto">
            <a:xfrm>
              <a:off x="2467" y="3161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06" name="Rectangle 169"/>
            <p:cNvSpPr>
              <a:spLocks noChangeArrowheads="1"/>
            </p:cNvSpPr>
            <p:nvPr/>
          </p:nvSpPr>
          <p:spPr bwMode="auto">
            <a:xfrm>
              <a:off x="2467" y="3264"/>
              <a:ext cx="92" cy="9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07" name="Rectangle 170"/>
            <p:cNvSpPr>
              <a:spLocks noChangeArrowheads="1"/>
            </p:cNvSpPr>
            <p:nvPr/>
          </p:nvSpPr>
          <p:spPr bwMode="auto">
            <a:xfrm>
              <a:off x="2467" y="3370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08" name="Rectangle 171"/>
            <p:cNvSpPr>
              <a:spLocks noChangeArrowheads="1"/>
            </p:cNvSpPr>
            <p:nvPr/>
          </p:nvSpPr>
          <p:spPr bwMode="auto">
            <a:xfrm>
              <a:off x="2467" y="3474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09" name="Rectangle 172"/>
            <p:cNvSpPr>
              <a:spLocks noChangeArrowheads="1"/>
            </p:cNvSpPr>
            <p:nvPr/>
          </p:nvSpPr>
          <p:spPr bwMode="auto">
            <a:xfrm>
              <a:off x="2467" y="3579"/>
              <a:ext cx="92" cy="93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10" name="Rectangle 173"/>
            <p:cNvSpPr>
              <a:spLocks noChangeArrowheads="1"/>
            </p:cNvSpPr>
            <p:nvPr/>
          </p:nvSpPr>
          <p:spPr bwMode="auto">
            <a:xfrm>
              <a:off x="2467" y="3683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11" name="Rectangle 174"/>
            <p:cNvSpPr>
              <a:spLocks noChangeArrowheads="1"/>
            </p:cNvSpPr>
            <p:nvPr/>
          </p:nvSpPr>
          <p:spPr bwMode="auto">
            <a:xfrm>
              <a:off x="2467" y="3788"/>
              <a:ext cx="92" cy="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12" name="Rectangle 175"/>
            <p:cNvSpPr>
              <a:spLocks noChangeArrowheads="1"/>
            </p:cNvSpPr>
            <p:nvPr/>
          </p:nvSpPr>
          <p:spPr bwMode="auto">
            <a:xfrm>
              <a:off x="2571" y="3056"/>
              <a:ext cx="93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13" name="Rectangle 176"/>
            <p:cNvSpPr>
              <a:spLocks noChangeArrowheads="1"/>
            </p:cNvSpPr>
            <p:nvPr/>
          </p:nvSpPr>
          <p:spPr bwMode="auto">
            <a:xfrm>
              <a:off x="2571" y="3161"/>
              <a:ext cx="93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14" name="Rectangle 177"/>
            <p:cNvSpPr>
              <a:spLocks noChangeArrowheads="1"/>
            </p:cNvSpPr>
            <p:nvPr/>
          </p:nvSpPr>
          <p:spPr bwMode="auto">
            <a:xfrm>
              <a:off x="2571" y="3264"/>
              <a:ext cx="93" cy="9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15" name="Rectangle 178"/>
            <p:cNvSpPr>
              <a:spLocks noChangeArrowheads="1"/>
            </p:cNvSpPr>
            <p:nvPr/>
          </p:nvSpPr>
          <p:spPr bwMode="auto">
            <a:xfrm>
              <a:off x="2571" y="3370"/>
              <a:ext cx="93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16" name="Rectangle 179"/>
            <p:cNvSpPr>
              <a:spLocks noChangeArrowheads="1"/>
            </p:cNvSpPr>
            <p:nvPr/>
          </p:nvSpPr>
          <p:spPr bwMode="auto">
            <a:xfrm>
              <a:off x="2571" y="3474"/>
              <a:ext cx="93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17" name="Rectangle 180"/>
            <p:cNvSpPr>
              <a:spLocks noChangeArrowheads="1"/>
            </p:cNvSpPr>
            <p:nvPr/>
          </p:nvSpPr>
          <p:spPr bwMode="auto">
            <a:xfrm>
              <a:off x="2571" y="3579"/>
              <a:ext cx="93" cy="93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18" name="Rectangle 181"/>
            <p:cNvSpPr>
              <a:spLocks noChangeArrowheads="1"/>
            </p:cNvSpPr>
            <p:nvPr/>
          </p:nvSpPr>
          <p:spPr bwMode="auto">
            <a:xfrm>
              <a:off x="2571" y="3683"/>
              <a:ext cx="93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19" name="Rectangle 182"/>
            <p:cNvSpPr>
              <a:spLocks noChangeArrowheads="1"/>
            </p:cNvSpPr>
            <p:nvPr/>
          </p:nvSpPr>
          <p:spPr bwMode="auto">
            <a:xfrm>
              <a:off x="2571" y="3788"/>
              <a:ext cx="93" cy="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20" name="Rectangle 183"/>
            <p:cNvSpPr>
              <a:spLocks noChangeArrowheads="1"/>
            </p:cNvSpPr>
            <p:nvPr/>
          </p:nvSpPr>
          <p:spPr bwMode="auto">
            <a:xfrm>
              <a:off x="2675" y="3056"/>
              <a:ext cx="93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21" name="Rectangle 184"/>
            <p:cNvSpPr>
              <a:spLocks noChangeArrowheads="1"/>
            </p:cNvSpPr>
            <p:nvPr/>
          </p:nvSpPr>
          <p:spPr bwMode="auto">
            <a:xfrm>
              <a:off x="2675" y="3161"/>
              <a:ext cx="93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22" name="Rectangle 185"/>
            <p:cNvSpPr>
              <a:spLocks noChangeArrowheads="1"/>
            </p:cNvSpPr>
            <p:nvPr/>
          </p:nvSpPr>
          <p:spPr bwMode="auto">
            <a:xfrm>
              <a:off x="2675" y="3264"/>
              <a:ext cx="93" cy="9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23" name="Rectangle 186"/>
            <p:cNvSpPr>
              <a:spLocks noChangeArrowheads="1"/>
            </p:cNvSpPr>
            <p:nvPr/>
          </p:nvSpPr>
          <p:spPr bwMode="auto">
            <a:xfrm>
              <a:off x="2675" y="3370"/>
              <a:ext cx="93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24" name="Rectangle 187"/>
            <p:cNvSpPr>
              <a:spLocks noChangeArrowheads="1"/>
            </p:cNvSpPr>
            <p:nvPr/>
          </p:nvSpPr>
          <p:spPr bwMode="auto">
            <a:xfrm>
              <a:off x="2675" y="3474"/>
              <a:ext cx="93" cy="9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25" name="Rectangle 188"/>
            <p:cNvSpPr>
              <a:spLocks noChangeArrowheads="1"/>
            </p:cNvSpPr>
            <p:nvPr/>
          </p:nvSpPr>
          <p:spPr bwMode="auto">
            <a:xfrm>
              <a:off x="2675" y="3579"/>
              <a:ext cx="93" cy="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26" name="Rectangle 189"/>
            <p:cNvSpPr>
              <a:spLocks noChangeArrowheads="1"/>
            </p:cNvSpPr>
            <p:nvPr/>
          </p:nvSpPr>
          <p:spPr bwMode="auto">
            <a:xfrm>
              <a:off x="2675" y="3683"/>
              <a:ext cx="93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27" name="Rectangle 190"/>
            <p:cNvSpPr>
              <a:spLocks noChangeArrowheads="1"/>
            </p:cNvSpPr>
            <p:nvPr/>
          </p:nvSpPr>
          <p:spPr bwMode="auto">
            <a:xfrm>
              <a:off x="2675" y="3788"/>
              <a:ext cx="93" cy="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28" name="Rectangle 191"/>
            <p:cNvSpPr>
              <a:spLocks noChangeArrowheads="1"/>
            </p:cNvSpPr>
            <p:nvPr/>
          </p:nvSpPr>
          <p:spPr bwMode="auto">
            <a:xfrm>
              <a:off x="2781" y="3056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29" name="Rectangle 192"/>
            <p:cNvSpPr>
              <a:spLocks noChangeArrowheads="1"/>
            </p:cNvSpPr>
            <p:nvPr/>
          </p:nvSpPr>
          <p:spPr bwMode="auto">
            <a:xfrm>
              <a:off x="2781" y="3161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30" name="Rectangle 193"/>
            <p:cNvSpPr>
              <a:spLocks noChangeArrowheads="1"/>
            </p:cNvSpPr>
            <p:nvPr/>
          </p:nvSpPr>
          <p:spPr bwMode="auto">
            <a:xfrm>
              <a:off x="2781" y="3264"/>
              <a:ext cx="92" cy="9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31" name="Rectangle 194"/>
            <p:cNvSpPr>
              <a:spLocks noChangeArrowheads="1"/>
            </p:cNvSpPr>
            <p:nvPr/>
          </p:nvSpPr>
          <p:spPr bwMode="auto">
            <a:xfrm>
              <a:off x="2781" y="3370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32" name="Rectangle 195"/>
            <p:cNvSpPr>
              <a:spLocks noChangeArrowheads="1"/>
            </p:cNvSpPr>
            <p:nvPr/>
          </p:nvSpPr>
          <p:spPr bwMode="auto">
            <a:xfrm>
              <a:off x="2781" y="3474"/>
              <a:ext cx="92" cy="9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33" name="Rectangle 196"/>
            <p:cNvSpPr>
              <a:spLocks noChangeArrowheads="1"/>
            </p:cNvSpPr>
            <p:nvPr/>
          </p:nvSpPr>
          <p:spPr bwMode="auto">
            <a:xfrm>
              <a:off x="2781" y="3579"/>
              <a:ext cx="92" cy="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34" name="Rectangle 197"/>
            <p:cNvSpPr>
              <a:spLocks noChangeArrowheads="1"/>
            </p:cNvSpPr>
            <p:nvPr/>
          </p:nvSpPr>
          <p:spPr bwMode="auto">
            <a:xfrm>
              <a:off x="2781" y="3683"/>
              <a:ext cx="92" cy="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35" name="Rectangle 198"/>
            <p:cNvSpPr>
              <a:spLocks noChangeArrowheads="1"/>
            </p:cNvSpPr>
            <p:nvPr/>
          </p:nvSpPr>
          <p:spPr bwMode="auto">
            <a:xfrm>
              <a:off x="2781" y="3788"/>
              <a:ext cx="92" cy="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5368" name="Group 199"/>
          <p:cNvGrpSpPr>
            <a:grpSpLocks/>
          </p:cNvGrpSpPr>
          <p:nvPr/>
        </p:nvGrpSpPr>
        <p:grpSpPr bwMode="auto">
          <a:xfrm>
            <a:off x="6781800" y="5029200"/>
            <a:ext cx="1601788" cy="922338"/>
            <a:chOff x="4149" y="3205"/>
            <a:chExt cx="1009" cy="581"/>
          </a:xfrm>
        </p:grpSpPr>
        <p:sp>
          <p:nvSpPr>
            <p:cNvPr id="15369" name="Line 200"/>
            <p:cNvSpPr>
              <a:spLocks noChangeShapeType="1"/>
            </p:cNvSpPr>
            <p:nvPr/>
          </p:nvSpPr>
          <p:spPr bwMode="auto">
            <a:xfrm>
              <a:off x="4201" y="3257"/>
              <a:ext cx="529" cy="52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5370" name="Line 201"/>
            <p:cNvSpPr>
              <a:spLocks noChangeShapeType="1"/>
            </p:cNvSpPr>
            <p:nvPr/>
          </p:nvSpPr>
          <p:spPr bwMode="auto">
            <a:xfrm>
              <a:off x="4149" y="3207"/>
              <a:ext cx="93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5371" name="Line 202"/>
            <p:cNvSpPr>
              <a:spLocks noChangeShapeType="1"/>
            </p:cNvSpPr>
            <p:nvPr/>
          </p:nvSpPr>
          <p:spPr bwMode="auto">
            <a:xfrm flipH="1">
              <a:off x="4769" y="3205"/>
              <a:ext cx="389" cy="52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</p:grp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Propriedades exigidas da Reta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7772400" cy="4648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pt-BR" sz="2400" b="1" dirty="0"/>
              <a:t>precisão</a:t>
            </a:r>
            <a:r>
              <a:rPr lang="pt-BR" sz="2400" dirty="0"/>
              <a:t> - os segmentos devem iniciar e terminar nos pontos especificados. Caso isso não ocorra, pequenos </a:t>
            </a:r>
            <a:r>
              <a:rPr lang="pt-BR" sz="2400" i="1" dirty="0"/>
              <a:t>gaps </a:t>
            </a:r>
            <a:r>
              <a:rPr lang="pt-BR" sz="2400" dirty="0"/>
              <a:t>podem surgir entre o final de um segmento e o início de outro.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pt-BR" sz="2400" b="1" dirty="0"/>
          </a:p>
          <a:p>
            <a:pPr eaLnBrk="1" hangingPunct="1">
              <a:lnSpc>
                <a:spcPct val="80000"/>
              </a:lnSpc>
            </a:pPr>
            <a:r>
              <a:rPr lang="pt-BR" sz="2400" b="1" dirty="0"/>
              <a:t>Intensidade independente da inclinação </a:t>
            </a:r>
            <a:r>
              <a:rPr lang="pt-BR" sz="2400" dirty="0"/>
              <a:t> - para segmentos de retas de diferentes inclinações.</a:t>
            </a:r>
          </a:p>
          <a:p>
            <a:pPr eaLnBrk="1" hangingPunct="1">
              <a:lnSpc>
                <a:spcPct val="80000"/>
              </a:lnSpc>
            </a:pPr>
            <a:endParaRPr lang="pt-BR" sz="2400" b="1" dirty="0"/>
          </a:p>
          <a:p>
            <a:pPr eaLnBrk="1" hangingPunct="1">
              <a:lnSpc>
                <a:spcPct val="80000"/>
              </a:lnSpc>
            </a:pPr>
            <a:r>
              <a:rPr lang="pt-BR" sz="2400" b="1" dirty="0"/>
              <a:t>continuidade</a:t>
            </a:r>
            <a:r>
              <a:rPr lang="pt-BR" sz="2400" dirty="0"/>
              <a:t> - a imagem não apresenta interrupções indesejáveis.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pt-BR" sz="2400" b="1" dirty="0"/>
          </a:p>
          <a:p>
            <a:pPr eaLnBrk="1" hangingPunct="1">
              <a:lnSpc>
                <a:spcPct val="80000"/>
              </a:lnSpc>
            </a:pPr>
            <a:r>
              <a:rPr lang="pt-BR" sz="2400" b="1" dirty="0"/>
              <a:t>rapidez no traçado dos segmentos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pt-BR" sz="2800"/>
              <a:t>Rasterização da Reta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sz="2400"/>
              <a:t>Tendo-se uma rotina apropriada, traçar uma reta no vídeo é simples.</a:t>
            </a:r>
          </a:p>
          <a:p>
            <a:pPr eaLnBrk="1" hangingPunct="1"/>
            <a:endParaRPr lang="pt-BR" sz="2400"/>
          </a:p>
          <a:p>
            <a:pPr eaLnBrk="1" hangingPunct="1"/>
            <a:r>
              <a:rPr lang="pt-BR" sz="2400"/>
              <a:t>Mas a rotina não é tão simples como parece.</a:t>
            </a:r>
          </a:p>
          <a:p>
            <a:pPr eaLnBrk="1" hangingPunct="1"/>
            <a:endParaRPr lang="pt-BR" sz="2400"/>
          </a:p>
          <a:p>
            <a:pPr eaLnBrk="1" hangingPunct="1"/>
            <a:r>
              <a:rPr lang="pt-BR" sz="2400"/>
              <a:t>Ao desenhar-se uma reta no vídeo, não se obtém um desenho perfeito e sim uma aproximação.</a:t>
            </a:r>
          </a:p>
          <a:p>
            <a:pPr eaLnBrk="1" hangingPunct="1"/>
            <a:endParaRPr lang="pt-BR" sz="2400"/>
          </a:p>
          <a:p>
            <a:pPr eaLnBrk="1" hangingPunct="1"/>
            <a:r>
              <a:rPr lang="pt-BR" sz="2400"/>
              <a:t>A aproximação é realizada através de um plano quadriculado.</a:t>
            </a:r>
          </a:p>
          <a:p>
            <a:pPr eaLnBrk="1" hangingPunct="1"/>
            <a:endParaRPr lang="pt-BR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pt-BR" sz="2800"/>
              <a:t>Rasterização da Reta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buFont typeface="Wingdings" pitchFamily="2" charset="2"/>
              <a:buNone/>
            </a:pPr>
            <a:r>
              <a:rPr lang="pt-BR" sz="2000">
                <a:cs typeface="Arial" pitchFamily="34" charset="0"/>
              </a:rPr>
              <a:t> </a:t>
            </a:r>
          </a:p>
        </p:txBody>
      </p:sp>
      <p:pic>
        <p:nvPicPr>
          <p:cNvPr id="18437" name="Picture 4" descr="Image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8763" y="2317750"/>
            <a:ext cx="6443662" cy="400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br>
              <a:rPr lang="pt-BR"/>
            </a:br>
            <a:endParaRPr lang="pt-BR"/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54500" y="1676400"/>
            <a:ext cx="4889500" cy="4400550"/>
          </a:xfrm>
        </p:spPr>
        <p:txBody>
          <a:bodyPr/>
          <a:lstStyle/>
          <a:p>
            <a:pPr eaLnBrk="1" hangingPunct="1"/>
            <a:r>
              <a:rPr lang="pt-BR" sz="2400" dirty="0"/>
              <a:t>Algoritmo do declive  </a:t>
            </a:r>
          </a:p>
          <a:p>
            <a:pPr lvl="1" eaLnBrk="1" hangingPunct="1"/>
            <a:r>
              <a:rPr lang="pt-BR" sz="2000" dirty="0"/>
              <a:t>DDA : </a:t>
            </a:r>
            <a:r>
              <a:rPr lang="pt-BR" sz="2000" i="1" dirty="0"/>
              <a:t>digital </a:t>
            </a:r>
            <a:r>
              <a:rPr lang="pt-BR" sz="2000" i="1" dirty="0" err="1"/>
              <a:t>diferential</a:t>
            </a:r>
            <a:r>
              <a:rPr lang="pt-BR" sz="2000" i="1" dirty="0"/>
              <a:t> </a:t>
            </a:r>
            <a:r>
              <a:rPr lang="pt-BR" sz="2000" i="1" dirty="0" err="1"/>
              <a:t>analyzer</a:t>
            </a:r>
            <a:endParaRPr lang="pt-BR" sz="2000" i="1" dirty="0"/>
          </a:p>
          <a:p>
            <a:pPr eaLnBrk="1" hangingPunct="1"/>
            <a:r>
              <a:rPr lang="pt-BR" sz="2400" dirty="0"/>
              <a:t>Usa o método incremental </a:t>
            </a:r>
          </a:p>
          <a:p>
            <a:pPr eaLnBrk="1" hangingPunct="1"/>
            <a:endParaRPr lang="pt-BR" sz="2000" dirty="0"/>
          </a:p>
          <a:p>
            <a:pPr lvl="1" eaLnBrk="1" hangingPunct="1"/>
            <a:r>
              <a:rPr lang="pt-BR" sz="1800" dirty="0"/>
              <a:t>Equações  para   0 </a:t>
            </a:r>
            <a:r>
              <a:rPr lang="pt-BR" sz="1800" dirty="0">
                <a:cs typeface="Arial" pitchFamily="34" charset="0"/>
              </a:rPr>
              <a:t>≤</a:t>
            </a:r>
            <a:r>
              <a:rPr lang="pt-BR" sz="1800" dirty="0"/>
              <a:t> m </a:t>
            </a:r>
            <a:r>
              <a:rPr lang="pt-BR" sz="1800" dirty="0">
                <a:cs typeface="Arial" pitchFamily="34" charset="0"/>
              </a:rPr>
              <a:t>≤ 1</a:t>
            </a:r>
            <a:endParaRPr lang="pt-BR" sz="1800" dirty="0"/>
          </a:p>
          <a:p>
            <a:pPr eaLnBrk="1" hangingPunct="1">
              <a:buFont typeface="Wingdings" pitchFamily="2" charset="2"/>
              <a:buNone/>
            </a:pPr>
            <a:r>
              <a:rPr lang="pt-BR" sz="1800" i="1" dirty="0"/>
              <a:t>             </a:t>
            </a:r>
            <a:r>
              <a:rPr lang="pt-BR" sz="1800" i="1" dirty="0" err="1"/>
              <a:t>y</a:t>
            </a:r>
            <a:r>
              <a:rPr lang="pt-BR" sz="1800" i="1" baseline="-25000" dirty="0" err="1"/>
              <a:t>i</a:t>
            </a:r>
            <a:r>
              <a:rPr lang="pt-BR" sz="1800" i="1" baseline="-25000" dirty="0"/>
              <a:t> + 1 </a:t>
            </a:r>
            <a:r>
              <a:rPr lang="pt-BR" sz="1800" i="1" dirty="0"/>
              <a:t>= mx</a:t>
            </a:r>
            <a:r>
              <a:rPr lang="pt-BR" sz="1800" i="1" baseline="-25000" dirty="0"/>
              <a:t>i + 1</a:t>
            </a:r>
            <a:r>
              <a:rPr lang="pt-BR" sz="1800" i="1" dirty="0"/>
              <a:t> + b = m(x</a:t>
            </a:r>
            <a:r>
              <a:rPr lang="pt-BR" sz="1800" i="1" baseline="-25000" dirty="0"/>
              <a:t>i</a:t>
            </a:r>
            <a:r>
              <a:rPr lang="pt-BR" sz="1800" i="1" dirty="0"/>
              <a:t> + dx) + b</a:t>
            </a:r>
            <a:r>
              <a:rPr lang="pt-BR" sz="1800" b="1" i="1" dirty="0"/>
              <a:t> =&gt; </a:t>
            </a:r>
          </a:p>
          <a:p>
            <a:pPr eaLnBrk="1" hangingPunct="1">
              <a:buFont typeface="Wingdings" pitchFamily="2" charset="2"/>
              <a:buNone/>
            </a:pPr>
            <a:r>
              <a:rPr lang="pt-BR" sz="1800" i="1" dirty="0"/>
              <a:t>             </a:t>
            </a:r>
            <a:r>
              <a:rPr lang="pt-BR" sz="1800" i="1" dirty="0" err="1"/>
              <a:t>y</a:t>
            </a:r>
            <a:r>
              <a:rPr lang="pt-BR" sz="1800" i="1" baseline="-25000" dirty="0" err="1"/>
              <a:t>i</a:t>
            </a:r>
            <a:r>
              <a:rPr lang="pt-BR" sz="1800" i="1" baseline="-25000" dirty="0"/>
              <a:t> + 1 </a:t>
            </a:r>
            <a:r>
              <a:rPr lang="pt-BR" sz="1800" i="1" dirty="0"/>
              <a:t> = </a:t>
            </a:r>
            <a:r>
              <a:rPr lang="pt-BR" sz="1800" i="1" dirty="0" err="1"/>
              <a:t>y</a:t>
            </a:r>
            <a:r>
              <a:rPr lang="pt-BR" sz="1800" i="1" baseline="-25000" dirty="0" err="1"/>
              <a:t>i</a:t>
            </a:r>
            <a:r>
              <a:rPr lang="pt-BR" sz="1800" i="1" dirty="0"/>
              <a:t> + mdx, </a:t>
            </a:r>
            <a:r>
              <a:rPr lang="pt-BR" sz="1800" i="1" dirty="0">
                <a:solidFill>
                  <a:schemeClr val="tx2"/>
                </a:solidFill>
              </a:rPr>
              <a:t>faça dx = 1</a:t>
            </a:r>
            <a:r>
              <a:rPr lang="pt-BR" sz="1800" i="1" dirty="0"/>
              <a:t> =&gt;</a:t>
            </a:r>
          </a:p>
          <a:p>
            <a:pPr eaLnBrk="1" hangingPunct="1">
              <a:buFont typeface="Wingdings" pitchFamily="2" charset="2"/>
              <a:buNone/>
            </a:pPr>
            <a:r>
              <a:rPr lang="pt-BR" sz="1800" i="1" dirty="0">
                <a:solidFill>
                  <a:schemeClr val="tx2"/>
                </a:solidFill>
              </a:rPr>
              <a:t>             </a:t>
            </a:r>
            <a:r>
              <a:rPr lang="pt-BR" sz="1800" i="1" dirty="0" err="1">
                <a:solidFill>
                  <a:schemeClr val="tx2"/>
                </a:solidFill>
              </a:rPr>
              <a:t>y</a:t>
            </a:r>
            <a:r>
              <a:rPr lang="pt-BR" sz="1800" i="1" baseline="-25000" dirty="0" err="1">
                <a:solidFill>
                  <a:schemeClr val="tx2"/>
                </a:solidFill>
              </a:rPr>
              <a:t>i</a:t>
            </a:r>
            <a:r>
              <a:rPr lang="pt-BR" sz="1800" i="1" baseline="-25000" dirty="0">
                <a:solidFill>
                  <a:schemeClr val="tx2"/>
                </a:solidFill>
              </a:rPr>
              <a:t> + 1</a:t>
            </a:r>
            <a:r>
              <a:rPr lang="pt-BR" sz="1800" i="1" dirty="0">
                <a:solidFill>
                  <a:schemeClr val="tx2"/>
                </a:solidFill>
              </a:rPr>
              <a:t> = </a:t>
            </a:r>
            <a:r>
              <a:rPr lang="pt-BR" sz="1800" i="1" dirty="0" err="1">
                <a:solidFill>
                  <a:schemeClr val="tx2"/>
                </a:solidFill>
              </a:rPr>
              <a:t>y</a:t>
            </a:r>
            <a:r>
              <a:rPr lang="pt-BR" sz="1800" i="1" baseline="-25000" dirty="0" err="1">
                <a:solidFill>
                  <a:schemeClr val="tx2"/>
                </a:solidFill>
              </a:rPr>
              <a:t>i</a:t>
            </a:r>
            <a:r>
              <a:rPr lang="pt-BR" sz="1800" i="1" dirty="0">
                <a:solidFill>
                  <a:schemeClr val="tx2"/>
                </a:solidFill>
              </a:rPr>
              <a:t> + m</a:t>
            </a:r>
          </a:p>
          <a:p>
            <a:pPr lvl="1" eaLnBrk="1" hangingPunct="1"/>
            <a:endParaRPr lang="pt-BR" sz="1800" dirty="0"/>
          </a:p>
          <a:p>
            <a:pPr lvl="1" eaLnBrk="1" hangingPunct="1"/>
            <a:r>
              <a:rPr lang="pt-BR" sz="1800" dirty="0"/>
              <a:t>Equações</a:t>
            </a:r>
            <a:r>
              <a:rPr lang="pt-BR" sz="1800" i="1" dirty="0"/>
              <a:t> </a:t>
            </a:r>
            <a:r>
              <a:rPr lang="pt-BR" sz="1800" dirty="0"/>
              <a:t>para</a:t>
            </a:r>
            <a:r>
              <a:rPr lang="pt-BR" sz="1800" b="1" i="1" dirty="0"/>
              <a:t> </a:t>
            </a:r>
            <a:r>
              <a:rPr lang="pt-BR" sz="1800" i="1" dirty="0"/>
              <a:t>m &gt; 1</a:t>
            </a:r>
          </a:p>
          <a:p>
            <a:pPr eaLnBrk="1" hangingPunct="1">
              <a:buFont typeface="Wingdings" pitchFamily="2" charset="2"/>
              <a:buNone/>
            </a:pPr>
            <a:r>
              <a:rPr lang="pt-BR" sz="1800" i="1" dirty="0"/>
              <a:t>            x</a:t>
            </a:r>
            <a:r>
              <a:rPr lang="pt-BR" sz="1800" i="1" baseline="-25000" dirty="0"/>
              <a:t>i + 1 </a:t>
            </a:r>
            <a:r>
              <a:rPr lang="pt-BR" sz="1800" i="1" dirty="0"/>
              <a:t>= x</a:t>
            </a:r>
            <a:r>
              <a:rPr lang="pt-BR" sz="1800" i="1" baseline="-25000" dirty="0"/>
              <a:t>i</a:t>
            </a:r>
            <a:r>
              <a:rPr lang="pt-BR" sz="1800" i="1" dirty="0"/>
              <a:t> +    , </a:t>
            </a:r>
            <a:r>
              <a:rPr lang="pt-BR" sz="1800" i="1" dirty="0">
                <a:solidFill>
                  <a:schemeClr val="tx2"/>
                </a:solidFill>
              </a:rPr>
              <a:t>faça </a:t>
            </a:r>
            <a:r>
              <a:rPr lang="pt-BR" sz="1800" i="1" dirty="0" err="1">
                <a:solidFill>
                  <a:schemeClr val="tx2"/>
                </a:solidFill>
              </a:rPr>
              <a:t>dy</a:t>
            </a:r>
            <a:r>
              <a:rPr lang="pt-BR" sz="1800" i="1" dirty="0">
                <a:solidFill>
                  <a:schemeClr val="tx2"/>
                </a:solidFill>
              </a:rPr>
              <a:t> = 1</a:t>
            </a:r>
            <a:endParaRPr lang="pt-BR" b="1" dirty="0"/>
          </a:p>
          <a:p>
            <a:pPr eaLnBrk="1" hangingPunct="1">
              <a:buFont typeface="Wingdings" pitchFamily="2" charset="2"/>
              <a:buNone/>
            </a:pPr>
            <a:endParaRPr lang="pt-BR" sz="2000" i="1" dirty="0"/>
          </a:p>
        </p:txBody>
      </p:sp>
      <p:sp>
        <p:nvSpPr>
          <p:cNvPr id="3079" name="Rectangle 4"/>
          <p:cNvSpPr>
            <a:spLocks noChangeArrowheads="1"/>
          </p:cNvSpPr>
          <p:nvPr/>
        </p:nvSpPr>
        <p:spPr bwMode="auto">
          <a:xfrm>
            <a:off x="1965325" y="679450"/>
            <a:ext cx="52705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pt-BR">
                <a:solidFill>
                  <a:schemeClr val="tx2"/>
                </a:solidFill>
                <a:latin typeface="Tahoma" pitchFamily="34" charset="0"/>
              </a:rPr>
              <a:t>Rasterização da Reta</a:t>
            </a:r>
          </a:p>
        </p:txBody>
      </p:sp>
      <p:graphicFrame>
        <p:nvGraphicFramePr>
          <p:cNvPr id="3074" name="Object 5"/>
          <p:cNvGraphicFramePr>
            <a:graphicFrameLocks noChangeAspect="1"/>
          </p:cNvGraphicFramePr>
          <p:nvPr/>
        </p:nvGraphicFramePr>
        <p:xfrm>
          <a:off x="0" y="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14400" imgH="198720" progId="Equation.DSMT4">
                  <p:embed/>
                </p:oleObj>
              </mc:Choice>
              <mc:Fallback>
                <p:oleObj name="Equation" r:id="rId2" imgW="914400" imgH="19872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" cy="198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7"/>
          <p:cNvGraphicFramePr>
            <a:graphicFrameLocks noChangeAspect="1"/>
          </p:cNvGraphicFramePr>
          <p:nvPr/>
        </p:nvGraphicFramePr>
        <p:xfrm>
          <a:off x="6096000" y="5257800"/>
          <a:ext cx="2413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1200" imgH="558720" progId="Equation.3">
                  <p:embed/>
                </p:oleObj>
              </mc:Choice>
              <mc:Fallback>
                <p:oleObj name="Equation" r:id="rId4" imgW="241200" imgH="55872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5257800"/>
                        <a:ext cx="2413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80" name="Picture 10" descr="ScreenHunter_04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09600" y="1524000"/>
            <a:ext cx="3532188" cy="270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714375" y="858838"/>
            <a:ext cx="7539038" cy="477837"/>
          </a:xfrm>
          <a:noFill/>
        </p:spPr>
        <p:txBody>
          <a:bodyPr lIns="63500" tIns="25400" rIns="63500" bIns="25400" anchor="t">
            <a:spAutoFit/>
          </a:bodyPr>
          <a:lstStyle/>
          <a:p>
            <a:pPr eaLnBrk="1" hangingPunct="1"/>
            <a:r>
              <a:rPr lang="en-US" sz="2800"/>
              <a:t>DDA* Simples, Algoritmo de Reta </a:t>
            </a:r>
            <a:endParaRPr lang="en-US" sz="2800" b="0"/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2217738"/>
            <a:ext cx="7239000" cy="4267200"/>
          </a:xfrm>
          <a:noFill/>
        </p:spPr>
        <p:txBody>
          <a:bodyPr lIns="90487" tIns="44450" rIns="90487" bIns="44450"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600" dirty="0">
                <a:latin typeface="Courier" pitchFamily="49" charset="0"/>
              </a:rPr>
              <a:t>void DDA(</a:t>
            </a:r>
            <a:r>
              <a:rPr lang="en-US" sz="1600" dirty="0" err="1">
                <a:latin typeface="Courier" pitchFamily="49" charset="0"/>
              </a:rPr>
              <a:t>int</a:t>
            </a:r>
            <a:r>
              <a:rPr lang="en-US" sz="1600" dirty="0">
                <a:latin typeface="Courier" pitchFamily="49" charset="0"/>
              </a:rPr>
              <a:t> X1,Y1,X2,Y2,valor)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600" dirty="0">
                <a:latin typeface="Courier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600" dirty="0">
                <a:latin typeface="Courier" pitchFamily="49" charset="0"/>
              </a:rPr>
              <a:t>	</a:t>
            </a:r>
            <a:r>
              <a:rPr lang="en-US" sz="1600" dirty="0" err="1">
                <a:latin typeface="Courier" pitchFamily="49" charset="0"/>
              </a:rPr>
              <a:t>int</a:t>
            </a:r>
            <a:r>
              <a:rPr lang="en-US" sz="1600" dirty="0">
                <a:latin typeface="Courier" pitchFamily="49" charset="0"/>
              </a:rPr>
              <a:t>    Length, I;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600" dirty="0">
                <a:latin typeface="Courier" pitchFamily="49" charset="0"/>
              </a:rPr>
              <a:t>	float </a:t>
            </a:r>
            <a:r>
              <a:rPr lang="en-US" sz="1600" dirty="0" err="1">
                <a:latin typeface="Courier" pitchFamily="49" charset="0"/>
              </a:rPr>
              <a:t>X,Y,Xinc,Yinc</a:t>
            </a:r>
            <a:r>
              <a:rPr lang="en-US" sz="1600" dirty="0">
                <a:latin typeface="Courier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600" dirty="0">
                <a:latin typeface="Courier" pitchFamily="49" charset="0"/>
              </a:rPr>
              <a:t>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600" dirty="0">
                <a:latin typeface="Courier" pitchFamily="49" charset="0"/>
              </a:rPr>
              <a:t>	Length = ABS(X2 - X1);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600" dirty="0">
                <a:latin typeface="Courier" pitchFamily="49" charset="0"/>
              </a:rPr>
              <a:t>	if (ABS(Y2 - Y1)  &gt; Length)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600" dirty="0">
                <a:latin typeface="Courier" pitchFamily="49" charset="0"/>
              </a:rPr>
              <a:t>		Length = ABS(Y2-Y1);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600" dirty="0">
                <a:latin typeface="Courier" pitchFamily="49" charset="0"/>
              </a:rPr>
              <a:t>	</a:t>
            </a:r>
            <a:r>
              <a:rPr lang="en-US" sz="1600" dirty="0" err="1">
                <a:latin typeface="Courier" pitchFamily="49" charset="0"/>
              </a:rPr>
              <a:t>Xinc</a:t>
            </a:r>
            <a:r>
              <a:rPr lang="en-US" sz="1600" dirty="0">
                <a:latin typeface="Courier" pitchFamily="49" charset="0"/>
              </a:rPr>
              <a:t> = (X2 - X1)/Length;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600" dirty="0">
                <a:latin typeface="Courier" pitchFamily="49" charset="0"/>
              </a:rPr>
              <a:t>	</a:t>
            </a:r>
            <a:r>
              <a:rPr lang="en-US" sz="1600" dirty="0" err="1">
                <a:latin typeface="Courier" pitchFamily="49" charset="0"/>
              </a:rPr>
              <a:t>Yinc</a:t>
            </a:r>
            <a:r>
              <a:rPr lang="en-US" sz="1600" dirty="0">
                <a:latin typeface="Courier" pitchFamily="49" charset="0"/>
              </a:rPr>
              <a:t> = (Y2 - Y1)/Length;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600" dirty="0">
                <a:latin typeface="Courier" pitchFamily="49" charset="0"/>
              </a:rPr>
              <a:t>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1600" dirty="0">
              <a:latin typeface="Courier" pitchFamily="49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pt-BR" sz="1800" b="1" dirty="0"/>
              <a:t>DDA Cria boas linhas, mas consome muito tempo devido as funções de arredondamento</a:t>
            </a:r>
            <a:r>
              <a:rPr lang="en-US" sz="1800" b="1" dirty="0"/>
              <a:t>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800" dirty="0"/>
              <a:t>*</a:t>
            </a:r>
            <a:r>
              <a:rPr lang="pt-BR" sz="1800" dirty="0"/>
              <a:t>DDA: </a:t>
            </a:r>
            <a:r>
              <a:rPr lang="pt-BR" sz="1800" i="1" dirty="0"/>
              <a:t>Digital </a:t>
            </a:r>
            <a:r>
              <a:rPr lang="pt-BR" sz="1800" i="1" dirty="0" err="1"/>
              <a:t>Differential</a:t>
            </a:r>
            <a:r>
              <a:rPr lang="pt-BR" sz="1800" i="1" dirty="0"/>
              <a:t> </a:t>
            </a:r>
            <a:r>
              <a:rPr lang="pt-BR" sz="1800" i="1" dirty="0" err="1"/>
              <a:t>Analyzer</a:t>
            </a:r>
            <a:r>
              <a:rPr lang="pt-BR" sz="1800" dirty="0"/>
              <a:t> (Método do Declive)</a:t>
            </a:r>
            <a:endParaRPr lang="pt-BR" sz="1800" b="1" dirty="0"/>
          </a:p>
        </p:txBody>
      </p:sp>
      <p:sp>
        <p:nvSpPr>
          <p:cNvPr id="19461" name="Rectangle 4"/>
          <p:cNvSpPr>
            <a:spLocks noChangeArrowheads="1"/>
          </p:cNvSpPr>
          <p:nvPr/>
        </p:nvSpPr>
        <p:spPr bwMode="auto">
          <a:xfrm>
            <a:off x="4929188" y="2217738"/>
            <a:ext cx="3957637" cy="322748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7" tIns="44450" rIns="90487" bIns="44450"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en-US" sz="1400" dirty="0">
                <a:latin typeface="Times" pitchFamily="18" charset="0"/>
              </a:rPr>
              <a:t>	</a:t>
            </a:r>
            <a:r>
              <a:rPr lang="en-US" sz="1600" dirty="0">
                <a:latin typeface="Courier" pitchFamily="49" charset="0"/>
              </a:rPr>
              <a:t>X = X1;</a:t>
            </a:r>
          </a:p>
          <a:p>
            <a:pPr marL="342900" indent="-342900" eaLnBrk="0" hangingPunct="0"/>
            <a:r>
              <a:rPr lang="en-US" sz="1600" dirty="0">
                <a:latin typeface="Courier" pitchFamily="49" charset="0"/>
              </a:rPr>
              <a:t>	Y = Y1;</a:t>
            </a:r>
          </a:p>
          <a:p>
            <a:pPr marL="342900" indent="-342900" eaLnBrk="0" hangingPunct="0"/>
            <a:r>
              <a:rPr lang="en-US" sz="1400" dirty="0" err="1">
                <a:latin typeface="Courier" pitchFamily="49" charset="0"/>
              </a:rPr>
              <a:t>setpixel</a:t>
            </a:r>
            <a:r>
              <a:rPr lang="en-US" sz="1400" dirty="0">
                <a:latin typeface="Courier" pitchFamily="49" charset="0"/>
              </a:rPr>
              <a:t>(Round(X),Round(Y),valor);</a:t>
            </a:r>
          </a:p>
          <a:p>
            <a:pPr marL="342900" indent="-342900" eaLnBrk="0" hangingPunct="0"/>
            <a:endParaRPr lang="en-US" sz="1400" dirty="0">
              <a:latin typeface="Times" pitchFamily="18" charset="0"/>
            </a:endParaRPr>
          </a:p>
          <a:p>
            <a:pPr marL="342900" indent="-342900" eaLnBrk="0" hangingPunct="0"/>
            <a:r>
              <a:rPr lang="en-US" sz="1600" dirty="0">
                <a:latin typeface="Courier" pitchFamily="49" charset="0"/>
              </a:rPr>
              <a:t>	while(X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1600" dirty="0">
                <a:latin typeface="Courier" pitchFamily="49" charset="0"/>
              </a:rPr>
              <a:t>X2){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sz="1600" dirty="0">
                <a:latin typeface="Courier" pitchFamily="49" charset="0"/>
              </a:rPr>
              <a:t>	  X = X + </a:t>
            </a:r>
            <a:r>
              <a:rPr lang="en-US" sz="1600" dirty="0" err="1">
                <a:latin typeface="Courier" pitchFamily="49" charset="0"/>
              </a:rPr>
              <a:t>Xinc</a:t>
            </a:r>
            <a:r>
              <a:rPr lang="en-US" sz="1600" dirty="0">
                <a:latin typeface="Courier" pitchFamily="49" charset="0"/>
              </a:rPr>
              <a:t>;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sz="1600" dirty="0">
                <a:latin typeface="Courier" pitchFamily="49" charset="0"/>
              </a:rPr>
              <a:t>	  Y = Y + </a:t>
            </a:r>
            <a:r>
              <a:rPr lang="en-US" sz="1600" dirty="0" err="1">
                <a:latin typeface="Courier" pitchFamily="49" charset="0"/>
              </a:rPr>
              <a:t>Yinc</a:t>
            </a:r>
            <a:r>
              <a:rPr lang="en-US" sz="1600" dirty="0">
                <a:latin typeface="Courier" pitchFamily="49" charset="0"/>
              </a:rPr>
              <a:t>;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sz="1600" dirty="0">
                <a:latin typeface="Courier" pitchFamily="49" charset="0"/>
              </a:rPr>
              <a:t>  </a:t>
            </a:r>
            <a:r>
              <a:rPr lang="en-US" sz="1600" dirty="0" err="1">
                <a:latin typeface="Courier" pitchFamily="49" charset="0"/>
              </a:rPr>
              <a:t>setpixel</a:t>
            </a:r>
            <a:r>
              <a:rPr lang="en-US" sz="1600" dirty="0">
                <a:latin typeface="Courier" pitchFamily="49" charset="0"/>
              </a:rPr>
              <a:t>(Round(X),Round(Y),valor);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sz="1600" dirty="0">
                <a:latin typeface="Courier" pitchFamily="49" charset="0"/>
              </a:rPr>
              <a:t>                 }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sz="1600" dirty="0">
                <a:latin typeface="Courier" pitchFamily="49" charset="0"/>
              </a:rPr>
              <a:t>}</a:t>
            </a:r>
          </a:p>
          <a:p>
            <a:pPr marL="342900" indent="-342900" eaLnBrk="0" hangingPunct="0">
              <a:spcBef>
                <a:spcPct val="20000"/>
              </a:spcBef>
            </a:pPr>
            <a:endParaRPr lang="en-US" sz="1800" dirty="0">
              <a:latin typeface="Times" pitchFamily="18" charset="0"/>
            </a:endParaRPr>
          </a:p>
          <a:p>
            <a:pPr marL="342900" indent="-342900" algn="ctr" eaLnBrk="0" hangingPunct="0"/>
            <a:endParaRPr lang="en-US" sz="1800" dirty="0">
              <a:latin typeface="Times" pitchFamily="18" charset="0"/>
            </a:endParaRPr>
          </a:p>
        </p:txBody>
      </p:sp>
      <p:sp>
        <p:nvSpPr>
          <p:cNvPr id="19462" name="Rectangle 5"/>
          <p:cNvSpPr>
            <a:spLocks noChangeArrowheads="1"/>
          </p:cNvSpPr>
          <p:nvPr/>
        </p:nvSpPr>
        <p:spPr bwMode="auto">
          <a:xfrm>
            <a:off x="785813" y="2143125"/>
            <a:ext cx="8215312" cy="3340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3" name="Line 6"/>
          <p:cNvSpPr>
            <a:spLocks noChangeShapeType="1"/>
          </p:cNvSpPr>
          <p:nvPr/>
        </p:nvSpPr>
        <p:spPr bwMode="auto">
          <a:xfrm>
            <a:off x="4929188" y="2143125"/>
            <a:ext cx="0" cy="3340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DDA COM LAÇO FOR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11560" y="1600200"/>
            <a:ext cx="8075240" cy="4925144"/>
          </a:xfrm>
        </p:spPr>
        <p:txBody>
          <a:bodyPr/>
          <a:lstStyle/>
          <a:p>
            <a:pPr marL="0" indent="0">
              <a:buNone/>
            </a:pPr>
            <a:r>
              <a:rPr lang="en-US" sz="1200" dirty="0"/>
              <a:t>#include &lt;</a:t>
            </a:r>
            <a:r>
              <a:rPr lang="en-US" sz="1200" dirty="0" err="1"/>
              <a:t>stdlib.h</a:t>
            </a:r>
            <a:r>
              <a:rPr lang="en-US" sz="1200" dirty="0"/>
              <a:t>&gt;</a:t>
            </a:r>
          </a:p>
          <a:p>
            <a:pPr marL="0" indent="0">
              <a:buNone/>
            </a:pPr>
            <a:r>
              <a:rPr lang="en-US" sz="1200"/>
              <a:t>#</a:t>
            </a:r>
            <a:r>
              <a:rPr lang="en-US" sz="1200" dirty="0"/>
              <a:t>include &lt;</a:t>
            </a:r>
            <a:r>
              <a:rPr lang="en-US" sz="1200" dirty="0" err="1"/>
              <a:t>math.h</a:t>
            </a:r>
            <a:r>
              <a:rPr lang="en-US" sz="1200" dirty="0"/>
              <a:t>&gt;</a:t>
            </a:r>
          </a:p>
          <a:p>
            <a:pPr marL="0" indent="0">
              <a:buNone/>
            </a:pPr>
            <a:r>
              <a:rPr lang="en-US" sz="1200" dirty="0"/>
              <a:t> inline </a:t>
            </a:r>
            <a:r>
              <a:rPr lang="en-US" sz="1200" dirty="0" err="1"/>
              <a:t>int</a:t>
            </a:r>
            <a:r>
              <a:rPr lang="en-US" sz="1200" dirty="0"/>
              <a:t> round (</a:t>
            </a:r>
            <a:r>
              <a:rPr lang="en-US" sz="1200" dirty="0" err="1"/>
              <a:t>const</a:t>
            </a:r>
            <a:r>
              <a:rPr lang="en-US" sz="1200" dirty="0"/>
              <a:t> float a)  { return </a:t>
            </a:r>
            <a:r>
              <a:rPr lang="en-US" sz="1200" dirty="0" err="1"/>
              <a:t>int</a:t>
            </a:r>
            <a:r>
              <a:rPr lang="en-US" sz="1200" dirty="0"/>
              <a:t> (a + 0.5); }</a:t>
            </a:r>
          </a:p>
          <a:p>
            <a:pPr marL="0" indent="0">
              <a:buNone/>
            </a:pPr>
            <a:r>
              <a:rPr lang="en-US" sz="1200" dirty="0"/>
              <a:t> void </a:t>
            </a:r>
            <a:r>
              <a:rPr lang="en-US" sz="1200" dirty="0" err="1"/>
              <a:t>lineDDA</a:t>
            </a:r>
            <a:r>
              <a:rPr lang="en-US" sz="1200" dirty="0"/>
              <a:t> (</a:t>
            </a:r>
            <a:r>
              <a:rPr lang="en-US" sz="1200" dirty="0" err="1"/>
              <a:t>int</a:t>
            </a:r>
            <a:r>
              <a:rPr lang="en-US" sz="1200" dirty="0"/>
              <a:t> x0, </a:t>
            </a:r>
            <a:r>
              <a:rPr lang="en-US" sz="1200" dirty="0" err="1"/>
              <a:t>int</a:t>
            </a:r>
            <a:r>
              <a:rPr lang="en-US" sz="1200" dirty="0"/>
              <a:t> y0, 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xEnd</a:t>
            </a:r>
            <a:r>
              <a:rPr lang="en-US" sz="1200" dirty="0"/>
              <a:t>, 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yEnd</a:t>
            </a:r>
            <a:r>
              <a:rPr lang="en-US" sz="1200" dirty="0"/>
              <a:t>)</a:t>
            </a:r>
          </a:p>
          <a:p>
            <a:pPr marL="0" indent="0">
              <a:buNone/>
            </a:pPr>
            <a:r>
              <a:rPr lang="en-US" sz="1200" dirty="0"/>
              <a:t>   {</a:t>
            </a:r>
          </a:p>
          <a:p>
            <a:pPr marL="0" indent="0">
              <a:buNone/>
            </a:pPr>
            <a:r>
              <a:rPr lang="en-US" sz="1200" dirty="0"/>
              <a:t>      </a:t>
            </a:r>
            <a:r>
              <a:rPr lang="en-US" sz="1200" dirty="0" err="1"/>
              <a:t>int</a:t>
            </a:r>
            <a:r>
              <a:rPr lang="en-US" sz="1200" dirty="0"/>
              <a:t> dx = </a:t>
            </a:r>
            <a:r>
              <a:rPr lang="en-US" sz="1200" dirty="0" err="1"/>
              <a:t>xEnd</a:t>
            </a:r>
            <a:r>
              <a:rPr lang="en-US" sz="1200" dirty="0"/>
              <a:t> - x0,  </a:t>
            </a:r>
            <a:r>
              <a:rPr lang="en-US" sz="1200" dirty="0" err="1"/>
              <a:t>dy</a:t>
            </a:r>
            <a:r>
              <a:rPr lang="en-US" sz="1200" dirty="0"/>
              <a:t> = </a:t>
            </a:r>
            <a:r>
              <a:rPr lang="en-US" sz="1200" dirty="0" err="1"/>
              <a:t>yEnd</a:t>
            </a:r>
            <a:r>
              <a:rPr lang="en-US" sz="1200" dirty="0"/>
              <a:t> - y0,  steps,  k;</a:t>
            </a:r>
          </a:p>
          <a:p>
            <a:pPr marL="0" indent="0">
              <a:buNone/>
            </a:pPr>
            <a:r>
              <a:rPr lang="en-US" sz="1200" dirty="0"/>
              <a:t>      float </a:t>
            </a:r>
            <a:r>
              <a:rPr lang="en-US" sz="1200" dirty="0" err="1"/>
              <a:t>xIncrement</a:t>
            </a:r>
            <a:r>
              <a:rPr lang="en-US" sz="1200" dirty="0"/>
              <a:t>, </a:t>
            </a:r>
            <a:r>
              <a:rPr lang="en-US" sz="1200" dirty="0" err="1"/>
              <a:t>yIncrement</a:t>
            </a:r>
            <a:r>
              <a:rPr lang="en-US" sz="1200" dirty="0"/>
              <a:t>, x = x0, y = y0;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      if (</a:t>
            </a:r>
            <a:r>
              <a:rPr lang="en-US" sz="1200" dirty="0" err="1"/>
              <a:t>fabs</a:t>
            </a:r>
            <a:r>
              <a:rPr lang="en-US" sz="1200" dirty="0"/>
              <a:t> (dx) &gt; </a:t>
            </a:r>
            <a:r>
              <a:rPr lang="en-US" sz="1200" dirty="0" err="1"/>
              <a:t>fabs</a:t>
            </a:r>
            <a:r>
              <a:rPr lang="en-US" sz="1200" dirty="0"/>
              <a:t> (</a:t>
            </a:r>
            <a:r>
              <a:rPr lang="en-US" sz="1200" dirty="0" err="1"/>
              <a:t>dy</a:t>
            </a:r>
            <a:r>
              <a:rPr lang="en-US" sz="1200" dirty="0"/>
              <a:t>))</a:t>
            </a:r>
          </a:p>
          <a:p>
            <a:pPr marL="0" indent="0">
              <a:buNone/>
            </a:pPr>
            <a:r>
              <a:rPr lang="en-US" sz="1200" dirty="0"/>
              <a:t>         steps = </a:t>
            </a:r>
            <a:r>
              <a:rPr lang="en-US" sz="1200" dirty="0" err="1"/>
              <a:t>fabs</a:t>
            </a:r>
            <a:r>
              <a:rPr lang="en-US" sz="1200" dirty="0"/>
              <a:t> (dx);</a:t>
            </a:r>
          </a:p>
          <a:p>
            <a:pPr marL="0" indent="0">
              <a:buNone/>
            </a:pPr>
            <a:r>
              <a:rPr lang="en-US" sz="1200" dirty="0"/>
              <a:t>      else</a:t>
            </a:r>
          </a:p>
          <a:p>
            <a:pPr marL="0" indent="0">
              <a:buNone/>
            </a:pPr>
            <a:r>
              <a:rPr lang="en-US" sz="1200" dirty="0"/>
              <a:t>         steps = </a:t>
            </a:r>
            <a:r>
              <a:rPr lang="en-US" sz="1200" dirty="0" err="1"/>
              <a:t>fabs</a:t>
            </a:r>
            <a:r>
              <a:rPr lang="en-US" sz="1200" dirty="0"/>
              <a:t> (</a:t>
            </a:r>
            <a:r>
              <a:rPr lang="en-US" sz="1200" dirty="0" err="1"/>
              <a:t>dy</a:t>
            </a:r>
            <a:r>
              <a:rPr lang="en-US" sz="1200" dirty="0"/>
              <a:t>);</a:t>
            </a:r>
          </a:p>
          <a:p>
            <a:pPr marL="0" indent="0">
              <a:buNone/>
            </a:pPr>
            <a:r>
              <a:rPr lang="en-US" sz="1200" dirty="0"/>
              <a:t>      </a:t>
            </a:r>
            <a:r>
              <a:rPr lang="en-US" sz="1200" dirty="0" err="1"/>
              <a:t>xIncrement</a:t>
            </a:r>
            <a:r>
              <a:rPr lang="en-US" sz="1200" dirty="0"/>
              <a:t> = float (dx) / float (steps);</a:t>
            </a:r>
          </a:p>
          <a:p>
            <a:pPr marL="0" indent="0">
              <a:buNone/>
            </a:pPr>
            <a:r>
              <a:rPr lang="en-US" sz="1200" dirty="0"/>
              <a:t>      </a:t>
            </a:r>
            <a:r>
              <a:rPr lang="en-US" sz="1200" dirty="0" err="1"/>
              <a:t>yIncrement</a:t>
            </a:r>
            <a:r>
              <a:rPr lang="en-US" sz="1200" dirty="0"/>
              <a:t> = float (</a:t>
            </a:r>
            <a:r>
              <a:rPr lang="en-US" sz="1200" dirty="0" err="1"/>
              <a:t>dy</a:t>
            </a:r>
            <a:r>
              <a:rPr lang="en-US" sz="1200" dirty="0"/>
              <a:t>) / float (steps);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      </a:t>
            </a:r>
            <a:r>
              <a:rPr lang="en-US" sz="1200" dirty="0" err="1"/>
              <a:t>setPixel</a:t>
            </a:r>
            <a:r>
              <a:rPr lang="en-US" sz="1200" dirty="0"/>
              <a:t> (round (x), round (y));</a:t>
            </a:r>
          </a:p>
          <a:p>
            <a:pPr marL="0" indent="0">
              <a:buNone/>
            </a:pPr>
            <a:r>
              <a:rPr lang="en-US" sz="1200" dirty="0"/>
              <a:t>      for (k = 0; k &lt; steps; k++) {</a:t>
            </a:r>
          </a:p>
          <a:p>
            <a:pPr marL="0" indent="0">
              <a:buNone/>
            </a:pPr>
            <a:r>
              <a:rPr lang="en-US" sz="1200" dirty="0"/>
              <a:t>         x += </a:t>
            </a:r>
            <a:r>
              <a:rPr lang="en-US" sz="1200" dirty="0" err="1"/>
              <a:t>xIncrement</a:t>
            </a:r>
            <a:r>
              <a:rPr lang="en-US" sz="1200" dirty="0"/>
              <a:t>;</a:t>
            </a:r>
          </a:p>
          <a:p>
            <a:pPr marL="0" indent="0">
              <a:buNone/>
            </a:pPr>
            <a:r>
              <a:rPr lang="en-US" sz="1200" dirty="0"/>
              <a:t>         y += </a:t>
            </a:r>
            <a:r>
              <a:rPr lang="en-US" sz="1200" dirty="0" err="1"/>
              <a:t>yIncrement</a:t>
            </a:r>
            <a:r>
              <a:rPr lang="en-US" sz="1200" dirty="0"/>
              <a:t>;</a:t>
            </a:r>
          </a:p>
          <a:p>
            <a:pPr marL="0" indent="0">
              <a:buNone/>
            </a:pPr>
            <a:r>
              <a:rPr lang="en-US" sz="1200" dirty="0"/>
              <a:t>         </a:t>
            </a:r>
            <a:r>
              <a:rPr lang="en-US" sz="1200" dirty="0" err="1"/>
              <a:t>setPixel</a:t>
            </a:r>
            <a:r>
              <a:rPr lang="en-US" sz="1200" dirty="0"/>
              <a:t> (round (x), round (y));</a:t>
            </a:r>
          </a:p>
          <a:p>
            <a:pPr marL="0" indent="0">
              <a:buNone/>
            </a:pPr>
            <a:r>
              <a:rPr lang="en-US" sz="1200" dirty="0"/>
              <a:t>      }</a:t>
            </a:r>
          </a:p>
          <a:p>
            <a:pPr marL="0" indent="0">
              <a:buNone/>
            </a:pPr>
            <a:r>
              <a:rPr lang="en-US" sz="1200" dirty="0"/>
              <a:t>   }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Prof. Robson Pequeno de sousa</a:t>
            </a:r>
          </a:p>
        </p:txBody>
      </p:sp>
    </p:spTree>
    <p:extLst>
      <p:ext uri="{BB962C8B-B14F-4D97-AF65-F5344CB8AC3E}">
        <p14:creationId xmlns:p14="http://schemas.microsoft.com/office/powerpoint/2010/main" val="406942000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ço Reservado para Rodapé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20483" name="Rectangle 2"/>
          <p:cNvSpPr>
            <a:spLocks noChangeArrowheads="1"/>
          </p:cNvSpPr>
          <p:nvPr/>
        </p:nvSpPr>
        <p:spPr bwMode="auto">
          <a:xfrm>
            <a:off x="941388" y="2139950"/>
            <a:ext cx="7315200" cy="4343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7" tIns="44450" rIns="90487" bIns="44450"/>
          <a:lstStyle/>
          <a:p>
            <a:pPr eaLnBrk="0" hangingPunct="0"/>
            <a:r>
              <a:rPr lang="pt-BR" sz="2400">
                <a:latin typeface="Tahoma" pitchFamily="34" charset="0"/>
              </a:rPr>
              <a:t>Compute quais pixeis devem ser escolhidos para representar a reta de  (6,9) to (11,12).</a:t>
            </a:r>
          </a:p>
          <a:p>
            <a:pPr eaLnBrk="0" hangingPunct="0"/>
            <a:endParaRPr lang="pt-BR" sz="2400">
              <a:latin typeface="Tahoma" pitchFamily="34" charset="0"/>
            </a:endParaRPr>
          </a:p>
          <a:p>
            <a:pPr eaLnBrk="0" hangingPunct="0"/>
            <a:r>
              <a:rPr lang="pt-BR" sz="2400">
                <a:latin typeface="Tahoma" pitchFamily="34" charset="0"/>
              </a:rPr>
              <a:t>Length = ?</a:t>
            </a:r>
          </a:p>
          <a:p>
            <a:pPr eaLnBrk="0" hangingPunct="0"/>
            <a:r>
              <a:rPr lang="pt-BR" sz="2400">
                <a:latin typeface="Tahoma" pitchFamily="34" charset="0"/>
              </a:rPr>
              <a:t>Xinc = ?</a:t>
            </a:r>
          </a:p>
          <a:p>
            <a:pPr eaLnBrk="0" hangingPunct="0"/>
            <a:r>
              <a:rPr lang="pt-BR" sz="2400">
                <a:latin typeface="Tahoma" pitchFamily="34" charset="0"/>
              </a:rPr>
              <a:t>Yinc = ?</a:t>
            </a:r>
          </a:p>
          <a:p>
            <a:pPr eaLnBrk="0" hangingPunct="0"/>
            <a:endParaRPr lang="pt-BR" sz="2400">
              <a:latin typeface="Tahoma" pitchFamily="34" charset="0"/>
            </a:endParaRPr>
          </a:p>
          <a:p>
            <a:pPr eaLnBrk="0" hangingPunct="0"/>
            <a:endParaRPr lang="pt-BR" sz="1800">
              <a:latin typeface="Times" pitchFamily="18" charset="0"/>
            </a:endParaRPr>
          </a:p>
        </p:txBody>
      </p:sp>
      <p:sp>
        <p:nvSpPr>
          <p:cNvPr id="20484" name="Line 3"/>
          <p:cNvSpPr>
            <a:spLocks noChangeShapeType="1"/>
          </p:cNvSpPr>
          <p:nvPr/>
        </p:nvSpPr>
        <p:spPr bwMode="auto">
          <a:xfrm>
            <a:off x="3922713" y="3060700"/>
            <a:ext cx="4103687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0485" name="Line 4"/>
          <p:cNvSpPr>
            <a:spLocks noChangeShapeType="1"/>
          </p:cNvSpPr>
          <p:nvPr/>
        </p:nvSpPr>
        <p:spPr bwMode="auto">
          <a:xfrm>
            <a:off x="3922713" y="3402013"/>
            <a:ext cx="4103687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0486" name="Line 5"/>
          <p:cNvSpPr>
            <a:spLocks noChangeShapeType="1"/>
          </p:cNvSpPr>
          <p:nvPr/>
        </p:nvSpPr>
        <p:spPr bwMode="auto">
          <a:xfrm>
            <a:off x="3922713" y="3743325"/>
            <a:ext cx="4103687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0487" name="Line 6"/>
          <p:cNvSpPr>
            <a:spLocks noChangeShapeType="1"/>
          </p:cNvSpPr>
          <p:nvPr/>
        </p:nvSpPr>
        <p:spPr bwMode="auto">
          <a:xfrm>
            <a:off x="3922713" y="4084638"/>
            <a:ext cx="4103687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0488" name="Line 7"/>
          <p:cNvSpPr>
            <a:spLocks noChangeShapeType="1"/>
          </p:cNvSpPr>
          <p:nvPr/>
        </p:nvSpPr>
        <p:spPr bwMode="auto">
          <a:xfrm>
            <a:off x="3922713" y="4425950"/>
            <a:ext cx="4103687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0489" name="Line 8"/>
          <p:cNvSpPr>
            <a:spLocks noChangeShapeType="1"/>
          </p:cNvSpPr>
          <p:nvPr/>
        </p:nvSpPr>
        <p:spPr bwMode="auto">
          <a:xfrm>
            <a:off x="3922713" y="4767263"/>
            <a:ext cx="4103687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0490" name="Line 9"/>
          <p:cNvSpPr>
            <a:spLocks noChangeShapeType="1"/>
          </p:cNvSpPr>
          <p:nvPr/>
        </p:nvSpPr>
        <p:spPr bwMode="auto">
          <a:xfrm>
            <a:off x="3922713" y="5108575"/>
            <a:ext cx="4103687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0491" name="Line 10"/>
          <p:cNvSpPr>
            <a:spLocks noChangeShapeType="1"/>
          </p:cNvSpPr>
          <p:nvPr/>
        </p:nvSpPr>
        <p:spPr bwMode="auto">
          <a:xfrm>
            <a:off x="3922713" y="5449888"/>
            <a:ext cx="4103687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0492" name="Line 11"/>
          <p:cNvSpPr>
            <a:spLocks noChangeShapeType="1"/>
          </p:cNvSpPr>
          <p:nvPr/>
        </p:nvSpPr>
        <p:spPr bwMode="auto">
          <a:xfrm>
            <a:off x="4151313" y="2946400"/>
            <a:ext cx="1587" cy="26177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0493" name="Line 12"/>
          <p:cNvSpPr>
            <a:spLocks noChangeShapeType="1"/>
          </p:cNvSpPr>
          <p:nvPr/>
        </p:nvSpPr>
        <p:spPr bwMode="auto">
          <a:xfrm>
            <a:off x="4492625" y="2946400"/>
            <a:ext cx="1588" cy="26177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0494" name="Line 13"/>
          <p:cNvSpPr>
            <a:spLocks noChangeShapeType="1"/>
          </p:cNvSpPr>
          <p:nvPr/>
        </p:nvSpPr>
        <p:spPr bwMode="auto">
          <a:xfrm>
            <a:off x="4835525" y="2946400"/>
            <a:ext cx="1588" cy="26177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0495" name="Line 14"/>
          <p:cNvSpPr>
            <a:spLocks noChangeShapeType="1"/>
          </p:cNvSpPr>
          <p:nvPr/>
        </p:nvSpPr>
        <p:spPr bwMode="auto">
          <a:xfrm>
            <a:off x="5176838" y="2946400"/>
            <a:ext cx="1587" cy="26177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0496" name="Line 15"/>
          <p:cNvSpPr>
            <a:spLocks noChangeShapeType="1"/>
          </p:cNvSpPr>
          <p:nvPr/>
        </p:nvSpPr>
        <p:spPr bwMode="auto">
          <a:xfrm>
            <a:off x="5519738" y="2946400"/>
            <a:ext cx="1587" cy="26177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0497" name="Line 16"/>
          <p:cNvSpPr>
            <a:spLocks noChangeShapeType="1"/>
          </p:cNvSpPr>
          <p:nvPr/>
        </p:nvSpPr>
        <p:spPr bwMode="auto">
          <a:xfrm>
            <a:off x="5867400" y="2971800"/>
            <a:ext cx="1588" cy="26177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0498" name="Line 17"/>
          <p:cNvSpPr>
            <a:spLocks noChangeShapeType="1"/>
          </p:cNvSpPr>
          <p:nvPr/>
        </p:nvSpPr>
        <p:spPr bwMode="auto">
          <a:xfrm>
            <a:off x="6202363" y="2946400"/>
            <a:ext cx="1587" cy="26177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0499" name="Line 18"/>
          <p:cNvSpPr>
            <a:spLocks noChangeShapeType="1"/>
          </p:cNvSpPr>
          <p:nvPr/>
        </p:nvSpPr>
        <p:spPr bwMode="auto">
          <a:xfrm>
            <a:off x="6545263" y="2946400"/>
            <a:ext cx="1587" cy="26177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0500" name="Line 19"/>
          <p:cNvSpPr>
            <a:spLocks noChangeShapeType="1"/>
          </p:cNvSpPr>
          <p:nvPr/>
        </p:nvSpPr>
        <p:spPr bwMode="auto">
          <a:xfrm>
            <a:off x="6886575" y="2946400"/>
            <a:ext cx="1588" cy="26177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0501" name="Line 20"/>
          <p:cNvSpPr>
            <a:spLocks noChangeShapeType="1"/>
          </p:cNvSpPr>
          <p:nvPr/>
        </p:nvSpPr>
        <p:spPr bwMode="auto">
          <a:xfrm>
            <a:off x="7229475" y="2946400"/>
            <a:ext cx="1588" cy="26177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0502" name="Line 21"/>
          <p:cNvSpPr>
            <a:spLocks noChangeShapeType="1"/>
          </p:cNvSpPr>
          <p:nvPr/>
        </p:nvSpPr>
        <p:spPr bwMode="auto">
          <a:xfrm>
            <a:off x="7570788" y="2946400"/>
            <a:ext cx="1587" cy="26177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0503" name="Line 22"/>
          <p:cNvSpPr>
            <a:spLocks noChangeShapeType="1"/>
          </p:cNvSpPr>
          <p:nvPr/>
        </p:nvSpPr>
        <p:spPr bwMode="auto">
          <a:xfrm>
            <a:off x="7912100" y="2946400"/>
            <a:ext cx="1588" cy="26177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0504" name="Rectangle 23"/>
          <p:cNvSpPr>
            <a:spLocks noChangeArrowheads="1"/>
          </p:cNvSpPr>
          <p:nvPr/>
        </p:nvSpPr>
        <p:spPr bwMode="auto">
          <a:xfrm>
            <a:off x="4062413" y="5665788"/>
            <a:ext cx="215900" cy="20161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05" name="Rectangle 24"/>
          <p:cNvSpPr>
            <a:spLocks noChangeArrowheads="1"/>
          </p:cNvSpPr>
          <p:nvPr/>
        </p:nvSpPr>
        <p:spPr bwMode="auto">
          <a:xfrm>
            <a:off x="4113213" y="5676900"/>
            <a:ext cx="2159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200" b="1">
                <a:solidFill>
                  <a:srgbClr val="000000"/>
                </a:solidFill>
                <a:latin typeface="Geneva" charset="0"/>
              </a:rPr>
              <a:t>6</a:t>
            </a:r>
            <a:endParaRPr lang="en-US" sz="1800" u="sng">
              <a:latin typeface="Times New Roman" pitchFamily="18" charset="0"/>
            </a:endParaRPr>
          </a:p>
        </p:txBody>
      </p:sp>
      <p:sp>
        <p:nvSpPr>
          <p:cNvPr id="20506" name="Rectangle 25"/>
          <p:cNvSpPr>
            <a:spLocks noChangeArrowheads="1"/>
          </p:cNvSpPr>
          <p:nvPr/>
        </p:nvSpPr>
        <p:spPr bwMode="auto">
          <a:xfrm>
            <a:off x="4392613" y="5678488"/>
            <a:ext cx="214312" cy="20161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07" name="Rectangle 26"/>
          <p:cNvSpPr>
            <a:spLocks noChangeArrowheads="1"/>
          </p:cNvSpPr>
          <p:nvPr/>
        </p:nvSpPr>
        <p:spPr bwMode="auto">
          <a:xfrm>
            <a:off x="4443413" y="5689600"/>
            <a:ext cx="2159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200" b="1">
                <a:solidFill>
                  <a:srgbClr val="000000"/>
                </a:solidFill>
                <a:latin typeface="Geneva" charset="0"/>
              </a:rPr>
              <a:t>7</a:t>
            </a:r>
            <a:endParaRPr lang="en-US" sz="1800" u="sng">
              <a:latin typeface="Times New Roman" pitchFamily="18" charset="0"/>
            </a:endParaRPr>
          </a:p>
        </p:txBody>
      </p:sp>
      <p:sp>
        <p:nvSpPr>
          <p:cNvPr id="20508" name="Rectangle 27"/>
          <p:cNvSpPr>
            <a:spLocks noChangeArrowheads="1"/>
          </p:cNvSpPr>
          <p:nvPr/>
        </p:nvSpPr>
        <p:spPr bwMode="auto">
          <a:xfrm>
            <a:off x="4733925" y="5678488"/>
            <a:ext cx="215900" cy="20161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09" name="Rectangle 28"/>
          <p:cNvSpPr>
            <a:spLocks noChangeArrowheads="1"/>
          </p:cNvSpPr>
          <p:nvPr/>
        </p:nvSpPr>
        <p:spPr bwMode="auto">
          <a:xfrm>
            <a:off x="4784725" y="5689600"/>
            <a:ext cx="2159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200" b="1">
                <a:solidFill>
                  <a:srgbClr val="000000"/>
                </a:solidFill>
                <a:latin typeface="Geneva" charset="0"/>
              </a:rPr>
              <a:t>8</a:t>
            </a:r>
            <a:endParaRPr lang="en-US" sz="1800" u="sng">
              <a:latin typeface="Times New Roman" pitchFamily="18" charset="0"/>
            </a:endParaRPr>
          </a:p>
        </p:txBody>
      </p:sp>
      <p:sp>
        <p:nvSpPr>
          <p:cNvPr id="20510" name="Rectangle 29"/>
          <p:cNvSpPr>
            <a:spLocks noChangeArrowheads="1"/>
          </p:cNvSpPr>
          <p:nvPr/>
        </p:nvSpPr>
        <p:spPr bwMode="auto">
          <a:xfrm>
            <a:off x="5075238" y="5678488"/>
            <a:ext cx="215900" cy="20161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11" name="Rectangle 30"/>
          <p:cNvSpPr>
            <a:spLocks noChangeArrowheads="1"/>
          </p:cNvSpPr>
          <p:nvPr/>
        </p:nvSpPr>
        <p:spPr bwMode="auto">
          <a:xfrm>
            <a:off x="5126038" y="5689600"/>
            <a:ext cx="2159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200" b="1">
                <a:solidFill>
                  <a:srgbClr val="000000"/>
                </a:solidFill>
                <a:latin typeface="Geneva" charset="0"/>
              </a:rPr>
              <a:t>9</a:t>
            </a:r>
            <a:endParaRPr lang="en-US" sz="1800" u="sng">
              <a:latin typeface="Times New Roman" pitchFamily="18" charset="0"/>
            </a:endParaRPr>
          </a:p>
        </p:txBody>
      </p:sp>
      <p:sp>
        <p:nvSpPr>
          <p:cNvPr id="20512" name="Rectangle 31"/>
          <p:cNvSpPr>
            <a:spLocks noChangeArrowheads="1"/>
          </p:cNvSpPr>
          <p:nvPr/>
        </p:nvSpPr>
        <p:spPr bwMode="auto">
          <a:xfrm>
            <a:off x="5354638" y="5678488"/>
            <a:ext cx="328612" cy="20161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13" name="Rectangle 32"/>
          <p:cNvSpPr>
            <a:spLocks noChangeArrowheads="1"/>
          </p:cNvSpPr>
          <p:nvPr/>
        </p:nvSpPr>
        <p:spPr bwMode="auto">
          <a:xfrm>
            <a:off x="5405438" y="5689600"/>
            <a:ext cx="3302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200" b="1">
                <a:solidFill>
                  <a:srgbClr val="000000"/>
                </a:solidFill>
                <a:latin typeface="Geneva" charset="0"/>
              </a:rPr>
              <a:t>10</a:t>
            </a:r>
            <a:endParaRPr lang="en-US" sz="1800" u="sng">
              <a:latin typeface="Times New Roman" pitchFamily="18" charset="0"/>
            </a:endParaRPr>
          </a:p>
        </p:txBody>
      </p:sp>
      <p:sp>
        <p:nvSpPr>
          <p:cNvPr id="20514" name="Rectangle 33"/>
          <p:cNvSpPr>
            <a:spLocks noChangeArrowheads="1"/>
          </p:cNvSpPr>
          <p:nvPr/>
        </p:nvSpPr>
        <p:spPr bwMode="auto">
          <a:xfrm>
            <a:off x="5721350" y="5665788"/>
            <a:ext cx="330200" cy="20161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15" name="Rectangle 34"/>
          <p:cNvSpPr>
            <a:spLocks noChangeArrowheads="1"/>
          </p:cNvSpPr>
          <p:nvPr/>
        </p:nvSpPr>
        <p:spPr bwMode="auto">
          <a:xfrm>
            <a:off x="5772150" y="5676900"/>
            <a:ext cx="3302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200" b="1">
                <a:solidFill>
                  <a:srgbClr val="000000"/>
                </a:solidFill>
                <a:latin typeface="Geneva" charset="0"/>
              </a:rPr>
              <a:t>11</a:t>
            </a:r>
            <a:endParaRPr lang="en-US" sz="1800" u="sng">
              <a:latin typeface="Times New Roman" pitchFamily="18" charset="0"/>
            </a:endParaRPr>
          </a:p>
        </p:txBody>
      </p:sp>
      <p:sp>
        <p:nvSpPr>
          <p:cNvPr id="20516" name="Rectangle 35"/>
          <p:cNvSpPr>
            <a:spLocks noChangeArrowheads="1"/>
          </p:cNvSpPr>
          <p:nvPr/>
        </p:nvSpPr>
        <p:spPr bwMode="auto">
          <a:xfrm>
            <a:off x="6038850" y="5678488"/>
            <a:ext cx="328613" cy="20161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17" name="Rectangle 36"/>
          <p:cNvSpPr>
            <a:spLocks noChangeArrowheads="1"/>
          </p:cNvSpPr>
          <p:nvPr/>
        </p:nvSpPr>
        <p:spPr bwMode="auto">
          <a:xfrm>
            <a:off x="6089650" y="5689600"/>
            <a:ext cx="3302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200" b="1">
                <a:solidFill>
                  <a:srgbClr val="000000"/>
                </a:solidFill>
                <a:latin typeface="Geneva" charset="0"/>
              </a:rPr>
              <a:t>12</a:t>
            </a:r>
            <a:endParaRPr lang="en-US" sz="1800" u="sng">
              <a:latin typeface="Times New Roman" pitchFamily="18" charset="0"/>
            </a:endParaRPr>
          </a:p>
        </p:txBody>
      </p:sp>
      <p:sp>
        <p:nvSpPr>
          <p:cNvPr id="20518" name="Rectangle 37"/>
          <p:cNvSpPr>
            <a:spLocks noChangeArrowheads="1"/>
          </p:cNvSpPr>
          <p:nvPr/>
        </p:nvSpPr>
        <p:spPr bwMode="auto">
          <a:xfrm>
            <a:off x="6380163" y="5678488"/>
            <a:ext cx="328612" cy="20161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19" name="Rectangle 38"/>
          <p:cNvSpPr>
            <a:spLocks noChangeArrowheads="1"/>
          </p:cNvSpPr>
          <p:nvPr/>
        </p:nvSpPr>
        <p:spPr bwMode="auto">
          <a:xfrm>
            <a:off x="6430963" y="5689600"/>
            <a:ext cx="3302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200" b="1">
                <a:solidFill>
                  <a:srgbClr val="000000"/>
                </a:solidFill>
                <a:latin typeface="Geneva" charset="0"/>
              </a:rPr>
              <a:t>13</a:t>
            </a:r>
            <a:endParaRPr lang="en-US" sz="1800" u="sng">
              <a:latin typeface="Times New Roman" pitchFamily="18" charset="0"/>
            </a:endParaRPr>
          </a:p>
        </p:txBody>
      </p:sp>
      <p:sp>
        <p:nvSpPr>
          <p:cNvPr id="20520" name="Rectangle 39"/>
          <p:cNvSpPr>
            <a:spLocks noChangeArrowheads="1"/>
          </p:cNvSpPr>
          <p:nvPr/>
        </p:nvSpPr>
        <p:spPr bwMode="auto">
          <a:xfrm>
            <a:off x="3746500" y="5324475"/>
            <a:ext cx="214313" cy="20161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21" name="Rectangle 40"/>
          <p:cNvSpPr>
            <a:spLocks noChangeArrowheads="1"/>
          </p:cNvSpPr>
          <p:nvPr/>
        </p:nvSpPr>
        <p:spPr bwMode="auto">
          <a:xfrm>
            <a:off x="3797300" y="5335588"/>
            <a:ext cx="2159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200" b="1">
                <a:solidFill>
                  <a:srgbClr val="000000"/>
                </a:solidFill>
                <a:latin typeface="Geneva" charset="0"/>
              </a:rPr>
              <a:t>9</a:t>
            </a:r>
            <a:endParaRPr lang="en-US" sz="1800" u="sng">
              <a:latin typeface="Times New Roman" pitchFamily="18" charset="0"/>
            </a:endParaRPr>
          </a:p>
        </p:txBody>
      </p:sp>
      <p:sp>
        <p:nvSpPr>
          <p:cNvPr id="20522" name="Rectangle 41"/>
          <p:cNvSpPr>
            <a:spLocks noChangeArrowheads="1"/>
          </p:cNvSpPr>
          <p:nvPr/>
        </p:nvSpPr>
        <p:spPr bwMode="auto">
          <a:xfrm>
            <a:off x="3657600" y="5006975"/>
            <a:ext cx="328613" cy="2032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23" name="Rectangle 42"/>
          <p:cNvSpPr>
            <a:spLocks noChangeArrowheads="1"/>
          </p:cNvSpPr>
          <p:nvPr/>
        </p:nvSpPr>
        <p:spPr bwMode="auto">
          <a:xfrm>
            <a:off x="3708400" y="5019675"/>
            <a:ext cx="3302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200" b="1">
                <a:solidFill>
                  <a:srgbClr val="000000"/>
                </a:solidFill>
                <a:latin typeface="Geneva" charset="0"/>
              </a:rPr>
              <a:t>10</a:t>
            </a:r>
            <a:endParaRPr lang="en-US" sz="1800" u="sng">
              <a:latin typeface="Times New Roman" pitchFamily="18" charset="0"/>
            </a:endParaRPr>
          </a:p>
        </p:txBody>
      </p:sp>
      <p:sp>
        <p:nvSpPr>
          <p:cNvPr id="20524" name="Rectangle 43"/>
          <p:cNvSpPr>
            <a:spLocks noChangeArrowheads="1"/>
          </p:cNvSpPr>
          <p:nvPr/>
        </p:nvSpPr>
        <p:spPr bwMode="auto">
          <a:xfrm>
            <a:off x="3657600" y="4691063"/>
            <a:ext cx="328613" cy="2032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25" name="Rectangle 44"/>
          <p:cNvSpPr>
            <a:spLocks noChangeArrowheads="1"/>
          </p:cNvSpPr>
          <p:nvPr/>
        </p:nvSpPr>
        <p:spPr bwMode="auto">
          <a:xfrm>
            <a:off x="3708400" y="4703763"/>
            <a:ext cx="3302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200" b="1">
                <a:solidFill>
                  <a:srgbClr val="000000"/>
                </a:solidFill>
                <a:latin typeface="Geneva" charset="0"/>
              </a:rPr>
              <a:t>11</a:t>
            </a:r>
            <a:endParaRPr lang="en-US" sz="1800" u="sng">
              <a:latin typeface="Times New Roman" pitchFamily="18" charset="0"/>
            </a:endParaRPr>
          </a:p>
        </p:txBody>
      </p:sp>
      <p:sp>
        <p:nvSpPr>
          <p:cNvPr id="20526" name="Rectangle 45"/>
          <p:cNvSpPr>
            <a:spLocks noChangeArrowheads="1"/>
          </p:cNvSpPr>
          <p:nvPr/>
        </p:nvSpPr>
        <p:spPr bwMode="auto">
          <a:xfrm>
            <a:off x="3683000" y="4349750"/>
            <a:ext cx="328613" cy="2032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27" name="Rectangle 46"/>
          <p:cNvSpPr>
            <a:spLocks noChangeArrowheads="1"/>
          </p:cNvSpPr>
          <p:nvPr/>
        </p:nvSpPr>
        <p:spPr bwMode="auto">
          <a:xfrm>
            <a:off x="3733800" y="4362450"/>
            <a:ext cx="3302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200" b="1">
                <a:solidFill>
                  <a:srgbClr val="000000"/>
                </a:solidFill>
                <a:latin typeface="Geneva" charset="0"/>
              </a:rPr>
              <a:t>12</a:t>
            </a:r>
            <a:endParaRPr lang="en-US" sz="1800" u="sng">
              <a:latin typeface="Times New Roman" pitchFamily="18" charset="0"/>
            </a:endParaRPr>
          </a:p>
        </p:txBody>
      </p:sp>
      <p:sp>
        <p:nvSpPr>
          <p:cNvPr id="20528" name="Rectangle 47"/>
          <p:cNvSpPr>
            <a:spLocks noChangeArrowheads="1"/>
          </p:cNvSpPr>
          <p:nvPr/>
        </p:nvSpPr>
        <p:spPr bwMode="auto">
          <a:xfrm>
            <a:off x="3708400" y="3983038"/>
            <a:ext cx="328613" cy="2032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29" name="Rectangle 48"/>
          <p:cNvSpPr>
            <a:spLocks noChangeArrowheads="1"/>
          </p:cNvSpPr>
          <p:nvPr/>
        </p:nvSpPr>
        <p:spPr bwMode="auto">
          <a:xfrm>
            <a:off x="3759200" y="3995738"/>
            <a:ext cx="3302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200" b="1">
                <a:solidFill>
                  <a:srgbClr val="000000"/>
                </a:solidFill>
                <a:latin typeface="Geneva" charset="0"/>
              </a:rPr>
              <a:t>13</a:t>
            </a:r>
            <a:endParaRPr lang="en-US" sz="1800" u="sng">
              <a:latin typeface="Times New Roman" pitchFamily="18" charset="0"/>
            </a:endParaRPr>
          </a:p>
        </p:txBody>
      </p:sp>
      <p:sp>
        <p:nvSpPr>
          <p:cNvPr id="20530" name="Oval 49"/>
          <p:cNvSpPr>
            <a:spLocks noChangeArrowheads="1"/>
          </p:cNvSpPr>
          <p:nvPr/>
        </p:nvSpPr>
        <p:spPr bwMode="auto">
          <a:xfrm>
            <a:off x="4024313" y="5324475"/>
            <a:ext cx="266700" cy="265113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31" name="Line 50"/>
          <p:cNvSpPr>
            <a:spLocks noChangeShapeType="1"/>
          </p:cNvSpPr>
          <p:nvPr/>
        </p:nvSpPr>
        <p:spPr bwMode="auto">
          <a:xfrm flipV="1">
            <a:off x="4151313" y="4400550"/>
            <a:ext cx="1735137" cy="10366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0532" name="Rectangle 5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Exemplo do DDA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735013" y="830263"/>
            <a:ext cx="3149600" cy="600075"/>
          </a:xfrm>
          <a:noFill/>
        </p:spPr>
        <p:txBody>
          <a:bodyPr wrap="none" lIns="63500" tIns="25400" rIns="63500" bIns="25400" anchor="t">
            <a:spAutoFit/>
          </a:bodyPr>
          <a:lstStyle/>
          <a:p>
            <a:pPr eaLnBrk="1" hangingPunct="1"/>
            <a:r>
              <a:rPr lang="en-US"/>
              <a:t>DDA Exemplo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2138363"/>
            <a:ext cx="7315200" cy="4343400"/>
          </a:xfrm>
          <a:noFill/>
        </p:spPr>
        <p:txBody>
          <a:bodyPr lIns="90487" tIns="44450" rIns="90487" bIns="44450"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 err="1"/>
              <a:t>Reta</a:t>
            </a:r>
            <a:r>
              <a:rPr lang="en-US" sz="2400" dirty="0"/>
              <a:t> de (6,9) to (11,12).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4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Length := Max de (ABS(11-6), ABS(12-9)) = 5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 err="1"/>
              <a:t>Xinc</a:t>
            </a:r>
            <a:r>
              <a:rPr lang="en-US" sz="2400" dirty="0"/>
              <a:t> := 1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 err="1"/>
              <a:t>Yinc</a:t>
            </a:r>
            <a:r>
              <a:rPr lang="en-US" sz="2400" dirty="0"/>
              <a:t> := 0.6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4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Os </a:t>
            </a:r>
            <a:r>
              <a:rPr lang="en-US" sz="2400" dirty="0" err="1"/>
              <a:t>Valores</a:t>
            </a:r>
            <a:r>
              <a:rPr lang="en-US" sz="2400" dirty="0"/>
              <a:t> </a:t>
            </a:r>
            <a:r>
              <a:rPr lang="en-US" sz="2400" dirty="0" err="1"/>
              <a:t>computados</a:t>
            </a:r>
            <a:r>
              <a:rPr lang="en-US" sz="2400" dirty="0"/>
              <a:t> </a:t>
            </a:r>
            <a:r>
              <a:rPr lang="en-US" sz="2400" dirty="0" err="1"/>
              <a:t>são</a:t>
            </a:r>
            <a:r>
              <a:rPr lang="en-US" sz="2400" dirty="0"/>
              <a:t>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  	(6,9),   (7,9.6),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	(8,10.2),  (9,10.8),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	(10,11.4),  (11,12)</a:t>
            </a:r>
            <a:endParaRPr lang="en-US" sz="1800" dirty="0">
              <a:latin typeface="Times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sz="1800" dirty="0">
              <a:latin typeface="Times" pitchFamily="18" charset="0"/>
            </a:endParaRPr>
          </a:p>
        </p:txBody>
      </p:sp>
      <p:pic>
        <p:nvPicPr>
          <p:cNvPr id="21509" name="Picture 4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24400" y="3581400"/>
            <a:ext cx="4419600" cy="3009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8001000" cy="865188"/>
          </a:xfrm>
        </p:spPr>
        <p:txBody>
          <a:bodyPr/>
          <a:lstStyle/>
          <a:p>
            <a:pPr eaLnBrk="1" hangingPunct="1"/>
            <a:r>
              <a:rPr lang="pt-BR"/>
              <a:t>Retas Rápidas – Método do Ponto Médio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BR" dirty="0"/>
              <a:t>Vamos estudar uma versão do Algoritmo de </a:t>
            </a:r>
            <a:r>
              <a:rPr lang="pt-BR" i="1" dirty="0" err="1"/>
              <a:t>Bresenham</a:t>
            </a:r>
            <a:r>
              <a:rPr lang="pt-BR" i="1" dirty="0"/>
              <a:t> </a:t>
            </a:r>
            <a:r>
              <a:rPr lang="pt-BR" dirty="0"/>
              <a:t>(1965) denominada </a:t>
            </a:r>
            <a:r>
              <a:rPr lang="pt-BR" i="1" dirty="0" err="1"/>
              <a:t>Mid</a:t>
            </a:r>
            <a:r>
              <a:rPr lang="pt-BR" i="1" dirty="0"/>
              <a:t> Point </a:t>
            </a:r>
            <a:r>
              <a:rPr lang="pt-BR" i="1" dirty="0" err="1"/>
              <a:t>Line</a:t>
            </a:r>
            <a:r>
              <a:rPr lang="pt-BR" i="1" dirty="0"/>
              <a:t> </a:t>
            </a:r>
            <a:r>
              <a:rPr lang="pt-BR" i="1" dirty="0" err="1"/>
              <a:t>Algorithm</a:t>
            </a:r>
            <a:r>
              <a:rPr lang="pt-BR" dirty="0"/>
              <a:t> ("Algoritmo do Ponto-Médio ou Meio-Ponto para Retas") por </a:t>
            </a:r>
            <a:r>
              <a:rPr lang="pt-BR" i="1" dirty="0" err="1"/>
              <a:t>Foley</a:t>
            </a:r>
            <a:r>
              <a:rPr lang="pt-BR" dirty="0"/>
              <a:t> (</a:t>
            </a:r>
            <a:r>
              <a:rPr lang="en-US" dirty="0">
                <a:cs typeface="Times New Roman" pitchFamily="18" charset="0"/>
              </a:rPr>
              <a:t>2014</a:t>
            </a:r>
            <a:r>
              <a:rPr lang="en-US" b="1" dirty="0">
                <a:latin typeface="Courier New" pitchFamily="49" charset="0"/>
                <a:cs typeface="Times New Roman" pitchFamily="18" charset="0"/>
              </a:rPr>
              <a:t>)</a:t>
            </a:r>
            <a:r>
              <a:rPr lang="pt-BR" dirty="0"/>
              <a:t>. </a:t>
            </a:r>
          </a:p>
          <a:p>
            <a:pPr eaLnBrk="1" hangingPunct="1">
              <a:lnSpc>
                <a:spcPct val="90000"/>
              </a:lnSpc>
            </a:pPr>
            <a:endParaRPr lang="pt-BR" dirty="0"/>
          </a:p>
          <a:p>
            <a:pPr eaLnBrk="1" hangingPunct="1">
              <a:lnSpc>
                <a:spcPct val="90000"/>
              </a:lnSpc>
            </a:pPr>
            <a:r>
              <a:rPr lang="pt-BR" i="1" dirty="0" err="1"/>
              <a:t>Bresenham</a:t>
            </a:r>
            <a:r>
              <a:rPr lang="pt-BR" i="1" dirty="0"/>
              <a:t> </a:t>
            </a:r>
            <a:r>
              <a:rPr lang="pt-BR" dirty="0"/>
              <a:t>desenvolveu um algoritmo clássico que usa apenas variáveis inteiras, e permite que o cálculo de </a:t>
            </a:r>
            <a:r>
              <a:rPr lang="pt-BR" i="1" dirty="0"/>
              <a:t>(x</a:t>
            </a:r>
            <a:r>
              <a:rPr lang="pt-BR" i="1" baseline="-25000" dirty="0"/>
              <a:t>i</a:t>
            </a:r>
            <a:r>
              <a:rPr lang="pt-BR" i="1" dirty="0"/>
              <a:t>+1,y</a:t>
            </a:r>
            <a:r>
              <a:rPr lang="pt-BR" i="1" baseline="-25000" dirty="0"/>
              <a:t>i</a:t>
            </a:r>
            <a:r>
              <a:rPr lang="pt-BR" i="1" dirty="0"/>
              <a:t>+1)</a:t>
            </a:r>
            <a:r>
              <a:rPr lang="pt-BR" dirty="0"/>
              <a:t> seja feito incrementalmente, usando os cálculos já feitos para </a:t>
            </a:r>
            <a:r>
              <a:rPr lang="pt-BR" i="1" dirty="0"/>
              <a:t>(</a:t>
            </a:r>
            <a:r>
              <a:rPr lang="pt-BR" i="1" dirty="0" err="1"/>
              <a:t>x</a:t>
            </a:r>
            <a:r>
              <a:rPr lang="pt-BR" i="1" baseline="-25000" dirty="0" err="1"/>
              <a:t>i</a:t>
            </a:r>
            <a:r>
              <a:rPr lang="pt-BR" i="1" dirty="0" err="1"/>
              <a:t>,y</a:t>
            </a:r>
            <a:r>
              <a:rPr lang="pt-BR" i="1" baseline="-25000" dirty="0" err="1"/>
              <a:t>i</a:t>
            </a:r>
            <a:r>
              <a:rPr lang="pt-BR" i="1" dirty="0"/>
              <a:t>)</a:t>
            </a:r>
            <a:r>
              <a:rPr lang="pt-BR" dirty="0"/>
              <a:t>. 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773113" y="831850"/>
            <a:ext cx="4800600" cy="600075"/>
          </a:xfrm>
          <a:noFill/>
        </p:spPr>
        <p:txBody>
          <a:bodyPr wrap="none" lIns="63500" tIns="25400" rIns="63500" bIns="25400" anchor="t">
            <a:spAutoFit/>
          </a:bodyPr>
          <a:lstStyle/>
          <a:p>
            <a:pPr eaLnBrk="1" hangingPunct="1"/>
            <a:r>
              <a:rPr lang="pt-BR"/>
              <a:t>Retas Rápidas (cont.)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362200"/>
            <a:ext cx="7467600" cy="4184650"/>
          </a:xfrm>
          <a:noFill/>
        </p:spPr>
        <p:txBody>
          <a:bodyPr lIns="90487" tIns="44450" rIns="90487" bIns="44450"/>
          <a:lstStyle/>
          <a:p>
            <a:pPr eaLnBrk="1" hangingPunct="1">
              <a:buFont typeface="Wingdings" pitchFamily="2" charset="2"/>
              <a:buNone/>
            </a:pPr>
            <a:r>
              <a:rPr lang="pt-BR" sz="2000"/>
              <a:t>Para as retas do 1º octante, dado</a:t>
            </a:r>
          </a:p>
          <a:p>
            <a:pPr eaLnBrk="1" hangingPunct="1">
              <a:buFont typeface="Wingdings" pitchFamily="2" charset="2"/>
              <a:buNone/>
            </a:pPr>
            <a:r>
              <a:rPr lang="pt-BR" sz="2000"/>
              <a:t>um pixel sobre a reta, o próximo </a:t>
            </a:r>
          </a:p>
          <a:p>
            <a:pPr eaLnBrk="1" hangingPunct="1">
              <a:buFont typeface="Wingdings" pitchFamily="2" charset="2"/>
              <a:buNone/>
            </a:pPr>
            <a:r>
              <a:rPr lang="pt-BR" sz="2000"/>
              <a:t>pixel é para direita  (E) ou para  </a:t>
            </a:r>
          </a:p>
          <a:p>
            <a:pPr eaLnBrk="1" hangingPunct="1">
              <a:buFont typeface="Wingdings" pitchFamily="2" charset="2"/>
              <a:buNone/>
            </a:pPr>
            <a:r>
              <a:rPr lang="pt-BR" sz="2000"/>
              <a:t>Direita acima (NE).</a:t>
            </a:r>
          </a:p>
          <a:p>
            <a:pPr eaLnBrk="1" hangingPunct="1">
              <a:buFont typeface="Wingdings" pitchFamily="2" charset="2"/>
              <a:buNone/>
            </a:pPr>
            <a:endParaRPr lang="pt-BR" sz="2400"/>
          </a:p>
          <a:p>
            <a:pPr eaLnBrk="1" hangingPunct="1">
              <a:buFont typeface="Wingdings" pitchFamily="2" charset="2"/>
              <a:buNone/>
            </a:pPr>
            <a:endParaRPr lang="en-US" sz="2400"/>
          </a:p>
          <a:p>
            <a:pPr eaLnBrk="1" hangingPunct="1">
              <a:buFont typeface="Wingdings" pitchFamily="2" charset="2"/>
              <a:buNone/>
            </a:pPr>
            <a:endParaRPr lang="en-US" sz="2400"/>
          </a:p>
          <a:p>
            <a:pPr eaLnBrk="1" hangingPunct="1">
              <a:buFont typeface="Wingdings" pitchFamily="2" charset="2"/>
              <a:buNone/>
            </a:pPr>
            <a:endParaRPr lang="en-US" sz="2400"/>
          </a:p>
        </p:txBody>
      </p:sp>
      <p:grpSp>
        <p:nvGrpSpPr>
          <p:cNvPr id="23557" name="Group 4"/>
          <p:cNvGrpSpPr>
            <a:grpSpLocks/>
          </p:cNvGrpSpPr>
          <p:nvPr/>
        </p:nvGrpSpPr>
        <p:grpSpPr bwMode="auto">
          <a:xfrm>
            <a:off x="4197350" y="1905000"/>
            <a:ext cx="4946650" cy="3130550"/>
            <a:chOff x="2956" y="818"/>
            <a:chExt cx="2424" cy="1565"/>
          </a:xfrm>
        </p:grpSpPr>
        <p:sp>
          <p:nvSpPr>
            <p:cNvPr id="23559" name="Oval 5"/>
            <p:cNvSpPr>
              <a:spLocks noChangeArrowheads="1"/>
            </p:cNvSpPr>
            <p:nvPr/>
          </p:nvSpPr>
          <p:spPr bwMode="auto">
            <a:xfrm>
              <a:off x="4302" y="1378"/>
              <a:ext cx="32" cy="32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60" name="Oval 6"/>
            <p:cNvSpPr>
              <a:spLocks noChangeArrowheads="1"/>
            </p:cNvSpPr>
            <p:nvPr/>
          </p:nvSpPr>
          <p:spPr bwMode="auto">
            <a:xfrm>
              <a:off x="4296" y="1551"/>
              <a:ext cx="32" cy="31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61" name="Rectangle 7"/>
            <p:cNvSpPr>
              <a:spLocks noChangeArrowheads="1"/>
            </p:cNvSpPr>
            <p:nvPr/>
          </p:nvSpPr>
          <p:spPr bwMode="auto">
            <a:xfrm>
              <a:off x="3370" y="1277"/>
              <a:ext cx="919" cy="12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62" name="Rectangle 8"/>
            <p:cNvSpPr>
              <a:spLocks noChangeArrowheads="1"/>
            </p:cNvSpPr>
            <p:nvPr/>
          </p:nvSpPr>
          <p:spPr bwMode="auto">
            <a:xfrm>
              <a:off x="3396" y="1283"/>
              <a:ext cx="763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600">
                  <a:solidFill>
                    <a:srgbClr val="000000"/>
                  </a:solidFill>
                  <a:latin typeface="Geneva" charset="0"/>
                </a:rPr>
                <a:t>(x</a:t>
              </a:r>
              <a:r>
                <a:rPr lang="en-US" sz="1600" baseline="-25000">
                  <a:solidFill>
                    <a:srgbClr val="000000"/>
                  </a:solidFill>
                  <a:latin typeface="Geneva" charset="0"/>
                </a:rPr>
                <a:t>i</a:t>
              </a:r>
              <a:r>
                <a:rPr lang="en-US" sz="1600">
                  <a:solidFill>
                    <a:srgbClr val="000000"/>
                  </a:solidFill>
                  <a:latin typeface="Geneva" charset="0"/>
                </a:rPr>
                <a:t> +1, y</a:t>
              </a:r>
              <a:r>
                <a:rPr lang="en-US" sz="1600" baseline="-25000">
                  <a:solidFill>
                    <a:srgbClr val="000000"/>
                  </a:solidFill>
                  <a:latin typeface="Geneva" charset="0"/>
                </a:rPr>
                <a:t>i</a:t>
              </a:r>
              <a:r>
                <a:rPr lang="en-US" sz="1600">
                  <a:solidFill>
                    <a:srgbClr val="000000"/>
                  </a:solidFill>
                  <a:latin typeface="Geneva" charset="0"/>
                </a:rPr>
                <a:t> + ½ + e)</a:t>
              </a:r>
              <a:endParaRPr lang="en-US" sz="1600" u="sng">
                <a:latin typeface="Times New Roman" pitchFamily="18" charset="0"/>
              </a:endParaRPr>
            </a:p>
          </p:txBody>
        </p:sp>
        <p:sp>
          <p:nvSpPr>
            <p:cNvPr id="23563" name="Rectangle 9"/>
            <p:cNvSpPr>
              <a:spLocks noChangeArrowheads="1"/>
            </p:cNvSpPr>
            <p:nvPr/>
          </p:nvSpPr>
          <p:spPr bwMode="auto">
            <a:xfrm>
              <a:off x="3504" y="1328"/>
              <a:ext cx="0" cy="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endParaRPr lang="en-US" sz="1800" u="sng">
                <a:latin typeface="Times New Roman" pitchFamily="18" charset="0"/>
              </a:endParaRPr>
            </a:p>
          </p:txBody>
        </p:sp>
        <p:sp>
          <p:nvSpPr>
            <p:cNvPr id="23564" name="Rectangle 10"/>
            <p:cNvSpPr>
              <a:spLocks noChangeArrowheads="1"/>
            </p:cNvSpPr>
            <p:nvPr/>
          </p:nvSpPr>
          <p:spPr bwMode="auto">
            <a:xfrm>
              <a:off x="3821" y="1322"/>
              <a:ext cx="0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endParaRPr lang="en-US" sz="1800" u="sng">
                <a:latin typeface="Times New Roman" pitchFamily="18" charset="0"/>
              </a:endParaRPr>
            </a:p>
          </p:txBody>
        </p:sp>
        <p:sp>
          <p:nvSpPr>
            <p:cNvPr id="23565" name="Rectangle 11"/>
            <p:cNvSpPr>
              <a:spLocks noChangeArrowheads="1"/>
            </p:cNvSpPr>
            <p:nvPr/>
          </p:nvSpPr>
          <p:spPr bwMode="auto">
            <a:xfrm>
              <a:off x="4423" y="1430"/>
              <a:ext cx="55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600">
                  <a:solidFill>
                    <a:srgbClr val="000000"/>
                  </a:solidFill>
                  <a:latin typeface="Geneva" charset="0"/>
                </a:rPr>
                <a:t>e</a:t>
              </a:r>
              <a:endParaRPr lang="en-US" sz="1600" u="sng">
                <a:latin typeface="Times New Roman" pitchFamily="18" charset="0"/>
              </a:endParaRPr>
            </a:p>
          </p:txBody>
        </p:sp>
        <p:sp>
          <p:nvSpPr>
            <p:cNvPr id="23566" name="Arc 12"/>
            <p:cNvSpPr>
              <a:spLocks/>
            </p:cNvSpPr>
            <p:nvPr/>
          </p:nvSpPr>
          <p:spPr bwMode="auto">
            <a:xfrm>
              <a:off x="4346" y="1506"/>
              <a:ext cx="51" cy="64"/>
            </a:xfrm>
            <a:custGeom>
              <a:avLst/>
              <a:gdLst>
                <a:gd name="T0" fmla="*/ 0 w 17306"/>
                <a:gd name="T1" fmla="*/ 0 h 21600"/>
                <a:gd name="T2" fmla="*/ 0 w 17306"/>
                <a:gd name="T3" fmla="*/ 0 h 21600"/>
                <a:gd name="T4" fmla="*/ 0 w 17306"/>
                <a:gd name="T5" fmla="*/ 0 h 21600"/>
                <a:gd name="T6" fmla="*/ 0 60000 65536"/>
                <a:gd name="T7" fmla="*/ 0 60000 65536"/>
                <a:gd name="T8" fmla="*/ 0 60000 65536"/>
                <a:gd name="T9" fmla="*/ 0 w 17306"/>
                <a:gd name="T10" fmla="*/ 0 h 21600"/>
                <a:gd name="T11" fmla="*/ 17306 w 1730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306" h="21600" fill="none" extrusionOk="0">
                  <a:moveTo>
                    <a:pt x="-1" y="1809"/>
                  </a:moveTo>
                  <a:cubicBezTo>
                    <a:pt x="2728" y="615"/>
                    <a:pt x="5674" y="-1"/>
                    <a:pt x="8653" y="0"/>
                  </a:cubicBezTo>
                  <a:cubicBezTo>
                    <a:pt x="11631" y="0"/>
                    <a:pt x="14577" y="615"/>
                    <a:pt x="17306" y="1809"/>
                  </a:cubicBezTo>
                </a:path>
                <a:path w="17306" h="21600" stroke="0" extrusionOk="0">
                  <a:moveTo>
                    <a:pt x="-1" y="1809"/>
                  </a:moveTo>
                  <a:cubicBezTo>
                    <a:pt x="2728" y="615"/>
                    <a:pt x="5674" y="-1"/>
                    <a:pt x="8653" y="0"/>
                  </a:cubicBezTo>
                  <a:cubicBezTo>
                    <a:pt x="11631" y="0"/>
                    <a:pt x="14577" y="615"/>
                    <a:pt x="17306" y="1809"/>
                  </a:cubicBezTo>
                  <a:lnTo>
                    <a:pt x="8653" y="2160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67" name="Arc 13"/>
            <p:cNvSpPr>
              <a:spLocks/>
            </p:cNvSpPr>
            <p:nvPr/>
          </p:nvSpPr>
          <p:spPr bwMode="auto">
            <a:xfrm>
              <a:off x="4346" y="1404"/>
              <a:ext cx="52" cy="64"/>
            </a:xfrm>
            <a:custGeom>
              <a:avLst/>
              <a:gdLst>
                <a:gd name="T0" fmla="*/ 0 w 17670"/>
                <a:gd name="T1" fmla="*/ 0 h 21600"/>
                <a:gd name="T2" fmla="*/ 0 w 17670"/>
                <a:gd name="T3" fmla="*/ 0 h 21600"/>
                <a:gd name="T4" fmla="*/ 0 w 17670"/>
                <a:gd name="T5" fmla="*/ 0 h 21600"/>
                <a:gd name="T6" fmla="*/ 0 60000 65536"/>
                <a:gd name="T7" fmla="*/ 0 60000 65536"/>
                <a:gd name="T8" fmla="*/ 0 60000 65536"/>
                <a:gd name="T9" fmla="*/ 0 w 17670"/>
                <a:gd name="T10" fmla="*/ 0 h 21600"/>
                <a:gd name="T11" fmla="*/ 17670 w 1767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670" h="21600" fill="none" extrusionOk="0">
                  <a:moveTo>
                    <a:pt x="17670" y="19710"/>
                  </a:moveTo>
                  <a:cubicBezTo>
                    <a:pt x="14891" y="20956"/>
                    <a:pt x="11880" y="21599"/>
                    <a:pt x="8835" y="21600"/>
                  </a:cubicBezTo>
                  <a:cubicBezTo>
                    <a:pt x="5789" y="21600"/>
                    <a:pt x="2778" y="20956"/>
                    <a:pt x="-1" y="19710"/>
                  </a:cubicBezTo>
                </a:path>
                <a:path w="17670" h="21600" stroke="0" extrusionOk="0">
                  <a:moveTo>
                    <a:pt x="17670" y="19710"/>
                  </a:moveTo>
                  <a:cubicBezTo>
                    <a:pt x="14891" y="20956"/>
                    <a:pt x="11880" y="21599"/>
                    <a:pt x="8835" y="21600"/>
                  </a:cubicBezTo>
                  <a:cubicBezTo>
                    <a:pt x="5789" y="21600"/>
                    <a:pt x="2778" y="20956"/>
                    <a:pt x="-1" y="19710"/>
                  </a:cubicBezTo>
                  <a:lnTo>
                    <a:pt x="883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68" name="Line 14"/>
            <p:cNvSpPr>
              <a:spLocks noChangeShapeType="1"/>
            </p:cNvSpPr>
            <p:nvPr/>
          </p:nvSpPr>
          <p:spPr bwMode="auto">
            <a:xfrm>
              <a:off x="4372" y="1455"/>
              <a:ext cx="1" cy="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569" name="Rectangle 15"/>
            <p:cNvSpPr>
              <a:spLocks noChangeArrowheads="1"/>
            </p:cNvSpPr>
            <p:nvPr/>
          </p:nvSpPr>
          <p:spPr bwMode="auto">
            <a:xfrm>
              <a:off x="4264" y="1576"/>
              <a:ext cx="790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600">
                  <a:solidFill>
                    <a:srgbClr val="000000"/>
                  </a:solidFill>
                  <a:latin typeface="Geneva" charset="0"/>
                </a:rPr>
                <a:t>M = (x</a:t>
              </a:r>
              <a:r>
                <a:rPr lang="en-US" sz="1600" baseline="-25000">
                  <a:solidFill>
                    <a:srgbClr val="000000"/>
                  </a:solidFill>
                  <a:latin typeface="Geneva" charset="0"/>
                </a:rPr>
                <a:t>i</a:t>
              </a:r>
              <a:r>
                <a:rPr lang="en-US" sz="1600">
                  <a:solidFill>
                    <a:srgbClr val="000000"/>
                  </a:solidFill>
                  <a:latin typeface="Geneva" charset="0"/>
                </a:rPr>
                <a:t> +1, y</a:t>
              </a:r>
              <a:r>
                <a:rPr lang="en-US" sz="1600" baseline="-25000">
                  <a:solidFill>
                    <a:srgbClr val="000000"/>
                  </a:solidFill>
                  <a:latin typeface="Geneva" charset="0"/>
                </a:rPr>
                <a:t>i</a:t>
              </a:r>
              <a:r>
                <a:rPr lang="en-US" sz="1600">
                  <a:solidFill>
                    <a:srgbClr val="000000"/>
                  </a:solidFill>
                  <a:latin typeface="Geneva" charset="0"/>
                </a:rPr>
                <a:t> + ½)</a:t>
              </a:r>
              <a:endParaRPr lang="en-US" sz="1600" u="sng">
                <a:latin typeface="Times New Roman" pitchFamily="18" charset="0"/>
              </a:endParaRPr>
            </a:p>
          </p:txBody>
        </p:sp>
        <p:sp>
          <p:nvSpPr>
            <p:cNvPr id="23570" name="Rectangle 16"/>
            <p:cNvSpPr>
              <a:spLocks noChangeArrowheads="1"/>
            </p:cNvSpPr>
            <p:nvPr/>
          </p:nvSpPr>
          <p:spPr bwMode="auto">
            <a:xfrm>
              <a:off x="4366" y="1602"/>
              <a:ext cx="0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endParaRPr lang="en-US" sz="1800" u="sng">
                <a:latin typeface="Times New Roman" pitchFamily="18" charset="0"/>
              </a:endParaRPr>
            </a:p>
          </p:txBody>
        </p:sp>
        <p:sp>
          <p:nvSpPr>
            <p:cNvPr id="23571" name="Rectangle 17"/>
            <p:cNvSpPr>
              <a:spLocks noChangeArrowheads="1"/>
            </p:cNvSpPr>
            <p:nvPr/>
          </p:nvSpPr>
          <p:spPr bwMode="auto">
            <a:xfrm>
              <a:off x="4656" y="1615"/>
              <a:ext cx="0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endParaRPr lang="en-US" sz="1800" u="sng">
                <a:latin typeface="Times New Roman" pitchFamily="18" charset="0"/>
              </a:endParaRPr>
            </a:p>
          </p:txBody>
        </p:sp>
        <p:sp>
          <p:nvSpPr>
            <p:cNvPr id="23572" name="Oval 18"/>
            <p:cNvSpPr>
              <a:spLocks noChangeArrowheads="1"/>
            </p:cNvSpPr>
            <p:nvPr/>
          </p:nvSpPr>
          <p:spPr bwMode="auto">
            <a:xfrm>
              <a:off x="3249" y="1965"/>
              <a:ext cx="179" cy="178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73" name="Oval 19"/>
            <p:cNvSpPr>
              <a:spLocks noChangeArrowheads="1"/>
            </p:cNvSpPr>
            <p:nvPr/>
          </p:nvSpPr>
          <p:spPr bwMode="auto">
            <a:xfrm>
              <a:off x="4225" y="1965"/>
              <a:ext cx="179" cy="178"/>
            </a:xfrm>
            <a:prstGeom prst="ellipse">
              <a:avLst/>
            </a:prstGeom>
            <a:blipFill dpi="0" rotWithShape="0">
              <a:blip r:embed="rId2" cstate="print"/>
              <a:srcRect/>
              <a:tile tx="0" ty="0" sx="100000" sy="100000" flip="none" algn="tl"/>
            </a:blip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74" name="Oval 20"/>
            <p:cNvSpPr>
              <a:spLocks noChangeArrowheads="1"/>
            </p:cNvSpPr>
            <p:nvPr/>
          </p:nvSpPr>
          <p:spPr bwMode="auto">
            <a:xfrm>
              <a:off x="4225" y="990"/>
              <a:ext cx="179" cy="178"/>
            </a:xfrm>
            <a:prstGeom prst="ellipse">
              <a:avLst/>
            </a:prstGeom>
            <a:blipFill dpi="0" rotWithShape="0">
              <a:blip r:embed="rId3" cstate="print"/>
              <a:srcRect/>
              <a:tile tx="0" ty="0" sx="100000" sy="100000" flip="none" algn="tl"/>
            </a:blip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75" name="Rectangle 21"/>
            <p:cNvSpPr>
              <a:spLocks noChangeArrowheads="1"/>
            </p:cNvSpPr>
            <p:nvPr/>
          </p:nvSpPr>
          <p:spPr bwMode="auto">
            <a:xfrm>
              <a:off x="3045" y="2200"/>
              <a:ext cx="498" cy="12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76" name="Rectangle 22"/>
            <p:cNvSpPr>
              <a:spLocks noChangeArrowheads="1"/>
            </p:cNvSpPr>
            <p:nvPr/>
          </p:nvSpPr>
          <p:spPr bwMode="auto">
            <a:xfrm>
              <a:off x="3071" y="2207"/>
              <a:ext cx="462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600">
                  <a:solidFill>
                    <a:srgbClr val="000000"/>
                  </a:solidFill>
                  <a:latin typeface="Geneva" charset="0"/>
                </a:rPr>
                <a:t>P = (x</a:t>
              </a:r>
              <a:r>
                <a:rPr lang="en-US" sz="1600" baseline="-25000">
                  <a:solidFill>
                    <a:srgbClr val="000000"/>
                  </a:solidFill>
                  <a:latin typeface="Geneva" charset="0"/>
                </a:rPr>
                <a:t>i</a:t>
              </a:r>
              <a:r>
                <a:rPr lang="en-US" sz="1600">
                  <a:solidFill>
                    <a:srgbClr val="000000"/>
                  </a:solidFill>
                  <a:latin typeface="Geneva" charset="0"/>
                </a:rPr>
                <a:t> ,y</a:t>
              </a:r>
              <a:r>
                <a:rPr lang="en-US" sz="1600" baseline="-25000">
                  <a:solidFill>
                    <a:srgbClr val="000000"/>
                  </a:solidFill>
                  <a:latin typeface="Geneva" charset="0"/>
                </a:rPr>
                <a:t>i</a:t>
              </a:r>
              <a:r>
                <a:rPr lang="en-US" sz="1600">
                  <a:solidFill>
                    <a:srgbClr val="000000"/>
                  </a:solidFill>
                  <a:latin typeface="Geneva" charset="0"/>
                </a:rPr>
                <a:t> )</a:t>
              </a:r>
              <a:endParaRPr lang="en-US" sz="1600" u="sng">
                <a:latin typeface="Times New Roman" pitchFamily="18" charset="0"/>
              </a:endParaRPr>
            </a:p>
          </p:txBody>
        </p:sp>
        <p:sp>
          <p:nvSpPr>
            <p:cNvPr id="23577" name="Rectangle 23"/>
            <p:cNvSpPr>
              <a:spLocks noChangeArrowheads="1"/>
            </p:cNvSpPr>
            <p:nvPr/>
          </p:nvSpPr>
          <p:spPr bwMode="auto">
            <a:xfrm>
              <a:off x="3467" y="2239"/>
              <a:ext cx="0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endParaRPr lang="en-US" sz="1800" u="sng">
                <a:latin typeface="Times New Roman" pitchFamily="18" charset="0"/>
              </a:endParaRPr>
            </a:p>
          </p:txBody>
        </p:sp>
        <p:sp>
          <p:nvSpPr>
            <p:cNvPr id="23578" name="Rectangle 24"/>
            <p:cNvSpPr>
              <a:spLocks noChangeArrowheads="1"/>
            </p:cNvSpPr>
            <p:nvPr/>
          </p:nvSpPr>
          <p:spPr bwMode="auto">
            <a:xfrm>
              <a:off x="3353" y="2239"/>
              <a:ext cx="0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endParaRPr lang="en-US" sz="1800" u="sng">
                <a:latin typeface="Times New Roman" pitchFamily="18" charset="0"/>
              </a:endParaRPr>
            </a:p>
          </p:txBody>
        </p:sp>
        <p:sp>
          <p:nvSpPr>
            <p:cNvPr id="23579" name="Rectangle 25"/>
            <p:cNvSpPr>
              <a:spLocks noChangeArrowheads="1"/>
            </p:cNvSpPr>
            <p:nvPr/>
          </p:nvSpPr>
          <p:spPr bwMode="auto">
            <a:xfrm>
              <a:off x="4008" y="2207"/>
              <a:ext cx="603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600">
                  <a:solidFill>
                    <a:srgbClr val="000000"/>
                  </a:solidFill>
                  <a:latin typeface="Geneva" charset="0"/>
                </a:rPr>
                <a:t>E = (x</a:t>
              </a:r>
              <a:r>
                <a:rPr lang="en-US" sz="1600" baseline="-25000">
                  <a:solidFill>
                    <a:srgbClr val="000000"/>
                  </a:solidFill>
                  <a:latin typeface="Geneva" charset="0"/>
                </a:rPr>
                <a:t>i</a:t>
              </a:r>
              <a:r>
                <a:rPr lang="en-US" sz="1600">
                  <a:solidFill>
                    <a:srgbClr val="000000"/>
                  </a:solidFill>
                  <a:latin typeface="Geneva" charset="0"/>
                </a:rPr>
                <a:t> + 1, y</a:t>
              </a:r>
              <a:r>
                <a:rPr lang="en-US" sz="1600" baseline="-25000">
                  <a:solidFill>
                    <a:srgbClr val="000000"/>
                  </a:solidFill>
                  <a:latin typeface="Geneva" charset="0"/>
                </a:rPr>
                <a:t>i</a:t>
              </a:r>
              <a:r>
                <a:rPr lang="en-US" sz="1600">
                  <a:solidFill>
                    <a:srgbClr val="000000"/>
                  </a:solidFill>
                  <a:latin typeface="Geneva" charset="0"/>
                </a:rPr>
                <a:t>)</a:t>
              </a:r>
              <a:endParaRPr lang="en-US" sz="1600" u="sng">
                <a:latin typeface="Times New Roman" pitchFamily="18" charset="0"/>
              </a:endParaRPr>
            </a:p>
          </p:txBody>
        </p:sp>
        <p:sp>
          <p:nvSpPr>
            <p:cNvPr id="23580" name="Rectangle 26"/>
            <p:cNvSpPr>
              <a:spLocks noChangeArrowheads="1"/>
            </p:cNvSpPr>
            <p:nvPr/>
          </p:nvSpPr>
          <p:spPr bwMode="auto">
            <a:xfrm>
              <a:off x="4289" y="2239"/>
              <a:ext cx="0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endParaRPr lang="en-US" sz="1800" u="sng">
                <a:latin typeface="Times New Roman" pitchFamily="18" charset="0"/>
              </a:endParaRPr>
            </a:p>
          </p:txBody>
        </p:sp>
        <p:sp>
          <p:nvSpPr>
            <p:cNvPr id="23581" name="Rectangle 27"/>
            <p:cNvSpPr>
              <a:spLocks noChangeArrowheads="1"/>
            </p:cNvSpPr>
            <p:nvPr/>
          </p:nvSpPr>
          <p:spPr bwMode="auto">
            <a:xfrm>
              <a:off x="4625" y="2246"/>
              <a:ext cx="0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endParaRPr lang="en-US" sz="1800" u="sng">
                <a:latin typeface="Times New Roman" pitchFamily="18" charset="0"/>
              </a:endParaRPr>
            </a:p>
          </p:txBody>
        </p:sp>
        <p:sp>
          <p:nvSpPr>
            <p:cNvPr id="23582" name="Rectangle 28"/>
            <p:cNvSpPr>
              <a:spLocks noChangeArrowheads="1"/>
            </p:cNvSpPr>
            <p:nvPr/>
          </p:nvSpPr>
          <p:spPr bwMode="auto">
            <a:xfrm>
              <a:off x="3855" y="818"/>
              <a:ext cx="855" cy="12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83" name="Rectangle 29"/>
            <p:cNvSpPr>
              <a:spLocks noChangeArrowheads="1"/>
            </p:cNvSpPr>
            <p:nvPr/>
          </p:nvSpPr>
          <p:spPr bwMode="auto">
            <a:xfrm>
              <a:off x="3881" y="825"/>
              <a:ext cx="845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600">
                  <a:solidFill>
                    <a:srgbClr val="000000"/>
                  </a:solidFill>
                  <a:latin typeface="Geneva" charset="0"/>
                </a:rPr>
                <a:t>NE = (x</a:t>
              </a:r>
              <a:r>
                <a:rPr lang="en-US" sz="1600" baseline="-25000">
                  <a:solidFill>
                    <a:srgbClr val="000000"/>
                  </a:solidFill>
                  <a:latin typeface="Geneva" charset="0"/>
                </a:rPr>
                <a:t>i</a:t>
              </a:r>
              <a:r>
                <a:rPr lang="en-US" sz="1600">
                  <a:solidFill>
                    <a:srgbClr val="000000"/>
                  </a:solidFill>
                  <a:latin typeface="Geneva" charset="0"/>
                </a:rPr>
                <a:t> + 1, y</a:t>
              </a:r>
              <a:r>
                <a:rPr lang="en-US" sz="1600" baseline="-25000">
                  <a:solidFill>
                    <a:srgbClr val="000000"/>
                  </a:solidFill>
                  <a:latin typeface="Geneva" charset="0"/>
                </a:rPr>
                <a:t>i</a:t>
              </a:r>
              <a:r>
                <a:rPr lang="en-US" sz="1600">
                  <a:solidFill>
                    <a:srgbClr val="000000"/>
                  </a:solidFill>
                  <a:latin typeface="Geneva" charset="0"/>
                </a:rPr>
                <a:t> + 1)</a:t>
              </a:r>
              <a:endParaRPr lang="en-US" sz="1600" u="sng">
                <a:latin typeface="Times New Roman" pitchFamily="18" charset="0"/>
              </a:endParaRPr>
            </a:p>
          </p:txBody>
        </p:sp>
        <p:sp>
          <p:nvSpPr>
            <p:cNvPr id="23584" name="Line 30"/>
            <p:cNvSpPr>
              <a:spLocks noChangeShapeType="1"/>
            </p:cNvSpPr>
            <p:nvPr/>
          </p:nvSpPr>
          <p:spPr bwMode="auto">
            <a:xfrm flipV="1">
              <a:off x="2956" y="1098"/>
              <a:ext cx="1952" cy="975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585" name="Oval 31"/>
            <p:cNvSpPr>
              <a:spLocks noChangeArrowheads="1"/>
            </p:cNvSpPr>
            <p:nvPr/>
          </p:nvSpPr>
          <p:spPr bwMode="auto">
            <a:xfrm>
              <a:off x="3249" y="990"/>
              <a:ext cx="179" cy="17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86" name="Oval 32"/>
            <p:cNvSpPr>
              <a:spLocks noChangeArrowheads="1"/>
            </p:cNvSpPr>
            <p:nvPr/>
          </p:nvSpPr>
          <p:spPr bwMode="auto">
            <a:xfrm>
              <a:off x="5202" y="990"/>
              <a:ext cx="178" cy="17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87" name="Oval 33"/>
            <p:cNvSpPr>
              <a:spLocks noChangeArrowheads="1"/>
            </p:cNvSpPr>
            <p:nvPr/>
          </p:nvSpPr>
          <p:spPr bwMode="auto">
            <a:xfrm>
              <a:off x="5202" y="1965"/>
              <a:ext cx="178" cy="17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558" name="Text Box 34"/>
          <p:cNvSpPr txBox="1">
            <a:spLocks noChangeArrowheads="1"/>
          </p:cNvSpPr>
          <p:nvPr/>
        </p:nvSpPr>
        <p:spPr bwMode="auto">
          <a:xfrm>
            <a:off x="1676400" y="2667000"/>
            <a:ext cx="2743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Espaço Reservado para Rodapé 6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4100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Forma Implícita a da Reta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00200"/>
            <a:ext cx="8229600" cy="4530725"/>
          </a:xfrm>
        </p:spPr>
        <p:txBody>
          <a:bodyPr/>
          <a:lstStyle/>
          <a:p>
            <a:pPr eaLnBrk="1" hangingPunct="1"/>
            <a:r>
              <a:rPr lang="pt-BR" sz="2400"/>
              <a:t>Vamos determinar um método para calcular de que lado da reta está do ponto M. Para isso, considere sua função implícita, </a:t>
            </a:r>
            <a:r>
              <a:rPr lang="pt-BR" sz="2400" i="1"/>
              <a:t>F(x,y) = ax + by + c = 0</a:t>
            </a:r>
            <a:r>
              <a:rPr lang="pt-BR" sz="2400"/>
              <a:t>. </a:t>
            </a:r>
          </a:p>
          <a:p>
            <a:pPr lvl="1" eaLnBrk="1" hangingPunct="1"/>
            <a:endParaRPr lang="pt-BR"/>
          </a:p>
          <a:p>
            <a:pPr lvl="1" eaLnBrk="1" hangingPunct="1"/>
            <a:r>
              <a:rPr lang="pt-BR" sz="2000"/>
              <a:t>Se </a:t>
            </a:r>
            <a:r>
              <a:rPr lang="pt-BR" sz="2000" i="1"/>
              <a:t>dy = y2 - y1</a:t>
            </a:r>
            <a:r>
              <a:rPr lang="pt-BR" sz="2000"/>
              <a:t>,  e  </a:t>
            </a:r>
            <a:r>
              <a:rPr lang="pt-BR" sz="2000" i="1"/>
              <a:t>dx = x2 - x1</a:t>
            </a:r>
            <a:r>
              <a:rPr lang="pt-BR" sz="2000"/>
              <a:t>,</a:t>
            </a:r>
            <a:r>
              <a:rPr lang="pt-BR" sz="1800"/>
              <a:t> </a:t>
            </a:r>
          </a:p>
          <a:p>
            <a:pPr eaLnBrk="1" hangingPunct="1"/>
            <a:endParaRPr lang="pt-BR" sz="2000"/>
          </a:p>
          <a:p>
            <a:pPr eaLnBrk="1" hangingPunct="1"/>
            <a:r>
              <a:rPr lang="pt-BR" sz="2400"/>
              <a:t>A equação da reta em termos de sua inclinação pode ser escrita como:</a:t>
            </a:r>
            <a:br>
              <a:rPr lang="pt-BR" sz="2400"/>
            </a:br>
            <a:endParaRPr lang="pt-BR" sz="2400"/>
          </a:p>
        </p:txBody>
      </p:sp>
      <p:graphicFrame>
        <p:nvGraphicFramePr>
          <p:cNvPr id="4098" name="Object 11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492500" y="4797425"/>
          <a:ext cx="3284538" cy="161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99920" imgH="393480" progId="Equation.3">
                  <p:embed/>
                </p:oleObj>
              </mc:Choice>
              <mc:Fallback>
                <p:oleObj name="Equation" r:id="rId2" imgW="799920" imgH="3934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4797425"/>
                        <a:ext cx="3284538" cy="1616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Espaço Reservado para Rodapé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5124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Estudo do valor da Função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00200"/>
            <a:ext cx="7834313" cy="4530725"/>
          </a:xfrm>
        </p:spPr>
        <p:txBody>
          <a:bodyPr/>
          <a:lstStyle/>
          <a:p>
            <a:pPr eaLnBrk="1" hangingPunct="1"/>
            <a:r>
              <a:rPr lang="pt-BR" sz="2400"/>
              <a:t>Forma Implícita</a:t>
            </a:r>
          </a:p>
          <a:p>
            <a:pPr eaLnBrk="1" hangingPunct="1">
              <a:buFont typeface="Wingdings" pitchFamily="2" charset="2"/>
              <a:buNone/>
            </a:pPr>
            <a:endParaRPr lang="pt-BR" sz="2400"/>
          </a:p>
          <a:p>
            <a:pPr eaLnBrk="1" hangingPunct="1"/>
            <a:endParaRPr lang="pt-BR" sz="2400"/>
          </a:p>
          <a:p>
            <a:pPr eaLnBrk="1" hangingPunct="1"/>
            <a:endParaRPr lang="pt-BR" sz="2400"/>
          </a:p>
          <a:p>
            <a:pPr eaLnBrk="1" hangingPunct="1"/>
            <a:r>
              <a:rPr lang="pt-BR" sz="2400"/>
              <a:t>Em que </a:t>
            </a:r>
          </a:p>
          <a:p>
            <a:pPr lvl="1" eaLnBrk="1" hangingPunct="1"/>
            <a:r>
              <a:rPr lang="pt-BR" sz="2000"/>
              <a:t>a  = dy, b = - dx  e c = dx.B</a:t>
            </a:r>
          </a:p>
          <a:p>
            <a:pPr lvl="1" eaLnBrk="1" hangingPunct="1"/>
            <a:endParaRPr lang="pt-BR" sz="2000"/>
          </a:p>
          <a:p>
            <a:pPr eaLnBrk="1" hangingPunct="1"/>
            <a:r>
              <a:rPr lang="pt-BR" sz="2400"/>
              <a:t>É fácil verificar que:</a:t>
            </a:r>
          </a:p>
          <a:p>
            <a:pPr lvl="1" eaLnBrk="1" hangingPunct="1"/>
            <a:r>
              <a:rPr lang="pt-BR" sz="2000"/>
              <a:t>F(x,y) = 0, ponto sobre a linha</a:t>
            </a:r>
          </a:p>
          <a:p>
            <a:pPr lvl="1" eaLnBrk="1" hangingPunct="1"/>
            <a:r>
              <a:rPr lang="pt-BR" sz="2000"/>
              <a:t>F(x,y) </a:t>
            </a:r>
            <a:r>
              <a:rPr lang="pt-BR" sz="2000">
                <a:cs typeface="Arial" pitchFamily="34" charset="0"/>
              </a:rPr>
              <a:t>&gt; 0,  para pontos abaixo  da linha</a:t>
            </a:r>
          </a:p>
          <a:p>
            <a:pPr lvl="1" eaLnBrk="1" hangingPunct="1"/>
            <a:r>
              <a:rPr lang="pt-BR" sz="2000"/>
              <a:t>F(x,y) &lt; 0, para pontos  acima da linha</a:t>
            </a:r>
            <a:endParaRPr lang="pt-BR" sz="2000">
              <a:cs typeface="Arial" pitchFamily="34" charset="0"/>
            </a:endParaRPr>
          </a:p>
          <a:p>
            <a:pPr eaLnBrk="1" hangingPunct="1"/>
            <a:endParaRPr lang="pt-BR" sz="2400"/>
          </a:p>
        </p:txBody>
      </p:sp>
      <p:graphicFrame>
        <p:nvGraphicFramePr>
          <p:cNvPr id="5122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1331913" y="2362200"/>
          <a:ext cx="59055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09880" imgH="342720" progId="Equation.DSMT4">
                  <p:embed/>
                </p:oleObj>
              </mc:Choice>
              <mc:Fallback>
                <p:oleObj name="Equation" r:id="rId2" imgW="3809880" imgH="34272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362200"/>
                        <a:ext cx="59055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z="3200"/>
              <a:t>Determinando a  variável de decisão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BR" sz="2400" dirty="0"/>
              <a:t>Para o teste do ponto-médio, basta calcular </a:t>
            </a:r>
            <a:r>
              <a:rPr lang="pt-BR" sz="2400" i="1" dirty="0"/>
              <a:t>          </a:t>
            </a:r>
            <a:r>
              <a:rPr lang="pt-BR" sz="2400" b="1" i="1" dirty="0"/>
              <a:t>F(M) = F(</a:t>
            </a:r>
            <a:r>
              <a:rPr lang="pt-BR" sz="2400" b="1" i="1" dirty="0" err="1"/>
              <a:t>x</a:t>
            </a:r>
            <a:r>
              <a:rPr lang="pt-BR" sz="2400" b="1" i="1" baseline="-25000" dirty="0" err="1"/>
              <a:t>p</a:t>
            </a:r>
            <a:r>
              <a:rPr lang="pt-BR" sz="2400" b="1" i="1" dirty="0"/>
              <a:t> + 1,y</a:t>
            </a:r>
            <a:r>
              <a:rPr lang="pt-BR" sz="2400" b="1" i="1" baseline="-25000" dirty="0"/>
              <a:t>p</a:t>
            </a:r>
            <a:r>
              <a:rPr lang="pt-BR" sz="2400" b="1" i="1" dirty="0"/>
              <a:t> + 1/2)</a:t>
            </a:r>
            <a:r>
              <a:rPr lang="pt-BR" sz="2400" dirty="0"/>
              <a:t> e verificar o seu sinal.</a:t>
            </a:r>
          </a:p>
          <a:p>
            <a:pPr eaLnBrk="1" hangingPunct="1">
              <a:lnSpc>
                <a:spcPct val="90000"/>
              </a:lnSpc>
            </a:pPr>
            <a:r>
              <a:rPr lang="pt-BR" sz="2400" dirty="0"/>
              <a:t>A decisão será tomada com base no valor da função no ponto </a:t>
            </a:r>
            <a:r>
              <a:rPr lang="pt-BR" sz="2400" b="1" i="1" dirty="0"/>
              <a:t>(</a:t>
            </a:r>
            <a:r>
              <a:rPr lang="pt-BR" sz="2400" b="1" i="1" dirty="0" err="1"/>
              <a:t>x</a:t>
            </a:r>
            <a:r>
              <a:rPr lang="pt-BR" sz="2400" b="1" i="1" baseline="-25000" dirty="0" err="1"/>
              <a:t>p</a:t>
            </a:r>
            <a:r>
              <a:rPr lang="pt-BR" sz="2400" b="1" i="1" dirty="0"/>
              <a:t> + 1,y</a:t>
            </a:r>
            <a:r>
              <a:rPr lang="pt-BR" sz="2400" b="1" i="1" baseline="-25000" dirty="0"/>
              <a:t>p</a:t>
            </a:r>
            <a:r>
              <a:rPr lang="pt-BR" sz="2400" b="1" i="1" dirty="0"/>
              <a:t> + 1/2).</a:t>
            </a:r>
            <a:endParaRPr lang="pt-BR" sz="2400" b="1" dirty="0"/>
          </a:p>
          <a:p>
            <a:pPr eaLnBrk="1" hangingPunct="1">
              <a:lnSpc>
                <a:spcPct val="90000"/>
              </a:lnSpc>
            </a:pPr>
            <a:r>
              <a:rPr lang="pt-BR" sz="2400" dirty="0"/>
              <a:t> define-se  uma "variável de decisão“                                </a:t>
            </a:r>
          </a:p>
          <a:p>
            <a:pPr lvl="2" eaLnBrk="1" hangingPunct="1">
              <a:lnSpc>
                <a:spcPct val="90000"/>
              </a:lnSpc>
            </a:pPr>
            <a:endParaRPr lang="pt-BR" sz="2900" b="1" i="1" dirty="0"/>
          </a:p>
          <a:p>
            <a:pPr lvl="2" eaLnBrk="1" hangingPunct="1">
              <a:lnSpc>
                <a:spcPct val="90000"/>
              </a:lnSpc>
            </a:pPr>
            <a:r>
              <a:rPr lang="pt-BR" sz="2900" b="1" i="1" dirty="0"/>
              <a:t> d = a(</a:t>
            </a:r>
            <a:r>
              <a:rPr lang="pt-BR" sz="2900" b="1" i="1" dirty="0" err="1"/>
              <a:t>x</a:t>
            </a:r>
            <a:r>
              <a:rPr lang="pt-BR" sz="2900" b="1" i="1" baseline="-25000" dirty="0" err="1"/>
              <a:t>p</a:t>
            </a:r>
            <a:r>
              <a:rPr lang="pt-BR" sz="2900" b="1" i="1" dirty="0"/>
              <a:t> + 1) + b(</a:t>
            </a:r>
            <a:r>
              <a:rPr lang="pt-BR" sz="2900" b="1" i="1" dirty="0" err="1"/>
              <a:t>y</a:t>
            </a:r>
            <a:r>
              <a:rPr lang="pt-BR" sz="2900" b="1" i="1" baseline="-25000" dirty="0" err="1"/>
              <a:t>p</a:t>
            </a:r>
            <a:r>
              <a:rPr lang="pt-BR" sz="2900" b="1" i="1" dirty="0"/>
              <a:t> + 1/2) + c</a:t>
            </a:r>
            <a:r>
              <a:rPr lang="pt-BR" sz="2900" dirty="0"/>
              <a:t>:</a:t>
            </a:r>
          </a:p>
          <a:p>
            <a:pPr lvl="1" eaLnBrk="1" hangingPunct="1">
              <a:lnSpc>
                <a:spcPct val="90000"/>
              </a:lnSpc>
            </a:pPr>
            <a:endParaRPr lang="pt-BR" sz="2000" dirty="0"/>
          </a:p>
          <a:p>
            <a:pPr lvl="1" eaLnBrk="1" hangingPunct="1">
              <a:lnSpc>
                <a:spcPct val="90000"/>
              </a:lnSpc>
            </a:pPr>
            <a:r>
              <a:rPr lang="pt-BR" sz="2000" dirty="0"/>
              <a:t>Se </a:t>
            </a:r>
            <a:r>
              <a:rPr lang="pt-BR" sz="2000" i="1" dirty="0"/>
              <a:t>d &gt; 0</a:t>
            </a:r>
            <a:r>
              <a:rPr lang="pt-BR" sz="2000" dirty="0"/>
              <a:t>, escolhemos o pixel NE </a:t>
            </a:r>
          </a:p>
          <a:p>
            <a:pPr lvl="1" eaLnBrk="1" hangingPunct="1">
              <a:lnSpc>
                <a:spcPct val="90000"/>
              </a:lnSpc>
            </a:pPr>
            <a:r>
              <a:rPr lang="pt-BR" sz="2000" dirty="0"/>
              <a:t>Se </a:t>
            </a:r>
            <a:r>
              <a:rPr lang="pt-BR" sz="2000" i="1" dirty="0"/>
              <a:t>d &lt; 0</a:t>
            </a:r>
            <a:r>
              <a:rPr lang="pt-BR" sz="2000" dirty="0"/>
              <a:t>, escolhemos o pixel E</a:t>
            </a:r>
          </a:p>
          <a:p>
            <a:pPr lvl="1" eaLnBrk="1" hangingPunct="1">
              <a:lnSpc>
                <a:spcPct val="90000"/>
              </a:lnSpc>
            </a:pPr>
            <a:r>
              <a:rPr lang="pt-BR" sz="2000" dirty="0"/>
              <a:t> Se </a:t>
            </a:r>
            <a:r>
              <a:rPr lang="pt-BR" sz="2000" i="1" dirty="0"/>
              <a:t>d = 0</a:t>
            </a:r>
            <a:r>
              <a:rPr lang="pt-BR" sz="2000" dirty="0"/>
              <a:t> pode-se escolher qualquer um deles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Escolha de E ou NE</a:t>
            </a:r>
          </a:p>
        </p:txBody>
      </p:sp>
      <p:grpSp>
        <p:nvGrpSpPr>
          <p:cNvPr id="25604" name="Group 4"/>
          <p:cNvGrpSpPr>
            <a:grpSpLocks/>
          </p:cNvGrpSpPr>
          <p:nvPr/>
        </p:nvGrpSpPr>
        <p:grpSpPr bwMode="auto">
          <a:xfrm>
            <a:off x="1676400" y="2286000"/>
            <a:ext cx="4946650" cy="3130550"/>
            <a:chOff x="2956" y="818"/>
            <a:chExt cx="2424" cy="1565"/>
          </a:xfrm>
        </p:grpSpPr>
        <p:sp>
          <p:nvSpPr>
            <p:cNvPr id="25605" name="Oval 5"/>
            <p:cNvSpPr>
              <a:spLocks noChangeArrowheads="1"/>
            </p:cNvSpPr>
            <p:nvPr/>
          </p:nvSpPr>
          <p:spPr bwMode="auto">
            <a:xfrm>
              <a:off x="4302" y="1378"/>
              <a:ext cx="32" cy="32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06" name="Oval 6"/>
            <p:cNvSpPr>
              <a:spLocks noChangeArrowheads="1"/>
            </p:cNvSpPr>
            <p:nvPr/>
          </p:nvSpPr>
          <p:spPr bwMode="auto">
            <a:xfrm>
              <a:off x="4296" y="1551"/>
              <a:ext cx="32" cy="31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07" name="Rectangle 7"/>
            <p:cNvSpPr>
              <a:spLocks noChangeArrowheads="1"/>
            </p:cNvSpPr>
            <p:nvPr/>
          </p:nvSpPr>
          <p:spPr bwMode="auto">
            <a:xfrm>
              <a:off x="3370" y="1277"/>
              <a:ext cx="919" cy="12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08" name="Rectangle 8"/>
            <p:cNvSpPr>
              <a:spLocks noChangeArrowheads="1"/>
            </p:cNvSpPr>
            <p:nvPr/>
          </p:nvSpPr>
          <p:spPr bwMode="auto">
            <a:xfrm>
              <a:off x="3396" y="1283"/>
              <a:ext cx="812" cy="1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600" dirty="0">
                  <a:solidFill>
                    <a:srgbClr val="000000"/>
                  </a:solidFill>
                  <a:latin typeface="Geneva" charset="0"/>
                </a:rPr>
                <a:t>(</a:t>
              </a:r>
              <a:r>
                <a:rPr lang="en-US" sz="1600" dirty="0" err="1">
                  <a:solidFill>
                    <a:srgbClr val="000000"/>
                  </a:solidFill>
                  <a:latin typeface="Geneva" charset="0"/>
                </a:rPr>
                <a:t>x</a:t>
              </a:r>
              <a:r>
                <a:rPr lang="en-US" sz="1600" baseline="-25000" dirty="0" err="1">
                  <a:solidFill>
                    <a:srgbClr val="000000"/>
                  </a:solidFill>
                  <a:latin typeface="Geneva" charset="0"/>
                </a:rPr>
                <a:t>p</a:t>
              </a:r>
              <a:r>
                <a:rPr lang="en-US" sz="1600" dirty="0">
                  <a:solidFill>
                    <a:srgbClr val="000000"/>
                  </a:solidFill>
                  <a:latin typeface="Geneva" charset="0"/>
                </a:rPr>
                <a:t> +1, </a:t>
              </a:r>
              <a:r>
                <a:rPr lang="en-US" sz="1600" dirty="0" err="1">
                  <a:solidFill>
                    <a:srgbClr val="000000"/>
                  </a:solidFill>
                  <a:latin typeface="Geneva" charset="0"/>
                </a:rPr>
                <a:t>y</a:t>
              </a:r>
              <a:r>
                <a:rPr lang="en-US" sz="1600" baseline="-25000" dirty="0" err="1">
                  <a:solidFill>
                    <a:srgbClr val="000000"/>
                  </a:solidFill>
                  <a:latin typeface="Geneva" charset="0"/>
                </a:rPr>
                <a:t>p</a:t>
              </a:r>
              <a:r>
                <a:rPr lang="en-US" sz="1600" dirty="0">
                  <a:solidFill>
                    <a:srgbClr val="000000"/>
                  </a:solidFill>
                  <a:latin typeface="Geneva" charset="0"/>
                </a:rPr>
                <a:t> + ½ + e)</a:t>
              </a:r>
              <a:endParaRPr lang="en-US" sz="1600" u="sng" dirty="0">
                <a:latin typeface="Times New Roman" pitchFamily="18" charset="0"/>
              </a:endParaRPr>
            </a:p>
          </p:txBody>
        </p:sp>
        <p:sp>
          <p:nvSpPr>
            <p:cNvPr id="25609" name="Rectangle 9"/>
            <p:cNvSpPr>
              <a:spLocks noChangeArrowheads="1"/>
            </p:cNvSpPr>
            <p:nvPr/>
          </p:nvSpPr>
          <p:spPr bwMode="auto">
            <a:xfrm>
              <a:off x="3504" y="1328"/>
              <a:ext cx="0" cy="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endParaRPr lang="en-US" sz="1800" u="sng">
                <a:latin typeface="Times New Roman" pitchFamily="18" charset="0"/>
              </a:endParaRPr>
            </a:p>
          </p:txBody>
        </p:sp>
        <p:sp>
          <p:nvSpPr>
            <p:cNvPr id="25610" name="Rectangle 10"/>
            <p:cNvSpPr>
              <a:spLocks noChangeArrowheads="1"/>
            </p:cNvSpPr>
            <p:nvPr/>
          </p:nvSpPr>
          <p:spPr bwMode="auto">
            <a:xfrm>
              <a:off x="3821" y="1322"/>
              <a:ext cx="0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endParaRPr lang="en-US" sz="1800" u="sng">
                <a:latin typeface="Times New Roman" pitchFamily="18" charset="0"/>
              </a:endParaRPr>
            </a:p>
          </p:txBody>
        </p:sp>
        <p:sp>
          <p:nvSpPr>
            <p:cNvPr id="25611" name="Rectangle 11"/>
            <p:cNvSpPr>
              <a:spLocks noChangeArrowheads="1"/>
            </p:cNvSpPr>
            <p:nvPr/>
          </p:nvSpPr>
          <p:spPr bwMode="auto">
            <a:xfrm>
              <a:off x="4423" y="1430"/>
              <a:ext cx="55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600">
                  <a:solidFill>
                    <a:srgbClr val="000000"/>
                  </a:solidFill>
                  <a:latin typeface="Geneva" charset="0"/>
                </a:rPr>
                <a:t>e</a:t>
              </a:r>
              <a:endParaRPr lang="en-US" sz="1600" u="sng">
                <a:latin typeface="Times New Roman" pitchFamily="18" charset="0"/>
              </a:endParaRPr>
            </a:p>
          </p:txBody>
        </p:sp>
        <p:sp>
          <p:nvSpPr>
            <p:cNvPr id="25612" name="Arc 12"/>
            <p:cNvSpPr>
              <a:spLocks/>
            </p:cNvSpPr>
            <p:nvPr/>
          </p:nvSpPr>
          <p:spPr bwMode="auto">
            <a:xfrm>
              <a:off x="4346" y="1506"/>
              <a:ext cx="51" cy="64"/>
            </a:xfrm>
            <a:custGeom>
              <a:avLst/>
              <a:gdLst>
                <a:gd name="T0" fmla="*/ 0 w 17306"/>
                <a:gd name="T1" fmla="*/ 0 h 21600"/>
                <a:gd name="T2" fmla="*/ 0 w 17306"/>
                <a:gd name="T3" fmla="*/ 0 h 21600"/>
                <a:gd name="T4" fmla="*/ 0 w 17306"/>
                <a:gd name="T5" fmla="*/ 0 h 21600"/>
                <a:gd name="T6" fmla="*/ 0 60000 65536"/>
                <a:gd name="T7" fmla="*/ 0 60000 65536"/>
                <a:gd name="T8" fmla="*/ 0 60000 65536"/>
                <a:gd name="T9" fmla="*/ 0 w 17306"/>
                <a:gd name="T10" fmla="*/ 0 h 21600"/>
                <a:gd name="T11" fmla="*/ 17306 w 1730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306" h="21600" fill="none" extrusionOk="0">
                  <a:moveTo>
                    <a:pt x="-1" y="1809"/>
                  </a:moveTo>
                  <a:cubicBezTo>
                    <a:pt x="2728" y="615"/>
                    <a:pt x="5674" y="-1"/>
                    <a:pt x="8653" y="0"/>
                  </a:cubicBezTo>
                  <a:cubicBezTo>
                    <a:pt x="11631" y="0"/>
                    <a:pt x="14577" y="615"/>
                    <a:pt x="17306" y="1809"/>
                  </a:cubicBezTo>
                </a:path>
                <a:path w="17306" h="21600" stroke="0" extrusionOk="0">
                  <a:moveTo>
                    <a:pt x="-1" y="1809"/>
                  </a:moveTo>
                  <a:cubicBezTo>
                    <a:pt x="2728" y="615"/>
                    <a:pt x="5674" y="-1"/>
                    <a:pt x="8653" y="0"/>
                  </a:cubicBezTo>
                  <a:cubicBezTo>
                    <a:pt x="11631" y="0"/>
                    <a:pt x="14577" y="615"/>
                    <a:pt x="17306" y="1809"/>
                  </a:cubicBezTo>
                  <a:lnTo>
                    <a:pt x="8653" y="2160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13" name="Arc 13"/>
            <p:cNvSpPr>
              <a:spLocks/>
            </p:cNvSpPr>
            <p:nvPr/>
          </p:nvSpPr>
          <p:spPr bwMode="auto">
            <a:xfrm>
              <a:off x="4346" y="1404"/>
              <a:ext cx="52" cy="64"/>
            </a:xfrm>
            <a:custGeom>
              <a:avLst/>
              <a:gdLst>
                <a:gd name="T0" fmla="*/ 0 w 17670"/>
                <a:gd name="T1" fmla="*/ 0 h 21600"/>
                <a:gd name="T2" fmla="*/ 0 w 17670"/>
                <a:gd name="T3" fmla="*/ 0 h 21600"/>
                <a:gd name="T4" fmla="*/ 0 w 17670"/>
                <a:gd name="T5" fmla="*/ 0 h 21600"/>
                <a:gd name="T6" fmla="*/ 0 60000 65536"/>
                <a:gd name="T7" fmla="*/ 0 60000 65536"/>
                <a:gd name="T8" fmla="*/ 0 60000 65536"/>
                <a:gd name="T9" fmla="*/ 0 w 17670"/>
                <a:gd name="T10" fmla="*/ 0 h 21600"/>
                <a:gd name="T11" fmla="*/ 17670 w 1767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670" h="21600" fill="none" extrusionOk="0">
                  <a:moveTo>
                    <a:pt x="17670" y="19710"/>
                  </a:moveTo>
                  <a:cubicBezTo>
                    <a:pt x="14891" y="20956"/>
                    <a:pt x="11880" y="21599"/>
                    <a:pt x="8835" y="21600"/>
                  </a:cubicBezTo>
                  <a:cubicBezTo>
                    <a:pt x="5789" y="21600"/>
                    <a:pt x="2778" y="20956"/>
                    <a:pt x="-1" y="19710"/>
                  </a:cubicBezTo>
                </a:path>
                <a:path w="17670" h="21600" stroke="0" extrusionOk="0">
                  <a:moveTo>
                    <a:pt x="17670" y="19710"/>
                  </a:moveTo>
                  <a:cubicBezTo>
                    <a:pt x="14891" y="20956"/>
                    <a:pt x="11880" y="21599"/>
                    <a:pt x="8835" y="21600"/>
                  </a:cubicBezTo>
                  <a:cubicBezTo>
                    <a:pt x="5789" y="21600"/>
                    <a:pt x="2778" y="20956"/>
                    <a:pt x="-1" y="19710"/>
                  </a:cubicBezTo>
                  <a:lnTo>
                    <a:pt x="883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14" name="Line 14"/>
            <p:cNvSpPr>
              <a:spLocks noChangeShapeType="1"/>
            </p:cNvSpPr>
            <p:nvPr/>
          </p:nvSpPr>
          <p:spPr bwMode="auto">
            <a:xfrm>
              <a:off x="4372" y="1455"/>
              <a:ext cx="1" cy="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615" name="Rectangle 15"/>
            <p:cNvSpPr>
              <a:spLocks noChangeArrowheads="1"/>
            </p:cNvSpPr>
            <p:nvPr/>
          </p:nvSpPr>
          <p:spPr bwMode="auto">
            <a:xfrm>
              <a:off x="4264" y="1576"/>
              <a:ext cx="841" cy="1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600" dirty="0">
                  <a:solidFill>
                    <a:srgbClr val="000000"/>
                  </a:solidFill>
                  <a:latin typeface="Geneva" charset="0"/>
                </a:rPr>
                <a:t>M = (</a:t>
              </a:r>
              <a:r>
                <a:rPr lang="en-US" sz="1600" dirty="0" err="1">
                  <a:solidFill>
                    <a:srgbClr val="000000"/>
                  </a:solidFill>
                  <a:latin typeface="Geneva" charset="0"/>
                </a:rPr>
                <a:t>x</a:t>
              </a:r>
              <a:r>
                <a:rPr lang="en-US" sz="1600" baseline="-25000" dirty="0" err="1">
                  <a:solidFill>
                    <a:srgbClr val="000000"/>
                  </a:solidFill>
                  <a:latin typeface="Geneva" charset="0"/>
                </a:rPr>
                <a:t>p</a:t>
              </a:r>
              <a:r>
                <a:rPr lang="en-US" sz="1600" dirty="0">
                  <a:solidFill>
                    <a:srgbClr val="000000"/>
                  </a:solidFill>
                  <a:latin typeface="Geneva" charset="0"/>
                </a:rPr>
                <a:t> +1, </a:t>
              </a:r>
              <a:r>
                <a:rPr lang="en-US" sz="1600" dirty="0" err="1">
                  <a:solidFill>
                    <a:srgbClr val="000000"/>
                  </a:solidFill>
                  <a:latin typeface="Geneva" charset="0"/>
                </a:rPr>
                <a:t>y</a:t>
              </a:r>
              <a:r>
                <a:rPr lang="en-US" sz="1600" baseline="-25000" dirty="0" err="1">
                  <a:solidFill>
                    <a:srgbClr val="000000"/>
                  </a:solidFill>
                  <a:latin typeface="Geneva" charset="0"/>
                </a:rPr>
                <a:t>p</a:t>
              </a:r>
              <a:r>
                <a:rPr lang="en-US" sz="1600" dirty="0">
                  <a:solidFill>
                    <a:srgbClr val="000000"/>
                  </a:solidFill>
                  <a:latin typeface="Geneva" charset="0"/>
                </a:rPr>
                <a:t> + ½)</a:t>
              </a:r>
              <a:endParaRPr lang="en-US" sz="1600" u="sng" dirty="0">
                <a:latin typeface="Times New Roman" pitchFamily="18" charset="0"/>
              </a:endParaRPr>
            </a:p>
          </p:txBody>
        </p:sp>
        <p:sp>
          <p:nvSpPr>
            <p:cNvPr id="25616" name="Rectangle 16"/>
            <p:cNvSpPr>
              <a:spLocks noChangeArrowheads="1"/>
            </p:cNvSpPr>
            <p:nvPr/>
          </p:nvSpPr>
          <p:spPr bwMode="auto">
            <a:xfrm>
              <a:off x="4366" y="1602"/>
              <a:ext cx="0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endParaRPr lang="en-US" sz="1800" u="sng">
                <a:latin typeface="Times New Roman" pitchFamily="18" charset="0"/>
              </a:endParaRPr>
            </a:p>
          </p:txBody>
        </p:sp>
        <p:sp>
          <p:nvSpPr>
            <p:cNvPr id="25617" name="Rectangle 17"/>
            <p:cNvSpPr>
              <a:spLocks noChangeArrowheads="1"/>
            </p:cNvSpPr>
            <p:nvPr/>
          </p:nvSpPr>
          <p:spPr bwMode="auto">
            <a:xfrm>
              <a:off x="4656" y="1615"/>
              <a:ext cx="0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endParaRPr lang="en-US" sz="1800" u="sng">
                <a:latin typeface="Times New Roman" pitchFamily="18" charset="0"/>
              </a:endParaRPr>
            </a:p>
          </p:txBody>
        </p:sp>
        <p:sp>
          <p:nvSpPr>
            <p:cNvPr id="25618" name="Oval 18"/>
            <p:cNvSpPr>
              <a:spLocks noChangeArrowheads="1"/>
            </p:cNvSpPr>
            <p:nvPr/>
          </p:nvSpPr>
          <p:spPr bwMode="auto">
            <a:xfrm>
              <a:off x="3249" y="1965"/>
              <a:ext cx="179" cy="178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19" name="Oval 19"/>
            <p:cNvSpPr>
              <a:spLocks noChangeArrowheads="1"/>
            </p:cNvSpPr>
            <p:nvPr/>
          </p:nvSpPr>
          <p:spPr bwMode="auto">
            <a:xfrm>
              <a:off x="4225" y="1965"/>
              <a:ext cx="179" cy="178"/>
            </a:xfrm>
            <a:prstGeom prst="ellipse">
              <a:avLst/>
            </a:prstGeom>
            <a:blipFill dpi="0" rotWithShape="0">
              <a:blip r:embed="rId2" cstate="print"/>
              <a:srcRect/>
              <a:tile tx="0" ty="0" sx="100000" sy="100000" flip="none" algn="tl"/>
            </a:blip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20" name="Oval 20"/>
            <p:cNvSpPr>
              <a:spLocks noChangeArrowheads="1"/>
            </p:cNvSpPr>
            <p:nvPr/>
          </p:nvSpPr>
          <p:spPr bwMode="auto">
            <a:xfrm>
              <a:off x="4225" y="990"/>
              <a:ext cx="179" cy="178"/>
            </a:xfrm>
            <a:prstGeom prst="ellipse">
              <a:avLst/>
            </a:prstGeom>
            <a:blipFill dpi="0" rotWithShape="0">
              <a:blip r:embed="rId3" cstate="print"/>
              <a:srcRect/>
              <a:tile tx="0" ty="0" sx="100000" sy="100000" flip="none" algn="tl"/>
            </a:blip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21" name="Rectangle 21"/>
            <p:cNvSpPr>
              <a:spLocks noChangeArrowheads="1"/>
            </p:cNvSpPr>
            <p:nvPr/>
          </p:nvSpPr>
          <p:spPr bwMode="auto">
            <a:xfrm>
              <a:off x="3045" y="2200"/>
              <a:ext cx="498" cy="12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22" name="Rectangle 22"/>
            <p:cNvSpPr>
              <a:spLocks noChangeArrowheads="1"/>
            </p:cNvSpPr>
            <p:nvPr/>
          </p:nvSpPr>
          <p:spPr bwMode="auto">
            <a:xfrm>
              <a:off x="3071" y="2207"/>
              <a:ext cx="507" cy="1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600" dirty="0">
                  <a:solidFill>
                    <a:srgbClr val="000000"/>
                  </a:solidFill>
                  <a:latin typeface="Geneva" charset="0"/>
                </a:rPr>
                <a:t>P = (</a:t>
              </a:r>
              <a:r>
                <a:rPr lang="en-US" sz="1600" dirty="0" err="1">
                  <a:solidFill>
                    <a:srgbClr val="000000"/>
                  </a:solidFill>
                  <a:latin typeface="Geneva" charset="0"/>
                </a:rPr>
                <a:t>x</a:t>
              </a:r>
              <a:r>
                <a:rPr lang="en-US" sz="1600" baseline="-25000" dirty="0" err="1">
                  <a:solidFill>
                    <a:srgbClr val="000000"/>
                  </a:solidFill>
                  <a:latin typeface="Geneva" charset="0"/>
                </a:rPr>
                <a:t>p</a:t>
              </a:r>
              <a:r>
                <a:rPr lang="en-US" sz="1600" dirty="0">
                  <a:solidFill>
                    <a:srgbClr val="000000"/>
                  </a:solidFill>
                  <a:latin typeface="Geneva" charset="0"/>
                </a:rPr>
                <a:t> ,</a:t>
              </a:r>
              <a:r>
                <a:rPr lang="en-US" sz="1600" dirty="0" err="1">
                  <a:solidFill>
                    <a:srgbClr val="000000"/>
                  </a:solidFill>
                  <a:latin typeface="Geneva" charset="0"/>
                </a:rPr>
                <a:t>y</a:t>
              </a:r>
              <a:r>
                <a:rPr lang="en-US" sz="1600" baseline="-25000" dirty="0" err="1">
                  <a:solidFill>
                    <a:srgbClr val="000000"/>
                  </a:solidFill>
                  <a:latin typeface="Geneva" charset="0"/>
                </a:rPr>
                <a:t>p</a:t>
              </a:r>
              <a:r>
                <a:rPr lang="en-US" sz="1600" dirty="0">
                  <a:solidFill>
                    <a:srgbClr val="000000"/>
                  </a:solidFill>
                  <a:latin typeface="Geneva" charset="0"/>
                </a:rPr>
                <a:t> )</a:t>
              </a:r>
              <a:endParaRPr lang="en-US" sz="1600" u="sng" dirty="0">
                <a:latin typeface="Times New Roman" pitchFamily="18" charset="0"/>
              </a:endParaRPr>
            </a:p>
          </p:txBody>
        </p:sp>
        <p:sp>
          <p:nvSpPr>
            <p:cNvPr id="25623" name="Rectangle 23"/>
            <p:cNvSpPr>
              <a:spLocks noChangeArrowheads="1"/>
            </p:cNvSpPr>
            <p:nvPr/>
          </p:nvSpPr>
          <p:spPr bwMode="auto">
            <a:xfrm>
              <a:off x="3467" y="2239"/>
              <a:ext cx="0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endParaRPr lang="en-US" sz="1800" u="sng">
                <a:latin typeface="Times New Roman" pitchFamily="18" charset="0"/>
              </a:endParaRPr>
            </a:p>
          </p:txBody>
        </p:sp>
        <p:sp>
          <p:nvSpPr>
            <p:cNvPr id="25624" name="Rectangle 24"/>
            <p:cNvSpPr>
              <a:spLocks noChangeArrowheads="1"/>
            </p:cNvSpPr>
            <p:nvPr/>
          </p:nvSpPr>
          <p:spPr bwMode="auto">
            <a:xfrm>
              <a:off x="3353" y="2239"/>
              <a:ext cx="0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endParaRPr lang="en-US" sz="1800" u="sng">
                <a:latin typeface="Times New Roman" pitchFamily="18" charset="0"/>
              </a:endParaRPr>
            </a:p>
          </p:txBody>
        </p:sp>
        <p:sp>
          <p:nvSpPr>
            <p:cNvPr id="25625" name="Rectangle 25"/>
            <p:cNvSpPr>
              <a:spLocks noChangeArrowheads="1"/>
            </p:cNvSpPr>
            <p:nvPr/>
          </p:nvSpPr>
          <p:spPr bwMode="auto">
            <a:xfrm>
              <a:off x="4008" y="2207"/>
              <a:ext cx="652" cy="1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600" dirty="0">
                  <a:solidFill>
                    <a:srgbClr val="000000"/>
                  </a:solidFill>
                  <a:latin typeface="Geneva" charset="0"/>
                </a:rPr>
                <a:t>E = (</a:t>
              </a:r>
              <a:r>
                <a:rPr lang="en-US" sz="1600" dirty="0" err="1">
                  <a:solidFill>
                    <a:srgbClr val="000000"/>
                  </a:solidFill>
                  <a:latin typeface="Geneva" charset="0"/>
                </a:rPr>
                <a:t>x</a:t>
              </a:r>
              <a:r>
                <a:rPr lang="en-US" sz="1600" baseline="-25000" dirty="0" err="1">
                  <a:solidFill>
                    <a:srgbClr val="000000"/>
                  </a:solidFill>
                  <a:latin typeface="Geneva" charset="0"/>
                </a:rPr>
                <a:t>p</a:t>
              </a:r>
              <a:r>
                <a:rPr lang="en-US" sz="1600" dirty="0">
                  <a:solidFill>
                    <a:srgbClr val="000000"/>
                  </a:solidFill>
                  <a:latin typeface="Geneva" charset="0"/>
                </a:rPr>
                <a:t> + 1, </a:t>
              </a:r>
              <a:r>
                <a:rPr lang="en-US" sz="1600" dirty="0" err="1">
                  <a:solidFill>
                    <a:srgbClr val="000000"/>
                  </a:solidFill>
                  <a:latin typeface="Geneva" charset="0"/>
                </a:rPr>
                <a:t>y</a:t>
              </a:r>
              <a:r>
                <a:rPr lang="en-US" sz="1600" baseline="-25000" dirty="0" err="1">
                  <a:solidFill>
                    <a:srgbClr val="000000"/>
                  </a:solidFill>
                  <a:latin typeface="Geneva" charset="0"/>
                </a:rPr>
                <a:t>p</a:t>
              </a:r>
              <a:r>
                <a:rPr lang="en-US" sz="1600" dirty="0">
                  <a:solidFill>
                    <a:srgbClr val="000000"/>
                  </a:solidFill>
                  <a:latin typeface="Geneva" charset="0"/>
                </a:rPr>
                <a:t>)</a:t>
              </a:r>
              <a:endParaRPr lang="en-US" sz="1600" u="sng" dirty="0">
                <a:latin typeface="Times New Roman" pitchFamily="18" charset="0"/>
              </a:endParaRPr>
            </a:p>
          </p:txBody>
        </p:sp>
        <p:sp>
          <p:nvSpPr>
            <p:cNvPr id="25626" name="Rectangle 26"/>
            <p:cNvSpPr>
              <a:spLocks noChangeArrowheads="1"/>
            </p:cNvSpPr>
            <p:nvPr/>
          </p:nvSpPr>
          <p:spPr bwMode="auto">
            <a:xfrm>
              <a:off x="4289" y="2239"/>
              <a:ext cx="0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endParaRPr lang="en-US" sz="1800" u="sng">
                <a:latin typeface="Times New Roman" pitchFamily="18" charset="0"/>
              </a:endParaRPr>
            </a:p>
          </p:txBody>
        </p:sp>
        <p:sp>
          <p:nvSpPr>
            <p:cNvPr id="25627" name="Rectangle 27"/>
            <p:cNvSpPr>
              <a:spLocks noChangeArrowheads="1"/>
            </p:cNvSpPr>
            <p:nvPr/>
          </p:nvSpPr>
          <p:spPr bwMode="auto">
            <a:xfrm>
              <a:off x="4625" y="2246"/>
              <a:ext cx="0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endParaRPr lang="en-US" sz="1800" u="sng">
                <a:latin typeface="Times New Roman" pitchFamily="18" charset="0"/>
              </a:endParaRPr>
            </a:p>
          </p:txBody>
        </p:sp>
        <p:sp>
          <p:nvSpPr>
            <p:cNvPr id="25628" name="Rectangle 28"/>
            <p:cNvSpPr>
              <a:spLocks noChangeArrowheads="1"/>
            </p:cNvSpPr>
            <p:nvPr/>
          </p:nvSpPr>
          <p:spPr bwMode="auto">
            <a:xfrm>
              <a:off x="3855" y="818"/>
              <a:ext cx="855" cy="12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29" name="Rectangle 29"/>
            <p:cNvSpPr>
              <a:spLocks noChangeArrowheads="1"/>
            </p:cNvSpPr>
            <p:nvPr/>
          </p:nvSpPr>
          <p:spPr bwMode="auto">
            <a:xfrm>
              <a:off x="3881" y="825"/>
              <a:ext cx="895" cy="1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600" dirty="0">
                  <a:solidFill>
                    <a:srgbClr val="000000"/>
                  </a:solidFill>
                  <a:latin typeface="Geneva" charset="0"/>
                </a:rPr>
                <a:t>NE = (</a:t>
              </a:r>
              <a:r>
                <a:rPr lang="en-US" sz="1600" dirty="0" err="1">
                  <a:solidFill>
                    <a:srgbClr val="000000"/>
                  </a:solidFill>
                  <a:latin typeface="Geneva" charset="0"/>
                </a:rPr>
                <a:t>x</a:t>
              </a:r>
              <a:r>
                <a:rPr lang="en-US" sz="1600" baseline="-25000" dirty="0" err="1">
                  <a:solidFill>
                    <a:srgbClr val="000000"/>
                  </a:solidFill>
                  <a:latin typeface="Geneva" charset="0"/>
                </a:rPr>
                <a:t>p</a:t>
              </a:r>
              <a:r>
                <a:rPr lang="en-US" sz="1600" dirty="0">
                  <a:solidFill>
                    <a:srgbClr val="000000"/>
                  </a:solidFill>
                  <a:latin typeface="Geneva" charset="0"/>
                </a:rPr>
                <a:t> + 1, </a:t>
              </a:r>
              <a:r>
                <a:rPr lang="en-US" sz="1600" dirty="0" err="1">
                  <a:solidFill>
                    <a:srgbClr val="000000"/>
                  </a:solidFill>
                  <a:latin typeface="Geneva" charset="0"/>
                </a:rPr>
                <a:t>y</a:t>
              </a:r>
              <a:r>
                <a:rPr lang="en-US" sz="1600" baseline="-25000" dirty="0" err="1">
                  <a:solidFill>
                    <a:srgbClr val="000000"/>
                  </a:solidFill>
                  <a:latin typeface="Geneva" charset="0"/>
                </a:rPr>
                <a:t>p</a:t>
              </a:r>
              <a:r>
                <a:rPr lang="en-US" sz="1600" dirty="0">
                  <a:solidFill>
                    <a:srgbClr val="000000"/>
                  </a:solidFill>
                  <a:latin typeface="Geneva" charset="0"/>
                </a:rPr>
                <a:t> + 1)</a:t>
              </a:r>
              <a:endParaRPr lang="en-US" sz="1600" u="sng" dirty="0">
                <a:latin typeface="Times New Roman" pitchFamily="18" charset="0"/>
              </a:endParaRPr>
            </a:p>
          </p:txBody>
        </p:sp>
        <p:sp>
          <p:nvSpPr>
            <p:cNvPr id="25630" name="Line 30"/>
            <p:cNvSpPr>
              <a:spLocks noChangeShapeType="1"/>
            </p:cNvSpPr>
            <p:nvPr/>
          </p:nvSpPr>
          <p:spPr bwMode="auto">
            <a:xfrm flipV="1">
              <a:off x="2956" y="1098"/>
              <a:ext cx="1952" cy="975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631" name="Oval 31"/>
            <p:cNvSpPr>
              <a:spLocks noChangeArrowheads="1"/>
            </p:cNvSpPr>
            <p:nvPr/>
          </p:nvSpPr>
          <p:spPr bwMode="auto">
            <a:xfrm>
              <a:off x="3249" y="990"/>
              <a:ext cx="179" cy="17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32" name="Oval 32"/>
            <p:cNvSpPr>
              <a:spLocks noChangeArrowheads="1"/>
            </p:cNvSpPr>
            <p:nvPr/>
          </p:nvSpPr>
          <p:spPr bwMode="auto">
            <a:xfrm>
              <a:off x="5202" y="990"/>
              <a:ext cx="178" cy="17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33" name="Oval 33"/>
            <p:cNvSpPr>
              <a:spLocks noChangeArrowheads="1"/>
            </p:cNvSpPr>
            <p:nvPr/>
          </p:nvSpPr>
          <p:spPr bwMode="auto">
            <a:xfrm>
              <a:off x="5202" y="1965"/>
              <a:ext cx="178" cy="17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Espaço Reservado para Rodapé 6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6148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Determinando a Forma Incremental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00200"/>
            <a:ext cx="8050213" cy="4530725"/>
          </a:xfrm>
        </p:spPr>
        <p:txBody>
          <a:bodyPr/>
          <a:lstStyle/>
          <a:p>
            <a:pPr eaLnBrk="1" hangingPunct="1"/>
            <a:r>
              <a:rPr lang="pt-BR" sz="2000"/>
              <a:t>Se E for escolhido, M é incrementado de 1 na direção x.</a:t>
            </a:r>
            <a:r>
              <a:rPr lang="pt-BR" sz="2400"/>
              <a:t> </a:t>
            </a:r>
          </a:p>
          <a:p>
            <a:pPr eaLnBrk="1" hangingPunct="1"/>
            <a:endParaRPr lang="pt-BR" sz="2400"/>
          </a:p>
          <a:p>
            <a:pPr eaLnBrk="1" hangingPunct="1"/>
            <a:endParaRPr lang="pt-BR" sz="2400"/>
          </a:p>
          <a:p>
            <a:pPr eaLnBrk="1" hangingPunct="1"/>
            <a:endParaRPr lang="pt-BR" sz="2400"/>
          </a:p>
          <a:p>
            <a:pPr eaLnBrk="1" hangingPunct="1"/>
            <a:endParaRPr lang="pt-BR" sz="2400"/>
          </a:p>
          <a:p>
            <a:pPr eaLnBrk="1" hangingPunct="1"/>
            <a:endParaRPr lang="pt-BR" sz="2400"/>
          </a:p>
          <a:p>
            <a:pPr eaLnBrk="1" hangingPunct="1"/>
            <a:endParaRPr lang="pt-BR" sz="2400"/>
          </a:p>
          <a:p>
            <a:pPr eaLnBrk="1" hangingPunct="1"/>
            <a:r>
              <a:rPr lang="pt-BR" sz="2400"/>
              <a:t>Subtraindo </a:t>
            </a:r>
            <a:r>
              <a:rPr lang="pt-BR" sz="2400" b="1" i="1"/>
              <a:t>d</a:t>
            </a:r>
            <a:r>
              <a:rPr lang="pt-BR" sz="2400" b="1" i="1" baseline="-25000"/>
              <a:t>old</a:t>
            </a:r>
            <a:r>
              <a:rPr lang="pt-BR" sz="2400"/>
              <a:t> de </a:t>
            </a:r>
            <a:r>
              <a:rPr lang="pt-BR" sz="2400" b="1" i="1"/>
              <a:t>d</a:t>
            </a:r>
            <a:r>
              <a:rPr lang="pt-BR" sz="2400" b="1" i="1" baseline="-25000"/>
              <a:t>new</a:t>
            </a:r>
            <a:r>
              <a:rPr lang="pt-BR" sz="2400"/>
              <a:t> para obter a diferença incremental, tem-se </a:t>
            </a:r>
          </a:p>
          <a:p>
            <a:pPr algn="ctr" eaLnBrk="1" hangingPunct="1"/>
            <a:r>
              <a:rPr lang="pt-BR" sz="2400" b="1" i="1"/>
              <a:t>d</a:t>
            </a:r>
            <a:r>
              <a:rPr lang="pt-BR" sz="2400" b="1" i="1" baseline="-25000"/>
              <a:t>new</a:t>
            </a:r>
            <a:r>
              <a:rPr lang="pt-BR" sz="2400" b="1" i="1"/>
              <a:t> = d</a:t>
            </a:r>
            <a:r>
              <a:rPr lang="pt-BR" sz="2400" b="1" i="1" baseline="-25000"/>
              <a:t>old</a:t>
            </a:r>
            <a:r>
              <a:rPr lang="pt-BR" sz="2400" b="1" i="1"/>
              <a:t> + a</a:t>
            </a:r>
            <a:r>
              <a:rPr lang="pt-BR" sz="2400" b="1"/>
              <a:t>.</a:t>
            </a:r>
            <a:r>
              <a:rPr lang="pt-BR" sz="2400"/>
              <a:t> </a:t>
            </a:r>
          </a:p>
        </p:txBody>
      </p:sp>
      <p:graphicFrame>
        <p:nvGraphicFramePr>
          <p:cNvPr id="6146" name="Object 12"/>
          <p:cNvGraphicFramePr>
            <a:graphicFrameLocks noChangeAspect="1"/>
          </p:cNvGraphicFramePr>
          <p:nvPr/>
        </p:nvGraphicFramePr>
        <p:xfrm>
          <a:off x="1187450" y="2349500"/>
          <a:ext cx="6696075" cy="175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98520" imgH="812520" progId="Equation.3">
                  <p:embed/>
                </p:oleObj>
              </mc:Choice>
              <mc:Fallback>
                <p:oleObj name="Equation" r:id="rId2" imgW="3098520" imgH="81252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349500"/>
                        <a:ext cx="6696075" cy="175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717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Determinando a Forma Incremental</a:t>
            </a:r>
          </a:p>
        </p:txBody>
      </p:sp>
      <p:graphicFrame>
        <p:nvGraphicFramePr>
          <p:cNvPr id="7170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971550" y="2852738"/>
          <a:ext cx="7058025" cy="174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88960" imgH="812520" progId="Equation.3">
                  <p:embed/>
                </p:oleObj>
              </mc:Choice>
              <mc:Fallback>
                <p:oleObj name="Equation" r:id="rId2" imgW="3288960" imgH="8125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852738"/>
                        <a:ext cx="7058025" cy="1743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3" name="Text Box 7"/>
          <p:cNvSpPr txBox="1">
            <a:spLocks noChangeArrowheads="1"/>
          </p:cNvSpPr>
          <p:nvPr/>
        </p:nvSpPr>
        <p:spPr bwMode="auto">
          <a:xfrm>
            <a:off x="684213" y="1700213"/>
            <a:ext cx="8208962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accent1"/>
              </a:buClr>
              <a:buFont typeface="Wingdings" pitchFamily="2" charset="2"/>
              <a:buChar char="q"/>
            </a:pPr>
            <a:r>
              <a:rPr lang="pt-BR" sz="2400"/>
              <a:t> Se NE é escolhido, M é incrementado de 1 em ambas as direções, x e y.</a:t>
            </a:r>
            <a:r>
              <a:rPr lang="pt-BR"/>
              <a:t> </a:t>
            </a:r>
          </a:p>
        </p:txBody>
      </p:sp>
      <p:sp>
        <p:nvSpPr>
          <p:cNvPr id="7174" name="Text Box 8"/>
          <p:cNvSpPr txBox="1">
            <a:spLocks noChangeArrowheads="1"/>
          </p:cNvSpPr>
          <p:nvPr/>
        </p:nvSpPr>
        <p:spPr bwMode="auto">
          <a:xfrm>
            <a:off x="971550" y="5013325"/>
            <a:ext cx="7921625" cy="1004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accent1"/>
              </a:buClr>
              <a:buFont typeface="Wingdings" pitchFamily="2" charset="2"/>
              <a:buChar char="q"/>
            </a:pPr>
            <a:r>
              <a:rPr lang="pt-BR" sz="2400"/>
              <a:t> Subtraindo </a:t>
            </a:r>
            <a:r>
              <a:rPr lang="pt-BR" sz="2400" i="1"/>
              <a:t>dold</a:t>
            </a:r>
            <a:r>
              <a:rPr lang="pt-BR" sz="2400"/>
              <a:t> de </a:t>
            </a:r>
            <a:r>
              <a:rPr lang="pt-BR" sz="2400" i="1"/>
              <a:t>dnew</a:t>
            </a:r>
            <a:r>
              <a:rPr lang="pt-BR" sz="2400"/>
              <a:t>, tem-se </a:t>
            </a:r>
          </a:p>
          <a:p>
            <a:pPr algn="ctr">
              <a:spcBef>
                <a:spcPct val="50000"/>
              </a:spcBef>
            </a:pPr>
            <a:r>
              <a:rPr lang="pt-BR" sz="2400" b="1" i="1"/>
              <a:t>d</a:t>
            </a:r>
            <a:r>
              <a:rPr lang="pt-BR" sz="2400" b="1" i="1" baseline="-25000"/>
              <a:t>new</a:t>
            </a:r>
            <a:r>
              <a:rPr lang="pt-BR" sz="2400" b="1" i="1"/>
              <a:t> = d</a:t>
            </a:r>
            <a:r>
              <a:rPr lang="pt-BR" sz="2400" b="1" i="1" baseline="-25000"/>
              <a:t>old</a:t>
            </a:r>
            <a:r>
              <a:rPr lang="pt-BR" sz="2400" b="1" i="1"/>
              <a:t> + a + b</a:t>
            </a:r>
            <a:r>
              <a:rPr lang="pt-BR" sz="2400" b="1"/>
              <a:t> </a:t>
            </a: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Espaço Reservado para Rodapé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Determinando o Ponto Inicial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00200"/>
            <a:ext cx="7978775" cy="5068888"/>
          </a:xfrm>
        </p:spPr>
        <p:txBody>
          <a:bodyPr/>
          <a:lstStyle/>
          <a:p>
            <a:pPr eaLnBrk="1" hangingPunct="1"/>
            <a:r>
              <a:rPr lang="pt-BR" sz="2400"/>
              <a:t>Como o primeiro pixel corresponde ao ponto </a:t>
            </a:r>
            <a:r>
              <a:rPr lang="pt-BR" sz="2400" i="1"/>
              <a:t>(x0,y0)</a:t>
            </a:r>
            <a:r>
              <a:rPr lang="pt-BR" sz="2400"/>
              <a:t>, pode-se calcular diretamente o valor inicial de d para escolher entre E e NE. O primeiro ponto-médio está em </a:t>
            </a:r>
            <a:r>
              <a:rPr lang="pt-BR" sz="2400" i="1"/>
              <a:t>(x</a:t>
            </a:r>
            <a:r>
              <a:rPr lang="pt-BR" sz="2400" i="1" baseline="-25000"/>
              <a:t>0</a:t>
            </a:r>
            <a:r>
              <a:rPr lang="pt-BR" sz="2400" i="1"/>
              <a:t> + 1,y</a:t>
            </a:r>
            <a:r>
              <a:rPr lang="pt-BR" sz="2400" i="1" baseline="-25000"/>
              <a:t>0</a:t>
            </a:r>
            <a:r>
              <a:rPr lang="pt-BR" sz="2400" i="1"/>
              <a:t> + 1/2)</a:t>
            </a:r>
            <a:r>
              <a:rPr lang="pt-BR" sz="2400"/>
              <a:t> temos:</a:t>
            </a:r>
          </a:p>
          <a:p>
            <a:pPr eaLnBrk="1" hangingPunct="1"/>
            <a:endParaRPr lang="pt-BR" sz="2400"/>
          </a:p>
        </p:txBody>
      </p:sp>
      <p:graphicFrame>
        <p:nvGraphicFramePr>
          <p:cNvPr id="8194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1476375" y="3154363"/>
          <a:ext cx="5640388" cy="211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20960" imgH="1396800" progId="Equation.DSMT4">
                  <p:embed/>
                </p:oleObj>
              </mc:Choice>
              <mc:Fallback>
                <p:oleObj name="Equation" r:id="rId2" imgW="3720960" imgH="1396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154363"/>
                        <a:ext cx="5640388" cy="2117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900113" y="5013325"/>
            <a:ext cx="7056437" cy="144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endParaRPr lang="pt-BR" sz="2400"/>
          </a:p>
          <a:p>
            <a: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q"/>
            </a:pPr>
            <a:r>
              <a:rPr lang="pt-BR" sz="2400"/>
              <a:t>Como F(x</a:t>
            </a:r>
            <a:r>
              <a:rPr lang="pt-BR" sz="2400" baseline="-25000"/>
              <a:t>0</a:t>
            </a:r>
            <a:r>
              <a:rPr lang="pt-BR" sz="2400"/>
              <a:t> , y</a:t>
            </a:r>
            <a:r>
              <a:rPr lang="pt-BR" sz="2400" baseline="-25000"/>
              <a:t>0</a:t>
            </a:r>
            <a:r>
              <a:rPr lang="pt-BR" sz="2400"/>
              <a:t>) está sobre a reta, temos que     F(x0 , y0) = 0, daí o resultado acima.</a:t>
            </a:r>
            <a:r>
              <a:rPr lang="pt-BR"/>
              <a:t> </a:t>
            </a:r>
            <a:endParaRPr lang="pt-BR" sz="2400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Resumo</a:t>
            </a:r>
            <a:r>
              <a:rPr lang="en-US" dirty="0"/>
              <a:t> das </a:t>
            </a:r>
            <a:r>
              <a:rPr lang="en-US" dirty="0" err="1"/>
              <a:t>principais</a:t>
            </a:r>
            <a:r>
              <a:rPr lang="en-US" dirty="0"/>
              <a:t> </a:t>
            </a:r>
            <a:r>
              <a:rPr lang="en-US" dirty="0" err="1"/>
              <a:t>equações</a:t>
            </a:r>
            <a:r>
              <a:rPr lang="en-US" dirty="0"/>
              <a:t> do </a:t>
            </a:r>
            <a:r>
              <a:rPr lang="en-US" dirty="0" err="1"/>
              <a:t>algoritmo</a:t>
            </a:r>
            <a:r>
              <a:rPr lang="en-US" dirty="0"/>
              <a:t> 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dirty="0" err="1"/>
              <a:t>Multiplique</a:t>
            </a:r>
            <a:r>
              <a:rPr lang="en-US" dirty="0"/>
              <a:t> </a:t>
            </a:r>
            <a:r>
              <a:rPr lang="en-US" dirty="0" err="1"/>
              <a:t>todas</a:t>
            </a:r>
            <a:r>
              <a:rPr lang="en-US" dirty="0"/>
              <a:t> as </a:t>
            </a:r>
            <a:r>
              <a:rPr lang="en-US" dirty="0" err="1"/>
              <a:t>equaçoes</a:t>
            </a:r>
            <a:r>
              <a:rPr lang="en-US" dirty="0"/>
              <a:t> </a:t>
            </a:r>
            <a:r>
              <a:rPr lang="en-US" dirty="0" err="1"/>
              <a:t>obtidas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2, </a:t>
            </a:r>
            <a:r>
              <a:rPr lang="en-US" dirty="0" err="1"/>
              <a:t>obtendo</a:t>
            </a:r>
            <a:r>
              <a:rPr lang="en-US" dirty="0"/>
              <a:t>-se </a:t>
            </a:r>
            <a:r>
              <a:rPr lang="en-US" dirty="0" err="1"/>
              <a:t>assim</a:t>
            </a:r>
            <a:r>
              <a:rPr lang="en-US" dirty="0"/>
              <a:t> </a:t>
            </a:r>
            <a:r>
              <a:rPr lang="en-US" dirty="0" err="1"/>
              <a:t>todos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inteiros</a:t>
            </a:r>
            <a:r>
              <a:rPr lang="en-US" dirty="0"/>
              <a:t>: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Prof. Robson Pequeno de sousa</a:t>
            </a:r>
          </a:p>
        </p:txBody>
      </p:sp>
      <p:graphicFrame>
        <p:nvGraphicFramePr>
          <p:cNvPr id="6" name="Objeto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2403372"/>
              </p:ext>
            </p:extLst>
          </p:nvPr>
        </p:nvGraphicFramePr>
        <p:xfrm>
          <a:off x="1357313" y="4281488"/>
          <a:ext cx="1965325" cy="1233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91880" imgH="685800" progId="Equation.DSMT4">
                  <p:embed/>
                </p:oleObj>
              </mc:Choice>
              <mc:Fallback>
                <p:oleObj name="Equation" r:id="rId2" imgW="1091880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57313" y="4281488"/>
                        <a:ext cx="1965325" cy="1233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70397494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ço Reservado para Rodapé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Algoritmo</a:t>
            </a:r>
          </a:p>
        </p:txBody>
      </p:sp>
      <p:sp>
        <p:nvSpPr>
          <p:cNvPr id="26628" name="Rectangle 3"/>
          <p:cNvSpPr>
            <a:spLocks noChangeArrowheads="1"/>
          </p:cNvSpPr>
          <p:nvPr/>
        </p:nvSpPr>
        <p:spPr bwMode="auto">
          <a:xfrm>
            <a:off x="4191000" y="1447800"/>
            <a:ext cx="3505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 dirty="0" err="1"/>
              <a:t>while</a:t>
            </a:r>
            <a:r>
              <a:rPr lang="pt-BR" sz="1600" b="1" dirty="0"/>
              <a:t> (x &lt; x2){</a:t>
            </a:r>
          </a:p>
          <a:p>
            <a:pPr lvl="1">
              <a:spcBef>
                <a:spcPct val="50000"/>
              </a:spcBef>
            </a:pPr>
            <a:r>
              <a:rPr lang="pt-BR" sz="1600" b="1" dirty="0" err="1"/>
              <a:t>if</a:t>
            </a:r>
            <a:r>
              <a:rPr lang="pt-BR" sz="1600" b="1" dirty="0"/>
              <a:t> (d &lt;= 0){</a:t>
            </a:r>
          </a:p>
          <a:p>
            <a:pPr lvl="2">
              <a:spcBef>
                <a:spcPct val="50000"/>
              </a:spcBef>
            </a:pPr>
            <a:r>
              <a:rPr lang="pt-BR" sz="1600" b="1" dirty="0"/>
              <a:t>/* Escolhe E */</a:t>
            </a:r>
          </a:p>
          <a:p>
            <a:pPr lvl="2">
              <a:spcBef>
                <a:spcPct val="50000"/>
              </a:spcBef>
            </a:pPr>
            <a:r>
              <a:rPr lang="pt-BR" sz="1600" b="1" dirty="0"/>
              <a:t>d = d + </a:t>
            </a:r>
            <a:r>
              <a:rPr lang="pt-BR" sz="1600" b="1" dirty="0" err="1"/>
              <a:t>incE</a:t>
            </a:r>
            <a:r>
              <a:rPr lang="pt-BR" sz="1600" b="1" dirty="0"/>
              <a:t>;</a:t>
            </a:r>
          </a:p>
          <a:p>
            <a:pPr lvl="2">
              <a:spcBef>
                <a:spcPct val="50000"/>
              </a:spcBef>
            </a:pPr>
            <a:r>
              <a:rPr lang="pt-BR" sz="1600" b="1" dirty="0"/>
              <a:t>x = x + 1;</a:t>
            </a:r>
          </a:p>
          <a:p>
            <a:pPr>
              <a:spcBef>
                <a:spcPct val="50000"/>
              </a:spcBef>
            </a:pPr>
            <a:r>
              <a:rPr lang="pt-BR" sz="1600" b="1" dirty="0"/>
              <a:t>        }</a:t>
            </a:r>
            <a:r>
              <a:rPr lang="pt-BR" sz="1600" b="1" dirty="0" err="1"/>
              <a:t>else</a:t>
            </a:r>
            <a:r>
              <a:rPr lang="pt-BR" sz="1600" b="1" dirty="0"/>
              <a:t>{</a:t>
            </a:r>
            <a:r>
              <a:rPr lang="pt-BR" sz="1800" b="1" dirty="0"/>
              <a:t>          </a:t>
            </a:r>
          </a:p>
        </p:txBody>
      </p:sp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685800" y="1447800"/>
            <a:ext cx="2286000" cy="559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 dirty="0" err="1"/>
              <a:t>void</a:t>
            </a:r>
            <a:r>
              <a:rPr lang="pt-BR" sz="1600" b="1" dirty="0"/>
              <a:t> </a:t>
            </a:r>
            <a:r>
              <a:rPr lang="pt-BR" sz="1600" b="1" dirty="0" err="1"/>
              <a:t>inc_line</a:t>
            </a:r>
            <a:r>
              <a:rPr lang="pt-BR" sz="1600" b="1" dirty="0"/>
              <a:t>(</a:t>
            </a:r>
            <a:r>
              <a:rPr lang="pt-BR" sz="1600" b="1" dirty="0" err="1"/>
              <a:t>int</a:t>
            </a:r>
            <a:r>
              <a:rPr lang="pt-BR" sz="1600" b="1" dirty="0"/>
              <a:t> x1, </a:t>
            </a:r>
            <a:r>
              <a:rPr lang="pt-BR" sz="1600" b="1" dirty="0" err="1"/>
              <a:t>int</a:t>
            </a:r>
            <a:r>
              <a:rPr lang="pt-BR" sz="1600" b="1" dirty="0"/>
              <a:t> y1, </a:t>
            </a:r>
            <a:r>
              <a:rPr lang="pt-BR" sz="1600" b="1" dirty="0" err="1"/>
              <a:t>int</a:t>
            </a:r>
            <a:r>
              <a:rPr lang="pt-BR" sz="1600" b="1" dirty="0"/>
              <a:t> x2, </a:t>
            </a:r>
            <a:r>
              <a:rPr lang="pt-BR" sz="1600" b="1" dirty="0" err="1"/>
              <a:t>int</a:t>
            </a:r>
            <a:r>
              <a:rPr lang="pt-BR" sz="1600" b="1" dirty="0"/>
              <a:t> y2, </a:t>
            </a:r>
            <a:r>
              <a:rPr lang="pt-BR" sz="1600" b="1" dirty="0" err="1"/>
              <a:t>int</a:t>
            </a:r>
            <a:r>
              <a:rPr lang="pt-BR" sz="1600" b="1" dirty="0"/>
              <a:t> color){</a:t>
            </a:r>
            <a:r>
              <a:rPr lang="pt-BR" sz="1600" b="1" dirty="0" err="1"/>
              <a:t>int</a:t>
            </a:r>
            <a:r>
              <a:rPr lang="pt-BR" sz="1600" b="1" dirty="0"/>
              <a:t> </a:t>
            </a:r>
            <a:r>
              <a:rPr lang="pt-BR" sz="1600" b="1" dirty="0" err="1"/>
              <a:t>dx</a:t>
            </a:r>
            <a:r>
              <a:rPr lang="pt-BR" sz="1600" b="1" dirty="0"/>
              <a:t>, </a:t>
            </a:r>
            <a:r>
              <a:rPr lang="pt-BR" sz="1600" b="1" dirty="0" err="1"/>
              <a:t>dy</a:t>
            </a:r>
            <a:r>
              <a:rPr lang="pt-BR" sz="1600" b="1" dirty="0"/>
              <a:t>, </a:t>
            </a:r>
            <a:r>
              <a:rPr lang="pt-BR" sz="1600" b="1" dirty="0" err="1"/>
              <a:t>incE</a:t>
            </a:r>
            <a:r>
              <a:rPr lang="pt-BR" sz="1600" b="1" dirty="0"/>
              <a:t>, </a:t>
            </a:r>
            <a:r>
              <a:rPr lang="pt-BR" sz="1600" b="1" dirty="0" err="1"/>
              <a:t>incNE</a:t>
            </a:r>
            <a:r>
              <a:rPr lang="pt-BR" sz="1600" b="1" dirty="0"/>
              <a:t>, d, x, y;</a:t>
            </a:r>
          </a:p>
          <a:p>
            <a:pPr>
              <a:spcBef>
                <a:spcPct val="50000"/>
              </a:spcBef>
            </a:pPr>
            <a:r>
              <a:rPr lang="pt-BR" sz="1600" b="1" dirty="0" err="1"/>
              <a:t>dx</a:t>
            </a:r>
            <a:r>
              <a:rPr lang="pt-BR" sz="1600" b="1" dirty="0"/>
              <a:t> = x2 - x1;</a:t>
            </a:r>
          </a:p>
          <a:p>
            <a:pPr>
              <a:spcBef>
                <a:spcPct val="50000"/>
              </a:spcBef>
            </a:pPr>
            <a:r>
              <a:rPr lang="pt-BR" sz="1600" b="1" dirty="0" err="1"/>
              <a:t>dy</a:t>
            </a:r>
            <a:r>
              <a:rPr lang="pt-BR" sz="1600" b="1" dirty="0"/>
              <a:t> = y2 - y1;</a:t>
            </a:r>
          </a:p>
          <a:p>
            <a:pPr>
              <a:spcBef>
                <a:spcPct val="50000"/>
              </a:spcBef>
            </a:pPr>
            <a:r>
              <a:rPr lang="pt-BR" sz="1600" b="1" dirty="0"/>
              <a:t>d = 2 * </a:t>
            </a:r>
            <a:r>
              <a:rPr lang="pt-BR" sz="1600" b="1" dirty="0" err="1"/>
              <a:t>dy</a:t>
            </a:r>
            <a:r>
              <a:rPr lang="pt-BR" sz="1600" b="1" dirty="0"/>
              <a:t> - </a:t>
            </a:r>
            <a:r>
              <a:rPr lang="pt-BR" sz="1600" b="1" dirty="0" err="1"/>
              <a:t>dx</a:t>
            </a:r>
            <a:r>
              <a:rPr lang="pt-BR" sz="1600" b="1" dirty="0"/>
              <a:t>; /* Valor inicial de d */</a:t>
            </a:r>
          </a:p>
          <a:p>
            <a:pPr>
              <a:spcBef>
                <a:spcPct val="50000"/>
              </a:spcBef>
            </a:pPr>
            <a:r>
              <a:rPr lang="pt-BR" sz="1600" b="1" dirty="0" err="1"/>
              <a:t>incE</a:t>
            </a:r>
            <a:r>
              <a:rPr lang="pt-BR" sz="1600" b="1" dirty="0"/>
              <a:t> = 2 * </a:t>
            </a:r>
            <a:r>
              <a:rPr lang="pt-BR" sz="1600" b="1" dirty="0" err="1"/>
              <a:t>dy</a:t>
            </a:r>
            <a:r>
              <a:rPr lang="pt-BR" sz="1600" b="1" dirty="0"/>
              <a:t>; /*</a:t>
            </a:r>
            <a:r>
              <a:rPr lang="pt-BR" sz="1600" b="1" dirty="0">
                <a:latin typeface="CMTT10" charset="0"/>
              </a:rPr>
              <a:t> </a:t>
            </a:r>
            <a:r>
              <a:rPr lang="pt-BR" sz="1600" b="1" dirty="0"/>
              <a:t>Incremento de E */</a:t>
            </a:r>
          </a:p>
          <a:p>
            <a:pPr>
              <a:spcBef>
                <a:spcPct val="50000"/>
              </a:spcBef>
            </a:pPr>
            <a:r>
              <a:rPr lang="pt-BR" sz="1600" b="1" dirty="0" err="1"/>
              <a:t>incNE</a:t>
            </a:r>
            <a:r>
              <a:rPr lang="pt-BR" sz="1600" b="1" dirty="0"/>
              <a:t> = 2 * (</a:t>
            </a:r>
            <a:r>
              <a:rPr lang="pt-BR" sz="1600" b="1" dirty="0" err="1"/>
              <a:t>dy</a:t>
            </a:r>
            <a:r>
              <a:rPr lang="pt-BR" sz="1600" b="1" dirty="0"/>
              <a:t> - </a:t>
            </a:r>
            <a:r>
              <a:rPr lang="pt-BR" sz="1600" b="1" dirty="0" err="1"/>
              <a:t>dx</a:t>
            </a:r>
            <a:r>
              <a:rPr lang="pt-BR" sz="1600" b="1" dirty="0"/>
              <a:t>); /* Incremento de NE */</a:t>
            </a:r>
          </a:p>
          <a:p>
            <a:pPr>
              <a:spcBef>
                <a:spcPct val="50000"/>
              </a:spcBef>
            </a:pPr>
            <a:r>
              <a:rPr lang="pt-BR" sz="1600" b="1" dirty="0"/>
              <a:t>x = x1;</a:t>
            </a:r>
          </a:p>
          <a:p>
            <a:pPr>
              <a:spcBef>
                <a:spcPct val="50000"/>
              </a:spcBef>
            </a:pPr>
            <a:r>
              <a:rPr lang="pt-BR" sz="1600" b="1" dirty="0"/>
              <a:t>y = y1;</a:t>
            </a:r>
          </a:p>
          <a:p>
            <a:pPr>
              <a:spcBef>
                <a:spcPct val="50000"/>
              </a:spcBef>
            </a:pPr>
            <a:r>
              <a:rPr lang="pt-BR" sz="1600" b="1" dirty="0" err="1"/>
              <a:t>write_pixel</a:t>
            </a:r>
            <a:r>
              <a:rPr lang="pt-BR" sz="1600" b="1" dirty="0"/>
              <a:t>(x, y, color);</a:t>
            </a:r>
          </a:p>
          <a:p>
            <a:pPr>
              <a:spcBef>
                <a:spcPct val="50000"/>
              </a:spcBef>
            </a:pPr>
            <a:endParaRPr lang="pt-BR" sz="1600" dirty="0"/>
          </a:p>
        </p:txBody>
      </p:sp>
      <p:sp>
        <p:nvSpPr>
          <p:cNvPr id="26630" name="Text Box 6"/>
          <p:cNvSpPr txBox="1">
            <a:spLocks noChangeArrowheads="1"/>
          </p:cNvSpPr>
          <p:nvPr/>
        </p:nvSpPr>
        <p:spPr bwMode="auto">
          <a:xfrm>
            <a:off x="4305300" y="3747456"/>
            <a:ext cx="4038600" cy="2923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 dirty="0"/>
              <a:t>	/* Escolhe NE */</a:t>
            </a:r>
          </a:p>
          <a:p>
            <a:pPr lvl="2">
              <a:spcBef>
                <a:spcPct val="50000"/>
              </a:spcBef>
            </a:pPr>
            <a:r>
              <a:rPr lang="pt-BR" sz="1600" b="1" dirty="0"/>
              <a:t>d = d + </a:t>
            </a:r>
            <a:r>
              <a:rPr lang="pt-BR" sz="1600" b="1" dirty="0" err="1"/>
              <a:t>incNE</a:t>
            </a:r>
            <a:r>
              <a:rPr lang="pt-BR" sz="1600" b="1" dirty="0"/>
              <a:t>;</a:t>
            </a:r>
          </a:p>
          <a:p>
            <a:pPr lvl="2">
              <a:spcBef>
                <a:spcPct val="50000"/>
              </a:spcBef>
            </a:pPr>
            <a:r>
              <a:rPr lang="pt-BR" sz="1600" b="1" dirty="0"/>
              <a:t>x = x + 1;</a:t>
            </a:r>
          </a:p>
          <a:p>
            <a:pPr lvl="2">
              <a:spcBef>
                <a:spcPct val="50000"/>
              </a:spcBef>
            </a:pPr>
            <a:r>
              <a:rPr lang="pt-BR" sz="1600" b="1" dirty="0"/>
              <a:t>y = y + 1;</a:t>
            </a:r>
          </a:p>
          <a:p>
            <a:pPr lvl="2">
              <a:spcBef>
                <a:spcPct val="50000"/>
              </a:spcBef>
            </a:pPr>
            <a:r>
              <a:rPr lang="pt-BR" sz="1600" b="1" dirty="0"/>
              <a:t>}/*, y, color); }/* </a:t>
            </a:r>
            <a:r>
              <a:rPr lang="pt-BR" sz="1600" b="1" dirty="0" err="1"/>
              <a:t>end</a:t>
            </a:r>
            <a:r>
              <a:rPr lang="pt-BR" sz="1600" b="1" dirty="0"/>
              <a:t> </a:t>
            </a:r>
            <a:r>
              <a:rPr lang="pt-BR" sz="1600" b="1" dirty="0" err="1"/>
              <a:t>while</a:t>
            </a:r>
            <a:r>
              <a:rPr lang="pt-BR" sz="1600" b="1" dirty="0"/>
              <a:t> */</a:t>
            </a:r>
          </a:p>
          <a:p>
            <a:pPr lvl="2">
              <a:spcBef>
                <a:spcPct val="50000"/>
              </a:spcBef>
            </a:pPr>
            <a:r>
              <a:rPr lang="pt-BR" sz="1600" b="1" dirty="0" err="1"/>
              <a:t>end</a:t>
            </a:r>
            <a:r>
              <a:rPr lang="pt-BR" sz="1600" b="1" dirty="0"/>
              <a:t> </a:t>
            </a:r>
            <a:r>
              <a:rPr lang="pt-BR" sz="1600" b="1" dirty="0" err="1"/>
              <a:t>if</a:t>
            </a:r>
            <a:r>
              <a:rPr lang="pt-BR" sz="1600" b="1" dirty="0"/>
              <a:t> */</a:t>
            </a:r>
          </a:p>
          <a:p>
            <a:pPr>
              <a:spcBef>
                <a:spcPct val="50000"/>
              </a:spcBef>
            </a:pPr>
            <a:r>
              <a:rPr lang="pt-BR" sz="1600" b="1" dirty="0"/>
              <a:t>}/* </a:t>
            </a:r>
            <a:r>
              <a:rPr lang="pt-BR" sz="1600" b="1" dirty="0" err="1"/>
              <a:t>end</a:t>
            </a:r>
            <a:r>
              <a:rPr lang="pt-BR" sz="1600" b="1" dirty="0"/>
              <a:t> </a:t>
            </a:r>
            <a:r>
              <a:rPr lang="pt-BR" sz="1600" b="1" dirty="0" err="1"/>
              <a:t>inc_line</a:t>
            </a:r>
            <a:r>
              <a:rPr lang="pt-BR" sz="1600" b="1" dirty="0"/>
              <a:t> */    </a:t>
            </a:r>
          </a:p>
          <a:p>
            <a:pPr>
              <a:spcBef>
                <a:spcPct val="50000"/>
              </a:spcBef>
            </a:pPr>
            <a:r>
              <a:rPr lang="pt-BR" sz="1600" b="1" dirty="0" err="1"/>
              <a:t>write_pixel</a:t>
            </a:r>
            <a:r>
              <a:rPr lang="pt-BR" sz="1600" b="1" dirty="0"/>
              <a:t>(x</a:t>
            </a:r>
            <a:endParaRPr lang="pt-BR" sz="1800" b="1" dirty="0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/>
              <a:t>Algoritmo</a:t>
            </a:r>
            <a:r>
              <a:rPr lang="en-US" dirty="0"/>
              <a:t> do </a:t>
            </a:r>
            <a:r>
              <a:rPr lang="en-US" dirty="0" err="1"/>
              <a:t>ponto</a:t>
            </a:r>
            <a:r>
              <a:rPr lang="en-US" dirty="0"/>
              <a:t> </a:t>
            </a:r>
            <a:r>
              <a:rPr lang="en-US" dirty="0" err="1"/>
              <a:t>médio</a:t>
            </a:r>
            <a:r>
              <a:rPr lang="en-US" dirty="0"/>
              <a:t> - </a:t>
            </a:r>
            <a:r>
              <a:rPr lang="en-US" dirty="0" err="1"/>
              <a:t>Bresenham</a:t>
            </a:r>
            <a:endParaRPr lang="en-US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Prof. Robson Pequeno de sousa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683568" y="1700808"/>
            <a:ext cx="8352928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#</a:t>
            </a:r>
            <a:r>
              <a:rPr lang="en-US" sz="1400" b="1" dirty="0"/>
              <a:t>include &lt;</a:t>
            </a:r>
            <a:r>
              <a:rPr lang="en-US" sz="1400" b="1" dirty="0" err="1"/>
              <a:t>stdlib.h</a:t>
            </a:r>
            <a:r>
              <a:rPr lang="en-US" sz="1400" b="1" dirty="0"/>
              <a:t>&gt;</a:t>
            </a:r>
          </a:p>
          <a:p>
            <a:r>
              <a:rPr lang="en-US" sz="1400" b="1" dirty="0"/>
              <a:t>#include &lt;</a:t>
            </a:r>
            <a:r>
              <a:rPr lang="en-US" sz="1400" b="1" dirty="0" err="1"/>
              <a:t>math.h</a:t>
            </a:r>
            <a:r>
              <a:rPr lang="en-US" sz="1400" b="1" dirty="0"/>
              <a:t>&gt;</a:t>
            </a:r>
          </a:p>
          <a:p>
            <a:endParaRPr lang="en-US" sz="1400" b="1" dirty="0"/>
          </a:p>
          <a:p>
            <a:r>
              <a:rPr lang="en-US" sz="1400" b="1" dirty="0"/>
              <a:t>   /*  </a:t>
            </a:r>
            <a:r>
              <a:rPr lang="en-US" sz="1400" b="1" dirty="0" err="1"/>
              <a:t>Bresenham</a:t>
            </a:r>
            <a:r>
              <a:rPr lang="en-US" sz="1400" b="1" dirty="0"/>
              <a:t> line-drawing procedure for |m| &lt; 1.0.  */</a:t>
            </a:r>
          </a:p>
          <a:p>
            <a:r>
              <a:rPr lang="en-US" sz="1400" b="1" dirty="0"/>
              <a:t>   void </a:t>
            </a:r>
            <a:r>
              <a:rPr lang="en-US" sz="1400" b="1" dirty="0" err="1"/>
              <a:t>lineBres</a:t>
            </a:r>
            <a:r>
              <a:rPr lang="en-US" sz="1400" b="1" dirty="0"/>
              <a:t> (</a:t>
            </a:r>
            <a:r>
              <a:rPr lang="en-US" sz="1400" b="1" dirty="0" err="1"/>
              <a:t>int</a:t>
            </a:r>
            <a:r>
              <a:rPr lang="en-US" sz="1400" b="1" dirty="0"/>
              <a:t> x0, </a:t>
            </a:r>
            <a:r>
              <a:rPr lang="en-US" sz="1400" b="1" dirty="0" err="1"/>
              <a:t>int</a:t>
            </a:r>
            <a:r>
              <a:rPr lang="en-US" sz="1400" b="1" dirty="0"/>
              <a:t> y0, </a:t>
            </a:r>
            <a:r>
              <a:rPr lang="en-US" sz="1400" b="1" dirty="0" err="1"/>
              <a:t>int</a:t>
            </a:r>
            <a:r>
              <a:rPr lang="en-US" sz="1400" b="1" dirty="0"/>
              <a:t> </a:t>
            </a:r>
            <a:r>
              <a:rPr lang="en-US" sz="1400" b="1" dirty="0" err="1"/>
              <a:t>xEnd</a:t>
            </a:r>
            <a:r>
              <a:rPr lang="en-US" sz="1400" b="1" dirty="0"/>
              <a:t>, </a:t>
            </a:r>
            <a:r>
              <a:rPr lang="en-US" sz="1400" b="1" dirty="0" err="1"/>
              <a:t>int</a:t>
            </a:r>
            <a:r>
              <a:rPr lang="en-US" sz="1400" b="1" dirty="0"/>
              <a:t> </a:t>
            </a:r>
            <a:r>
              <a:rPr lang="en-US" sz="1400" b="1" dirty="0" err="1"/>
              <a:t>yEnd</a:t>
            </a:r>
            <a:r>
              <a:rPr lang="en-US" sz="1400" b="1" dirty="0"/>
              <a:t>)</a:t>
            </a:r>
          </a:p>
          <a:p>
            <a:r>
              <a:rPr lang="en-US" sz="1400" b="1" dirty="0"/>
              <a:t>   {</a:t>
            </a:r>
          </a:p>
          <a:p>
            <a:r>
              <a:rPr lang="en-US" sz="1400" b="1" dirty="0"/>
              <a:t>      </a:t>
            </a:r>
            <a:r>
              <a:rPr lang="en-US" sz="1400" b="1" dirty="0" err="1"/>
              <a:t>int</a:t>
            </a:r>
            <a:r>
              <a:rPr lang="en-US" sz="1400" b="1" dirty="0"/>
              <a:t> dx = </a:t>
            </a:r>
            <a:r>
              <a:rPr lang="en-US" sz="1400" b="1" dirty="0" err="1"/>
              <a:t>fabs</a:t>
            </a:r>
            <a:r>
              <a:rPr lang="en-US" sz="1400" b="1" dirty="0"/>
              <a:t> (</a:t>
            </a:r>
            <a:r>
              <a:rPr lang="en-US" sz="1400" b="1" dirty="0" err="1"/>
              <a:t>xEnd</a:t>
            </a:r>
            <a:r>
              <a:rPr lang="en-US" sz="1400" b="1" dirty="0"/>
              <a:t> - x0),  </a:t>
            </a:r>
            <a:r>
              <a:rPr lang="en-US" sz="1400" b="1" dirty="0" err="1"/>
              <a:t>dy</a:t>
            </a:r>
            <a:r>
              <a:rPr lang="en-US" sz="1400" b="1" dirty="0"/>
              <a:t> = </a:t>
            </a:r>
            <a:r>
              <a:rPr lang="en-US" sz="1400" b="1" dirty="0" err="1"/>
              <a:t>fabs</a:t>
            </a:r>
            <a:r>
              <a:rPr lang="en-US" sz="1400" b="1" dirty="0"/>
              <a:t>(</a:t>
            </a:r>
            <a:r>
              <a:rPr lang="en-US" sz="1400" b="1" dirty="0" err="1"/>
              <a:t>yEnd</a:t>
            </a:r>
            <a:r>
              <a:rPr lang="en-US" sz="1400" b="1" dirty="0"/>
              <a:t> - y0);</a:t>
            </a:r>
          </a:p>
          <a:p>
            <a:r>
              <a:rPr lang="en-US" sz="1400" b="1" dirty="0"/>
              <a:t>      </a:t>
            </a:r>
            <a:r>
              <a:rPr lang="en-US" sz="1400" b="1" dirty="0" err="1"/>
              <a:t>int</a:t>
            </a:r>
            <a:r>
              <a:rPr lang="en-US" sz="1400" b="1" dirty="0"/>
              <a:t> p = 2 * </a:t>
            </a:r>
            <a:r>
              <a:rPr lang="en-US" sz="1400" b="1" dirty="0" err="1"/>
              <a:t>dy</a:t>
            </a:r>
            <a:r>
              <a:rPr lang="en-US" sz="1400" b="1" dirty="0"/>
              <a:t> - dx;</a:t>
            </a:r>
          </a:p>
          <a:p>
            <a:r>
              <a:rPr lang="en-US" sz="1400" b="1" dirty="0"/>
              <a:t>      </a:t>
            </a:r>
            <a:r>
              <a:rPr lang="en-US" sz="1400" b="1" dirty="0" err="1"/>
              <a:t>int</a:t>
            </a:r>
            <a:r>
              <a:rPr lang="en-US" sz="1400" b="1" dirty="0"/>
              <a:t> </a:t>
            </a:r>
            <a:r>
              <a:rPr lang="en-US" sz="1400" b="1" dirty="0" err="1"/>
              <a:t>twoDy</a:t>
            </a:r>
            <a:r>
              <a:rPr lang="en-US" sz="1400" b="1" dirty="0"/>
              <a:t> = 2 * </a:t>
            </a:r>
            <a:r>
              <a:rPr lang="en-US" sz="1400" b="1" dirty="0" err="1"/>
              <a:t>dy</a:t>
            </a:r>
            <a:r>
              <a:rPr lang="en-US" sz="1400" b="1" dirty="0"/>
              <a:t>,  </a:t>
            </a:r>
            <a:r>
              <a:rPr lang="en-US" sz="1400" b="1" dirty="0" err="1"/>
              <a:t>twoDyMinusDx</a:t>
            </a:r>
            <a:r>
              <a:rPr lang="en-US" sz="1400" b="1" dirty="0"/>
              <a:t> = 2 * (</a:t>
            </a:r>
            <a:r>
              <a:rPr lang="en-US" sz="1400" b="1" dirty="0" err="1"/>
              <a:t>dy</a:t>
            </a:r>
            <a:r>
              <a:rPr lang="en-US" sz="1400" b="1" dirty="0"/>
              <a:t> - dx);</a:t>
            </a:r>
          </a:p>
          <a:p>
            <a:r>
              <a:rPr lang="en-US" sz="1400" b="1" dirty="0"/>
              <a:t>      </a:t>
            </a:r>
            <a:r>
              <a:rPr lang="en-US" sz="1400" b="1" dirty="0" err="1"/>
              <a:t>int</a:t>
            </a:r>
            <a:r>
              <a:rPr lang="en-US" sz="1400" b="1" dirty="0"/>
              <a:t> x, y;</a:t>
            </a:r>
          </a:p>
          <a:p>
            <a:endParaRPr lang="en-US" sz="1400" b="1" dirty="0"/>
          </a:p>
          <a:p>
            <a:r>
              <a:rPr lang="en-US" sz="1400" b="1" dirty="0"/>
              <a:t>      /* Determine which endpoint to use as start position.  */</a:t>
            </a:r>
          </a:p>
          <a:p>
            <a:r>
              <a:rPr lang="en-US" sz="1400" b="1" dirty="0"/>
              <a:t>      if (x0 &gt; </a:t>
            </a:r>
            <a:r>
              <a:rPr lang="en-US" sz="1400" b="1" dirty="0" err="1"/>
              <a:t>xEnd</a:t>
            </a:r>
            <a:r>
              <a:rPr lang="en-US" sz="1400" b="1" dirty="0"/>
              <a:t>) {</a:t>
            </a:r>
          </a:p>
          <a:p>
            <a:r>
              <a:rPr lang="en-US" sz="1400" b="1" dirty="0"/>
              <a:t>         x = </a:t>
            </a:r>
            <a:r>
              <a:rPr lang="en-US" sz="1400" b="1" dirty="0" err="1"/>
              <a:t>xEnd</a:t>
            </a:r>
            <a:r>
              <a:rPr lang="en-US" sz="1400" b="1" dirty="0"/>
              <a:t>;</a:t>
            </a:r>
          </a:p>
          <a:p>
            <a:r>
              <a:rPr lang="en-US" sz="1400" b="1" dirty="0"/>
              <a:t>         y = </a:t>
            </a:r>
            <a:r>
              <a:rPr lang="en-US" sz="1400" b="1" dirty="0" err="1"/>
              <a:t>yEnd</a:t>
            </a:r>
            <a:r>
              <a:rPr lang="en-US" sz="1400" b="1" dirty="0"/>
              <a:t>;</a:t>
            </a:r>
          </a:p>
          <a:p>
            <a:r>
              <a:rPr lang="en-US" sz="1400" b="1" dirty="0"/>
              <a:t>         </a:t>
            </a:r>
            <a:r>
              <a:rPr lang="en-US" sz="1400" b="1" dirty="0" err="1"/>
              <a:t>xEnd</a:t>
            </a:r>
            <a:r>
              <a:rPr lang="en-US" sz="1400" b="1" dirty="0"/>
              <a:t> = x0;</a:t>
            </a:r>
          </a:p>
          <a:p>
            <a:r>
              <a:rPr lang="en-US" sz="1400" b="1" dirty="0"/>
              <a:t>      }</a:t>
            </a:r>
          </a:p>
          <a:p>
            <a:r>
              <a:rPr lang="en-US" sz="1400" b="1" dirty="0"/>
              <a:t>      else {</a:t>
            </a:r>
          </a:p>
          <a:p>
            <a:r>
              <a:rPr lang="en-US" sz="1400" b="1" dirty="0"/>
              <a:t>         x = x0;</a:t>
            </a:r>
          </a:p>
          <a:p>
            <a:r>
              <a:rPr lang="en-US" sz="1400" b="1" dirty="0"/>
              <a:t>         y = y0;</a:t>
            </a:r>
          </a:p>
          <a:p>
            <a:r>
              <a:rPr lang="en-US" sz="1400" b="1" dirty="0"/>
              <a:t>      }</a:t>
            </a:r>
          </a:p>
          <a:p>
            <a:r>
              <a:rPr lang="en-US" sz="1400" b="1" dirty="0"/>
              <a:t>      </a:t>
            </a:r>
            <a:r>
              <a:rPr lang="en-US" sz="1400" b="1" dirty="0" err="1"/>
              <a:t>setPixel</a:t>
            </a:r>
            <a:r>
              <a:rPr lang="en-US" sz="1400" b="1" dirty="0"/>
              <a:t> (x, y);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dirty="0"/>
          </a:p>
        </p:txBody>
      </p:sp>
      <p:sp>
        <p:nvSpPr>
          <p:cNvPr id="6" name="CaixaDeTexto 5"/>
          <p:cNvSpPr txBox="1"/>
          <p:nvPr/>
        </p:nvSpPr>
        <p:spPr>
          <a:xfrm>
            <a:off x="5690380" y="1704798"/>
            <a:ext cx="331236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 </a:t>
            </a:r>
            <a:r>
              <a:rPr lang="en-US" sz="1400" b="1" dirty="0"/>
              <a:t>while (x &lt; </a:t>
            </a:r>
            <a:r>
              <a:rPr lang="en-US" sz="1400" b="1" dirty="0" err="1"/>
              <a:t>xEnd</a:t>
            </a:r>
            <a:r>
              <a:rPr lang="en-US" sz="1400" b="1" dirty="0"/>
              <a:t>) {</a:t>
            </a:r>
          </a:p>
          <a:p>
            <a:r>
              <a:rPr lang="en-US" sz="1400" b="1" dirty="0"/>
              <a:t>         x++;</a:t>
            </a:r>
          </a:p>
          <a:p>
            <a:r>
              <a:rPr lang="en-US" sz="1400" b="1" dirty="0"/>
              <a:t>         if (p &lt; 0)</a:t>
            </a:r>
          </a:p>
          <a:p>
            <a:r>
              <a:rPr lang="en-US" sz="1400" b="1" dirty="0"/>
              <a:t>            p += </a:t>
            </a:r>
            <a:r>
              <a:rPr lang="en-US" sz="1400" b="1" dirty="0" err="1"/>
              <a:t>twoDy</a:t>
            </a:r>
            <a:r>
              <a:rPr lang="en-US" sz="1400" b="1" dirty="0"/>
              <a:t>;</a:t>
            </a:r>
          </a:p>
          <a:p>
            <a:r>
              <a:rPr lang="en-US" sz="1400" b="1" dirty="0"/>
              <a:t>         else {</a:t>
            </a:r>
          </a:p>
          <a:p>
            <a:r>
              <a:rPr lang="en-US" sz="1400" b="1" dirty="0"/>
              <a:t>            y++;</a:t>
            </a:r>
          </a:p>
          <a:p>
            <a:r>
              <a:rPr lang="en-US" sz="1400" b="1" dirty="0"/>
              <a:t>            p += </a:t>
            </a:r>
            <a:r>
              <a:rPr lang="en-US" sz="1400" b="1" dirty="0" err="1"/>
              <a:t>twoDyMinusDx</a:t>
            </a:r>
            <a:r>
              <a:rPr lang="en-US" sz="1400" b="1" dirty="0"/>
              <a:t>;</a:t>
            </a:r>
          </a:p>
          <a:p>
            <a:r>
              <a:rPr lang="en-US" sz="1400" b="1" dirty="0"/>
              <a:t>         }</a:t>
            </a:r>
          </a:p>
          <a:p>
            <a:r>
              <a:rPr lang="en-US" sz="1400" b="1" dirty="0"/>
              <a:t>         </a:t>
            </a:r>
            <a:r>
              <a:rPr lang="en-US" sz="1400" b="1" dirty="0" err="1"/>
              <a:t>setPixel</a:t>
            </a:r>
            <a:r>
              <a:rPr lang="en-US" sz="1400" b="1" dirty="0"/>
              <a:t> (x, y);</a:t>
            </a:r>
          </a:p>
          <a:p>
            <a:r>
              <a:rPr lang="en-US" sz="1400" b="1" dirty="0"/>
              <a:t>      }</a:t>
            </a:r>
          </a:p>
          <a:p>
            <a:r>
              <a:rPr lang="en-US" sz="1400" b="1" dirty="0"/>
              <a:t>   }</a:t>
            </a:r>
          </a:p>
        </p:txBody>
      </p:sp>
    </p:spTree>
    <p:extLst>
      <p:ext uri="{BB962C8B-B14F-4D97-AF65-F5344CB8AC3E}">
        <p14:creationId xmlns:p14="http://schemas.microsoft.com/office/powerpoint/2010/main" val="3585456338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27651" name="Rectangle 1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Exemplo</a:t>
            </a:r>
          </a:p>
        </p:txBody>
      </p:sp>
      <p:graphicFrame>
        <p:nvGraphicFramePr>
          <p:cNvPr id="115779" name="Group 6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6572213"/>
              </p:ext>
            </p:extLst>
          </p:nvPr>
        </p:nvGraphicFramePr>
        <p:xfrm>
          <a:off x="684213" y="2787553"/>
          <a:ext cx="4032250" cy="3483155"/>
        </p:xfrm>
        <a:graphic>
          <a:graphicData uri="http://schemas.openxmlformats.org/drawingml/2006/table">
            <a:tbl>
              <a:tblPr/>
              <a:tblGrid>
                <a:gridCol w="1909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4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        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 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 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-2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 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 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-2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21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22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23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24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25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26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27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28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29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16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16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17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7666" name="Text Box 53"/>
          <p:cNvSpPr txBox="1">
            <a:spLocks noChangeArrowheads="1"/>
          </p:cNvSpPr>
          <p:nvPr/>
        </p:nvSpPr>
        <p:spPr bwMode="auto">
          <a:xfrm>
            <a:off x="684213" y="1700213"/>
            <a:ext cx="82804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000" dirty="0"/>
              <a:t>Indicar que localizações serão calculadas pelo algoritmo de </a:t>
            </a:r>
            <a:r>
              <a:rPr lang="pt-BR" sz="2000" dirty="0" err="1"/>
              <a:t>Bresenham</a:t>
            </a:r>
            <a:r>
              <a:rPr lang="pt-BR" sz="2000" dirty="0"/>
              <a:t> quando se gera por varredura um segmento de reta  entre (20,10) e (30,18) em coordenadas de tela.</a:t>
            </a:r>
          </a:p>
        </p:txBody>
      </p:sp>
      <p:sp>
        <p:nvSpPr>
          <p:cNvPr id="27667" name="Text Box 55"/>
          <p:cNvSpPr txBox="1">
            <a:spLocks noChangeArrowheads="1"/>
          </p:cNvSpPr>
          <p:nvPr/>
        </p:nvSpPr>
        <p:spPr bwMode="auto">
          <a:xfrm>
            <a:off x="4932363" y="2852738"/>
            <a:ext cx="4211637" cy="207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000"/>
              <a:t>dx = x</a:t>
            </a:r>
            <a:r>
              <a:rPr lang="pt-BR" sz="2000" baseline="-25000"/>
              <a:t>2</a:t>
            </a:r>
            <a:r>
              <a:rPr lang="pt-BR" sz="2000"/>
              <a:t> – x</a:t>
            </a:r>
            <a:r>
              <a:rPr lang="pt-BR" sz="2000" baseline="-25000"/>
              <a:t>1</a:t>
            </a:r>
            <a:r>
              <a:rPr lang="pt-BR" sz="2000"/>
              <a:t> = 10, dy=y</a:t>
            </a:r>
            <a:r>
              <a:rPr lang="pt-BR" sz="2000" baseline="-25000"/>
              <a:t>2</a:t>
            </a:r>
            <a:r>
              <a:rPr lang="pt-BR" sz="2000"/>
              <a:t>-y</a:t>
            </a:r>
            <a:r>
              <a:rPr lang="pt-BR" sz="2000" baseline="-25000"/>
              <a:t>1</a:t>
            </a:r>
            <a:r>
              <a:rPr lang="pt-BR" sz="2000"/>
              <a:t> = 8</a:t>
            </a:r>
          </a:p>
          <a:p>
            <a:pPr>
              <a:spcBef>
                <a:spcPct val="50000"/>
              </a:spcBef>
            </a:pPr>
            <a:r>
              <a:rPr lang="pt-BR" sz="2000"/>
              <a:t>Inc</a:t>
            </a:r>
            <a:r>
              <a:rPr lang="pt-BR" sz="2000" baseline="-25000"/>
              <a:t>E</a:t>
            </a:r>
            <a:r>
              <a:rPr lang="pt-BR" sz="2000"/>
              <a:t> = 2dy = 2(y</a:t>
            </a:r>
            <a:r>
              <a:rPr lang="pt-BR" sz="2000" baseline="-25000"/>
              <a:t>2</a:t>
            </a:r>
            <a:r>
              <a:rPr lang="pt-BR" sz="2000"/>
              <a:t>-y</a:t>
            </a:r>
            <a:r>
              <a:rPr lang="pt-BR" sz="2000" baseline="-25000"/>
              <a:t>1</a:t>
            </a:r>
            <a:r>
              <a:rPr lang="pt-BR" sz="2000"/>
              <a:t>) = 16</a:t>
            </a:r>
          </a:p>
          <a:p>
            <a:pPr>
              <a:spcBef>
                <a:spcPct val="50000"/>
              </a:spcBef>
            </a:pPr>
            <a:r>
              <a:rPr lang="pt-BR" sz="2000"/>
              <a:t>Inc</a:t>
            </a:r>
            <a:r>
              <a:rPr lang="pt-BR" sz="2000" baseline="-25000"/>
              <a:t>NE</a:t>
            </a:r>
            <a:r>
              <a:rPr lang="pt-BR" sz="2000"/>
              <a:t> = 2(dy – dx) = 2[(y</a:t>
            </a:r>
            <a:r>
              <a:rPr lang="pt-BR" sz="2000" baseline="-25000"/>
              <a:t>2</a:t>
            </a:r>
            <a:r>
              <a:rPr lang="pt-BR" sz="2000"/>
              <a:t> – y</a:t>
            </a:r>
            <a:r>
              <a:rPr lang="pt-BR" sz="2000" baseline="-25000"/>
              <a:t>1</a:t>
            </a:r>
            <a:r>
              <a:rPr lang="pt-BR" sz="2000"/>
              <a:t>)</a:t>
            </a:r>
            <a:r>
              <a:rPr lang="pt-BR" sz="2000" baseline="-25000"/>
              <a:t> </a:t>
            </a:r>
            <a:r>
              <a:rPr lang="pt-BR" sz="2000"/>
              <a:t>– (x</a:t>
            </a:r>
            <a:r>
              <a:rPr lang="pt-BR" sz="2000" baseline="-25000"/>
              <a:t>2</a:t>
            </a:r>
            <a:r>
              <a:rPr lang="pt-BR" sz="2000"/>
              <a:t> – x</a:t>
            </a:r>
            <a:r>
              <a:rPr lang="pt-BR" sz="2000" baseline="-25000"/>
              <a:t>1</a:t>
            </a:r>
            <a:r>
              <a:rPr lang="pt-BR" sz="2000"/>
              <a:t> ) ] =  -4</a:t>
            </a:r>
          </a:p>
          <a:p>
            <a:pPr>
              <a:spcBef>
                <a:spcPct val="50000"/>
              </a:spcBef>
            </a:pPr>
            <a:r>
              <a:rPr lang="pt-BR" sz="2000"/>
              <a:t>d</a:t>
            </a:r>
            <a:r>
              <a:rPr lang="pt-BR" sz="2000" baseline="-25000"/>
              <a:t>start</a:t>
            </a:r>
            <a:r>
              <a:rPr lang="pt-BR" sz="2000"/>
              <a:t> = inc</a:t>
            </a:r>
            <a:r>
              <a:rPr lang="pt-BR" sz="2000" baseline="-25000"/>
              <a:t>E</a:t>
            </a:r>
            <a:r>
              <a:rPr lang="pt-BR" sz="2000"/>
              <a:t> – dx = 16 – 10 =  6</a:t>
            </a: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800100" y="842963"/>
            <a:ext cx="2438400" cy="600075"/>
          </a:xfrm>
          <a:noFill/>
        </p:spPr>
        <p:txBody>
          <a:bodyPr wrap="none" lIns="63500" tIns="25400" rIns="63500" bIns="25400" anchor="t">
            <a:spAutoFit/>
          </a:bodyPr>
          <a:lstStyle/>
          <a:p>
            <a:pPr eaLnBrk="1" hangingPunct="1"/>
            <a:r>
              <a:rPr lang="en-US"/>
              <a:t>Otmização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1966913"/>
            <a:ext cx="7239000" cy="4648200"/>
          </a:xfrm>
          <a:noFill/>
        </p:spPr>
        <p:txBody>
          <a:bodyPr lIns="90487" tIns="44450" rIns="90487" bIns="44450"/>
          <a:lstStyle/>
          <a:p>
            <a:pPr eaLnBrk="1" hangingPunct="1"/>
            <a:r>
              <a:rPr lang="pt-BR" sz="2000"/>
              <a:t>A velocidade pode ser aumentada detectando ciclos na variável de decisão </a:t>
            </a:r>
            <a:r>
              <a:rPr lang="pt-BR" sz="2000" b="1"/>
              <a:t>d</a:t>
            </a:r>
            <a:r>
              <a:rPr lang="pt-BR" sz="2000"/>
              <a:t>. Estes ciclos correspondem a padrões de pixels repetido na escolha.</a:t>
            </a:r>
          </a:p>
          <a:p>
            <a:pPr eaLnBrk="1" hangingPunct="1"/>
            <a:r>
              <a:rPr lang="pt-BR" sz="2000"/>
              <a:t>O padrão é salvo e o ciclo detectado é repetido sem recalcular. </a:t>
            </a:r>
          </a:p>
          <a:p>
            <a:pPr eaLnBrk="1" hangingPunct="1">
              <a:buFont typeface="Wingdings" pitchFamily="2" charset="2"/>
              <a:buNone/>
            </a:pPr>
            <a:endParaRPr lang="pt-BR" sz="2000"/>
          </a:p>
          <a:p>
            <a:pPr eaLnBrk="1" hangingPunct="1">
              <a:buFont typeface="Wingdings" pitchFamily="2" charset="2"/>
              <a:buNone/>
            </a:pPr>
            <a:endParaRPr lang="en-US" sz="2000"/>
          </a:p>
          <a:p>
            <a:pPr eaLnBrk="1" hangingPunct="1">
              <a:buFont typeface="Wingdings" pitchFamily="2" charset="2"/>
              <a:buNone/>
            </a:pPr>
            <a:endParaRPr lang="en-US" sz="2000"/>
          </a:p>
          <a:p>
            <a:pPr eaLnBrk="1" hangingPunct="1">
              <a:buFont typeface="Wingdings" pitchFamily="2" charset="2"/>
              <a:buNone/>
            </a:pPr>
            <a:endParaRPr lang="en-US" sz="2000"/>
          </a:p>
          <a:p>
            <a:pPr eaLnBrk="1" hangingPunct="1">
              <a:buFont typeface="Wingdings" pitchFamily="2" charset="2"/>
              <a:buNone/>
            </a:pPr>
            <a:endParaRPr lang="en-US" sz="2000"/>
          </a:p>
          <a:p>
            <a:pPr eaLnBrk="1" hangingPunct="1">
              <a:buFont typeface="Wingdings" pitchFamily="2" charset="2"/>
              <a:buNone/>
            </a:pPr>
            <a:endParaRPr lang="en-US" sz="2000"/>
          </a:p>
          <a:p>
            <a:pPr eaLnBrk="1" hangingPunct="1">
              <a:buFont typeface="Wingdings" pitchFamily="2" charset="2"/>
              <a:buNone/>
            </a:pPr>
            <a:r>
              <a:rPr lang="en-US" sz="1300"/>
              <a:t>                                               </a:t>
            </a:r>
          </a:p>
        </p:txBody>
      </p:sp>
      <p:pic>
        <p:nvPicPr>
          <p:cNvPr id="28677" name="Picture 4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71813" y="3571875"/>
            <a:ext cx="3578225" cy="25209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Referências Bibliográficas</a:t>
            </a:r>
            <a:endParaRPr lang="pt-BR"/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000" dirty="0">
                <a:cs typeface="Times New Roman" pitchFamily="18" charset="0"/>
              </a:rPr>
              <a:t>HEARN, D., BAKER, M. P. </a:t>
            </a:r>
            <a:r>
              <a:rPr lang="en-US" sz="2000" b="1" dirty="0">
                <a:cs typeface="Times New Roman" pitchFamily="18" charset="0"/>
              </a:rPr>
              <a:t>Computer Graphics With </a:t>
            </a:r>
            <a:r>
              <a:rPr lang="en-US" sz="2000" b="1" dirty="0" err="1">
                <a:cs typeface="Times New Roman" pitchFamily="18" charset="0"/>
              </a:rPr>
              <a:t>OpenGl</a:t>
            </a:r>
            <a:r>
              <a:rPr lang="en-US" sz="2000" dirty="0">
                <a:cs typeface="Times New Roman" pitchFamily="18" charset="0"/>
              </a:rPr>
              <a:t>, 4. ed.: Prentice-Hall, 2011. </a:t>
            </a:r>
          </a:p>
          <a:p>
            <a:pPr eaLnBrk="1" hangingPunct="1"/>
            <a:r>
              <a:rPr lang="es-ES_tradnl" sz="2000" dirty="0">
                <a:cs typeface="Times New Roman" pitchFamily="18" charset="0"/>
              </a:rPr>
              <a:t>FOLEY, J. et al. </a:t>
            </a:r>
            <a:r>
              <a:rPr lang="en-US" sz="2000" b="1" dirty="0">
                <a:cs typeface="Times New Roman" pitchFamily="18" charset="0"/>
              </a:rPr>
              <a:t>Computer graphics</a:t>
            </a:r>
            <a:r>
              <a:rPr lang="en-US" sz="2000" dirty="0">
                <a:cs typeface="Times New Roman" pitchFamily="18" charset="0"/>
              </a:rPr>
              <a:t> </a:t>
            </a:r>
            <a:r>
              <a:rPr lang="en-US" sz="2000" b="1" dirty="0">
                <a:cs typeface="Times New Roman" pitchFamily="18" charset="0"/>
              </a:rPr>
              <a:t>: principles and practice</a:t>
            </a:r>
            <a:r>
              <a:rPr lang="en-US" sz="2000" dirty="0">
                <a:cs typeface="Times New Roman" pitchFamily="18" charset="0"/>
              </a:rPr>
              <a:t>. 3. ed. Reading, MA: Addison-Wesley, 2014. </a:t>
            </a:r>
          </a:p>
          <a:p>
            <a:pPr eaLnBrk="1" hangingPunct="1"/>
            <a:r>
              <a:rPr lang="en-US" sz="2000" dirty="0" err="1"/>
              <a:t>Traima,A</a:t>
            </a:r>
            <a:r>
              <a:rPr lang="en-US" sz="2000" dirty="0"/>
              <a:t>. J. M.; OLIVEIRA, M. C. F. </a:t>
            </a:r>
            <a:r>
              <a:rPr lang="en-US" sz="2000" b="1" dirty="0" err="1"/>
              <a:t>Apostila</a:t>
            </a:r>
            <a:r>
              <a:rPr lang="en-US" sz="2000" b="1" dirty="0"/>
              <a:t> de </a:t>
            </a:r>
            <a:r>
              <a:rPr lang="en-US" sz="2000" b="1" dirty="0" err="1"/>
              <a:t>Computação</a:t>
            </a:r>
            <a:r>
              <a:rPr lang="en-US" sz="2000" b="1" dirty="0"/>
              <a:t> </a:t>
            </a:r>
            <a:r>
              <a:rPr lang="en-US" sz="2000" b="1" dirty="0" err="1"/>
              <a:t>Gráfica</a:t>
            </a:r>
            <a:r>
              <a:rPr lang="en-US" sz="2000" b="1" dirty="0"/>
              <a:t>, </a:t>
            </a:r>
            <a:r>
              <a:rPr lang="en-US" sz="2000" dirty="0" err="1"/>
              <a:t>Universidade</a:t>
            </a:r>
            <a:r>
              <a:rPr lang="en-US" sz="2000" dirty="0"/>
              <a:t> de São Paulo – USP – </a:t>
            </a:r>
            <a:r>
              <a:rPr lang="en-US" sz="2000" dirty="0" err="1"/>
              <a:t>Março</a:t>
            </a:r>
            <a:r>
              <a:rPr lang="en-US" sz="2000" dirty="0"/>
              <a:t> de 2004.</a:t>
            </a:r>
          </a:p>
          <a:p>
            <a:pPr marL="0" indent="0" eaLnBrk="1" hangingPunct="1">
              <a:buNone/>
            </a:pPr>
            <a:endParaRPr lang="en-US" sz="2000" dirty="0">
              <a:cs typeface="Times New Roman" pitchFamily="18" charset="0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Camadas">
  <a:themeElements>
    <a:clrScheme name="Camadas 13">
      <a:dk1>
        <a:srgbClr val="000000"/>
      </a:dk1>
      <a:lt1>
        <a:srgbClr val="FFFFFF"/>
      </a:lt1>
      <a:dk2>
        <a:srgbClr val="000000"/>
      </a:dk2>
      <a:lt2>
        <a:srgbClr val="891411"/>
      </a:lt2>
      <a:accent1>
        <a:srgbClr val="94141A"/>
      </a:accent1>
      <a:accent2>
        <a:srgbClr val="CC9900"/>
      </a:accent2>
      <a:accent3>
        <a:srgbClr val="FFFFFF"/>
      </a:accent3>
      <a:accent4>
        <a:srgbClr val="000000"/>
      </a:accent4>
      <a:accent5>
        <a:srgbClr val="C8AAAB"/>
      </a:accent5>
      <a:accent6>
        <a:srgbClr val="B98A00"/>
      </a:accent6>
      <a:hlink>
        <a:srgbClr val="5A84D8"/>
      </a:hlink>
      <a:folHlink>
        <a:srgbClr val="ADA9AB"/>
      </a:folHlink>
    </a:clrScheme>
    <a:fontScheme name="Camadas">
      <a:majorFont>
        <a:latin typeface="Arial"/>
        <a:ea typeface="Times New Roman"/>
        <a:cs typeface="Arial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amadas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madas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madas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madas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madas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madas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madas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madas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madas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madas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madas 11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94141A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8AAAB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madas 12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94141A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8AAAB"/>
        </a:accent5>
        <a:accent6>
          <a:srgbClr val="B98A00"/>
        </a:accent6>
        <a:hlink>
          <a:srgbClr val="5A84D8"/>
        </a:hlink>
        <a:folHlink>
          <a:srgbClr val="EB6B6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madas 13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94141A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8AAAB"/>
        </a:accent5>
        <a:accent6>
          <a:srgbClr val="B98A00"/>
        </a:accent6>
        <a:hlink>
          <a:srgbClr val="5A84D8"/>
        </a:hlink>
        <a:folHlink>
          <a:srgbClr val="ADA9A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Camadas</Template>
  <TotalTime>3262</TotalTime>
  <Words>2652</Words>
  <Application>Microsoft Office PowerPoint</Application>
  <PresentationFormat>Apresentação na tela (4:3)</PresentationFormat>
  <Paragraphs>407</Paragraphs>
  <Slides>30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42" baseType="lpstr">
      <vt:lpstr>Arial</vt:lpstr>
      <vt:lpstr>CMTT10</vt:lpstr>
      <vt:lpstr>Courier</vt:lpstr>
      <vt:lpstr>Courier New</vt:lpstr>
      <vt:lpstr>Geneva</vt:lpstr>
      <vt:lpstr>Helvetica</vt:lpstr>
      <vt:lpstr>Tahoma</vt:lpstr>
      <vt:lpstr>Times</vt:lpstr>
      <vt:lpstr>Times New Roman</vt:lpstr>
      <vt:lpstr>Wingdings</vt:lpstr>
      <vt:lpstr>Camadas</vt:lpstr>
      <vt:lpstr>Equation</vt:lpstr>
      <vt:lpstr>Conversão por Varredura de Primitivas Básicas</vt:lpstr>
      <vt:lpstr>Matemática Básica</vt:lpstr>
      <vt:lpstr>Fórmulas Úteis</vt:lpstr>
      <vt:lpstr>Forma paramétrica da Reta</vt:lpstr>
      <vt:lpstr>Exercício</vt:lpstr>
      <vt:lpstr>Primitivas</vt:lpstr>
      <vt:lpstr>Características Desejáveis para Algoritmos de Rasterização da Reta</vt:lpstr>
      <vt:lpstr>Propriedades exigidas da Reta</vt:lpstr>
      <vt:lpstr>Rasterização da Reta</vt:lpstr>
      <vt:lpstr>Rasterização da Reta</vt:lpstr>
      <vt:lpstr> </vt:lpstr>
      <vt:lpstr>DDA* Simples, Algoritmo de Reta </vt:lpstr>
      <vt:lpstr>DDA COM LAÇO FOR</vt:lpstr>
      <vt:lpstr>Exemplo do DDA</vt:lpstr>
      <vt:lpstr>DDA Exemplo</vt:lpstr>
      <vt:lpstr>Retas Rápidas – Método do Ponto Médio</vt:lpstr>
      <vt:lpstr>Retas Rápidas (cont.)</vt:lpstr>
      <vt:lpstr>Forma Implícita a da Reta</vt:lpstr>
      <vt:lpstr>Estudo do valor da Função</vt:lpstr>
      <vt:lpstr>Determinando a  variável de decisão</vt:lpstr>
      <vt:lpstr>Escolha de E ou NE</vt:lpstr>
      <vt:lpstr>Determinando a Forma Incremental</vt:lpstr>
      <vt:lpstr>Determinando a Forma Incremental</vt:lpstr>
      <vt:lpstr>Determinando o Ponto Inicial</vt:lpstr>
      <vt:lpstr>Resumo das principais equações do algoritmo </vt:lpstr>
      <vt:lpstr>Algoritmo</vt:lpstr>
      <vt:lpstr>Algoritmo do ponto médio - Bresenham</vt:lpstr>
      <vt:lpstr>Exemplo</vt:lpstr>
      <vt:lpstr>Otmização</vt:lpstr>
      <vt:lpstr>Referências Bibliográficas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Staner</dc:creator>
  <cp:lastModifiedBy>robson sousa</cp:lastModifiedBy>
  <cp:revision>265</cp:revision>
  <dcterms:created xsi:type="dcterms:W3CDTF">2002-08-14T13:51:42Z</dcterms:created>
  <dcterms:modified xsi:type="dcterms:W3CDTF">2023-03-13T21:19:08Z</dcterms:modified>
</cp:coreProperties>
</file>