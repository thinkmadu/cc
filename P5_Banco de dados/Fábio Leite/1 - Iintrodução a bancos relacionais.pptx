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</p:sldIdLst>
  <p:sldSz cx="10160000" cy="7620000"/>
  <p:notesSz cx="7620000" cy="10160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20"/>
  </p:normalViewPr>
  <p:slideViewPr>
    <p:cSldViewPr snapToGrid="0" snapToObjects="1">
      <p:cViewPr varScale="1">
        <p:scale>
          <a:sx n="88" d="100"/>
          <a:sy n="88" d="100"/>
        </p:scale>
        <p:origin x="1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i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i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i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i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i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i1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i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i1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i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i2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i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i3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i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i3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i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i4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i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i5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i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i6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i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i6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i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i77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i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i83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i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i89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i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i95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i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i11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i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i122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i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i128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i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i13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i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i14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i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i14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i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i184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i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i190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i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i196:notes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6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1pPr>
            <a:lvl2pPr lvl="1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2pPr>
            <a:lvl3pPr lvl="2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3pPr>
            <a:lvl4pPr lvl="3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4pPr>
            <a:lvl5pPr lvl="4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5pPr>
            <a:lvl6pPr lvl="5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6pPr>
            <a:lvl7pPr lvl="6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7pPr>
            <a:lvl8pPr lvl="7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8pPr>
            <a:lvl9pPr lvl="8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1pPr>
            <a:lvl2pPr lvl="1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2pPr>
            <a:lvl3pPr lvl="2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3pPr>
            <a:lvl4pPr lvl="3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4pPr>
            <a:lvl5pPr lvl="4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5pPr>
            <a:lvl6pPr lvl="5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6pPr>
            <a:lvl7pPr lvl="6">
              <a:spcBef>
                <a:spcPts val="0"/>
              </a:spcBef>
              <a:spcAft>
                <a:spcPts val="0"/>
              </a:spcAft>
              <a:buSzPts val="4267"/>
              <a:buChar char="●"/>
              <a:defRPr sz="4266"/>
            </a:lvl7pPr>
            <a:lvl8pPr lvl="7">
              <a:spcBef>
                <a:spcPts val="0"/>
              </a:spcBef>
              <a:spcAft>
                <a:spcPts val="0"/>
              </a:spcAft>
              <a:buSzPts val="4267"/>
              <a:buChar char="○"/>
              <a:defRPr sz="4266"/>
            </a:lvl8pPr>
            <a:lvl9pPr lvl="8">
              <a:spcBef>
                <a:spcPts val="0"/>
              </a:spcBef>
              <a:spcAft>
                <a:spcPts val="0"/>
              </a:spcAft>
              <a:buSzPts val="4267"/>
              <a:buChar char="■"/>
              <a:defRPr sz="4266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1pPr>
            <a:lvl2pPr marL="914400" lvl="1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2pPr>
            <a:lvl3pPr marL="1371600" lvl="2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3pPr>
            <a:lvl4pPr marL="1828800" lvl="3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4pPr>
            <a:lvl5pPr marL="2286000" lvl="4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5pPr>
            <a:lvl6pPr marL="2743200" lvl="5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6pPr>
            <a:lvl7pPr marL="3200400" lvl="6" indent="-397933">
              <a:spcBef>
                <a:spcPts val="0"/>
              </a:spcBef>
              <a:spcAft>
                <a:spcPts val="0"/>
              </a:spcAft>
              <a:buSzPts val="2667"/>
              <a:buChar char="●"/>
              <a:defRPr sz="2666"/>
            </a:lvl7pPr>
            <a:lvl8pPr marL="3657600" lvl="7" indent="-397933">
              <a:spcBef>
                <a:spcPts val="0"/>
              </a:spcBef>
              <a:spcAft>
                <a:spcPts val="0"/>
              </a:spcAft>
              <a:buSzPts val="2667"/>
              <a:buChar char="○"/>
              <a:defRPr sz="2666"/>
            </a:lvl8pPr>
            <a:lvl9pPr marL="4114800" lvl="8" indent="-397933">
              <a:spcBef>
                <a:spcPts val="0"/>
              </a:spcBef>
              <a:spcAft>
                <a:spcPts val="0"/>
              </a:spcAft>
              <a:buSzPts val="2667"/>
              <a:buChar char="■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marL="914400" lvl="1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 algn="ctr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 algn="ctr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1116525" y="2241900"/>
            <a:ext cx="8345300" cy="174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r>
              <a:rPr lang="en-US" sz="555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Banco de dados </a:t>
            </a:r>
            <a:r>
              <a:rPr lang="en-US" sz="5555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Relacionais</a:t>
            </a:r>
            <a:endParaRPr sz="555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2301875" y="4453800"/>
            <a:ext cx="7156450" cy="5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50800" algn="ctr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None/>
            </a:pPr>
            <a:r>
              <a:rPr lang="en-US" sz="2888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Fábio Luiz Leite Júnior</a:t>
            </a:r>
            <a:endParaRPr sz="2888" b="1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608525" y="582075"/>
            <a:ext cx="9019100" cy="89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9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Roteiro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393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 banco de dados ?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Visão geral de em SGBD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Arquitetura de um SGBD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Linguagem e Processamento de consultas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Armazenamento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Processamento de transações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5538600" y="664975"/>
            <a:ext cx="4538825" cy="141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 tempos temos Bancos de dados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50" y="793750"/>
            <a:ext cx="4614325" cy="58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527563" y="336525"/>
            <a:ext cx="6676650" cy="7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marR="0" lvl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33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Bancos</a:t>
            </a:r>
            <a:r>
              <a:rPr lang="en-US" sz="3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dados </a:t>
            </a:r>
            <a:r>
              <a:rPr lang="en-US" sz="3333" strike="sng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hoje</a:t>
            </a:r>
            <a:r>
              <a:rPr lang="en-US" sz="3333" dirty="0"/>
              <a:t> #sqn</a:t>
            </a:r>
            <a:endParaRPr sz="33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00" y="1365225"/>
            <a:ext cx="9726075" cy="57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575" y="1397000"/>
            <a:ext cx="9620250" cy="50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750" y="1397000"/>
            <a:ext cx="8212650" cy="50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 txBox="1">
            <a:spLocks noGrp="1"/>
          </p:cNvSpPr>
          <p:nvPr>
            <p:ph type="body" idx="1"/>
          </p:nvPr>
        </p:nvSpPr>
        <p:spPr>
          <a:xfrm>
            <a:off x="594075" y="350812"/>
            <a:ext cx="6676650" cy="7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marR="0" lvl="0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3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 </a:t>
            </a:r>
            <a:r>
              <a:rPr lang="en-US" sz="3333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hoje</a:t>
            </a:r>
            <a:r>
              <a:rPr lang="en-US" sz="3333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(?)</a:t>
            </a:r>
            <a:endParaRPr sz="33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075" y="2023525"/>
            <a:ext cx="1322900" cy="22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400" y="4563525"/>
            <a:ext cx="1587500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400" y="890612"/>
            <a:ext cx="2089150" cy="6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3075" y="1346175"/>
            <a:ext cx="4095750" cy="7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6075" y="2722025"/>
            <a:ext cx="1439325" cy="24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81325" y="2478600"/>
            <a:ext cx="1830900" cy="10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79150" y="4478850"/>
            <a:ext cx="1830900" cy="10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20200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511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Porque usar bancos de dados ?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Armazenamento persistente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para programar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Gerenciamento de transações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de um mundo real (Entidades e relacionamentos)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Cliente(entidade) </a:t>
            </a:r>
            <a:r>
              <a:rPr lang="en-US" sz="2444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aluga</a:t>
            </a: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filmes(entidade)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508000" y="587375"/>
            <a:ext cx="9221950" cy="89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9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533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um a coleções organizadas de dados armazenados em computadores ou algum dispositivo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um SGBD ?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201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ou software que permite gerenciar/manipular o banco de dados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20200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5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Web seria um banco de dados ?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Dispositivo de busca pouco eficiente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crawlers indexam páginas na web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consultas baseadas em palavras-chave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Mas... atualmente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podemos atualizar as informações (apesar dos wikies)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dados estão cada vez menos estruturados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Poucas garantias de atualizações dos dados, consistência entre os ítens, tolerância a falhas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web sites geralmente usam SGBD para prover essas funções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6650" cy="160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Bancos de dados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6650" cy="510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atuais de BD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SGBDR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Paradigma relacional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SGBDOR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Paradigma objeto relacional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SGBROO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Paradigma totalmente orientado à objetos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650" y="1397000"/>
            <a:ext cx="1841500" cy="7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7000" y="5482150"/>
            <a:ext cx="1841500" cy="7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9250" y="2794000"/>
            <a:ext cx="2508250" cy="87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1000" y="5291650"/>
            <a:ext cx="1799150" cy="9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99900" y="5196400"/>
            <a:ext cx="1407575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20200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511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cenário está mudando...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Novos padrões podem ajudar a modelar os dados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06022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44"/>
              <a:buChar char="■"/>
            </a:pPr>
            <a:r>
              <a:rPr lang="en-US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semântica</a:t>
            </a:r>
            <a:endParaRPr sz="24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 </a:t>
            </a:r>
            <a:r>
              <a:rPr lang="en-US" sz="3333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consulta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 retorna apenas o que foi armazenado recentemente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Consultas retornam o que uma vez foi armazenado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12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Buscas na Web se baseiam em dados não estruturados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20200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Busca </a:t>
            </a:r>
            <a:r>
              <a:rPr lang="en-US" sz="4666" i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consultas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20200" cy="522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Buscas se baseiam em modelos estatísticos dos dados, sem o “entendimento” real dos dados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explora alguns dados de estrutura dos documentos na web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Buscas na web, ainda, sobrecarregam as pessoas para filtrar os resultados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116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333"/>
              <a:buChar char="●"/>
            </a:pPr>
            <a:r>
              <a:rPr lang="en-US" sz="3333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Estruturas</a:t>
            </a:r>
            <a:r>
              <a:rPr lang="en-US" sz="3333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possibilitam que os computadores manipulem e matenham os dados</a:t>
            </a:r>
            <a:endParaRPr sz="3333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666"/>
              </a:lnSpc>
              <a:spcBef>
                <a:spcPts val="625"/>
              </a:spcBef>
              <a:spcAft>
                <a:spcPts val="0"/>
              </a:spcAft>
              <a:buNone/>
            </a:pPr>
            <a:endParaRPr sz="3333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Dados estruturados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lang="en-US" sz="3333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modelo de dados</a:t>
            </a: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uma coleção de conceitos para descrever dados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lang="en-US" sz="3333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esquema</a:t>
            </a: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a descrição de um coleção de dados em particular, usando um dado modelo de dados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Char char="●"/>
            </a:pP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3333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r>
              <a:rPr lang="en-US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o modelo mais usado atualmente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Idéia principal: </a:t>
            </a:r>
            <a:r>
              <a:rPr lang="en-US" sz="2888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relações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tabelas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34244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Char char="○"/>
            </a:pP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relação tem um </a:t>
            </a:r>
            <a:r>
              <a:rPr lang="en-US" sz="2888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esquema</a:t>
            </a:r>
            <a:r>
              <a:rPr lang="en-US" sz="288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descreve suas colunas e seus campos</a:t>
            </a:r>
            <a:endParaRPr sz="288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7EA28F-4425-FA4D-B4DB-D45EF9D9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 err="1"/>
              <a:t>Esquemas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DE8C9-C89C-C64E-9884-EED9B485E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48770"/>
            <a:ext cx="9550400" cy="668740"/>
          </a:xfrm>
        </p:spPr>
        <p:txBody>
          <a:bodyPr/>
          <a:lstStyle/>
          <a:p>
            <a:r>
              <a:rPr lang="en-US" dirty="0"/>
              <a:t>Database schema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4B1AA9C-22D3-F44E-97FD-A8466646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089" y="2269697"/>
            <a:ext cx="7230944" cy="474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24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76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Níveis de abstração dos dados</a:t>
            </a:r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95F87E77-0217-734C-B938-7ABC7B58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824" y="2218992"/>
            <a:ext cx="6249727" cy="45372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87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Níveis de abstração</a:t>
            </a:r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508000" y="156368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3333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de visões do usuário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Partes do banco de dados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os usuários enxergam os dados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3333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conceitual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Descrevem as entidades e seus relacionamentos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 simples são representadas por estruturas complexas do nível físico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3333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Nível físico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Descrevem como estão organizados os arquivos e índices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7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Dados </a:t>
            </a:r>
            <a:r>
              <a:rPr lang="en-US" sz="4666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estruturados</a:t>
            </a:r>
            <a:r>
              <a:rPr lang="en-US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4666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en-US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4666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1"/>
          </p:nvPr>
        </p:nvSpPr>
        <p:spPr>
          <a:xfrm>
            <a:off x="508000" y="1254837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lvl="0">
              <a:lnSpc>
                <a:spcPct val="104583"/>
              </a:lnSpc>
              <a:buSzPts val="3333"/>
            </a:pPr>
            <a:r>
              <a:rPr lang="pt-BR" sz="3200" b="1" dirty="0"/>
              <a:t>Esquema externo (nível de usuário)</a:t>
            </a:r>
          </a:p>
          <a:p>
            <a:pPr marL="527756" lvl="1">
              <a:lnSpc>
                <a:spcPct val="104807"/>
              </a:lnSpc>
              <a:buSzPts val="2889"/>
            </a:pPr>
            <a:r>
              <a:rPr lang="pt-BR" sz="2800" dirty="0"/>
              <a:t>A </a:t>
            </a:r>
            <a:r>
              <a:rPr lang="pt-BR" sz="2800" u="sng" dirty="0"/>
              <a:t>tabela/entidade</a:t>
            </a:r>
            <a:r>
              <a:rPr lang="pt-BR" sz="2800" dirty="0"/>
              <a:t> departamento</a:t>
            </a: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endParaRPr lang="pt-BR" sz="3200" b="1" dirty="0"/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3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Esquema conceitual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4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Tabela/Relação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Empregado(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codigo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nome, 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endereço,salario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527756" lvl="1">
              <a:lnSpc>
                <a:spcPct val="104807"/>
              </a:lnSpc>
              <a:buSzPts val="2889"/>
            </a:pPr>
            <a:r>
              <a:rPr lang="pt-BR" sz="2400" u="sng" dirty="0"/>
              <a:t>Tabela/Relação</a:t>
            </a:r>
            <a:r>
              <a:rPr lang="pt-BR" sz="2400" dirty="0"/>
              <a:t>: Departamento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codigoDep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nome, chefe)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endParaRPr lang="pt-BR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3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Esquema físico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Relações armazenadas em </a:t>
            </a:r>
            <a:r>
              <a:rPr lang="pt-BR" sz="24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arquivos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(estruturas de dados como árvores)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4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coluna de código de empregado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endParaRPr lang="pt-BR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76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Independência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dos dados</a:t>
            </a:r>
            <a:endParaRPr sz="4000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 txBox="1">
            <a:spLocks noGrp="1"/>
          </p:cNvSpPr>
          <p:nvPr>
            <p:ph type="body" idx="1"/>
          </p:nvPr>
        </p:nvSpPr>
        <p:spPr>
          <a:xfrm>
            <a:off x="508000" y="1377936"/>
            <a:ext cx="9218425" cy="472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Princípio de 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Codd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(1970)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Independência lógica dos dados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Proteção a partir de mudanças na estrutura lógica dos dados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Independência física dos dados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Proteção contra mudanças na estrutura física dos dados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Integridade das transações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tomicidade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onsistência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solação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r>
              <a:rPr lang="pt-BR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pt-BR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urabilidade</a:t>
            </a:r>
          </a:p>
          <a:p>
            <a:pPr marL="527756" marR="0" lvl="1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</a:pPr>
            <a:endParaRPr lang="pt-BR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lvl="5">
              <a:lnSpc>
                <a:spcPct val="104583"/>
              </a:lnSpc>
              <a:buSzPts val="3333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Satisfação das </a:t>
            </a:r>
            <a:r>
              <a:rPr lang="pt-B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estruturas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pt-BR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especificados no esquema do banco</a:t>
            </a:r>
            <a:endParaRPr lang="pt-BR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232F8E-1FA8-C54C-967E-09DD7229EB3F}"/>
              </a:ext>
            </a:extLst>
          </p:cNvPr>
          <p:cNvSpPr/>
          <p:nvPr/>
        </p:nvSpPr>
        <p:spPr>
          <a:xfrm>
            <a:off x="6033304" y="3810000"/>
            <a:ext cx="2282015" cy="1228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534" lvl="0">
              <a:lnSpc>
                <a:spcPct val="104583"/>
              </a:lnSpc>
              <a:buSzPts val="3333"/>
            </a:pPr>
            <a:r>
              <a:rPr lang="pt-BR" sz="2400" dirty="0">
                <a:solidFill>
                  <a:srgbClr val="FF0000"/>
                </a:solidFill>
              </a:rPr>
              <a:t>Estado válido do banco de dados</a:t>
            </a:r>
          </a:p>
        </p:txBody>
      </p:sp>
      <p:sp>
        <p:nvSpPr>
          <p:cNvPr id="3" name="Striped Right Arrow 2">
            <a:extLst>
              <a:ext uri="{FF2B5EF4-FFF2-40B4-BE49-F238E27FC236}">
                <a16:creationId xmlns:a16="http://schemas.microsoft.com/office/drawing/2014/main" id="{84FFE054-A77E-BC40-B64D-7081433EB931}"/>
              </a:ext>
            </a:extLst>
          </p:cNvPr>
          <p:cNvSpPr/>
          <p:nvPr/>
        </p:nvSpPr>
        <p:spPr>
          <a:xfrm>
            <a:off x="4657719" y="3915347"/>
            <a:ext cx="978408" cy="484632"/>
          </a:xfrm>
          <a:prstGeom prst="strip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82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Um sistema de arquivo é um SGBD ?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242888" y="1254837"/>
            <a:ext cx="9483537" cy="2555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duas pessoas trabalhando num mesmo arquivo as duas salvam quais mudanças irão persistir ?</a:t>
            </a:r>
          </a:p>
          <a:p>
            <a:pPr marL="575734" lvl="0" indent="-457200">
              <a:lnSpc>
                <a:spcPct val="104583"/>
              </a:lnSpc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editando um arquivo </a:t>
            </a:r>
            <a:r>
              <a:rPr lang="pt-BR" sz="2800" dirty="0"/>
              <a:t>e cai a energia.</a:t>
            </a:r>
            <a:endParaRPr lang="pt-BR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84956" marR="0" lvl="1" indent="-4572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Quais mudanças devem sobreviver ?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escrever programas que garantem isso 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>
            <a:spLocks noGrp="1"/>
          </p:cNvSpPr>
          <p:nvPr>
            <p:ph type="title"/>
          </p:nvPr>
        </p:nvSpPr>
        <p:spPr>
          <a:xfrm>
            <a:off x="508000" y="308676"/>
            <a:ext cx="9218425" cy="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Sistemas de arquivos </a:t>
            </a:r>
            <a:r>
              <a:rPr lang="pt-BR" sz="4400" i="1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r>
              <a:rPr lang="pt-BR" sz="44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SGBD</a:t>
            </a:r>
          </a:p>
        </p:txBody>
      </p:sp>
      <p:sp>
        <p:nvSpPr>
          <p:cNvPr id="164" name="Google Shape;164;p26"/>
          <p:cNvSpPr txBox="1">
            <a:spLocks noGrp="1"/>
          </p:cNvSpPr>
          <p:nvPr>
            <p:ph type="body" idx="1"/>
          </p:nvPr>
        </p:nvSpPr>
        <p:spPr>
          <a:xfrm>
            <a:off x="508000" y="1554874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aplicações deve armazenar grandes quantidades de dados nas memórias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Proteger dados de inconsistências devido ao uso concorrente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Recuperação da informação (consultas)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Recuperação de falhas (Backup)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 e controle de acesso</a:t>
            </a:r>
          </a:p>
          <a:p>
            <a:pPr marL="575734" marR="0" lvl="0" indent="-45720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Suporte do SO para o SGBD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Armazenamento</a:t>
            </a:r>
          </a:p>
          <a:p>
            <a:pPr marL="870656" marR="0" lvl="1" indent="-342900" algn="l" rtl="0">
              <a:lnSpc>
                <a:spcPct val="1048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9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Gerenciamento de memória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508000" y="330192"/>
            <a:ext cx="922195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19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Serviços</a:t>
            </a:r>
            <a:r>
              <a:rPr lang="en-US" sz="4666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do SGBD</a:t>
            </a:r>
            <a:endParaRPr sz="4666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508000" y="1406520"/>
            <a:ext cx="9220200" cy="550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</a:p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r>
              <a:rPr lang="pt-BR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recuperação de falhas</a:t>
            </a:r>
          </a:p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Otimização de consultas</a:t>
            </a:r>
          </a:p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Logging</a:t>
            </a:r>
            <a:endParaRPr lang="pt-BR" sz="2666" i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Tunning</a:t>
            </a:r>
            <a:endParaRPr lang="pt-BR" sz="2666" i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18067" marR="0" lvl="0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Suporte a aplicações avançadas</a:t>
            </a:r>
          </a:p>
          <a:p>
            <a:pPr marL="999067" marR="0" lvl="1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Wingdings" pitchFamily="2" charset="2"/>
              <a:buChar char="Ø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lang="pt-BR" sz="2666" i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warehouse</a:t>
            </a: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mining</a:t>
            </a:r>
          </a:p>
          <a:p>
            <a:pPr marL="999067" marR="0" lvl="1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Wingdings" pitchFamily="2" charset="2"/>
              <a:buChar char="Ø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apoio à decisão</a:t>
            </a:r>
          </a:p>
          <a:p>
            <a:pPr marL="999067" marR="0" lvl="1" indent="-457200" algn="l" rtl="0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Wingdings" pitchFamily="2" charset="2"/>
              <a:buChar char="Ø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de informações geográficas</a:t>
            </a:r>
          </a:p>
          <a:p>
            <a:pPr marL="618067" marR="0" lvl="0" indent="-457200" algn="l" rtl="0">
              <a:lnSpc>
                <a:spcPct val="1114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Gatilhos</a:t>
            </a:r>
          </a:p>
          <a:p>
            <a:pPr marL="618067" marR="0" lvl="0" indent="-457200" algn="l" rtl="0">
              <a:lnSpc>
                <a:spcPct val="1114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666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Visões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66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Funções de um ABD $$$</a:t>
            </a:r>
            <a:endParaRPr sz="4666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 txBox="1">
            <a:spLocks noGrp="1"/>
          </p:cNvSpPr>
          <p:nvPr>
            <p:ph type="body" idx="1"/>
          </p:nvPr>
        </p:nvSpPr>
        <p:spPr>
          <a:xfrm>
            <a:off x="508000" y="1778000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Projetar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esquemas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lógicos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físicos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Tratar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autorização</a:t>
            </a:r>
            <a:endParaRPr lang="en-US"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dados,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recuperação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dos dados</a:t>
            </a: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2800" i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Tunning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banco de dados</a:t>
            </a: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4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</a:pP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entender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SGBD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7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Por que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estamos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nessa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4000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0"/>
          <p:cNvSpPr txBox="1">
            <a:spLocks noGrp="1"/>
          </p:cNvSpPr>
          <p:nvPr>
            <p:ph type="body" idx="1"/>
          </p:nvPr>
        </p:nvSpPr>
        <p:spPr>
          <a:xfrm>
            <a:off x="508000" y="1254837"/>
            <a:ext cx="9218425" cy="511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618067" marR="0" lvl="0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Bancos de dados são o núcleo dos sistemas de informações</a:t>
            </a:r>
          </a:p>
          <a:p>
            <a:pPr marL="618067" marR="0" lvl="0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18067" marR="0" lvl="0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Demanda crescente por gerenciamento da informação</a:t>
            </a:r>
          </a:p>
          <a:p>
            <a:pPr marL="618067" marR="0" lvl="0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Empresas corporativas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(data 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warehouses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apoio/tomada a decisão, 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supply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chain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perfil de consumidores)</a:t>
            </a: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(ferramentas de buscas, e-commerce, blogs), sistemas p2p</a:t>
            </a: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Computação </a:t>
            </a:r>
            <a:r>
              <a:rPr lang="pt-BR" sz="2400" b="1" dirty="0" err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cientica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(genoma, bibliotecas digitais, imagens de satélite, dados de simulações)</a:t>
            </a: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99067" marR="0" lvl="1" indent="-45720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67"/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Computação pessoal</a:t>
            </a:r>
            <a:r>
              <a:rPr lang="pt-BR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(fotos, vídeos, e-mails, conteúdo dos arquivos)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>
            <a:spLocks noGrp="1"/>
          </p:cNvSpPr>
          <p:nvPr>
            <p:ph type="title"/>
          </p:nvPr>
        </p:nvSpPr>
        <p:spPr>
          <a:xfrm>
            <a:off x="508000" y="308675"/>
            <a:ext cx="9218425" cy="16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32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Por que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estamos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nessa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000" dirty="0" err="1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en-US" sz="4000" dirty="0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 ?</a:t>
            </a:r>
            <a:endParaRPr sz="4000" dirty="0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>
            <a:spLocks noGrp="1"/>
          </p:cNvSpPr>
          <p:nvPr>
            <p:ph type="body" idx="1"/>
          </p:nvPr>
        </p:nvSpPr>
        <p:spPr>
          <a:xfrm>
            <a:off x="610300" y="1744475"/>
            <a:ext cx="5461350" cy="345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381000" marR="0" lvl="0" indent="-248355" algn="l" rtl="0">
              <a:lnSpc>
                <a:spcPct val="1116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1"/>
              <a:buChar char="●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“Knowledge is power.” -- Sir Francis Bacon</a:t>
            </a:r>
            <a:endParaRPr sz="31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607"/>
              </a:lnSpc>
              <a:spcBef>
                <a:spcPts val="583"/>
              </a:spcBef>
              <a:spcAft>
                <a:spcPts val="0"/>
              </a:spcAft>
              <a:buNone/>
            </a:pPr>
            <a:endParaRPr sz="31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607"/>
              </a:lnSpc>
              <a:spcBef>
                <a:spcPts val="583"/>
              </a:spcBef>
              <a:spcAft>
                <a:spcPts val="0"/>
              </a:spcAft>
              <a:buNone/>
            </a:pPr>
            <a:endParaRPr sz="31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48355" algn="l" rtl="0">
              <a:lnSpc>
                <a:spcPct val="111607"/>
              </a:lnSpc>
              <a:spcBef>
                <a:spcPts val="583"/>
              </a:spcBef>
              <a:spcAft>
                <a:spcPts val="0"/>
              </a:spcAft>
              <a:buClr>
                <a:srgbClr val="000000"/>
              </a:buClr>
              <a:buSzPts val="3111"/>
              <a:buChar char="●"/>
            </a:pPr>
            <a:r>
              <a:rPr lang="en-US" sz="31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“With great power comes great responsibility.” -- SpiderMan’s Uncle Ben</a:t>
            </a:r>
            <a:endParaRPr sz="31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9325" y="2106075"/>
            <a:ext cx="3354900" cy="33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829</Words>
  <Application>Microsoft Macintosh PowerPoint</Application>
  <PresentationFormat>Custom</PresentationFormat>
  <Paragraphs>154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Wingdings</vt:lpstr>
      <vt:lpstr>Custom</vt:lpstr>
      <vt:lpstr>Introdução a Banco de dados Relacionais</vt:lpstr>
      <vt:lpstr>Roteiro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Banco de dados</vt:lpstr>
      <vt:lpstr>Banco de dados</vt:lpstr>
      <vt:lpstr>Banco de dados</vt:lpstr>
      <vt:lpstr>Bancos de dados</vt:lpstr>
      <vt:lpstr>Banco de dados</vt:lpstr>
      <vt:lpstr>Busca vs consultas</vt:lpstr>
      <vt:lpstr>Dados estruturados</vt:lpstr>
      <vt:lpstr>Esquemas</vt:lpstr>
      <vt:lpstr>Níveis de abstração dos dados</vt:lpstr>
      <vt:lpstr>Níveis de abstração</vt:lpstr>
      <vt:lpstr>Dados estruturados (Exemplo)</vt:lpstr>
      <vt:lpstr>Independência dos dados</vt:lpstr>
      <vt:lpstr>Um sistema de arquivo é um SGBD ?</vt:lpstr>
      <vt:lpstr>Sistemas de arquivos vs SGBD</vt:lpstr>
      <vt:lpstr>Serviços do SGBD</vt:lpstr>
      <vt:lpstr>Funções de um ABD $$$</vt:lpstr>
      <vt:lpstr>Por que estamos nessa disciplina ?</vt:lpstr>
      <vt:lpstr>Por que estamos nessa disciplina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I</dc:title>
  <cp:lastModifiedBy>Fabio Leite</cp:lastModifiedBy>
  <cp:revision>36</cp:revision>
  <dcterms:modified xsi:type="dcterms:W3CDTF">2023-08-15T10:44:01Z</dcterms:modified>
</cp:coreProperties>
</file>