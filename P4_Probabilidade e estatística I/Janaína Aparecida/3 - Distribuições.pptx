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380" r:id="rId2"/>
    <p:sldId id="394" r:id="rId3"/>
    <p:sldId id="395" r:id="rId4"/>
    <p:sldId id="396" r:id="rId5"/>
    <p:sldId id="397" r:id="rId6"/>
    <p:sldId id="419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300" r:id="rId18"/>
    <p:sldId id="301" r:id="rId19"/>
    <p:sldId id="302" r:id="rId20"/>
    <p:sldId id="303" r:id="rId21"/>
    <p:sldId id="304" r:id="rId22"/>
    <p:sldId id="305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410" r:id="rId36"/>
    <p:sldId id="390" r:id="rId37"/>
    <p:sldId id="391" r:id="rId38"/>
    <p:sldId id="392" r:id="rId39"/>
    <p:sldId id="411" r:id="rId40"/>
    <p:sldId id="412" r:id="rId41"/>
    <p:sldId id="418" r:id="rId42"/>
    <p:sldId id="413" r:id="rId43"/>
    <p:sldId id="414" r:id="rId44"/>
    <p:sldId id="415" r:id="rId45"/>
    <p:sldId id="416" r:id="rId46"/>
    <p:sldId id="417" r:id="rId47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0000"/>
    <a:srgbClr val="FFFF00"/>
    <a:srgbClr val="DDDDDD"/>
    <a:srgbClr val="C0C0C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29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1.wmf"/><Relationship Id="rId7" Type="http://schemas.openxmlformats.org/officeDocument/2006/relationships/image" Target="../media/image14.wmf"/><Relationship Id="rId2" Type="http://schemas.openxmlformats.org/officeDocument/2006/relationships/image" Target="../media/image10.wmf"/><Relationship Id="rId1" Type="http://schemas.openxmlformats.org/officeDocument/2006/relationships/image" Target="../media/image2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5.wmf"/><Relationship Id="rId9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0.wmf"/><Relationship Id="rId1" Type="http://schemas.openxmlformats.org/officeDocument/2006/relationships/image" Target="../media/image2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45.wmf"/><Relationship Id="rId18" Type="http://schemas.openxmlformats.org/officeDocument/2006/relationships/image" Target="../media/image5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12" Type="http://schemas.openxmlformats.org/officeDocument/2006/relationships/image" Target="../media/image44.wmf"/><Relationship Id="rId17" Type="http://schemas.openxmlformats.org/officeDocument/2006/relationships/image" Target="../media/image49.wmf"/><Relationship Id="rId2" Type="http://schemas.openxmlformats.org/officeDocument/2006/relationships/image" Target="../media/image34.wmf"/><Relationship Id="rId16" Type="http://schemas.openxmlformats.org/officeDocument/2006/relationships/image" Target="../media/image48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5" Type="http://schemas.openxmlformats.org/officeDocument/2006/relationships/image" Target="../media/image4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Relationship Id="rId14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5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10.wmf"/><Relationship Id="rId1" Type="http://schemas.openxmlformats.org/officeDocument/2006/relationships/image" Target="../media/image53.wmf"/><Relationship Id="rId6" Type="http://schemas.openxmlformats.org/officeDocument/2006/relationships/image" Target="../media/image56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10.wmf"/><Relationship Id="rId1" Type="http://schemas.openxmlformats.org/officeDocument/2006/relationships/image" Target="../media/image53.wmf"/><Relationship Id="rId6" Type="http://schemas.openxmlformats.org/officeDocument/2006/relationships/image" Target="../media/image56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3.wmf"/><Relationship Id="rId1" Type="http://schemas.openxmlformats.org/officeDocument/2006/relationships/image" Target="../media/image51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image" Target="../media/image92.wmf"/><Relationship Id="rId3" Type="http://schemas.openxmlformats.org/officeDocument/2006/relationships/image" Target="../media/image86.wmf"/><Relationship Id="rId7" Type="http://schemas.openxmlformats.org/officeDocument/2006/relationships/image" Target="../media/image37.wmf"/><Relationship Id="rId12" Type="http://schemas.openxmlformats.org/officeDocument/2006/relationships/image" Target="../media/image91.wmf"/><Relationship Id="rId2" Type="http://schemas.openxmlformats.org/officeDocument/2006/relationships/image" Target="../media/image85.wmf"/><Relationship Id="rId16" Type="http://schemas.openxmlformats.org/officeDocument/2006/relationships/image" Target="../media/image95.wmf"/><Relationship Id="rId1" Type="http://schemas.openxmlformats.org/officeDocument/2006/relationships/image" Target="../media/image84.wmf"/><Relationship Id="rId6" Type="http://schemas.openxmlformats.org/officeDocument/2006/relationships/image" Target="../media/image33.wmf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5" Type="http://schemas.openxmlformats.org/officeDocument/2006/relationships/image" Target="../media/image94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89.wmf"/><Relationship Id="rId14" Type="http://schemas.openxmlformats.org/officeDocument/2006/relationships/image" Target="../media/image9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image" Target="../media/image107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12" Type="http://schemas.openxmlformats.org/officeDocument/2006/relationships/image" Target="../media/image106.wmf"/><Relationship Id="rId2" Type="http://schemas.openxmlformats.org/officeDocument/2006/relationships/image" Target="../media/image3.wmf"/><Relationship Id="rId1" Type="http://schemas.openxmlformats.org/officeDocument/2006/relationships/image" Target="../media/image96.wmf"/><Relationship Id="rId6" Type="http://schemas.openxmlformats.org/officeDocument/2006/relationships/image" Target="../media/image100.wmf"/><Relationship Id="rId11" Type="http://schemas.openxmlformats.org/officeDocument/2006/relationships/image" Target="../media/image105.wmf"/><Relationship Id="rId5" Type="http://schemas.openxmlformats.org/officeDocument/2006/relationships/image" Target="../media/image99.wmf"/><Relationship Id="rId10" Type="http://schemas.openxmlformats.org/officeDocument/2006/relationships/image" Target="../media/image104.wmf"/><Relationship Id="rId4" Type="http://schemas.openxmlformats.org/officeDocument/2006/relationships/image" Target="../media/image98.wmf"/><Relationship Id="rId9" Type="http://schemas.openxmlformats.org/officeDocument/2006/relationships/image" Target="../media/image10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07.wmf"/><Relationship Id="rId1" Type="http://schemas.openxmlformats.org/officeDocument/2006/relationships/image" Target="../media/image96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107.wmf"/><Relationship Id="rId1" Type="http://schemas.openxmlformats.org/officeDocument/2006/relationships/image" Target="../media/image96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07.wmf"/><Relationship Id="rId1" Type="http://schemas.openxmlformats.org/officeDocument/2006/relationships/image" Target="../media/image96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image" Target="../media/image123.wmf"/><Relationship Id="rId3" Type="http://schemas.openxmlformats.org/officeDocument/2006/relationships/image" Target="../media/image35.wmf"/><Relationship Id="rId7" Type="http://schemas.openxmlformats.org/officeDocument/2006/relationships/image" Target="../media/image118.wmf"/><Relationship Id="rId12" Type="http://schemas.openxmlformats.org/officeDocument/2006/relationships/image" Target="../media/image122.wmf"/><Relationship Id="rId17" Type="http://schemas.openxmlformats.org/officeDocument/2006/relationships/image" Target="../media/image127.wmf"/><Relationship Id="rId2" Type="http://schemas.openxmlformats.org/officeDocument/2006/relationships/image" Target="../media/image117.wmf"/><Relationship Id="rId16" Type="http://schemas.openxmlformats.org/officeDocument/2006/relationships/image" Target="../media/image126.wmf"/><Relationship Id="rId1" Type="http://schemas.openxmlformats.org/officeDocument/2006/relationships/image" Target="../media/image116.wmf"/><Relationship Id="rId6" Type="http://schemas.openxmlformats.org/officeDocument/2006/relationships/image" Target="../media/image41.wmf"/><Relationship Id="rId11" Type="http://schemas.openxmlformats.org/officeDocument/2006/relationships/image" Target="../media/image121.wmf"/><Relationship Id="rId5" Type="http://schemas.openxmlformats.org/officeDocument/2006/relationships/image" Target="../media/image37.wmf"/><Relationship Id="rId15" Type="http://schemas.openxmlformats.org/officeDocument/2006/relationships/image" Target="../media/image125.wmf"/><Relationship Id="rId10" Type="http://schemas.openxmlformats.org/officeDocument/2006/relationships/image" Target="../media/image120.wmf"/><Relationship Id="rId4" Type="http://schemas.openxmlformats.org/officeDocument/2006/relationships/image" Target="../media/image33.wmf"/><Relationship Id="rId9" Type="http://schemas.openxmlformats.org/officeDocument/2006/relationships/image" Target="../media/image39.wmf"/><Relationship Id="rId14" Type="http://schemas.openxmlformats.org/officeDocument/2006/relationships/image" Target="../media/image124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image" Target="../media/image129.wmf"/><Relationship Id="rId7" Type="http://schemas.openxmlformats.org/officeDocument/2006/relationships/image" Target="../media/image133.wmf"/><Relationship Id="rId2" Type="http://schemas.openxmlformats.org/officeDocument/2006/relationships/image" Target="../media/image3.wmf"/><Relationship Id="rId1" Type="http://schemas.openxmlformats.org/officeDocument/2006/relationships/image" Target="../media/image128.wmf"/><Relationship Id="rId6" Type="http://schemas.openxmlformats.org/officeDocument/2006/relationships/image" Target="../media/image132.wmf"/><Relationship Id="rId11" Type="http://schemas.openxmlformats.org/officeDocument/2006/relationships/image" Target="../media/image137.wmf"/><Relationship Id="rId5" Type="http://schemas.openxmlformats.org/officeDocument/2006/relationships/image" Target="../media/image131.wmf"/><Relationship Id="rId10" Type="http://schemas.openxmlformats.org/officeDocument/2006/relationships/image" Target="../media/image136.wmf"/><Relationship Id="rId4" Type="http://schemas.openxmlformats.org/officeDocument/2006/relationships/image" Target="../media/image130.wmf"/><Relationship Id="rId9" Type="http://schemas.openxmlformats.org/officeDocument/2006/relationships/image" Target="../media/image13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image" Target="../media/image45.wmf"/><Relationship Id="rId18" Type="http://schemas.openxmlformats.org/officeDocument/2006/relationships/image" Target="../media/image154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12" Type="http://schemas.openxmlformats.org/officeDocument/2006/relationships/image" Target="../media/image149.wmf"/><Relationship Id="rId17" Type="http://schemas.openxmlformats.org/officeDocument/2006/relationships/image" Target="../media/image153.wmf"/><Relationship Id="rId2" Type="http://schemas.openxmlformats.org/officeDocument/2006/relationships/image" Target="../media/image144.wmf"/><Relationship Id="rId16" Type="http://schemas.openxmlformats.org/officeDocument/2006/relationships/image" Target="../media/image152.wmf"/><Relationship Id="rId1" Type="http://schemas.openxmlformats.org/officeDocument/2006/relationships/image" Target="../media/image33.wmf"/><Relationship Id="rId6" Type="http://schemas.openxmlformats.org/officeDocument/2006/relationships/image" Target="../media/image146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5" Type="http://schemas.openxmlformats.org/officeDocument/2006/relationships/image" Target="../media/image151.wmf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image" Target="../media/image41.wmf"/><Relationship Id="rId14" Type="http://schemas.openxmlformats.org/officeDocument/2006/relationships/image" Target="../media/image15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3.wmf"/><Relationship Id="rId1" Type="http://schemas.openxmlformats.org/officeDocument/2006/relationships/image" Target="../media/image155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70.wmf"/><Relationship Id="rId1" Type="http://schemas.openxmlformats.org/officeDocument/2006/relationships/image" Target="../media/image169.wmf"/><Relationship Id="rId4" Type="http://schemas.openxmlformats.org/officeDocument/2006/relationships/image" Target="../media/image17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image" Target="../media/image200.wmf"/><Relationship Id="rId7" Type="http://schemas.openxmlformats.org/officeDocument/2006/relationships/image" Target="../media/image10.wmf"/><Relationship Id="rId2" Type="http://schemas.openxmlformats.org/officeDocument/2006/relationships/image" Target="../media/image199.wmf"/><Relationship Id="rId1" Type="http://schemas.openxmlformats.org/officeDocument/2006/relationships/image" Target="../media/image192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3" Type="http://schemas.openxmlformats.org/officeDocument/2006/relationships/image" Target="../media/image203.wmf"/><Relationship Id="rId7" Type="http://schemas.openxmlformats.org/officeDocument/2006/relationships/image" Target="../media/image207.wmf"/><Relationship Id="rId2" Type="http://schemas.openxmlformats.org/officeDocument/2006/relationships/image" Target="../media/image204.wmf"/><Relationship Id="rId1" Type="http://schemas.openxmlformats.org/officeDocument/2006/relationships/image" Target="../media/image192.wmf"/><Relationship Id="rId6" Type="http://schemas.openxmlformats.org/officeDocument/2006/relationships/image" Target="../media/image206.wmf"/><Relationship Id="rId5" Type="http://schemas.openxmlformats.org/officeDocument/2006/relationships/image" Target="../media/image205.wmf"/><Relationship Id="rId10" Type="http://schemas.openxmlformats.org/officeDocument/2006/relationships/image" Target="../media/image189.wmf"/><Relationship Id="rId4" Type="http://schemas.openxmlformats.org/officeDocument/2006/relationships/image" Target="../media/image10.wmf"/><Relationship Id="rId9" Type="http://schemas.openxmlformats.org/officeDocument/2006/relationships/image" Target="../media/image209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wmf"/><Relationship Id="rId3" Type="http://schemas.openxmlformats.org/officeDocument/2006/relationships/image" Target="../media/image210.wmf"/><Relationship Id="rId7" Type="http://schemas.openxmlformats.org/officeDocument/2006/relationships/image" Target="../media/image213.wmf"/><Relationship Id="rId12" Type="http://schemas.openxmlformats.org/officeDocument/2006/relationships/image" Target="../media/image217.wmf"/><Relationship Id="rId2" Type="http://schemas.openxmlformats.org/officeDocument/2006/relationships/image" Target="../media/image203.wmf"/><Relationship Id="rId1" Type="http://schemas.openxmlformats.org/officeDocument/2006/relationships/image" Target="../media/image187.wmf"/><Relationship Id="rId6" Type="http://schemas.openxmlformats.org/officeDocument/2006/relationships/image" Target="../media/image212.wmf"/><Relationship Id="rId11" Type="http://schemas.openxmlformats.org/officeDocument/2006/relationships/image" Target="../media/image216.wmf"/><Relationship Id="rId5" Type="http://schemas.openxmlformats.org/officeDocument/2006/relationships/image" Target="../media/image211.wmf"/><Relationship Id="rId10" Type="http://schemas.openxmlformats.org/officeDocument/2006/relationships/image" Target="../media/image191.wmf"/><Relationship Id="rId4" Type="http://schemas.openxmlformats.org/officeDocument/2006/relationships/image" Target="../media/image190.wmf"/><Relationship Id="rId9" Type="http://schemas.openxmlformats.org/officeDocument/2006/relationships/image" Target="../media/image215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3" Type="http://schemas.openxmlformats.org/officeDocument/2006/relationships/image" Target="../media/image220.wmf"/><Relationship Id="rId7" Type="http://schemas.openxmlformats.org/officeDocument/2006/relationships/image" Target="../media/image224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9" Type="http://schemas.openxmlformats.org/officeDocument/2006/relationships/image" Target="../media/image226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image" Target="../media/image240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12" Type="http://schemas.openxmlformats.org/officeDocument/2006/relationships/image" Target="../media/image239.wmf"/><Relationship Id="rId2" Type="http://schemas.openxmlformats.org/officeDocument/2006/relationships/image" Target="../media/image229.wmf"/><Relationship Id="rId16" Type="http://schemas.openxmlformats.org/officeDocument/2006/relationships/image" Target="../media/image243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11" Type="http://schemas.openxmlformats.org/officeDocument/2006/relationships/image" Target="../media/image238.wmf"/><Relationship Id="rId5" Type="http://schemas.openxmlformats.org/officeDocument/2006/relationships/image" Target="../media/image232.wmf"/><Relationship Id="rId15" Type="http://schemas.openxmlformats.org/officeDocument/2006/relationships/image" Target="../media/image242.wmf"/><Relationship Id="rId10" Type="http://schemas.openxmlformats.org/officeDocument/2006/relationships/image" Target="../media/image237.wmf"/><Relationship Id="rId4" Type="http://schemas.openxmlformats.org/officeDocument/2006/relationships/image" Target="../media/image231.wmf"/><Relationship Id="rId9" Type="http://schemas.openxmlformats.org/officeDocument/2006/relationships/image" Target="../media/image236.wmf"/><Relationship Id="rId14" Type="http://schemas.openxmlformats.org/officeDocument/2006/relationships/image" Target="../media/image241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3.wmf"/><Relationship Id="rId1" Type="http://schemas.openxmlformats.org/officeDocument/2006/relationships/image" Target="../media/image252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wmf"/><Relationship Id="rId7" Type="http://schemas.openxmlformats.org/officeDocument/2006/relationships/image" Target="../media/image260.wmf"/><Relationship Id="rId2" Type="http://schemas.openxmlformats.org/officeDocument/2006/relationships/image" Target="../media/image255.wmf"/><Relationship Id="rId1" Type="http://schemas.openxmlformats.org/officeDocument/2006/relationships/image" Target="../media/image254.wmf"/><Relationship Id="rId6" Type="http://schemas.openxmlformats.org/officeDocument/2006/relationships/image" Target="../media/image259.wmf"/><Relationship Id="rId5" Type="http://schemas.openxmlformats.org/officeDocument/2006/relationships/image" Target="../media/image258.wmf"/><Relationship Id="rId4" Type="http://schemas.openxmlformats.org/officeDocument/2006/relationships/image" Target="../media/image25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91CD54-6FD1-428E-8C76-46C66BF5EA27}" type="datetimeFigureOut">
              <a:rPr lang="pt-BR"/>
              <a:pPr>
                <a:defRPr/>
              </a:pPr>
              <a:t>22/05/2023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smtClean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 smtClean="0"/>
              <a:t>Clique para editar 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96469A6-B6C1-49EC-8DD4-A5104F0B752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29344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73D994-E584-45AC-924B-1AC15BDC439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02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anchor="b"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78825A6F-001B-4467-AB54-04FB17A5D7A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43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3C06E-FE5A-456A-823D-6A0772808E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741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8B8E4-13FE-4E22-8FED-AB16FB115EB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708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F3295-8293-462E-A52D-362E903442D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6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82102-AC78-4E2F-BD4E-6BFCC046AC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65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4E0BA-B7DF-4213-9E6F-65FE1AAE23B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6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7C2EB-E38F-4AB1-BA39-C44D4385561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60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69196-0446-4DE2-BF2A-444CCB62ACB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7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1AE68-C23C-4FC4-8851-47A5B39B858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36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80F4F-D3E5-4B94-90EA-DE8F33B2F00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25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6F03E110-64F6-49A2-B347-A7BA0B0084A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9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17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2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2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4.bin"/><Relationship Id="rId18" Type="http://schemas.openxmlformats.org/officeDocument/2006/relationships/oleObject" Target="../embeddings/oleObject47.bin"/><Relationship Id="rId26" Type="http://schemas.openxmlformats.org/officeDocument/2006/relationships/image" Target="../media/image43.wmf"/><Relationship Id="rId39" Type="http://schemas.openxmlformats.org/officeDocument/2006/relationships/image" Target="../media/image49.wmf"/><Relationship Id="rId3" Type="http://schemas.openxmlformats.org/officeDocument/2006/relationships/oleObject" Target="../embeddings/oleObject39.bin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56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7.wmf"/><Relationship Id="rId17" Type="http://schemas.openxmlformats.org/officeDocument/2006/relationships/image" Target="../media/image39.wmf"/><Relationship Id="rId25" Type="http://schemas.openxmlformats.org/officeDocument/2006/relationships/oleObject" Target="../embeddings/oleObject51.bin"/><Relationship Id="rId33" Type="http://schemas.openxmlformats.org/officeDocument/2006/relationships/oleObject" Target="../embeddings/oleObject55.bin"/><Relationship Id="rId38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29" Type="http://schemas.openxmlformats.org/officeDocument/2006/relationships/oleObject" Target="../embeddings/oleObject53.bin"/><Relationship Id="rId41" Type="http://schemas.openxmlformats.org/officeDocument/2006/relationships/image" Target="../media/image5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3.bin"/><Relationship Id="rId24" Type="http://schemas.openxmlformats.org/officeDocument/2006/relationships/oleObject" Target="../embeddings/oleObject50.bin"/><Relationship Id="rId32" Type="http://schemas.openxmlformats.org/officeDocument/2006/relationships/image" Target="../media/image46.wmf"/><Relationship Id="rId37" Type="http://schemas.openxmlformats.org/officeDocument/2006/relationships/image" Target="../media/image48.wmf"/><Relationship Id="rId40" Type="http://schemas.openxmlformats.org/officeDocument/2006/relationships/oleObject" Target="../embeddings/oleObject59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23" Type="http://schemas.openxmlformats.org/officeDocument/2006/relationships/image" Target="../media/image42.wmf"/><Relationship Id="rId28" Type="http://schemas.openxmlformats.org/officeDocument/2006/relationships/image" Target="../media/image44.wmf"/><Relationship Id="rId36" Type="http://schemas.openxmlformats.org/officeDocument/2006/relationships/oleObject" Target="../embeddings/oleObject57.bin"/><Relationship Id="rId10" Type="http://schemas.openxmlformats.org/officeDocument/2006/relationships/image" Target="../media/image36.wmf"/><Relationship Id="rId19" Type="http://schemas.openxmlformats.org/officeDocument/2006/relationships/image" Target="../media/image40.wmf"/><Relationship Id="rId31" Type="http://schemas.openxmlformats.org/officeDocument/2006/relationships/oleObject" Target="../embeddings/oleObject54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38.wmf"/><Relationship Id="rId22" Type="http://schemas.openxmlformats.org/officeDocument/2006/relationships/oleObject" Target="../embeddings/oleObject49.bin"/><Relationship Id="rId27" Type="http://schemas.openxmlformats.org/officeDocument/2006/relationships/oleObject" Target="../embeddings/oleObject52.bin"/><Relationship Id="rId30" Type="http://schemas.openxmlformats.org/officeDocument/2006/relationships/image" Target="../media/image45.wmf"/><Relationship Id="rId35" Type="http://schemas.openxmlformats.org/officeDocument/2006/relationships/image" Target="../media/image4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5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6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58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5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61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5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6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77.wmf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103.bin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0" Type="http://schemas.openxmlformats.org/officeDocument/2006/relationships/image" Target="../media/image81.wmf"/><Relationship Id="rId4" Type="http://schemas.openxmlformats.org/officeDocument/2006/relationships/image" Target="../media/image78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83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88.wmf"/><Relationship Id="rId26" Type="http://schemas.openxmlformats.org/officeDocument/2006/relationships/image" Target="../media/image91.wmf"/><Relationship Id="rId3" Type="http://schemas.openxmlformats.org/officeDocument/2006/relationships/oleObject" Target="../embeddings/oleObject104.bin"/><Relationship Id="rId21" Type="http://schemas.openxmlformats.org/officeDocument/2006/relationships/oleObject" Target="../embeddings/oleObject113.bin"/><Relationship Id="rId34" Type="http://schemas.openxmlformats.org/officeDocument/2006/relationships/image" Target="../media/image95.wmf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111.bin"/><Relationship Id="rId25" Type="http://schemas.openxmlformats.org/officeDocument/2006/relationships/oleObject" Target="../embeddings/oleObject115.bin"/><Relationship Id="rId33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20" Type="http://schemas.openxmlformats.org/officeDocument/2006/relationships/image" Target="../media/image89.wmf"/><Relationship Id="rId29" Type="http://schemas.openxmlformats.org/officeDocument/2006/relationships/oleObject" Target="../embeddings/oleObject117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108.bin"/><Relationship Id="rId24" Type="http://schemas.openxmlformats.org/officeDocument/2006/relationships/image" Target="../media/image90.wmf"/><Relationship Id="rId32" Type="http://schemas.openxmlformats.org/officeDocument/2006/relationships/image" Target="../media/image94.wmf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4.bin"/><Relationship Id="rId28" Type="http://schemas.openxmlformats.org/officeDocument/2006/relationships/image" Target="../media/image92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112.bin"/><Relationship Id="rId31" Type="http://schemas.openxmlformats.org/officeDocument/2006/relationships/oleObject" Target="../embeddings/oleObject118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33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116.bin"/><Relationship Id="rId30" Type="http://schemas.openxmlformats.org/officeDocument/2006/relationships/image" Target="../media/image93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02.wmf"/><Relationship Id="rId26" Type="http://schemas.openxmlformats.org/officeDocument/2006/relationships/image" Target="../media/image106.wmf"/><Relationship Id="rId3" Type="http://schemas.openxmlformats.org/officeDocument/2006/relationships/oleObject" Target="../embeddings/oleObject120.bin"/><Relationship Id="rId21" Type="http://schemas.openxmlformats.org/officeDocument/2006/relationships/oleObject" Target="../embeddings/oleObject129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127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1.wmf"/><Relationship Id="rId20" Type="http://schemas.openxmlformats.org/officeDocument/2006/relationships/image" Target="../media/image103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124.bin"/><Relationship Id="rId24" Type="http://schemas.openxmlformats.org/officeDocument/2006/relationships/image" Target="../media/image105.wmf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23" Type="http://schemas.openxmlformats.org/officeDocument/2006/relationships/oleObject" Target="../embeddings/oleObject130.bin"/><Relationship Id="rId28" Type="http://schemas.openxmlformats.org/officeDocument/2006/relationships/image" Target="../media/image107.wmf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00.wmf"/><Relationship Id="rId22" Type="http://schemas.openxmlformats.org/officeDocument/2006/relationships/image" Target="../media/image104.wmf"/><Relationship Id="rId27" Type="http://schemas.openxmlformats.org/officeDocument/2006/relationships/oleObject" Target="../embeddings/oleObject13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0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08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1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11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4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oleObject" Target="../embeddings/oleObject149.bin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13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15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19.wmf"/><Relationship Id="rId26" Type="http://schemas.openxmlformats.org/officeDocument/2006/relationships/image" Target="../media/image122.wmf"/><Relationship Id="rId3" Type="http://schemas.openxmlformats.org/officeDocument/2006/relationships/oleObject" Target="../embeddings/oleObject150.bin"/><Relationship Id="rId21" Type="http://schemas.openxmlformats.org/officeDocument/2006/relationships/oleObject" Target="../embeddings/oleObject159.bin"/><Relationship Id="rId34" Type="http://schemas.openxmlformats.org/officeDocument/2006/relationships/image" Target="../media/image126.wmf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157.bin"/><Relationship Id="rId25" Type="http://schemas.openxmlformats.org/officeDocument/2006/relationships/oleObject" Target="../embeddings/oleObject161.bin"/><Relationship Id="rId33" Type="http://schemas.openxmlformats.org/officeDocument/2006/relationships/oleObject" Target="../embeddings/oleObject1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8.wmf"/><Relationship Id="rId20" Type="http://schemas.openxmlformats.org/officeDocument/2006/relationships/image" Target="../media/image39.wmf"/><Relationship Id="rId29" Type="http://schemas.openxmlformats.org/officeDocument/2006/relationships/oleObject" Target="../embeddings/oleObject163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54.bin"/><Relationship Id="rId24" Type="http://schemas.openxmlformats.org/officeDocument/2006/relationships/image" Target="../media/image121.wmf"/><Relationship Id="rId32" Type="http://schemas.openxmlformats.org/officeDocument/2006/relationships/image" Target="../media/image125.wmf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image" Target="../media/image123.wmf"/><Relationship Id="rId36" Type="http://schemas.openxmlformats.org/officeDocument/2006/relationships/image" Target="../media/image127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158.bin"/><Relationship Id="rId31" Type="http://schemas.openxmlformats.org/officeDocument/2006/relationships/oleObject" Target="../embeddings/oleObject164.bin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41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162.bin"/><Relationship Id="rId30" Type="http://schemas.openxmlformats.org/officeDocument/2006/relationships/image" Target="../media/image124.wmf"/><Relationship Id="rId35" Type="http://schemas.openxmlformats.org/officeDocument/2006/relationships/oleObject" Target="../embeddings/oleObject16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34.wmf"/><Relationship Id="rId3" Type="http://schemas.openxmlformats.org/officeDocument/2006/relationships/oleObject" Target="../embeddings/oleObject167.bin"/><Relationship Id="rId21" Type="http://schemas.openxmlformats.org/officeDocument/2006/relationships/oleObject" Target="../embeddings/oleObject176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31.wmf"/><Relationship Id="rId17" Type="http://schemas.openxmlformats.org/officeDocument/2006/relationships/oleObject" Target="../embeddings/oleObject17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3.wmf"/><Relationship Id="rId20" Type="http://schemas.openxmlformats.org/officeDocument/2006/relationships/image" Target="../media/image135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171.bin"/><Relationship Id="rId24" Type="http://schemas.openxmlformats.org/officeDocument/2006/relationships/image" Target="../media/image137.wmf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23" Type="http://schemas.openxmlformats.org/officeDocument/2006/relationships/oleObject" Target="../embeddings/oleObject177.bin"/><Relationship Id="rId10" Type="http://schemas.openxmlformats.org/officeDocument/2006/relationships/image" Target="../media/image130.wmf"/><Relationship Id="rId19" Type="http://schemas.openxmlformats.org/officeDocument/2006/relationships/oleObject" Target="../embeddings/oleObject175.bin"/><Relationship Id="rId4" Type="http://schemas.openxmlformats.org/officeDocument/2006/relationships/image" Target="../media/image128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32.wmf"/><Relationship Id="rId22" Type="http://schemas.openxmlformats.org/officeDocument/2006/relationships/image" Target="../media/image13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oleObject" Target="../embeddings/oleObject183.bin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4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9.wmf"/><Relationship Id="rId11" Type="http://schemas.openxmlformats.org/officeDocument/2006/relationships/oleObject" Target="../embeddings/oleObject182.bin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4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89.bin"/><Relationship Id="rId18" Type="http://schemas.openxmlformats.org/officeDocument/2006/relationships/oleObject" Target="../embeddings/oleObject192.bin"/><Relationship Id="rId26" Type="http://schemas.openxmlformats.org/officeDocument/2006/relationships/image" Target="../media/image43.wmf"/><Relationship Id="rId39" Type="http://schemas.openxmlformats.org/officeDocument/2006/relationships/image" Target="../media/image153.wmf"/><Relationship Id="rId3" Type="http://schemas.openxmlformats.org/officeDocument/2006/relationships/oleObject" Target="../embeddings/oleObject184.bin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201.bin"/><Relationship Id="rId7" Type="http://schemas.openxmlformats.org/officeDocument/2006/relationships/oleObject" Target="../embeddings/oleObject186.bin"/><Relationship Id="rId12" Type="http://schemas.openxmlformats.org/officeDocument/2006/relationships/image" Target="../media/image37.wmf"/><Relationship Id="rId17" Type="http://schemas.openxmlformats.org/officeDocument/2006/relationships/image" Target="../media/image39.wmf"/><Relationship Id="rId25" Type="http://schemas.openxmlformats.org/officeDocument/2006/relationships/oleObject" Target="../embeddings/oleObject196.bin"/><Relationship Id="rId33" Type="http://schemas.openxmlformats.org/officeDocument/2006/relationships/oleObject" Target="../embeddings/oleObject200.bin"/><Relationship Id="rId38" Type="http://schemas.openxmlformats.org/officeDocument/2006/relationships/oleObject" Target="../embeddings/oleObject20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91.bin"/><Relationship Id="rId20" Type="http://schemas.openxmlformats.org/officeDocument/2006/relationships/oleObject" Target="../embeddings/oleObject193.bin"/><Relationship Id="rId29" Type="http://schemas.openxmlformats.org/officeDocument/2006/relationships/oleObject" Target="../embeddings/oleObject198.bin"/><Relationship Id="rId41" Type="http://schemas.openxmlformats.org/officeDocument/2006/relationships/image" Target="../media/image154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88.bin"/><Relationship Id="rId24" Type="http://schemas.openxmlformats.org/officeDocument/2006/relationships/oleObject" Target="../embeddings/oleObject195.bin"/><Relationship Id="rId32" Type="http://schemas.openxmlformats.org/officeDocument/2006/relationships/image" Target="../media/image150.wmf"/><Relationship Id="rId37" Type="http://schemas.openxmlformats.org/officeDocument/2006/relationships/image" Target="../media/image152.wmf"/><Relationship Id="rId40" Type="http://schemas.openxmlformats.org/officeDocument/2006/relationships/oleObject" Target="../embeddings/oleObject204.bin"/><Relationship Id="rId5" Type="http://schemas.openxmlformats.org/officeDocument/2006/relationships/oleObject" Target="../embeddings/oleObject185.bin"/><Relationship Id="rId15" Type="http://schemas.openxmlformats.org/officeDocument/2006/relationships/oleObject" Target="../embeddings/oleObject190.bin"/><Relationship Id="rId23" Type="http://schemas.openxmlformats.org/officeDocument/2006/relationships/image" Target="../media/image148.wmf"/><Relationship Id="rId28" Type="http://schemas.openxmlformats.org/officeDocument/2006/relationships/image" Target="../media/image149.wmf"/><Relationship Id="rId36" Type="http://schemas.openxmlformats.org/officeDocument/2006/relationships/oleObject" Target="../embeddings/oleObject202.bin"/><Relationship Id="rId10" Type="http://schemas.openxmlformats.org/officeDocument/2006/relationships/image" Target="../media/image145.wmf"/><Relationship Id="rId19" Type="http://schemas.openxmlformats.org/officeDocument/2006/relationships/image" Target="../media/image147.wmf"/><Relationship Id="rId31" Type="http://schemas.openxmlformats.org/officeDocument/2006/relationships/oleObject" Target="../embeddings/oleObject199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87.bin"/><Relationship Id="rId14" Type="http://schemas.openxmlformats.org/officeDocument/2006/relationships/image" Target="../media/image146.wmf"/><Relationship Id="rId22" Type="http://schemas.openxmlformats.org/officeDocument/2006/relationships/oleObject" Target="../embeddings/oleObject194.bin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45.wmf"/><Relationship Id="rId35" Type="http://schemas.openxmlformats.org/officeDocument/2006/relationships/image" Target="../media/image15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210.bin"/><Relationship Id="rId18" Type="http://schemas.openxmlformats.org/officeDocument/2006/relationships/image" Target="../media/image161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12" Type="http://schemas.openxmlformats.org/officeDocument/2006/relationships/image" Target="../media/image158.wmf"/><Relationship Id="rId17" Type="http://schemas.openxmlformats.org/officeDocument/2006/relationships/oleObject" Target="../embeddings/oleObject2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209.bin"/><Relationship Id="rId5" Type="http://schemas.openxmlformats.org/officeDocument/2006/relationships/oleObject" Target="../embeddings/oleObject206.bin"/><Relationship Id="rId15" Type="http://schemas.openxmlformats.org/officeDocument/2006/relationships/oleObject" Target="../embeddings/oleObject211.bin"/><Relationship Id="rId10" Type="http://schemas.openxmlformats.org/officeDocument/2006/relationships/image" Target="../media/image157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208.bin"/><Relationship Id="rId14" Type="http://schemas.openxmlformats.org/officeDocument/2006/relationships/image" Target="../media/image15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218.bin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12" Type="http://schemas.openxmlformats.org/officeDocument/2006/relationships/image" Target="../media/image16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8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217.bin"/><Relationship Id="rId5" Type="http://schemas.openxmlformats.org/officeDocument/2006/relationships/oleObject" Target="../embeddings/oleObject214.bin"/><Relationship Id="rId15" Type="http://schemas.openxmlformats.org/officeDocument/2006/relationships/oleObject" Target="../embeddings/oleObject219.bin"/><Relationship Id="rId10" Type="http://schemas.openxmlformats.org/officeDocument/2006/relationships/image" Target="../media/image165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216.bin"/><Relationship Id="rId14" Type="http://schemas.openxmlformats.org/officeDocument/2006/relationships/image" Target="../media/image16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172.wmf"/><Relationship Id="rId4" Type="http://schemas.openxmlformats.org/officeDocument/2006/relationships/image" Target="../media/image169.wmf"/><Relationship Id="rId9" Type="http://schemas.openxmlformats.org/officeDocument/2006/relationships/oleObject" Target="../embeddings/oleObject22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oleObject" Target="../embeddings/oleObject224.bin"/><Relationship Id="rId7" Type="http://schemas.openxmlformats.org/officeDocument/2006/relationships/oleObject" Target="../embeddings/oleObject2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17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232.bin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18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2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3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230.bin"/><Relationship Id="rId14" Type="http://schemas.openxmlformats.org/officeDocument/2006/relationships/image" Target="../media/image18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5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234.bin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38.bin"/><Relationship Id="rId5" Type="http://schemas.openxmlformats.org/officeDocument/2006/relationships/oleObject" Target="../embeddings/oleObject235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3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244.bin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19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8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19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189.wmf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25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99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01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03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08.wmf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05.wmf"/><Relationship Id="rId17" Type="http://schemas.openxmlformats.org/officeDocument/2006/relationships/oleObject" Target="../embeddings/oleObject26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7.wmf"/><Relationship Id="rId20" Type="http://schemas.openxmlformats.org/officeDocument/2006/relationships/image" Target="../media/image209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04.wmf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262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06.wmf"/><Relationship Id="rId22" Type="http://schemas.openxmlformats.org/officeDocument/2006/relationships/image" Target="../media/image189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69.bin"/><Relationship Id="rId18" Type="http://schemas.openxmlformats.org/officeDocument/2006/relationships/image" Target="../media/image214.wmf"/><Relationship Id="rId26" Type="http://schemas.openxmlformats.org/officeDocument/2006/relationships/image" Target="../media/image217.wmf"/><Relationship Id="rId3" Type="http://schemas.openxmlformats.org/officeDocument/2006/relationships/oleObject" Target="../embeddings/oleObject264.bin"/><Relationship Id="rId21" Type="http://schemas.openxmlformats.org/officeDocument/2006/relationships/oleObject" Target="../embeddings/oleObject273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271.bin"/><Relationship Id="rId25" Type="http://schemas.openxmlformats.org/officeDocument/2006/relationships/oleObject" Target="../embeddings/oleObject2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13.wmf"/><Relationship Id="rId20" Type="http://schemas.openxmlformats.org/officeDocument/2006/relationships/image" Target="../media/image215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68.bin"/><Relationship Id="rId24" Type="http://schemas.openxmlformats.org/officeDocument/2006/relationships/image" Target="../media/image216.wmf"/><Relationship Id="rId5" Type="http://schemas.openxmlformats.org/officeDocument/2006/relationships/oleObject" Target="../embeddings/oleObject265.bin"/><Relationship Id="rId15" Type="http://schemas.openxmlformats.org/officeDocument/2006/relationships/oleObject" Target="../embeddings/oleObject270.bin"/><Relationship Id="rId23" Type="http://schemas.openxmlformats.org/officeDocument/2006/relationships/oleObject" Target="../embeddings/oleObject274.bin"/><Relationship Id="rId10" Type="http://schemas.openxmlformats.org/officeDocument/2006/relationships/image" Target="../media/image190.wmf"/><Relationship Id="rId19" Type="http://schemas.openxmlformats.org/officeDocument/2006/relationships/oleObject" Target="../embeddings/oleObject272.bin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67.bin"/><Relationship Id="rId14" Type="http://schemas.openxmlformats.org/officeDocument/2006/relationships/image" Target="../media/image212.wmf"/><Relationship Id="rId22" Type="http://schemas.openxmlformats.org/officeDocument/2006/relationships/image" Target="../media/image19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oleObject" Target="../embeddings/oleObject281.bin"/><Relationship Id="rId18" Type="http://schemas.openxmlformats.org/officeDocument/2006/relationships/oleObject" Target="../embeddings/oleObject283.bin"/><Relationship Id="rId3" Type="http://schemas.openxmlformats.org/officeDocument/2006/relationships/oleObject" Target="../embeddings/oleObject276.bin"/><Relationship Id="rId21" Type="http://schemas.openxmlformats.org/officeDocument/2006/relationships/image" Target="../media/image226.wmf"/><Relationship Id="rId7" Type="http://schemas.openxmlformats.org/officeDocument/2006/relationships/oleObject" Target="../embeddings/oleObject278.bin"/><Relationship Id="rId12" Type="http://schemas.openxmlformats.org/officeDocument/2006/relationships/image" Target="../media/image222.wmf"/><Relationship Id="rId17" Type="http://schemas.openxmlformats.org/officeDocument/2006/relationships/image" Target="../media/image22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4.wmf"/><Relationship Id="rId20" Type="http://schemas.openxmlformats.org/officeDocument/2006/relationships/oleObject" Target="../embeddings/oleObject284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19.wmf"/><Relationship Id="rId11" Type="http://schemas.openxmlformats.org/officeDocument/2006/relationships/oleObject" Target="../embeddings/oleObject280.bin"/><Relationship Id="rId5" Type="http://schemas.openxmlformats.org/officeDocument/2006/relationships/oleObject" Target="../embeddings/oleObject277.bin"/><Relationship Id="rId15" Type="http://schemas.openxmlformats.org/officeDocument/2006/relationships/oleObject" Target="../embeddings/oleObject282.bin"/><Relationship Id="rId10" Type="http://schemas.openxmlformats.org/officeDocument/2006/relationships/image" Target="../media/image221.wmf"/><Relationship Id="rId19" Type="http://schemas.openxmlformats.org/officeDocument/2006/relationships/image" Target="../media/image225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79.bin"/><Relationship Id="rId14" Type="http://schemas.openxmlformats.org/officeDocument/2006/relationships/image" Target="../media/image22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90.bin"/><Relationship Id="rId18" Type="http://schemas.openxmlformats.org/officeDocument/2006/relationships/image" Target="../media/image235.wmf"/><Relationship Id="rId26" Type="http://schemas.openxmlformats.org/officeDocument/2006/relationships/image" Target="../media/image239.wmf"/><Relationship Id="rId3" Type="http://schemas.openxmlformats.org/officeDocument/2006/relationships/oleObject" Target="../embeddings/oleObject285.bin"/><Relationship Id="rId21" Type="http://schemas.openxmlformats.org/officeDocument/2006/relationships/oleObject" Target="../embeddings/oleObject294.bin"/><Relationship Id="rId34" Type="http://schemas.openxmlformats.org/officeDocument/2006/relationships/image" Target="../media/image243.wmf"/><Relationship Id="rId7" Type="http://schemas.openxmlformats.org/officeDocument/2006/relationships/oleObject" Target="../embeddings/oleObject287.bin"/><Relationship Id="rId12" Type="http://schemas.openxmlformats.org/officeDocument/2006/relationships/image" Target="../media/image232.wmf"/><Relationship Id="rId17" Type="http://schemas.openxmlformats.org/officeDocument/2006/relationships/oleObject" Target="../embeddings/oleObject292.bin"/><Relationship Id="rId25" Type="http://schemas.openxmlformats.org/officeDocument/2006/relationships/oleObject" Target="../embeddings/oleObject296.bin"/><Relationship Id="rId33" Type="http://schemas.openxmlformats.org/officeDocument/2006/relationships/oleObject" Target="../embeddings/oleObject30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4.wmf"/><Relationship Id="rId20" Type="http://schemas.openxmlformats.org/officeDocument/2006/relationships/image" Target="../media/image236.wmf"/><Relationship Id="rId29" Type="http://schemas.openxmlformats.org/officeDocument/2006/relationships/oleObject" Target="../embeddings/oleObject298.bin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89.bin"/><Relationship Id="rId24" Type="http://schemas.openxmlformats.org/officeDocument/2006/relationships/image" Target="../media/image238.wmf"/><Relationship Id="rId32" Type="http://schemas.openxmlformats.org/officeDocument/2006/relationships/image" Target="../media/image242.wmf"/><Relationship Id="rId5" Type="http://schemas.openxmlformats.org/officeDocument/2006/relationships/oleObject" Target="../embeddings/oleObject286.bin"/><Relationship Id="rId15" Type="http://schemas.openxmlformats.org/officeDocument/2006/relationships/oleObject" Target="../embeddings/oleObject291.bin"/><Relationship Id="rId23" Type="http://schemas.openxmlformats.org/officeDocument/2006/relationships/oleObject" Target="../embeddings/oleObject295.bin"/><Relationship Id="rId28" Type="http://schemas.openxmlformats.org/officeDocument/2006/relationships/image" Target="../media/image240.wmf"/><Relationship Id="rId10" Type="http://schemas.openxmlformats.org/officeDocument/2006/relationships/image" Target="../media/image231.wmf"/><Relationship Id="rId19" Type="http://schemas.openxmlformats.org/officeDocument/2006/relationships/oleObject" Target="../embeddings/oleObject293.bin"/><Relationship Id="rId31" Type="http://schemas.openxmlformats.org/officeDocument/2006/relationships/oleObject" Target="../embeddings/oleObject299.bin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88.bin"/><Relationship Id="rId14" Type="http://schemas.openxmlformats.org/officeDocument/2006/relationships/image" Target="../media/image233.wmf"/><Relationship Id="rId22" Type="http://schemas.openxmlformats.org/officeDocument/2006/relationships/image" Target="../media/image237.wmf"/><Relationship Id="rId27" Type="http://schemas.openxmlformats.org/officeDocument/2006/relationships/oleObject" Target="../embeddings/oleObject297.bin"/><Relationship Id="rId30" Type="http://schemas.openxmlformats.org/officeDocument/2006/relationships/image" Target="../media/image241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image" Target="../media/image247.emf"/><Relationship Id="rId7" Type="http://schemas.openxmlformats.org/officeDocument/2006/relationships/image" Target="../media/image2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02.bin"/><Relationship Id="rId5" Type="http://schemas.openxmlformats.org/officeDocument/2006/relationships/image" Target="../media/image244.wmf"/><Relationship Id="rId10" Type="http://schemas.openxmlformats.org/officeDocument/2006/relationships/image" Target="../media/image246.wmf"/><Relationship Id="rId4" Type="http://schemas.openxmlformats.org/officeDocument/2006/relationships/oleObject" Target="../embeddings/oleObject301.bin"/><Relationship Id="rId9" Type="http://schemas.openxmlformats.org/officeDocument/2006/relationships/oleObject" Target="../embeddings/oleObject30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7" Type="http://schemas.openxmlformats.org/officeDocument/2006/relationships/image" Target="../media/image2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05.bin"/><Relationship Id="rId5" Type="http://schemas.openxmlformats.org/officeDocument/2006/relationships/image" Target="../media/image248.wmf"/><Relationship Id="rId4" Type="http://schemas.openxmlformats.org/officeDocument/2006/relationships/oleObject" Target="../embeddings/oleObject304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7" Type="http://schemas.openxmlformats.org/officeDocument/2006/relationships/image" Target="../media/image2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07.bin"/><Relationship Id="rId5" Type="http://schemas.openxmlformats.org/officeDocument/2006/relationships/image" Target="../media/image250.wmf"/><Relationship Id="rId4" Type="http://schemas.openxmlformats.org/officeDocument/2006/relationships/oleObject" Target="../embeddings/oleObject306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8.bin"/><Relationship Id="rId7" Type="http://schemas.openxmlformats.org/officeDocument/2006/relationships/image" Target="../media/image2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309.bin"/><Relationship Id="rId4" Type="http://schemas.openxmlformats.org/officeDocument/2006/relationships/image" Target="../media/image25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wmf"/><Relationship Id="rId13" Type="http://schemas.openxmlformats.org/officeDocument/2006/relationships/oleObject" Target="../embeddings/oleObject315.bin"/><Relationship Id="rId3" Type="http://schemas.openxmlformats.org/officeDocument/2006/relationships/oleObject" Target="../embeddings/oleObject310.bin"/><Relationship Id="rId7" Type="http://schemas.openxmlformats.org/officeDocument/2006/relationships/oleObject" Target="../embeddings/oleObject312.bin"/><Relationship Id="rId12" Type="http://schemas.openxmlformats.org/officeDocument/2006/relationships/image" Target="../media/image258.wmf"/><Relationship Id="rId17" Type="http://schemas.openxmlformats.org/officeDocument/2006/relationships/image" Target="../media/image22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0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55.wmf"/><Relationship Id="rId11" Type="http://schemas.openxmlformats.org/officeDocument/2006/relationships/oleObject" Target="../embeddings/oleObject314.bin"/><Relationship Id="rId5" Type="http://schemas.openxmlformats.org/officeDocument/2006/relationships/oleObject" Target="../embeddings/oleObject311.bin"/><Relationship Id="rId15" Type="http://schemas.openxmlformats.org/officeDocument/2006/relationships/oleObject" Target="../embeddings/oleObject316.bin"/><Relationship Id="rId10" Type="http://schemas.openxmlformats.org/officeDocument/2006/relationships/image" Target="../media/image257.wmf"/><Relationship Id="rId4" Type="http://schemas.openxmlformats.org/officeDocument/2006/relationships/image" Target="../media/image254.wmf"/><Relationship Id="rId9" Type="http://schemas.openxmlformats.org/officeDocument/2006/relationships/oleObject" Target="../embeddings/oleObject313.bin"/><Relationship Id="rId14" Type="http://schemas.openxmlformats.org/officeDocument/2006/relationships/image" Target="../media/image25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 smtClean="0"/>
              <a:t>Estatística</a:t>
            </a:r>
            <a:br>
              <a:rPr lang="pt-BR" sz="2400" dirty="0" smtClean="0"/>
            </a:br>
            <a:r>
              <a:rPr lang="pt-BR" sz="2400" dirty="0" smtClean="0"/>
              <a:t/>
            </a:r>
            <a:br>
              <a:rPr lang="pt-BR" sz="2400" dirty="0" smtClean="0"/>
            </a:br>
            <a:r>
              <a:rPr lang="pt-BR" sz="2400" dirty="0" smtClean="0"/>
              <a:t/>
            </a:r>
            <a:br>
              <a:rPr lang="pt-BR" sz="2400" dirty="0" smtClean="0"/>
            </a:br>
            <a:r>
              <a:rPr lang="pt-BR" sz="2400" dirty="0"/>
              <a:t>Distribuições de </a:t>
            </a:r>
            <a:r>
              <a:rPr lang="pt-BR" sz="2400" dirty="0" smtClean="0"/>
              <a:t>Probabilidade</a:t>
            </a:r>
            <a:br>
              <a:rPr lang="pt-BR" sz="2400" dirty="0" smtClean="0"/>
            </a:br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847725" y="5076825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aphicFrame>
        <p:nvGraphicFramePr>
          <p:cNvPr id="96281" name="Object 25"/>
          <p:cNvGraphicFramePr>
            <a:graphicFrameLocks noChangeAspect="1"/>
          </p:cNvGraphicFramePr>
          <p:nvPr/>
        </p:nvGraphicFramePr>
        <p:xfrm>
          <a:off x="1447800" y="4953000"/>
          <a:ext cx="2000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" name="Equation" r:id="rId3" imgW="139639" imgH="393529" progId="Equation.DSMT4">
                  <p:embed/>
                </p:oleObj>
              </mc:Choice>
              <mc:Fallback>
                <p:oleObj name="Equation" r:id="rId3" imgW="139639" imgH="39352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953000"/>
                        <a:ext cx="200025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838200" y="3344863"/>
            <a:ext cx="8001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 = 1) =</a:t>
            </a:r>
            <a:r>
              <a:rPr lang="pt-BR" altLang="pt-BR" sz="1600">
                <a:latin typeface="Times New Roman" pitchFamily="18" charset="0"/>
              </a:rPr>
              <a:t>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2)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3)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4)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5)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6) = 1/6</a:t>
            </a:r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inteiros de </a:t>
            </a:r>
            <a:r>
              <a:rPr lang="pt-BR" altLang="pt-BR" sz="1600">
                <a:latin typeface="Times New Roman" pitchFamily="18" charset="0"/>
              </a:rPr>
              <a:t>1</a:t>
            </a:r>
            <a:r>
              <a:rPr lang="pt-BR" altLang="pt-BR" sz="1600"/>
              <a:t> a </a:t>
            </a:r>
            <a:r>
              <a:rPr lang="pt-BR" altLang="pt-BR" sz="1600">
                <a:latin typeface="Times New Roman" pitchFamily="18" charset="0"/>
              </a:rPr>
              <a:t>N</a:t>
            </a:r>
            <a:r>
              <a:rPr lang="pt-BR" altLang="pt-BR" sz="1600"/>
              <a:t>, equiprováveis, ou seja, todos os valores têm igual probabilidade de ocorrência.</a:t>
            </a:r>
          </a:p>
        </p:txBody>
      </p:sp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838200" y="2362200"/>
            <a:ext cx="8001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Lança-se um dado e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como o valor obtido neste dado.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3, 4, 5, 6}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</a:t>
            </a:r>
          </a:p>
        </p:txBody>
      </p:sp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1416050" y="4953000"/>
          <a:ext cx="290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Equation" r:id="rId5" imgW="203112" imgH="393529" progId="Equation.DSMT4">
                  <p:embed/>
                </p:oleObj>
              </mc:Choice>
              <mc:Fallback>
                <p:oleObj name="Equation" r:id="rId5" imgW="203112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953000"/>
                        <a:ext cx="290513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5" name="Object 9"/>
          <p:cNvGraphicFramePr>
            <a:graphicFrameLocks noChangeAspect="1"/>
          </p:cNvGraphicFramePr>
          <p:nvPr/>
        </p:nvGraphicFramePr>
        <p:xfrm>
          <a:off x="838200" y="5705475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3" name="Equation" r:id="rId7" imgW="736600" imgH="431800" progId="Equation.DSMT4">
                  <p:embed/>
                </p:oleObj>
              </mc:Choice>
              <mc:Fallback>
                <p:oleObj name="Equation" r:id="rId7" imgW="7366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05475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6" name="Object 10"/>
          <p:cNvGraphicFramePr>
            <a:graphicFrameLocks noChangeAspect="1"/>
          </p:cNvGraphicFramePr>
          <p:nvPr/>
        </p:nvGraphicFramePr>
        <p:xfrm>
          <a:off x="3116263" y="2727325"/>
          <a:ext cx="1978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" name="Equation" r:id="rId9" imgW="1384300" imgH="431800" progId="Equation.DSMT4">
                  <p:embed/>
                </p:oleObj>
              </mc:Choice>
              <mc:Fallback>
                <p:oleObj name="Equation" r:id="rId9" imgW="13843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2727325"/>
                        <a:ext cx="1978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4167188" y="2803525"/>
            <a:ext cx="1520825" cy="641350"/>
            <a:chOff x="2640" y="1776"/>
            <a:chExt cx="958" cy="404"/>
          </a:xfrm>
        </p:grpSpPr>
        <p:sp>
          <p:nvSpPr>
            <p:cNvPr id="4119" name="Oval 11"/>
            <p:cNvSpPr>
              <a:spLocks noChangeArrowheads="1"/>
            </p:cNvSpPr>
            <p:nvPr/>
          </p:nvSpPr>
          <p:spPr bwMode="auto">
            <a:xfrm>
              <a:off x="2640" y="1776"/>
              <a:ext cx="672" cy="28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4120" name="Object 13"/>
            <p:cNvGraphicFramePr>
              <a:graphicFrameLocks noChangeAspect="1"/>
            </p:cNvGraphicFramePr>
            <p:nvPr/>
          </p:nvGraphicFramePr>
          <p:xfrm>
            <a:off x="3312" y="1824"/>
            <a:ext cx="28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" name="Equation" r:id="rId11" imgW="317225" imgH="393359" progId="Equation.DSMT4">
                    <p:embed/>
                  </p:oleObj>
                </mc:Choice>
                <mc:Fallback>
                  <p:oleObj name="Equation" r:id="rId11" imgW="317225" imgH="39335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24"/>
                          <a:ext cx="286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71" name="Object 15"/>
          <p:cNvGraphicFramePr>
            <a:graphicFrameLocks noChangeAspect="1"/>
          </p:cNvGraphicFramePr>
          <p:nvPr/>
        </p:nvGraphicFramePr>
        <p:xfrm>
          <a:off x="3116263" y="3348038"/>
          <a:ext cx="14160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" name="Equation" r:id="rId13" imgW="990170" imgH="431613" progId="Equation.DSMT4">
                  <p:embed/>
                </p:oleObj>
              </mc:Choice>
              <mc:Fallback>
                <p:oleObj name="Equation" r:id="rId13" imgW="990170" imgH="43161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3348038"/>
                        <a:ext cx="141605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014788" y="3352800"/>
            <a:ext cx="1620837" cy="841375"/>
            <a:chOff x="2544" y="2112"/>
            <a:chExt cx="1021" cy="530"/>
          </a:xfrm>
        </p:grpSpPr>
        <p:sp>
          <p:nvSpPr>
            <p:cNvPr id="4117" name="Oval 16"/>
            <p:cNvSpPr>
              <a:spLocks noChangeArrowheads="1"/>
            </p:cNvSpPr>
            <p:nvPr/>
          </p:nvSpPr>
          <p:spPr bwMode="auto">
            <a:xfrm>
              <a:off x="2544" y="2112"/>
              <a:ext cx="336" cy="43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4118" name="Object 17"/>
            <p:cNvGraphicFramePr>
              <a:graphicFrameLocks noChangeAspect="1"/>
            </p:cNvGraphicFramePr>
            <p:nvPr/>
          </p:nvGraphicFramePr>
          <p:xfrm>
            <a:off x="2890" y="2286"/>
            <a:ext cx="675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7" name="Equation" r:id="rId15" imgW="748975" imgH="393529" progId="Equation.DSMT4">
                    <p:embed/>
                  </p:oleObj>
                </mc:Choice>
                <mc:Fallback>
                  <p:oleObj name="Equation" r:id="rId15" imgW="748975" imgH="39352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" y="2286"/>
                          <a:ext cx="675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75" name="Object 19"/>
          <p:cNvGraphicFramePr>
            <a:graphicFrameLocks noChangeAspect="1"/>
          </p:cNvGraphicFramePr>
          <p:nvPr/>
        </p:nvGraphicFramePr>
        <p:xfrm>
          <a:off x="3116263" y="4006850"/>
          <a:ext cx="18700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" name="Equation" r:id="rId17" imgW="1307532" imgH="393529" progId="Equation.DSMT4">
                  <p:embed/>
                </p:oleObj>
              </mc:Choice>
              <mc:Fallback>
                <p:oleObj name="Equation" r:id="rId17" imgW="1307532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006850"/>
                        <a:ext cx="18700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3886200" y="4078288"/>
            <a:ext cx="433388" cy="417512"/>
            <a:chOff x="2448" y="2569"/>
            <a:chExt cx="273" cy="263"/>
          </a:xfrm>
        </p:grpSpPr>
        <p:sp>
          <p:nvSpPr>
            <p:cNvPr id="4115" name="Line 20"/>
            <p:cNvSpPr>
              <a:spLocks noChangeShapeType="1"/>
            </p:cNvSpPr>
            <p:nvPr/>
          </p:nvSpPr>
          <p:spPr bwMode="auto">
            <a:xfrm flipH="1">
              <a:off x="2448" y="2736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6" name="Line 21"/>
            <p:cNvSpPr>
              <a:spLocks noChangeShapeType="1"/>
            </p:cNvSpPr>
            <p:nvPr/>
          </p:nvSpPr>
          <p:spPr bwMode="auto">
            <a:xfrm flipH="1">
              <a:off x="2577" y="2569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96279" name="Object 23"/>
          <p:cNvGraphicFramePr>
            <a:graphicFrameLocks noChangeAspect="1"/>
          </p:cNvGraphicFramePr>
          <p:nvPr/>
        </p:nvGraphicFramePr>
        <p:xfrm>
          <a:off x="3116263" y="4724400"/>
          <a:ext cx="1289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" name="Equation" r:id="rId19" imgW="901309" imgH="393529" progId="Equation.DSMT4">
                  <p:embed/>
                </p:oleObj>
              </mc:Choice>
              <mc:Fallback>
                <p:oleObj name="Equation" r:id="rId19" imgW="901309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724400"/>
                        <a:ext cx="1289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80" name="Rectangle 24"/>
          <p:cNvSpPr>
            <a:spLocks noChangeArrowheads="1"/>
          </p:cNvSpPr>
          <p:nvPr/>
        </p:nvSpPr>
        <p:spPr bwMode="auto">
          <a:xfrm>
            <a:off x="3048000" y="4648200"/>
            <a:ext cx="1447800" cy="6858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E77492-FDD9-404B-AF01-82BF365CBFDA}" type="slidenum">
              <a:rPr lang="pt-BR"/>
              <a:pPr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2" grpId="0" autoUpdateAnimBg="0"/>
      <p:bldP spid="96261" grpId="0" build="p" autoUpdateAnimBg="0"/>
      <p:bldP spid="96260" grpId="0" build="p" autoUpdateAnimBg="0"/>
      <p:bldP spid="9628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838200" y="2362200"/>
            <a:ext cx="80010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Lança-se um dado e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como o valor obtido neste dado.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3, 4, 5, 6}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2)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3)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4)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5)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6) = 1/6</a:t>
            </a:r>
          </a:p>
        </p:txBody>
      </p:sp>
      <p:sp>
        <p:nvSpPr>
          <p:cNvPr id="5124" name="Text Box 6"/>
          <p:cNvSpPr txBox="1">
            <a:spLocks noChangeArrowheads="1"/>
          </p:cNvSpPr>
          <p:nvPr/>
        </p:nvSpPr>
        <p:spPr bwMode="auto">
          <a:xfrm>
            <a:off x="838200" y="5076825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5125" name="Object 7"/>
          <p:cNvGraphicFramePr>
            <a:graphicFrameLocks noChangeAspect="1"/>
          </p:cNvGraphicFramePr>
          <p:nvPr/>
        </p:nvGraphicFramePr>
        <p:xfrm>
          <a:off x="1416050" y="4953000"/>
          <a:ext cx="290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3" imgW="203112" imgH="393529" progId="Equation.DSMT4">
                  <p:embed/>
                </p:oleObj>
              </mc:Choice>
              <mc:Fallback>
                <p:oleObj name="Equation" r:id="rId3" imgW="203112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953000"/>
                        <a:ext cx="290513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23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5" imgW="1701800" imgH="228600" progId="Equation.DSMT4">
                  <p:embed/>
                </p:oleObj>
              </mc:Choice>
              <mc:Fallback>
                <p:oleObj name="Equation" r:id="rId5" imgW="170180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6" name="Object 26"/>
          <p:cNvGraphicFramePr>
            <a:graphicFrameLocks noChangeAspect="1"/>
          </p:cNvGraphicFramePr>
          <p:nvPr/>
        </p:nvGraphicFramePr>
        <p:xfrm>
          <a:off x="3124200" y="3286125"/>
          <a:ext cx="2160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7" imgW="1511300" imgH="431800" progId="Equation.DSMT4">
                  <p:embed/>
                </p:oleObj>
              </mc:Choice>
              <mc:Fallback>
                <p:oleObj name="Equation" r:id="rId7" imgW="15113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86125"/>
                        <a:ext cx="21605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4310063" y="3367088"/>
            <a:ext cx="1520825" cy="641350"/>
            <a:chOff x="2640" y="1776"/>
            <a:chExt cx="958" cy="404"/>
          </a:xfrm>
        </p:grpSpPr>
        <p:sp>
          <p:nvSpPr>
            <p:cNvPr id="5141" name="Oval 28"/>
            <p:cNvSpPr>
              <a:spLocks noChangeArrowheads="1"/>
            </p:cNvSpPr>
            <p:nvPr/>
          </p:nvSpPr>
          <p:spPr bwMode="auto">
            <a:xfrm>
              <a:off x="2640" y="1776"/>
              <a:ext cx="672" cy="28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5142" name="Object 29"/>
            <p:cNvGraphicFramePr>
              <a:graphicFrameLocks noChangeAspect="1"/>
            </p:cNvGraphicFramePr>
            <p:nvPr/>
          </p:nvGraphicFramePr>
          <p:xfrm>
            <a:off x="3312" y="1824"/>
            <a:ext cx="286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6" name="Equation" r:id="rId9" imgW="317225" imgH="393359" progId="Equation.DSMT4">
                    <p:embed/>
                  </p:oleObj>
                </mc:Choice>
                <mc:Fallback>
                  <p:oleObj name="Equation" r:id="rId9" imgW="317225" imgH="393359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24"/>
                          <a:ext cx="286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310" name="Object 30"/>
          <p:cNvGraphicFramePr>
            <a:graphicFrameLocks noChangeAspect="1"/>
          </p:cNvGraphicFramePr>
          <p:nvPr/>
        </p:nvGraphicFramePr>
        <p:xfrm>
          <a:off x="3124200" y="3911600"/>
          <a:ext cx="1597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" name="Equation" r:id="rId11" imgW="1117600" imgH="431800" progId="Equation.DSMT4">
                  <p:embed/>
                </p:oleObj>
              </mc:Choice>
              <mc:Fallback>
                <p:oleObj name="Equation" r:id="rId11" imgW="1117600" imgH="4318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11600"/>
                        <a:ext cx="1597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4138613" y="3884613"/>
            <a:ext cx="2346325" cy="841375"/>
            <a:chOff x="2554" y="2403"/>
            <a:chExt cx="1478" cy="530"/>
          </a:xfrm>
        </p:grpSpPr>
        <p:sp>
          <p:nvSpPr>
            <p:cNvPr id="5139" name="Oval 32"/>
            <p:cNvSpPr>
              <a:spLocks noChangeArrowheads="1"/>
            </p:cNvSpPr>
            <p:nvPr/>
          </p:nvSpPr>
          <p:spPr bwMode="auto">
            <a:xfrm>
              <a:off x="2554" y="2403"/>
              <a:ext cx="336" cy="43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5140" name="Object 33"/>
            <p:cNvGraphicFramePr>
              <a:graphicFrameLocks noChangeAspect="1"/>
            </p:cNvGraphicFramePr>
            <p:nvPr/>
          </p:nvGraphicFramePr>
          <p:xfrm>
            <a:off x="2899" y="2577"/>
            <a:ext cx="113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8" name="Equation" r:id="rId13" imgW="1256755" imgH="393529" progId="Equation.DSMT4">
                    <p:embed/>
                  </p:oleObj>
                </mc:Choice>
                <mc:Fallback>
                  <p:oleObj name="Equation" r:id="rId13" imgW="1256755" imgH="393529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9" y="2577"/>
                          <a:ext cx="1133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316" name="Object 36"/>
          <p:cNvGraphicFramePr>
            <a:graphicFrameLocks noChangeAspect="1"/>
          </p:cNvGraphicFramePr>
          <p:nvPr/>
        </p:nvGraphicFramePr>
        <p:xfrm>
          <a:off x="3124200" y="4684713"/>
          <a:ext cx="2686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" name="Equation" r:id="rId15" imgW="1879600" imgH="393700" progId="Equation.DSMT4">
                  <p:embed/>
                </p:oleObj>
              </mc:Choice>
              <mc:Fallback>
                <p:oleObj name="Equation" r:id="rId15" imgW="1879600" imgH="3937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684713"/>
                        <a:ext cx="2686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3973513" y="4765675"/>
            <a:ext cx="433387" cy="417513"/>
            <a:chOff x="2448" y="2569"/>
            <a:chExt cx="273" cy="263"/>
          </a:xfrm>
        </p:grpSpPr>
        <p:sp>
          <p:nvSpPr>
            <p:cNvPr id="5137" name="Line 38"/>
            <p:cNvSpPr>
              <a:spLocks noChangeShapeType="1"/>
            </p:cNvSpPr>
            <p:nvPr/>
          </p:nvSpPr>
          <p:spPr bwMode="auto">
            <a:xfrm flipH="1">
              <a:off x="2448" y="2736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8" name="Line 39"/>
            <p:cNvSpPr>
              <a:spLocks noChangeShapeType="1"/>
            </p:cNvSpPr>
            <p:nvPr/>
          </p:nvSpPr>
          <p:spPr bwMode="auto">
            <a:xfrm flipH="1">
              <a:off x="2577" y="2569"/>
              <a:ext cx="144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97320" name="Object 40"/>
          <p:cNvGraphicFramePr>
            <a:graphicFrameLocks noChangeAspect="1"/>
          </p:cNvGraphicFramePr>
          <p:nvPr/>
        </p:nvGraphicFramePr>
        <p:xfrm>
          <a:off x="3124200" y="5343525"/>
          <a:ext cx="22494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" name="Equation" r:id="rId17" imgW="1574800" imgH="393700" progId="Equation.DSMT4">
                  <p:embed/>
                </p:oleObj>
              </mc:Choice>
              <mc:Fallback>
                <p:oleObj name="Equation" r:id="rId17" imgW="1574800" imgH="3937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343525"/>
                        <a:ext cx="22494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41"/>
          <p:cNvGraphicFramePr>
            <a:graphicFrameLocks noChangeAspect="1"/>
          </p:cNvGraphicFramePr>
          <p:nvPr/>
        </p:nvGraphicFramePr>
        <p:xfrm>
          <a:off x="838200" y="5683250"/>
          <a:ext cx="1289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" name="Equation" r:id="rId19" imgW="901309" imgH="393529" progId="Equation.DSMT4">
                  <p:embed/>
                </p:oleObj>
              </mc:Choice>
              <mc:Fallback>
                <p:oleObj name="Equation" r:id="rId19" imgW="901309" imgH="393529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683250"/>
                        <a:ext cx="1289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inteiros de </a:t>
            </a:r>
            <a:r>
              <a:rPr lang="pt-BR" altLang="pt-BR" sz="1600">
                <a:latin typeface="Times New Roman" pitchFamily="18" charset="0"/>
              </a:rPr>
              <a:t>1</a:t>
            </a:r>
            <a:r>
              <a:rPr lang="pt-BR" altLang="pt-BR" sz="1600"/>
              <a:t> a </a:t>
            </a:r>
            <a:r>
              <a:rPr lang="pt-BR" altLang="pt-BR" sz="1600">
                <a:latin typeface="Times New Roman" pitchFamily="18" charset="0"/>
              </a:rPr>
              <a:t>N</a:t>
            </a:r>
            <a:r>
              <a:rPr lang="pt-BR" altLang="pt-BR" sz="1600"/>
              <a:t>, equiprováveis, ou seja, todos os valores têm igual probabilidade de ocorrência.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C52152-266E-4B7D-9E7D-CABB101FC7AB}" type="slidenum">
              <a:rPr lang="pt-BR"/>
              <a:pPr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Discreta</a:t>
            </a:r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38200" y="2362200"/>
            <a:ext cx="8001000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Lança-se um dado e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como o valor obtido neste dado.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3, 4, 5, 6}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2)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3)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4)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5) = 1/6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6) = 1/6</a:t>
            </a:r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838200" y="5076825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6149" name="Object 6"/>
          <p:cNvGraphicFramePr>
            <a:graphicFrameLocks noChangeAspect="1"/>
          </p:cNvGraphicFramePr>
          <p:nvPr/>
        </p:nvGraphicFramePr>
        <p:xfrm>
          <a:off x="1416050" y="4953000"/>
          <a:ext cx="2905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" name="Equation" r:id="rId3" imgW="203112" imgH="393529" progId="Equation.DSMT4">
                  <p:embed/>
                </p:oleObj>
              </mc:Choice>
              <mc:Fallback>
                <p:oleObj name="Equation" r:id="rId3" imgW="203112" imgH="39352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4953000"/>
                        <a:ext cx="290513" cy="565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8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Equation" r:id="rId5" imgW="1701800" imgH="228600" progId="Equation.DSMT4">
                  <p:embed/>
                </p:oleObj>
              </mc:Choice>
              <mc:Fallback>
                <p:oleObj name="Equation" r:id="rId5" imgW="17018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21"/>
          <p:cNvGraphicFramePr>
            <a:graphicFrameLocks noChangeAspect="1"/>
          </p:cNvGraphicFramePr>
          <p:nvPr/>
        </p:nvGraphicFramePr>
        <p:xfrm>
          <a:off x="3124200" y="3259138"/>
          <a:ext cx="32654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name="Equation" r:id="rId7" imgW="2286000" imgH="419100" progId="Equation.DSMT4">
                  <p:embed/>
                </p:oleObj>
              </mc:Choice>
              <mc:Fallback>
                <p:oleObj name="Equation" r:id="rId7" imgW="2286000" imgH="419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259138"/>
                        <a:ext cx="326548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6" name="Object 22"/>
          <p:cNvGraphicFramePr>
            <a:graphicFrameLocks noChangeAspect="1"/>
          </p:cNvGraphicFramePr>
          <p:nvPr/>
        </p:nvGraphicFramePr>
        <p:xfrm>
          <a:off x="3124200" y="3905250"/>
          <a:ext cx="3392488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3" name="Equation" r:id="rId9" imgW="2374900" imgH="431800" progId="Equation.DSMT4">
                  <p:embed/>
                </p:oleObj>
              </mc:Choice>
              <mc:Fallback>
                <p:oleObj name="Equation" r:id="rId9" imgW="23749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905250"/>
                        <a:ext cx="3392488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7" name="Object 23"/>
          <p:cNvGraphicFramePr>
            <a:graphicFrameLocks noChangeAspect="1"/>
          </p:cNvGraphicFramePr>
          <p:nvPr/>
        </p:nvGraphicFramePr>
        <p:xfrm>
          <a:off x="3124200" y="4572000"/>
          <a:ext cx="31924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Equation" r:id="rId11" imgW="2235200" imgH="431800" progId="Equation.DSMT4">
                  <p:embed/>
                </p:oleObj>
              </mc:Choice>
              <mc:Fallback>
                <p:oleObj name="Equation" r:id="rId11" imgW="22352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72000"/>
                        <a:ext cx="319246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8" name="Object 24"/>
          <p:cNvGraphicFramePr>
            <a:graphicFrameLocks noChangeAspect="1"/>
          </p:cNvGraphicFramePr>
          <p:nvPr/>
        </p:nvGraphicFramePr>
        <p:xfrm>
          <a:off x="3124200" y="5199063"/>
          <a:ext cx="22304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Equation" r:id="rId13" imgW="1562100" imgH="393700" progId="Equation.DSMT4">
                  <p:embed/>
                </p:oleObj>
              </mc:Choice>
              <mc:Fallback>
                <p:oleObj name="Equation" r:id="rId13" imgW="1562100" imgH="393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199063"/>
                        <a:ext cx="22304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9" name="Object 25"/>
          <p:cNvGraphicFramePr>
            <a:graphicFrameLocks noChangeAspect="1"/>
          </p:cNvGraphicFramePr>
          <p:nvPr/>
        </p:nvGraphicFramePr>
        <p:xfrm>
          <a:off x="3124200" y="5791200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" name="Equation" r:id="rId15" imgW="1066800" imgH="419100" progId="Equation.DSMT4">
                  <p:embed/>
                </p:oleObj>
              </mc:Choice>
              <mc:Fallback>
                <p:oleObj name="Equation" r:id="rId15" imgW="1066800" imgH="4191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791200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0" name="Rectangle 26"/>
          <p:cNvSpPr>
            <a:spLocks noChangeArrowheads="1"/>
          </p:cNvSpPr>
          <p:nvPr/>
        </p:nvSpPr>
        <p:spPr bwMode="auto">
          <a:xfrm>
            <a:off x="3048000" y="5715000"/>
            <a:ext cx="1676400" cy="7620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graphicFrame>
        <p:nvGraphicFramePr>
          <p:cNvPr id="6157" name="Object 27"/>
          <p:cNvGraphicFramePr>
            <a:graphicFrameLocks noChangeAspect="1"/>
          </p:cNvGraphicFramePr>
          <p:nvPr/>
        </p:nvGraphicFramePr>
        <p:xfrm>
          <a:off x="838200" y="5683250"/>
          <a:ext cx="12890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name="Equation" r:id="rId17" imgW="901309" imgH="393529" progId="Equation.DSMT4">
                  <p:embed/>
                </p:oleObj>
              </mc:Choice>
              <mc:Fallback>
                <p:oleObj name="Equation" r:id="rId17" imgW="901309" imgH="39352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683250"/>
                        <a:ext cx="12890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inteiros de </a:t>
            </a:r>
            <a:r>
              <a:rPr lang="pt-BR" altLang="pt-BR" sz="1600">
                <a:latin typeface="Times New Roman" pitchFamily="18" charset="0"/>
              </a:rPr>
              <a:t>1</a:t>
            </a:r>
            <a:r>
              <a:rPr lang="pt-BR" altLang="pt-BR" sz="1600"/>
              <a:t> a </a:t>
            </a:r>
            <a:r>
              <a:rPr lang="pt-BR" altLang="pt-BR" sz="1600">
                <a:latin typeface="Times New Roman" pitchFamily="18" charset="0"/>
              </a:rPr>
              <a:t>N</a:t>
            </a:r>
            <a:r>
              <a:rPr lang="pt-BR" altLang="pt-BR" sz="1600"/>
              <a:t>, equiprováveis, ou seja, todos os valores têm igual probabilidade de ocorrência.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1F194-EC47-4995-98F2-89FD3277BB6B}" type="slidenum">
              <a:rPr lang="pt-BR"/>
              <a:pPr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Uniforme Discreta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838200" y="2362200"/>
            <a:ext cx="8001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Lança-se um dado e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como o valor obtido neste dado.</a:t>
            </a:r>
          </a:p>
        </p:txBody>
      </p:sp>
      <p:graphicFrame>
        <p:nvGraphicFramePr>
          <p:cNvPr id="99335" name="Object 7"/>
          <p:cNvGraphicFramePr>
            <a:graphicFrameLocks noChangeAspect="1"/>
          </p:cNvGraphicFramePr>
          <p:nvPr/>
        </p:nvGraphicFramePr>
        <p:xfrm>
          <a:off x="3192463" y="4051300"/>
          <a:ext cx="12874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Equation" r:id="rId3" imgW="901309" imgH="393529" progId="Equation.DSMT4">
                  <p:embed/>
                </p:oleObj>
              </mc:Choice>
              <mc:Fallback>
                <p:oleObj name="Equation" r:id="rId3" imgW="901309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051300"/>
                        <a:ext cx="1287462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1" name="Object 13"/>
          <p:cNvGraphicFramePr>
            <a:graphicFrameLocks noChangeAspect="1"/>
          </p:cNvGraphicFramePr>
          <p:nvPr/>
        </p:nvGraphicFramePr>
        <p:xfrm>
          <a:off x="3192463" y="4737100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Equation" r:id="rId5" imgW="1066800" imgH="419100" progId="Equation.DSMT4">
                  <p:embed/>
                </p:oleObj>
              </mc:Choice>
              <mc:Fallback>
                <p:oleObj name="Equation" r:id="rId5" imgW="10668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737100"/>
                        <a:ext cx="1524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3" name="Object 15"/>
          <p:cNvGraphicFramePr>
            <a:graphicFrameLocks noChangeAspect="1"/>
          </p:cNvGraphicFramePr>
          <p:nvPr/>
        </p:nvGraphicFramePr>
        <p:xfrm>
          <a:off x="4467225" y="4049713"/>
          <a:ext cx="11430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r:id="rId7" imgW="799753" imgH="393529" progId="Equation.DSMT4">
                  <p:embed/>
                </p:oleObj>
              </mc:Choice>
              <mc:Fallback>
                <p:oleObj name="Equation" r:id="rId7" imgW="799753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7225" y="4049713"/>
                        <a:ext cx="11430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4" name="Object 16"/>
          <p:cNvGraphicFramePr>
            <a:graphicFrameLocks noChangeAspect="1"/>
          </p:cNvGraphicFramePr>
          <p:nvPr/>
        </p:nvGraphicFramePr>
        <p:xfrm>
          <a:off x="4706938" y="4765675"/>
          <a:ext cx="137953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Equation" r:id="rId9" imgW="965200" imgH="393700" progId="Equation.DSMT4">
                  <p:embed/>
                </p:oleObj>
              </mc:Choice>
              <mc:Fallback>
                <p:oleObj name="Equation" r:id="rId9" imgW="965200" imgH="393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4765675"/>
                        <a:ext cx="137953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8"/>
          <p:cNvGraphicFramePr>
            <a:graphicFrameLocks noChangeAspect="1"/>
          </p:cNvGraphicFramePr>
          <p:nvPr/>
        </p:nvGraphicFramePr>
        <p:xfrm>
          <a:off x="3192463" y="3276600"/>
          <a:ext cx="9461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name="Equation" r:id="rId11" imgW="660113" imgH="393529" progId="Equation.DSMT4">
                  <p:embed/>
                </p:oleObj>
              </mc:Choice>
              <mc:Fallback>
                <p:oleObj name="Equation" r:id="rId11" imgW="660113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276600"/>
                        <a:ext cx="9461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7" name="Object 19"/>
          <p:cNvGraphicFramePr>
            <a:graphicFrameLocks noChangeAspect="1"/>
          </p:cNvGraphicFramePr>
          <p:nvPr/>
        </p:nvGraphicFramePr>
        <p:xfrm>
          <a:off x="4114800" y="3276600"/>
          <a:ext cx="3810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Equation" r:id="rId13" imgW="266469" imgH="393359" progId="Equation.DSMT4">
                  <p:embed/>
                </p:oleObj>
              </mc:Choice>
              <mc:Fallback>
                <p:oleObj name="Equation" r:id="rId13" imgW="266469" imgH="39335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76600"/>
                        <a:ext cx="3810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20"/>
          <p:cNvSpPr>
            <a:spLocks noChangeArrowheads="1"/>
          </p:cNvSpPr>
          <p:nvPr/>
        </p:nvSpPr>
        <p:spPr bwMode="auto">
          <a:xfrm>
            <a:off x="4876800" y="3352800"/>
            <a:ext cx="1416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..., N}</a:t>
            </a:r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4879975" y="3357563"/>
            <a:ext cx="1416050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..., 6}</a:t>
            </a:r>
          </a:p>
        </p:txBody>
      </p:sp>
      <p:sp>
        <p:nvSpPr>
          <p:cNvPr id="7180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inteiros de </a:t>
            </a:r>
            <a:r>
              <a:rPr lang="pt-BR" altLang="pt-BR" sz="1600">
                <a:latin typeface="Times New Roman" pitchFamily="18" charset="0"/>
              </a:rPr>
              <a:t>1</a:t>
            </a:r>
            <a:r>
              <a:rPr lang="pt-BR" altLang="pt-BR" sz="1600"/>
              <a:t> a </a:t>
            </a:r>
            <a:r>
              <a:rPr lang="pt-BR" altLang="pt-BR" sz="1600">
                <a:latin typeface="Times New Roman" pitchFamily="18" charset="0"/>
              </a:rPr>
              <a:t>N</a:t>
            </a:r>
            <a:r>
              <a:rPr lang="pt-BR" altLang="pt-BR" sz="1600"/>
              <a:t>, equiprováveis, ou seja, todos os valores têm igual probabilidade de ocorrência.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4DB0-BE58-4FE2-9821-D71704072FE8}" type="slidenum">
              <a:rPr lang="pt-BR"/>
              <a:pPr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Uniforme </a:t>
            </a:r>
            <a:r>
              <a:rPr lang="pt-BR" dirty="0" smtClean="0"/>
              <a:t>Discreta</a:t>
            </a:r>
            <a:endParaRPr lang="pt-BR" dirty="0"/>
          </a:p>
        </p:txBody>
      </p:sp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838200" y="2516188"/>
            <a:ext cx="800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Exemplo: Se uma v.a.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/>
              <a:t> tem distribuição uniforme e seus valores são múltiplos de 4 (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pt-BR" altLang="pt-BR" sz="1600"/>
              <a:t>), entre 12 (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/>
              <a:t>) e menores que 208 (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/>
              <a:t>), então</a:t>
            </a:r>
          </a:p>
        </p:txBody>
      </p:sp>
      <p:graphicFrame>
        <p:nvGraphicFramePr>
          <p:cNvPr id="99335" name="Object 7"/>
          <p:cNvGraphicFramePr>
            <a:graphicFrameLocks noChangeAspect="1"/>
          </p:cNvGraphicFramePr>
          <p:nvPr/>
        </p:nvGraphicFramePr>
        <p:xfrm>
          <a:off x="3219450" y="4051300"/>
          <a:ext cx="12334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3" imgW="863225" imgH="393529" progId="Equation.DSMT4">
                  <p:embed/>
                </p:oleObj>
              </mc:Choice>
              <mc:Fallback>
                <p:oleObj name="Equation" r:id="rId3" imgW="863225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0" y="4051300"/>
                        <a:ext cx="12334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1" name="Object 13"/>
          <p:cNvGraphicFramePr>
            <a:graphicFrameLocks noChangeAspect="1"/>
          </p:cNvGraphicFramePr>
          <p:nvPr/>
        </p:nvGraphicFramePr>
        <p:xfrm>
          <a:off x="2124075" y="4737100"/>
          <a:ext cx="25749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5" imgW="1803400" imgH="419100" progId="Equation.DSMT4">
                  <p:embed/>
                </p:oleObj>
              </mc:Choice>
              <mc:Fallback>
                <p:oleObj name="Equation" r:id="rId5" imgW="18034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37100"/>
                        <a:ext cx="25749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3" name="Object 15"/>
          <p:cNvGraphicFramePr>
            <a:graphicFrameLocks noChangeAspect="1"/>
          </p:cNvGraphicFramePr>
          <p:nvPr/>
        </p:nvGraphicFramePr>
        <p:xfrm>
          <a:off x="4433888" y="4049713"/>
          <a:ext cx="150653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7" imgW="1054100" imgH="393700" progId="Equation.DSMT4">
                  <p:embed/>
                </p:oleObj>
              </mc:Choice>
              <mc:Fallback>
                <p:oleObj name="Equation" r:id="rId7" imgW="10541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4049713"/>
                        <a:ext cx="150653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4" name="Object 16"/>
          <p:cNvGraphicFramePr>
            <a:graphicFrameLocks noChangeAspect="1"/>
          </p:cNvGraphicFramePr>
          <p:nvPr/>
        </p:nvGraphicFramePr>
        <p:xfrm>
          <a:off x="4691063" y="4748213"/>
          <a:ext cx="2976562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9" imgW="2082800" imgH="419100" progId="Equation.DSMT4">
                  <p:embed/>
                </p:oleObj>
              </mc:Choice>
              <mc:Fallback>
                <p:oleObj name="Equation" r:id="rId9" imgW="2082800" imgH="419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1063" y="4748213"/>
                        <a:ext cx="2976562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18"/>
          <p:cNvGraphicFramePr>
            <a:graphicFrameLocks noChangeAspect="1"/>
          </p:cNvGraphicFramePr>
          <p:nvPr/>
        </p:nvGraphicFramePr>
        <p:xfrm>
          <a:off x="2627313" y="3271838"/>
          <a:ext cx="14557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11" imgW="1015559" imgH="583947" progId="Equation.DSMT4">
                  <p:embed/>
                </p:oleObj>
              </mc:Choice>
              <mc:Fallback>
                <p:oleObj name="Equation" r:id="rId11" imgW="1015559" imgH="583947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71838"/>
                        <a:ext cx="14557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7" name="Object 19"/>
          <p:cNvGraphicFramePr>
            <a:graphicFrameLocks noChangeAspect="1"/>
          </p:cNvGraphicFramePr>
          <p:nvPr/>
        </p:nvGraphicFramePr>
        <p:xfrm>
          <a:off x="4060825" y="3276600"/>
          <a:ext cx="4889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Equation" r:id="rId13" imgW="342751" imgH="393529" progId="Equation.DSMT4">
                  <p:embed/>
                </p:oleObj>
              </mc:Choice>
              <mc:Fallback>
                <p:oleObj name="Equation" r:id="rId13" imgW="342751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3276600"/>
                        <a:ext cx="4889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20"/>
          <p:cNvSpPr>
            <a:spLocks noChangeArrowheads="1"/>
          </p:cNvSpPr>
          <p:nvPr/>
        </p:nvSpPr>
        <p:spPr bwMode="auto">
          <a:xfrm>
            <a:off x="4876800" y="3352800"/>
            <a:ext cx="1416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..., N}</a:t>
            </a:r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4879975" y="3357563"/>
            <a:ext cx="1793875" cy="3381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{12, 16, ..., 208}</a:t>
            </a:r>
          </a:p>
        </p:txBody>
      </p:sp>
      <p:sp>
        <p:nvSpPr>
          <p:cNvPr id="8204" name="Text Box 3"/>
          <p:cNvSpPr txBox="1">
            <a:spLocks noChangeArrowheads="1"/>
          </p:cNvSpPr>
          <p:nvPr/>
        </p:nvSpPr>
        <p:spPr bwMode="auto">
          <a:xfrm>
            <a:off x="841375" y="1600200"/>
            <a:ext cx="78454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uma progressão aritmética entre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/>
              <a:t> e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/>
              <a:t>, com passo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pt-BR" altLang="pt-BR" sz="1600"/>
              <a:t>, equiprováveis, ou seja, todos os valores têm igual probabilidade de ocorrência.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16A79-F7FC-47A5-A9B0-83402E23FD93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(com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9224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225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9226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9227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9228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9229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9230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9231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0548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48768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3}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O experimento envolve 3 eventos independentes.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Para cada evento: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   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vermelha</a:t>
            </a:r>
            <a:r>
              <a:rPr lang="pt-BR" altLang="pt-BR" sz="1600">
                <a:latin typeface="Times New Roman" pitchFamily="18" charset="0"/>
              </a:rPr>
              <a:t>)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   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azul</a:t>
            </a:r>
            <a:r>
              <a:rPr lang="pt-BR" altLang="pt-BR" sz="1600">
                <a:latin typeface="Times New Roman" pitchFamily="18" charset="0"/>
              </a:rPr>
              <a:t>) = 2/7</a:t>
            </a:r>
          </a:p>
        </p:txBody>
      </p:sp>
      <p:sp>
        <p:nvSpPr>
          <p:cNvPr id="105495" name="Text Box 23"/>
          <p:cNvSpPr txBox="1">
            <a:spLocks noChangeArrowheads="1"/>
          </p:cNvSpPr>
          <p:nvPr/>
        </p:nvSpPr>
        <p:spPr bwMode="auto">
          <a:xfrm>
            <a:off x="2590800" y="3962400"/>
            <a:ext cx="396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</a:t>
            </a:r>
            <a:r>
              <a:rPr lang="pt-BR" altLang="pt-BR" sz="1600"/>
              <a:t>(probabilidade de sucesso)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/>
              <a:t> (probabilidade de fracasso,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1 -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/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A2D084-6B03-43EC-8813-2DE9C55D92A7}" type="slidenum">
              <a:rPr lang="pt-BR"/>
              <a:pPr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5" grpId="0" build="p" autoUpdateAnimBg="0"/>
      <p:bldP spid="1054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38" name="Text Box 46"/>
          <p:cNvSpPr txBox="1">
            <a:spLocks noChangeArrowheads="1"/>
          </p:cNvSpPr>
          <p:nvPr/>
        </p:nvSpPr>
        <p:spPr bwMode="auto">
          <a:xfrm>
            <a:off x="5257800" y="4572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grpSp>
        <p:nvGrpSpPr>
          <p:cNvPr id="1024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0276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277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0278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027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0280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0281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0282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0283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024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396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3}      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      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      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3</a:t>
            </a:r>
            <a:endParaRPr lang="pt-BR" altLang="pt-BR" sz="1600"/>
          </a:p>
        </p:txBody>
      </p:sp>
      <p:graphicFrame>
        <p:nvGraphicFramePr>
          <p:cNvPr id="110616" name="Object 24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4" name="Equation" r:id="rId3" imgW="736600" imgH="203200" progId="Equation.DSMT4">
                  <p:embed/>
                </p:oleObj>
              </mc:Choice>
              <mc:Fallback>
                <p:oleObj name="Equation" r:id="rId3" imgW="736600" imgH="203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7" name="Object 25"/>
          <p:cNvGraphicFramePr>
            <a:graphicFrameLocks noChangeAspect="1"/>
          </p:cNvGraphicFramePr>
          <p:nvPr/>
        </p:nvGraphicFramePr>
        <p:xfrm>
          <a:off x="2038350" y="347345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5" name="Equation" r:id="rId5" imgW="507780" imgH="393529" progId="Equation.DSMT4">
                  <p:embed/>
                </p:oleObj>
              </mc:Choice>
              <mc:Fallback>
                <p:oleObj name="Equation" r:id="rId5" imgW="507780" imgH="39352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47345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8" name="Object 26"/>
          <p:cNvGraphicFramePr>
            <a:graphicFrameLocks noChangeAspect="1"/>
          </p:cNvGraphicFramePr>
          <p:nvPr/>
        </p:nvGraphicFramePr>
        <p:xfrm>
          <a:off x="2063750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" name="Equation" r:id="rId7" imgW="368140" imgH="393529" progId="Equation.DSMT4">
                  <p:embed/>
                </p:oleObj>
              </mc:Choice>
              <mc:Fallback>
                <p:oleObj name="Equation" r:id="rId7" imgW="368140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9" name="Object 27"/>
          <p:cNvGraphicFramePr>
            <a:graphicFrameLocks noChangeAspect="1"/>
          </p:cNvGraphicFramePr>
          <p:nvPr/>
        </p:nvGraphicFramePr>
        <p:xfrm>
          <a:off x="2792413" y="3419475"/>
          <a:ext cx="10937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7" name="Equation" r:id="rId9" imgW="761669" imgH="469696" progId="Equation.DSMT4">
                  <p:embed/>
                </p:oleObj>
              </mc:Choice>
              <mc:Fallback>
                <p:oleObj name="Equation" r:id="rId9" imgW="761669" imgH="469696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3419475"/>
                        <a:ext cx="10937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20" name="Text Box 28"/>
          <p:cNvSpPr txBox="1">
            <a:spLocks noChangeArrowheads="1"/>
          </p:cNvSpPr>
          <p:nvPr/>
        </p:nvSpPr>
        <p:spPr bwMode="auto">
          <a:xfrm>
            <a:off x="2005013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q</a:t>
            </a:r>
          </a:p>
        </p:txBody>
      </p:sp>
      <p:graphicFrame>
        <p:nvGraphicFramePr>
          <p:cNvPr id="110621" name="Object 29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8" name="Equation" r:id="rId11" imgW="723586" imgH="203112" progId="Equation.DSMT4">
                  <p:embed/>
                </p:oleObj>
              </mc:Choice>
              <mc:Fallback>
                <p:oleObj name="Equation" r:id="rId11" imgW="723586" imgH="203112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2" name="Object 30"/>
          <p:cNvGraphicFramePr>
            <a:graphicFrameLocks noChangeAspect="1"/>
          </p:cNvGraphicFramePr>
          <p:nvPr/>
        </p:nvGraphicFramePr>
        <p:xfrm>
          <a:off x="2371725" y="44958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9" name="Equation" r:id="rId13" imgW="507780" imgH="393529" progId="Equation.DSMT4">
                  <p:embed/>
                </p:oleObj>
              </mc:Choice>
              <mc:Fallback>
                <p:oleObj name="Equation" r:id="rId13" imgW="507780" imgH="393529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44958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3" name="Object 31"/>
          <p:cNvGraphicFramePr>
            <a:graphicFrameLocks noChangeAspect="1"/>
          </p:cNvGraphicFramePr>
          <p:nvPr/>
        </p:nvGraphicFramePr>
        <p:xfrm>
          <a:off x="2390775" y="44958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0" name="Equation" r:id="rId15" imgW="368140" imgH="393529" progId="Equation.DSMT4">
                  <p:embed/>
                </p:oleObj>
              </mc:Choice>
              <mc:Fallback>
                <p:oleObj name="Equation" r:id="rId15" imgW="368140" imgH="393529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4958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24" name="Text Box 32"/>
          <p:cNvSpPr txBox="1">
            <a:spLocks noChangeArrowheads="1"/>
          </p:cNvSpPr>
          <p:nvPr/>
        </p:nvSpPr>
        <p:spPr bwMode="auto">
          <a:xfrm>
            <a:off x="2330450" y="499745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q q</a:t>
            </a:r>
          </a:p>
        </p:txBody>
      </p:sp>
      <p:graphicFrame>
        <p:nvGraphicFramePr>
          <p:cNvPr id="110625" name="Object 33"/>
          <p:cNvGraphicFramePr>
            <a:graphicFrameLocks noChangeAspect="1"/>
          </p:cNvGraphicFramePr>
          <p:nvPr/>
        </p:nvGraphicFramePr>
        <p:xfrm>
          <a:off x="1968500" y="44926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1" name="Equation" r:id="rId16" imgW="304536" imgH="393359" progId="Equation.DSMT4">
                  <p:embed/>
                </p:oleObj>
              </mc:Choice>
              <mc:Fallback>
                <p:oleObj name="Equation" r:id="rId16" imgW="304536" imgH="39335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926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6" name="Object 34"/>
          <p:cNvGraphicFramePr>
            <a:graphicFrameLocks noChangeAspect="1"/>
          </p:cNvGraphicFramePr>
          <p:nvPr/>
        </p:nvGraphicFramePr>
        <p:xfrm>
          <a:off x="3095625" y="4438650"/>
          <a:ext cx="1619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2" name="Equation" r:id="rId18" imgW="1129810" imgH="469696" progId="Equation.DSMT4">
                  <p:embed/>
                </p:oleObj>
              </mc:Choice>
              <mc:Fallback>
                <p:oleObj name="Equation" r:id="rId18" imgW="1129810" imgH="46969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438650"/>
                        <a:ext cx="1619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7" name="Object 35"/>
          <p:cNvGraphicFramePr>
            <a:graphicFrameLocks noChangeAspect="1"/>
          </p:cNvGraphicFramePr>
          <p:nvPr/>
        </p:nvGraphicFramePr>
        <p:xfrm>
          <a:off x="930275" y="55626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3" name="Equation" r:id="rId20" imgW="748975" imgH="203112" progId="Equation.DSMT4">
                  <p:embed/>
                </p:oleObj>
              </mc:Choice>
              <mc:Fallback>
                <p:oleObj name="Equation" r:id="rId20" imgW="748975" imgH="203112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5626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8" name="Object 36"/>
          <p:cNvGraphicFramePr>
            <a:graphicFrameLocks noChangeAspect="1"/>
          </p:cNvGraphicFramePr>
          <p:nvPr/>
        </p:nvGraphicFramePr>
        <p:xfrm>
          <a:off x="2371725" y="54102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4" name="Equation" r:id="rId22" imgW="507780" imgH="393529" progId="Equation.DSMT4">
                  <p:embed/>
                </p:oleObj>
              </mc:Choice>
              <mc:Fallback>
                <p:oleObj name="Equation" r:id="rId22" imgW="507780" imgH="39352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54102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29" name="Object 37"/>
          <p:cNvGraphicFramePr>
            <a:graphicFrameLocks noChangeAspect="1"/>
          </p:cNvGraphicFramePr>
          <p:nvPr/>
        </p:nvGraphicFramePr>
        <p:xfrm>
          <a:off x="2390775" y="54102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5" name="Equation" r:id="rId24" imgW="368140" imgH="393529" progId="Equation.DSMT4">
                  <p:embed/>
                </p:oleObj>
              </mc:Choice>
              <mc:Fallback>
                <p:oleObj name="Equation" r:id="rId24" imgW="368140" imgH="39352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4102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30" name="Text Box 38"/>
          <p:cNvSpPr txBox="1">
            <a:spLocks noChangeArrowheads="1"/>
          </p:cNvSpPr>
          <p:nvPr/>
        </p:nvSpPr>
        <p:spPr bwMode="auto">
          <a:xfrm>
            <a:off x="2330450" y="591185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p q</a:t>
            </a:r>
          </a:p>
        </p:txBody>
      </p:sp>
      <p:graphicFrame>
        <p:nvGraphicFramePr>
          <p:cNvPr id="110631" name="Object 39"/>
          <p:cNvGraphicFramePr>
            <a:graphicFrameLocks noChangeAspect="1"/>
          </p:cNvGraphicFramePr>
          <p:nvPr/>
        </p:nvGraphicFramePr>
        <p:xfrm>
          <a:off x="1968500" y="54070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6" name="Equation" r:id="rId25" imgW="304536" imgH="393359" progId="Equation.DSMT4">
                  <p:embed/>
                </p:oleObj>
              </mc:Choice>
              <mc:Fallback>
                <p:oleObj name="Equation" r:id="rId25" imgW="304536" imgH="393359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54070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2" name="Object 40"/>
          <p:cNvGraphicFramePr>
            <a:graphicFrameLocks noChangeAspect="1"/>
          </p:cNvGraphicFramePr>
          <p:nvPr/>
        </p:nvGraphicFramePr>
        <p:xfrm>
          <a:off x="3095625" y="5353050"/>
          <a:ext cx="1619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7" name="Equation" r:id="rId27" imgW="1129810" imgH="469696" progId="Equation.DSMT4">
                  <p:embed/>
                </p:oleObj>
              </mc:Choice>
              <mc:Fallback>
                <p:oleObj name="Equation" r:id="rId27" imgW="1129810" imgH="469696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5353050"/>
                        <a:ext cx="1619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3" name="Object 41"/>
          <p:cNvGraphicFramePr>
            <a:graphicFrameLocks noChangeAspect="1"/>
          </p:cNvGraphicFramePr>
          <p:nvPr/>
        </p:nvGraphicFramePr>
        <p:xfrm>
          <a:off x="52578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8" name="Equation" r:id="rId29" imgW="736600" imgH="203200" progId="Equation.DSMT4">
                  <p:embed/>
                </p:oleObj>
              </mc:Choice>
              <mc:Fallback>
                <p:oleObj name="Equation" r:id="rId29" imgW="736600" imgH="2032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4" name="Object 42"/>
          <p:cNvGraphicFramePr>
            <a:graphicFrameLocks noChangeAspect="1"/>
          </p:cNvGraphicFramePr>
          <p:nvPr/>
        </p:nvGraphicFramePr>
        <p:xfrm>
          <a:off x="6381750" y="347345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9" name="Equation" r:id="rId31" imgW="507780" imgH="393529" progId="Equation.DSMT4">
                  <p:embed/>
                </p:oleObj>
              </mc:Choice>
              <mc:Fallback>
                <p:oleObj name="Equation" r:id="rId31" imgW="507780" imgH="393529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347345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5" name="Object 43"/>
          <p:cNvGraphicFramePr>
            <a:graphicFrameLocks noChangeAspect="1"/>
          </p:cNvGraphicFramePr>
          <p:nvPr/>
        </p:nvGraphicFramePr>
        <p:xfrm>
          <a:off x="6407150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0" name="Equation" r:id="rId33" imgW="368140" imgH="393529" progId="Equation.DSMT4">
                  <p:embed/>
                </p:oleObj>
              </mc:Choice>
              <mc:Fallback>
                <p:oleObj name="Equation" r:id="rId33" imgW="368140" imgH="393529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6" name="Object 44"/>
          <p:cNvGraphicFramePr>
            <a:graphicFrameLocks noChangeAspect="1"/>
          </p:cNvGraphicFramePr>
          <p:nvPr/>
        </p:nvGraphicFramePr>
        <p:xfrm>
          <a:off x="7143750" y="3419475"/>
          <a:ext cx="10763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1" name="Equation" r:id="rId34" imgW="749300" imgH="469900" progId="Equation.DSMT4">
                  <p:embed/>
                </p:oleObj>
              </mc:Choice>
              <mc:Fallback>
                <p:oleObj name="Equation" r:id="rId34" imgW="749300" imgH="4699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3419475"/>
                        <a:ext cx="10763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37" name="Text Box 45"/>
          <p:cNvSpPr txBox="1">
            <a:spLocks noChangeArrowheads="1"/>
          </p:cNvSpPr>
          <p:nvPr/>
        </p:nvSpPr>
        <p:spPr bwMode="auto">
          <a:xfrm>
            <a:off x="6348413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p p</a:t>
            </a:r>
          </a:p>
        </p:txBody>
      </p:sp>
      <p:grpSp>
        <p:nvGrpSpPr>
          <p:cNvPr id="3" name="Group 52"/>
          <p:cNvGrpSpPr>
            <a:grpSpLocks/>
          </p:cNvGrpSpPr>
          <p:nvPr/>
        </p:nvGrpSpPr>
        <p:grpSpPr bwMode="auto">
          <a:xfrm>
            <a:off x="5867400" y="4419600"/>
            <a:ext cx="1676400" cy="685800"/>
            <a:chOff x="3696" y="2784"/>
            <a:chExt cx="1056" cy="432"/>
          </a:xfrm>
        </p:grpSpPr>
        <p:sp>
          <p:nvSpPr>
            <p:cNvPr id="10274" name="Rectangle 50"/>
            <p:cNvSpPr>
              <a:spLocks noChangeArrowheads="1"/>
            </p:cNvSpPr>
            <p:nvPr/>
          </p:nvSpPr>
          <p:spPr bwMode="auto">
            <a:xfrm>
              <a:off x="3696" y="2784"/>
              <a:ext cx="1056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10275" name="Object 47"/>
            <p:cNvGraphicFramePr>
              <a:graphicFrameLocks noChangeAspect="1"/>
            </p:cNvGraphicFramePr>
            <p:nvPr/>
          </p:nvGraphicFramePr>
          <p:xfrm>
            <a:off x="4331" y="2880"/>
            <a:ext cx="40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12" name="Equation" r:id="rId36" imgW="444307" imgH="228501" progId="Equation.DSMT4">
                    <p:embed/>
                  </p:oleObj>
                </mc:Choice>
                <mc:Fallback>
                  <p:oleObj name="Equation" r:id="rId36" imgW="444307" imgH="228501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1" y="2880"/>
                          <a:ext cx="403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0640" name="Object 48"/>
          <p:cNvGraphicFramePr>
            <a:graphicFrameLocks noChangeAspect="1"/>
          </p:cNvGraphicFramePr>
          <p:nvPr/>
        </p:nvGraphicFramePr>
        <p:xfrm>
          <a:off x="5846763" y="4467225"/>
          <a:ext cx="9652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3" name="Equation" r:id="rId38" imgW="672808" imgH="418918" progId="Equation.DSMT4">
                  <p:embed/>
                </p:oleObj>
              </mc:Choice>
              <mc:Fallback>
                <p:oleObj name="Equation" r:id="rId38" imgW="672808" imgH="418918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4467225"/>
                        <a:ext cx="965200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41" name="Object 49"/>
          <p:cNvGraphicFramePr>
            <a:graphicFrameLocks noChangeAspect="1"/>
          </p:cNvGraphicFramePr>
          <p:nvPr/>
        </p:nvGraphicFramePr>
        <p:xfrm>
          <a:off x="5311775" y="5230813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4" name="Equation" r:id="rId40" imgW="1143000" imgH="457200" progId="Equation.DSMT4">
                  <p:embed/>
                </p:oleObj>
              </mc:Choice>
              <mc:Fallback>
                <p:oleObj name="Equation" r:id="rId40" imgW="1143000" imgH="4572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5230813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45" name="Text Box 53"/>
          <p:cNvSpPr txBox="1">
            <a:spLocks noChangeArrowheads="1"/>
          </p:cNvSpPr>
          <p:nvPr/>
        </p:nvSpPr>
        <p:spPr bwMode="auto">
          <a:xfrm>
            <a:off x="4686300" y="2968625"/>
            <a:ext cx="3563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(número de bolas retiradas da urna)</a:t>
            </a:r>
          </a:p>
        </p:txBody>
      </p:sp>
      <p:sp>
        <p:nvSpPr>
          <p:cNvPr id="10272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(com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87AB70-6985-46E1-A872-6E1F1CE2B537}" type="slidenum">
              <a:rPr lang="pt-BR"/>
              <a:pPr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38" grpId="0" autoUpdateAnimBg="0"/>
      <p:bldP spid="110620" grpId="0" autoUpdateAnimBg="0"/>
      <p:bldP spid="110624" grpId="0" autoUpdateAnimBg="0"/>
      <p:bldP spid="110630" grpId="0" autoUpdateAnimBg="0"/>
      <p:bldP spid="110637" grpId="0" autoUpdateAnimBg="0"/>
      <p:bldP spid="11064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(com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1274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275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1276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1277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1278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1279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1280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1281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1269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3}</a:t>
            </a:r>
            <a:endParaRPr lang="pt-BR" altLang="pt-BR" sz="1600"/>
          </a:p>
        </p:txBody>
      </p:sp>
      <p:graphicFrame>
        <p:nvGraphicFramePr>
          <p:cNvPr id="11270" name="Object 20"/>
          <p:cNvGraphicFramePr>
            <a:graphicFrameLocks noChangeAspect="1"/>
          </p:cNvGraphicFramePr>
          <p:nvPr/>
        </p:nvGraphicFramePr>
        <p:xfrm>
          <a:off x="914400" y="3765550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Equation" r:id="rId3" imgW="1143000" imgH="457200" progId="Equation.DSMT4">
                  <p:embed/>
                </p:oleObj>
              </mc:Choice>
              <mc:Fallback>
                <p:oleObj name="Equation" r:id="rId3" imgW="1143000" imgH="457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65550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7" name="Object 21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Equation" r:id="rId5" imgW="736600" imgH="431800" progId="Equation.DSMT4">
                  <p:embed/>
                </p:oleObj>
              </mc:Choice>
              <mc:Fallback>
                <p:oleObj name="Equation" r:id="rId5" imgW="7366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3452813" y="5599113"/>
            <a:ext cx="397668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Analisando o caso particular onde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 = 1: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pt-BR" sz="160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pt-BR" sz="1600">
                <a:solidFill>
                  <a:srgbClr val="FF0000"/>
                </a:solidFill>
              </a:rPr>
              <a:t>Bernoulli</a:t>
            </a:r>
            <a:endParaRPr lang="pt-BR" altLang="pt-BR" sz="1600">
              <a:solidFill>
                <a:srgbClr val="FF0000"/>
              </a:solidFill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E83495-C79E-4D0D-93A1-A45BCF0E8AFB}" type="slidenum">
              <a:rPr lang="pt-BR"/>
              <a:pPr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87" name="Text Box 35"/>
          <p:cNvSpPr txBox="1">
            <a:spLocks noChangeArrowheads="1"/>
          </p:cNvSpPr>
          <p:nvPr/>
        </p:nvSpPr>
        <p:spPr bwMode="auto">
          <a:xfrm>
            <a:off x="839788" y="3457575"/>
            <a:ext cx="1371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P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(</a:t>
            </a:r>
            <a:r>
              <a:rPr lang="pt-BR" altLang="pt-BR" sz="1600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pt-BR" altLang="pt-BR" sz="1600">
                <a:solidFill>
                  <a:schemeClr val="bg1"/>
                </a:solidFill>
                <a:latin typeface="Times New Roman" pitchFamily="18" charset="0"/>
              </a:rPr>
              <a:t> = 0) =</a:t>
            </a:r>
            <a:r>
              <a:rPr lang="pt-BR" altLang="pt-BR" sz="1600">
                <a:latin typeface="Times New Roman" pitchFamily="18" charset="0"/>
              </a:rPr>
              <a:t>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5/7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retira-se uma bola da urna.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1 se a bola escolhida for vermelha (sucesso) e 0 caso contrário (fracasso).</a:t>
            </a:r>
          </a:p>
        </p:txBody>
      </p:sp>
      <p:grpSp>
        <p:nvGrpSpPr>
          <p:cNvPr id="12293" name="Group 22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2304" name="Freeform 13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305" name="Oval 14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2306" name="Oval 15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2307" name="Oval 16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2308" name="Oval 17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2309" name="Oval 18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2310" name="Oval 2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2311" name="Oval 2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00378" name="Text Box 26"/>
          <p:cNvSpPr txBox="1">
            <a:spLocks noChangeArrowheads="1"/>
          </p:cNvSpPr>
          <p:nvPr/>
        </p:nvSpPr>
        <p:spPr bwMode="auto">
          <a:xfrm>
            <a:off x="838200" y="2971800"/>
            <a:ext cx="1371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0) =</a:t>
            </a:r>
          </a:p>
        </p:txBody>
      </p:sp>
      <p:sp>
        <p:nvSpPr>
          <p:cNvPr id="100379" name="Text Box 27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aphicFrame>
        <p:nvGraphicFramePr>
          <p:cNvPr id="100380" name="Object 28"/>
          <p:cNvGraphicFramePr>
            <a:graphicFrameLocks noChangeAspect="1"/>
          </p:cNvGraphicFramePr>
          <p:nvPr/>
        </p:nvGraphicFramePr>
        <p:xfrm>
          <a:off x="1400175" y="4202113"/>
          <a:ext cx="1106488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Equation" r:id="rId3" imgW="774364" imgH="469696" progId="Equation.DSMT4">
                  <p:embed/>
                </p:oleObj>
              </mc:Choice>
              <mc:Fallback>
                <p:oleObj name="Equation" r:id="rId3" imgW="774364" imgH="469696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175" y="4202113"/>
                        <a:ext cx="1106488" cy="6746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1" name="Text Box 29"/>
          <p:cNvSpPr txBox="1">
            <a:spLocks noChangeArrowheads="1"/>
          </p:cNvSpPr>
          <p:nvPr/>
        </p:nvSpPr>
        <p:spPr bwMode="auto">
          <a:xfrm>
            <a:off x="2057400" y="3711575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/>
              <a:t> (probabilidade de sucesso)</a:t>
            </a:r>
          </a:p>
        </p:txBody>
      </p:sp>
      <p:sp>
        <p:nvSpPr>
          <p:cNvPr id="100382" name="Text Box 30"/>
          <p:cNvSpPr txBox="1">
            <a:spLocks noChangeArrowheads="1"/>
          </p:cNvSpPr>
          <p:nvPr/>
        </p:nvSpPr>
        <p:spPr bwMode="auto">
          <a:xfrm>
            <a:off x="2057400" y="3473450"/>
            <a:ext cx="396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</a:t>
            </a:r>
            <a:r>
              <a:rPr lang="pt-BR" altLang="pt-BR" sz="1600"/>
              <a:t>(probabilidade de fracasso,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1 -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/>
              <a:t>)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419225" y="4191000"/>
            <a:ext cx="1143000" cy="685800"/>
            <a:chOff x="894" y="2640"/>
            <a:chExt cx="720" cy="432"/>
          </a:xfrm>
        </p:grpSpPr>
        <p:sp>
          <p:nvSpPr>
            <p:cNvPr id="12302" name="Rectangle 32"/>
            <p:cNvSpPr>
              <a:spLocks noChangeArrowheads="1"/>
            </p:cNvSpPr>
            <p:nvPr/>
          </p:nvSpPr>
          <p:spPr bwMode="auto">
            <a:xfrm>
              <a:off x="894" y="2640"/>
              <a:ext cx="720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12303" name="Object 31"/>
            <p:cNvGraphicFramePr>
              <a:graphicFrameLocks noChangeAspect="1"/>
            </p:cNvGraphicFramePr>
            <p:nvPr/>
          </p:nvGraphicFramePr>
          <p:xfrm>
            <a:off x="894" y="2748"/>
            <a:ext cx="37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3" name="Equation" r:id="rId5" imgW="419100" imgH="228600" progId="Equation.DSMT4">
                    <p:embed/>
                  </p:oleObj>
                </mc:Choice>
                <mc:Fallback>
                  <p:oleObj name="Equation" r:id="rId5" imgW="419100" imgH="2286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2748"/>
                          <a:ext cx="377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386" name="Object 34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name="Equation" r:id="rId7" imgW="736600" imgH="431800" progId="Equation.DSMT4">
                  <p:embed/>
                </p:oleObj>
              </mc:Choice>
              <mc:Fallback>
                <p:oleObj name="Equation" r:id="rId7" imgW="736600" imgH="431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7F467-37C6-454D-A318-98A72D752FA1}" type="slidenum">
              <a:rPr lang="pt-BR"/>
              <a:pPr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87" grpId="0" build="p" autoUpdateAnimBg="0"/>
      <p:bldP spid="100378" grpId="0" build="p" autoUpdateAnimBg="0"/>
      <p:bldP spid="100379" grpId="0" autoUpdateAnimBg="0"/>
      <p:bldP spid="100381" grpId="0" autoUpdateAnimBg="0"/>
      <p:bldP spid="10038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retira-se uma bola da urna.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1 se a bola escolhida for vermelha (sucesso) e 0 caso contrário (fracasso).</a:t>
            </a:r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332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2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332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332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332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333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333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333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3317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0)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5/7</a:t>
            </a:r>
          </a:p>
        </p:txBody>
      </p:sp>
      <p:sp>
        <p:nvSpPr>
          <p:cNvPr id="13318" name="Text Box 14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13319" name="Object 20"/>
          <p:cNvGraphicFramePr>
            <a:graphicFrameLocks noChangeAspect="1"/>
          </p:cNvGraphicFramePr>
          <p:nvPr/>
        </p:nvGraphicFramePr>
        <p:xfrm>
          <a:off x="1419225" y="4362450"/>
          <a:ext cx="598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3" name="Equation" r:id="rId3" imgW="419100" imgH="228600" progId="Equation.DSMT4">
                  <p:embed/>
                </p:oleObj>
              </mc:Choice>
              <mc:Fallback>
                <p:oleObj name="Equation" r:id="rId3" imgW="4191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362450"/>
                        <a:ext cx="598488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22"/>
          <p:cNvGraphicFramePr>
            <a:graphicFrameLocks noChangeAspect="1"/>
          </p:cNvGraphicFramePr>
          <p:nvPr/>
        </p:nvGraphicFramePr>
        <p:xfrm>
          <a:off x="3116263" y="2727325"/>
          <a:ext cx="1978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4" name="Equation" r:id="rId5" imgW="1384300" imgH="431800" progId="Equation.DSMT4">
                  <p:embed/>
                </p:oleObj>
              </mc:Choice>
              <mc:Fallback>
                <p:oleObj name="Equation" r:id="rId5" imgW="13843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2727325"/>
                        <a:ext cx="1978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9" name="Object 23"/>
          <p:cNvGraphicFramePr>
            <a:graphicFrameLocks noChangeAspect="1"/>
          </p:cNvGraphicFramePr>
          <p:nvPr/>
        </p:nvGraphicFramePr>
        <p:xfrm>
          <a:off x="3116263" y="3592513"/>
          <a:ext cx="1435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5" name="Equation" r:id="rId7" imgW="1002865" imgH="203112" progId="Equation.DSMT4">
                  <p:embed/>
                </p:oleObj>
              </mc:Choice>
              <mc:Fallback>
                <p:oleObj name="Equation" r:id="rId7" imgW="1002865" imgH="20311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3592513"/>
                        <a:ext cx="1435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24"/>
          <p:cNvGraphicFramePr>
            <a:graphicFrameLocks noChangeAspect="1"/>
          </p:cNvGraphicFramePr>
          <p:nvPr/>
        </p:nvGraphicFramePr>
        <p:xfrm>
          <a:off x="3116263" y="4267200"/>
          <a:ext cx="9255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Equation" r:id="rId9" imgW="647419" imgH="203112" progId="Equation.DSMT4">
                  <p:embed/>
                </p:oleObj>
              </mc:Choice>
              <mc:Fallback>
                <p:oleObj name="Equation" r:id="rId9" imgW="647419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267200"/>
                        <a:ext cx="92551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1" name="Rectangle 25"/>
          <p:cNvSpPr>
            <a:spLocks noChangeArrowheads="1"/>
          </p:cNvSpPr>
          <p:nvPr/>
        </p:nvSpPr>
        <p:spPr bwMode="auto">
          <a:xfrm>
            <a:off x="3048000" y="4114800"/>
            <a:ext cx="1066800" cy="5334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0F838-F04F-4B62-B6EA-701E9362E44A}" type="slidenum">
              <a:rPr lang="pt-BR"/>
              <a:pPr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retira-se uma bola da urna.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1 se a bola escolhida for vermelha (sucesso) e 0 caso contrário (fracasso).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4350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1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4352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4353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4354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4355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4356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4357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4341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0)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5/7</a:t>
            </a:r>
          </a:p>
        </p:txBody>
      </p:sp>
      <p:sp>
        <p:nvSpPr>
          <p:cNvPr id="14342" name="Text Box 14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14343" name="Object 15"/>
          <p:cNvGraphicFramePr>
            <a:graphicFrameLocks noChangeAspect="1"/>
          </p:cNvGraphicFramePr>
          <p:nvPr/>
        </p:nvGraphicFramePr>
        <p:xfrm>
          <a:off x="1419225" y="4362450"/>
          <a:ext cx="598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Equation" r:id="rId3" imgW="419100" imgH="228600" progId="Equation.DSMT4">
                  <p:embed/>
                </p:oleObj>
              </mc:Choice>
              <mc:Fallback>
                <p:oleObj name="Equation" r:id="rId3" imgW="4191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362450"/>
                        <a:ext cx="598488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20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9" name="Equation" r:id="rId5" imgW="1701800" imgH="228600" progId="Equation.DSMT4">
                  <p:embed/>
                </p:oleObj>
              </mc:Choice>
              <mc:Fallback>
                <p:oleObj name="Equation" r:id="rId5" imgW="1701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1" name="Object 21"/>
          <p:cNvGraphicFramePr>
            <a:graphicFrameLocks noChangeAspect="1"/>
          </p:cNvGraphicFramePr>
          <p:nvPr/>
        </p:nvGraphicFramePr>
        <p:xfrm>
          <a:off x="3124200" y="3327400"/>
          <a:ext cx="2160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0" name="Equation" r:id="rId7" imgW="1511300" imgH="431800" progId="Equation.DSMT4">
                  <p:embed/>
                </p:oleObj>
              </mc:Choice>
              <mc:Fallback>
                <p:oleObj name="Equation" r:id="rId7" imgW="15113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27400"/>
                        <a:ext cx="21605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2" name="Object 22"/>
          <p:cNvGraphicFramePr>
            <a:graphicFrameLocks noChangeAspect="1"/>
          </p:cNvGraphicFramePr>
          <p:nvPr/>
        </p:nvGraphicFramePr>
        <p:xfrm>
          <a:off x="3124200" y="4097338"/>
          <a:ext cx="170497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1" name="Equation" r:id="rId9" imgW="1193800" imgH="228600" progId="Equation.DSMT4">
                  <p:embed/>
                </p:oleObj>
              </mc:Choice>
              <mc:Fallback>
                <p:oleObj name="Equation" r:id="rId9" imgW="11938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97338"/>
                        <a:ext cx="170497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3" name="Object 23"/>
          <p:cNvGraphicFramePr>
            <a:graphicFrameLocks noChangeAspect="1"/>
          </p:cNvGraphicFramePr>
          <p:nvPr/>
        </p:nvGraphicFramePr>
        <p:xfrm>
          <a:off x="3124200" y="4724400"/>
          <a:ext cx="10160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2" name="Equation" r:id="rId11" imgW="711200" imgH="228600" progId="Equation.DSMT4">
                  <p:embed/>
                </p:oleObj>
              </mc:Choice>
              <mc:Fallback>
                <p:oleObj name="Equation" r:id="rId11" imgW="71120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724400"/>
                        <a:ext cx="10160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24"/>
          <p:cNvGraphicFramePr>
            <a:graphicFrameLocks noChangeAspect="1"/>
          </p:cNvGraphicFramePr>
          <p:nvPr/>
        </p:nvGraphicFramePr>
        <p:xfrm>
          <a:off x="838200" y="5029200"/>
          <a:ext cx="92551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3" name="Equation" r:id="rId13" imgW="647419" imgH="203112" progId="Equation.DSMT4">
                  <p:embed/>
                </p:oleObj>
              </mc:Choice>
              <mc:Fallback>
                <p:oleObj name="Equation" r:id="rId13" imgW="647419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29200"/>
                        <a:ext cx="92551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29C8C-5C37-4D2B-945C-09827FF74882}" type="slidenum">
              <a:rPr lang="pt-BR"/>
              <a:pPr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retira-se uma bola da urna.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1 se a bola escolhida for vermelha (sucesso) e 0 caso contrário (fracasso).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537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7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537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537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537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538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538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538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0)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1) = 5/7</a:t>
            </a:r>
          </a:p>
        </p:txBody>
      </p:sp>
      <p:sp>
        <p:nvSpPr>
          <p:cNvPr id="15366" name="Text Box 14"/>
          <p:cNvSpPr txBox="1">
            <a:spLocks noChangeArrowheads="1"/>
          </p:cNvSpPr>
          <p:nvPr/>
        </p:nvSpPr>
        <p:spPr bwMode="auto">
          <a:xfrm>
            <a:off x="847725" y="4364038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f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</a:t>
            </a:r>
          </a:p>
        </p:txBody>
      </p:sp>
      <p:graphicFrame>
        <p:nvGraphicFramePr>
          <p:cNvPr id="15367" name="Object 15"/>
          <p:cNvGraphicFramePr>
            <a:graphicFrameLocks noChangeAspect="1"/>
          </p:cNvGraphicFramePr>
          <p:nvPr/>
        </p:nvGraphicFramePr>
        <p:xfrm>
          <a:off x="1419225" y="4362450"/>
          <a:ext cx="59848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3" name="Equation" r:id="rId3" imgW="419100" imgH="228600" progId="Equation.DSMT4">
                  <p:embed/>
                </p:oleObj>
              </mc:Choice>
              <mc:Fallback>
                <p:oleObj name="Equation" r:id="rId3" imgW="41910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225" y="4362450"/>
                        <a:ext cx="598488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6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name="Equation" r:id="rId5" imgW="1701800" imgH="228600" progId="Equation.DSMT4">
                  <p:embed/>
                </p:oleObj>
              </mc:Choice>
              <mc:Fallback>
                <p:oleObj name="Equation" r:id="rId5" imgW="17018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17"/>
          <p:cNvGraphicFramePr>
            <a:graphicFrameLocks noChangeAspect="1"/>
          </p:cNvGraphicFramePr>
          <p:nvPr/>
        </p:nvGraphicFramePr>
        <p:xfrm>
          <a:off x="3124200" y="3473450"/>
          <a:ext cx="1508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name="Equation" r:id="rId7" imgW="1054100" imgH="228600" progId="Equation.DSMT4">
                  <p:embed/>
                </p:oleObj>
              </mc:Choice>
              <mc:Fallback>
                <p:oleObj name="Equation" r:id="rId7" imgW="10541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73450"/>
                        <a:ext cx="15081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4" name="Object 20"/>
          <p:cNvGraphicFramePr>
            <a:graphicFrameLocks noChangeAspect="1"/>
          </p:cNvGraphicFramePr>
          <p:nvPr/>
        </p:nvGraphicFramePr>
        <p:xfrm>
          <a:off x="3124200" y="4056063"/>
          <a:ext cx="1671638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6" name="Equation" r:id="rId9" imgW="1167893" imgH="203112" progId="Equation.DSMT4">
                  <p:embed/>
                </p:oleObj>
              </mc:Choice>
              <mc:Fallback>
                <p:oleObj name="Equation" r:id="rId9" imgW="1167893" imgH="203112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056063"/>
                        <a:ext cx="1671638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5" name="Object 21"/>
          <p:cNvGraphicFramePr>
            <a:graphicFrameLocks noChangeAspect="1"/>
          </p:cNvGraphicFramePr>
          <p:nvPr/>
        </p:nvGraphicFramePr>
        <p:xfrm>
          <a:off x="3124200" y="4648200"/>
          <a:ext cx="1198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name="Equation" r:id="rId11" imgW="837836" imgH="203112" progId="Equation.DSMT4">
                  <p:embed/>
                </p:oleObj>
              </mc:Choice>
              <mc:Fallback>
                <p:oleObj name="Equation" r:id="rId11" imgW="837836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648200"/>
                        <a:ext cx="1198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6" name="Rectangle 22"/>
          <p:cNvSpPr>
            <a:spLocks noChangeArrowheads="1"/>
          </p:cNvSpPr>
          <p:nvPr/>
        </p:nvSpPr>
        <p:spPr bwMode="auto">
          <a:xfrm>
            <a:off x="3048000" y="4495800"/>
            <a:ext cx="1322388" cy="577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graphicFrame>
        <p:nvGraphicFramePr>
          <p:cNvPr id="15373" name="Object 23"/>
          <p:cNvGraphicFramePr>
            <a:graphicFrameLocks noChangeAspect="1"/>
          </p:cNvGraphicFramePr>
          <p:nvPr/>
        </p:nvGraphicFramePr>
        <p:xfrm>
          <a:off x="838200" y="5029200"/>
          <a:ext cx="92551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Equation" r:id="rId13" imgW="647419" imgH="203112" progId="Equation.DSMT4">
                  <p:embed/>
                </p:oleObj>
              </mc:Choice>
              <mc:Fallback>
                <p:oleObj name="Equation" r:id="rId13" imgW="647419" imgH="20311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029200"/>
                        <a:ext cx="92551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DA38EE-BAE9-49AF-A1E3-B6D4789500F9}" type="slidenum">
              <a:rPr lang="pt-BR"/>
              <a:pPr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4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Bernoulli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retira-se uma bola da urna.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são 1 se a bola escolhida for vermelha (sucesso) e 0 caso contrário (fracasso).</a:t>
            </a:r>
          </a:p>
        </p:txBody>
      </p:sp>
      <p:grpSp>
        <p:nvGrpSpPr>
          <p:cNvPr id="1638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6397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8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6399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6400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6401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6402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6403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6404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graphicFrame>
        <p:nvGraphicFramePr>
          <p:cNvPr id="104469" name="Object 21"/>
          <p:cNvGraphicFramePr>
            <a:graphicFrameLocks noChangeAspect="1"/>
          </p:cNvGraphicFramePr>
          <p:nvPr/>
        </p:nvGraphicFramePr>
        <p:xfrm>
          <a:off x="3192463" y="3959225"/>
          <a:ext cx="923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5" name="Equation" r:id="rId3" imgW="647419" imgH="203112" progId="Equation.DSMT4">
                  <p:embed/>
                </p:oleObj>
              </mc:Choice>
              <mc:Fallback>
                <p:oleObj name="Equation" r:id="rId3" imgW="647419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959225"/>
                        <a:ext cx="923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0" name="Object 22"/>
          <p:cNvGraphicFramePr>
            <a:graphicFrameLocks noChangeAspect="1"/>
          </p:cNvGraphicFramePr>
          <p:nvPr/>
        </p:nvGraphicFramePr>
        <p:xfrm>
          <a:off x="3192463" y="4662488"/>
          <a:ext cx="11969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" name="Equation" r:id="rId5" imgW="837836" imgH="203112" progId="Equation.DSMT4">
                  <p:embed/>
                </p:oleObj>
              </mc:Choice>
              <mc:Fallback>
                <p:oleObj name="Equation" r:id="rId5" imgW="837836" imgH="20311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662488"/>
                        <a:ext cx="119697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1" name="Object 23"/>
          <p:cNvGraphicFramePr>
            <a:graphicFrameLocks noChangeAspect="1"/>
          </p:cNvGraphicFramePr>
          <p:nvPr/>
        </p:nvGraphicFramePr>
        <p:xfrm>
          <a:off x="4122738" y="3811588"/>
          <a:ext cx="11064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7" name="Equation" r:id="rId7" imgW="774364" imgH="393529" progId="Equation.DSMT4">
                  <p:embed/>
                </p:oleObj>
              </mc:Choice>
              <mc:Fallback>
                <p:oleObj name="Equation" r:id="rId7" imgW="774364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3811588"/>
                        <a:ext cx="1106487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2" name="Object 24"/>
          <p:cNvGraphicFramePr>
            <a:graphicFrameLocks noChangeAspect="1"/>
          </p:cNvGraphicFramePr>
          <p:nvPr/>
        </p:nvGraphicFramePr>
        <p:xfrm>
          <a:off x="4391025" y="4518025"/>
          <a:ext cx="17621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Equation" r:id="rId9" imgW="1231366" imgH="393529" progId="Equation.DSMT4">
                  <p:embed/>
                </p:oleObj>
              </mc:Choice>
              <mc:Fallback>
                <p:oleObj name="Equation" r:id="rId9" imgW="1231366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4518025"/>
                        <a:ext cx="17621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25"/>
          <p:cNvGraphicFramePr>
            <a:graphicFrameLocks noChangeAspect="1"/>
          </p:cNvGraphicFramePr>
          <p:nvPr/>
        </p:nvGraphicFramePr>
        <p:xfrm>
          <a:off x="3192463" y="3165475"/>
          <a:ext cx="125571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11" imgW="876300" imgH="228600" progId="Equation.DSMT4">
                  <p:embed/>
                </p:oleObj>
              </mc:Choice>
              <mc:Fallback>
                <p:oleObj name="Equation" r:id="rId11" imgW="8763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165475"/>
                        <a:ext cx="125571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4" name="Object 26"/>
          <p:cNvGraphicFramePr>
            <a:graphicFrameLocks noChangeAspect="1"/>
          </p:cNvGraphicFramePr>
          <p:nvPr/>
        </p:nvGraphicFramePr>
        <p:xfrm>
          <a:off x="4419600" y="2984500"/>
          <a:ext cx="12700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0" name="Equation" r:id="rId13" imgW="889000" imgH="469900" progId="Equation.DSMT4">
                  <p:embed/>
                </p:oleObj>
              </mc:Choice>
              <mc:Fallback>
                <p:oleObj name="Equation" r:id="rId13" imgW="889000" imgH="4699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984500"/>
                        <a:ext cx="12700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Rectangle 27"/>
          <p:cNvSpPr>
            <a:spLocks noChangeArrowheads="1"/>
          </p:cNvSpPr>
          <p:nvPr/>
        </p:nvSpPr>
        <p:spPr bwMode="auto">
          <a:xfrm>
            <a:off x="6096000" y="3168650"/>
            <a:ext cx="91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1}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17DF3-BEB2-494E-BA37-DE7B57996802}" type="slidenum">
              <a:rPr lang="pt-BR"/>
              <a:pPr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(com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17412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7436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7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7438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743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7440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7441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7442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7443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7413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3}</a:t>
            </a:r>
            <a:endParaRPr lang="pt-BR" altLang="pt-BR" sz="1600"/>
          </a:p>
        </p:txBody>
      </p:sp>
      <p:graphicFrame>
        <p:nvGraphicFramePr>
          <p:cNvPr id="17414" name="Object 20"/>
          <p:cNvGraphicFramePr>
            <a:graphicFrameLocks noChangeAspect="1"/>
          </p:cNvGraphicFramePr>
          <p:nvPr/>
        </p:nvGraphicFramePr>
        <p:xfrm>
          <a:off x="914400" y="3765550"/>
          <a:ext cx="16398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4" name="Equation" r:id="rId3" imgW="1143000" imgH="457200" progId="Equation.DSMT4">
                  <p:embed/>
                </p:oleObj>
              </mc:Choice>
              <mc:Fallback>
                <p:oleObj name="Equation" r:id="rId3" imgW="1143000" imgH="457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765550"/>
                        <a:ext cx="16398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7" name="Object 21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5" name="Equation" r:id="rId5" imgW="736600" imgH="431800" progId="Equation.DSMT4">
                  <p:embed/>
                </p:oleObj>
              </mc:Choice>
              <mc:Fallback>
                <p:oleObj name="Equation" r:id="rId5" imgW="736600" imgH="431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18" name="Text Box 22"/>
          <p:cNvSpPr txBox="1">
            <a:spLocks noChangeArrowheads="1"/>
          </p:cNvSpPr>
          <p:nvPr/>
        </p:nvSpPr>
        <p:spPr bwMode="auto">
          <a:xfrm>
            <a:off x="3352800" y="2819400"/>
            <a:ext cx="53340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A v.a. Binomial pode ser entendida como uma somatória de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/>
              <a:t> v.a. Bernoulli, já que, para cada evento (tirar uma bola), há uma probabilidade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/>
              <a:t> de sucesso (tirar bola vermelha) e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/>
              <a:t> de fracasso (tirar bola azul).</a:t>
            </a:r>
          </a:p>
        </p:txBody>
      </p:sp>
      <p:graphicFrame>
        <p:nvGraphicFramePr>
          <p:cNvPr id="106519" name="Object 23"/>
          <p:cNvGraphicFramePr>
            <a:graphicFrameLocks noChangeAspect="1"/>
          </p:cNvGraphicFramePr>
          <p:nvPr/>
        </p:nvGraphicFramePr>
        <p:xfrm>
          <a:off x="3451225" y="3979863"/>
          <a:ext cx="8921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6" name="Equation" r:id="rId7" imgW="622030" imgH="431613" progId="Equation.DSMT4">
                  <p:embed/>
                </p:oleObj>
              </mc:Choice>
              <mc:Fallback>
                <p:oleObj name="Equation" r:id="rId7" imgW="622030" imgH="431613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979863"/>
                        <a:ext cx="892175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20" name="Text Box 24"/>
          <p:cNvSpPr txBox="1">
            <a:spLocks noChangeArrowheads="1"/>
          </p:cNvSpPr>
          <p:nvPr/>
        </p:nvSpPr>
        <p:spPr bwMode="auto">
          <a:xfrm>
            <a:off x="4343400" y="4114800"/>
            <a:ext cx="464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onde cada </a:t>
            </a: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i="1" baseline="-25000">
                <a:latin typeface="Times New Roman" pitchFamily="18" charset="0"/>
              </a:rPr>
              <a:t>i</a:t>
            </a:r>
            <a:r>
              <a:rPr lang="pt-BR" altLang="pt-BR" sz="1600"/>
              <a:t> tem distribuição Bernoulli (</a:t>
            </a:r>
            <a:r>
              <a:rPr lang="pt-BR" altLang="pt-BR" sz="1600">
                <a:latin typeface="Times New Roman" pitchFamily="18" charset="0"/>
              </a:rPr>
              <a:t>0</a:t>
            </a:r>
            <a:r>
              <a:rPr lang="pt-BR" altLang="pt-BR" sz="1600"/>
              <a:t> ou </a:t>
            </a:r>
            <a:r>
              <a:rPr lang="pt-BR" altLang="pt-BR" sz="1600">
                <a:latin typeface="Times New Roman" pitchFamily="18" charset="0"/>
              </a:rPr>
              <a:t>1</a:t>
            </a:r>
            <a:r>
              <a:rPr lang="pt-BR" altLang="pt-BR" sz="1600"/>
              <a:t>)</a:t>
            </a:r>
          </a:p>
        </p:txBody>
      </p:sp>
      <p:graphicFrame>
        <p:nvGraphicFramePr>
          <p:cNvPr id="106521" name="Object 25"/>
          <p:cNvGraphicFramePr>
            <a:graphicFrameLocks noChangeAspect="1"/>
          </p:cNvGraphicFramePr>
          <p:nvPr/>
        </p:nvGraphicFramePr>
        <p:xfrm>
          <a:off x="3429000" y="5414963"/>
          <a:ext cx="16017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7" name="Equation" r:id="rId9" imgW="1117600" imgH="457200" progId="Equation.DSMT4">
                  <p:embed/>
                </p:oleObj>
              </mc:Choice>
              <mc:Fallback>
                <p:oleObj name="Equation" r:id="rId9" imgW="1117600" imgH="45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14963"/>
                        <a:ext cx="16017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2" name="Object 26"/>
          <p:cNvGraphicFramePr>
            <a:graphicFrameLocks noChangeAspect="1"/>
          </p:cNvGraphicFramePr>
          <p:nvPr/>
        </p:nvGraphicFramePr>
        <p:xfrm>
          <a:off x="5029200" y="5434013"/>
          <a:ext cx="9652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8" name="Equation" r:id="rId11" imgW="672808" imgH="431613" progId="Equation.DSMT4">
                  <p:embed/>
                </p:oleObj>
              </mc:Choice>
              <mc:Fallback>
                <p:oleObj name="Equation" r:id="rId11" imgW="672808" imgH="431613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434013"/>
                        <a:ext cx="965200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3" name="Object 27"/>
          <p:cNvGraphicFramePr>
            <a:graphicFrameLocks noChangeAspect="1"/>
          </p:cNvGraphicFramePr>
          <p:nvPr/>
        </p:nvGraphicFramePr>
        <p:xfrm>
          <a:off x="5992813" y="5434013"/>
          <a:ext cx="636587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9" name="Equation" r:id="rId13" imgW="444307" imgH="431613" progId="Equation.DSMT4">
                  <p:embed/>
                </p:oleObj>
              </mc:Choice>
              <mc:Fallback>
                <p:oleObj name="Equation" r:id="rId13" imgW="444307" imgH="431613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813" y="5434013"/>
                        <a:ext cx="636587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6" name="Object 30"/>
          <p:cNvGraphicFramePr>
            <a:graphicFrameLocks noChangeAspect="1"/>
          </p:cNvGraphicFramePr>
          <p:nvPr/>
        </p:nvGraphicFramePr>
        <p:xfrm>
          <a:off x="3429000" y="6132513"/>
          <a:ext cx="19288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0" name="Equation" r:id="rId15" imgW="1346200" imgH="457200" progId="Equation.DSMT4">
                  <p:embed/>
                </p:oleObj>
              </mc:Choice>
              <mc:Fallback>
                <p:oleObj name="Equation" r:id="rId15" imgW="1346200" imgH="4572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6132513"/>
                        <a:ext cx="1928813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7" name="Object 31"/>
          <p:cNvGraphicFramePr>
            <a:graphicFrameLocks noChangeAspect="1"/>
          </p:cNvGraphicFramePr>
          <p:nvPr/>
        </p:nvGraphicFramePr>
        <p:xfrm>
          <a:off x="5334000" y="6151563"/>
          <a:ext cx="11287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1" name="Equation" r:id="rId17" imgW="787400" imgH="431800" progId="Equation.DSMT4">
                  <p:embed/>
                </p:oleObj>
              </mc:Choice>
              <mc:Fallback>
                <p:oleObj name="Equation" r:id="rId17" imgW="787400" imgH="4318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6151563"/>
                        <a:ext cx="1128713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8" name="Object 32"/>
          <p:cNvGraphicFramePr>
            <a:graphicFrameLocks noChangeAspect="1"/>
          </p:cNvGraphicFramePr>
          <p:nvPr/>
        </p:nvGraphicFramePr>
        <p:xfrm>
          <a:off x="6448425" y="6151563"/>
          <a:ext cx="7461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2" name="Equation" r:id="rId19" imgW="520474" imgH="431613" progId="Equation.DSMT4">
                  <p:embed/>
                </p:oleObj>
              </mc:Choice>
              <mc:Fallback>
                <p:oleObj name="Equation" r:id="rId19" imgW="520474" imgH="431613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8425" y="6151563"/>
                        <a:ext cx="746125" cy="617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9" name="Object 33"/>
          <p:cNvGraphicFramePr>
            <a:graphicFrameLocks noChangeAspect="1"/>
          </p:cNvGraphicFramePr>
          <p:nvPr/>
        </p:nvGraphicFramePr>
        <p:xfrm>
          <a:off x="7208838" y="6361113"/>
          <a:ext cx="563562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Equation" r:id="rId21" imgW="393359" imgH="164957" progId="Equation.DSMT4">
                  <p:embed/>
                </p:oleObj>
              </mc:Choice>
              <mc:Fallback>
                <p:oleObj name="Equation" r:id="rId21" imgW="393359" imgH="164957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838" y="6361113"/>
                        <a:ext cx="563562" cy="236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24" name="Object 28"/>
          <p:cNvGraphicFramePr>
            <a:graphicFrameLocks noChangeAspect="1"/>
          </p:cNvGraphicFramePr>
          <p:nvPr/>
        </p:nvGraphicFramePr>
        <p:xfrm>
          <a:off x="6642100" y="5643563"/>
          <a:ext cx="473075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4" name="Equation" r:id="rId23" imgW="330057" imgH="165028" progId="Equation.DSMT4">
                  <p:embed/>
                </p:oleObj>
              </mc:Choice>
              <mc:Fallback>
                <p:oleObj name="Equation" r:id="rId23" imgW="330057" imgH="165028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5643563"/>
                        <a:ext cx="473075" cy="2365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48"/>
          <p:cNvSpPr txBox="1">
            <a:spLocks noChangeArrowheads="1"/>
          </p:cNvSpPr>
          <p:nvPr/>
        </p:nvSpPr>
        <p:spPr bwMode="auto">
          <a:xfrm>
            <a:off x="3381375" y="4933950"/>
            <a:ext cx="332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Por exemplo: </a:t>
            </a:r>
            <a:r>
              <a:rPr lang="pt-BR" altLang="pt-BR" sz="1600" i="1">
                <a:latin typeface="Times New Roman" pitchFamily="18" charset="0"/>
              </a:rPr>
              <a:t>q         p          p</a:t>
            </a:r>
          </a:p>
        </p:txBody>
      </p:sp>
      <p:sp>
        <p:nvSpPr>
          <p:cNvPr id="28" name="Oval 49"/>
          <p:cNvSpPr>
            <a:spLocks noChangeArrowheads="1"/>
          </p:cNvSpPr>
          <p:nvPr/>
        </p:nvSpPr>
        <p:spPr bwMode="auto">
          <a:xfrm>
            <a:off x="4705350" y="4981575"/>
            <a:ext cx="1444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29" name="Oval 50"/>
          <p:cNvSpPr>
            <a:spLocks noChangeArrowheads="1"/>
          </p:cNvSpPr>
          <p:nvPr/>
        </p:nvSpPr>
        <p:spPr bwMode="auto">
          <a:xfrm>
            <a:off x="5260975" y="4981575"/>
            <a:ext cx="1444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30" name="Oval 51"/>
          <p:cNvSpPr>
            <a:spLocks noChangeArrowheads="1"/>
          </p:cNvSpPr>
          <p:nvPr/>
        </p:nvSpPr>
        <p:spPr bwMode="auto">
          <a:xfrm>
            <a:off x="5857875" y="4981575"/>
            <a:ext cx="1444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31" name="Rectangle 52"/>
          <p:cNvSpPr>
            <a:spLocks noChangeArrowheads="1"/>
          </p:cNvSpPr>
          <p:nvPr/>
        </p:nvSpPr>
        <p:spPr bwMode="auto">
          <a:xfrm>
            <a:off x="4583113" y="465137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1</a:t>
            </a:r>
            <a:r>
              <a:rPr lang="pt-BR" altLang="pt-BR" sz="1600">
                <a:latin typeface="Times New Roman" pitchFamily="18" charset="0"/>
              </a:rPr>
              <a:t> = 0</a:t>
            </a:r>
          </a:p>
        </p:txBody>
      </p:sp>
      <p:sp>
        <p:nvSpPr>
          <p:cNvPr id="32" name="Rectangle 53"/>
          <p:cNvSpPr>
            <a:spLocks noChangeArrowheads="1"/>
          </p:cNvSpPr>
          <p:nvPr/>
        </p:nvSpPr>
        <p:spPr bwMode="auto">
          <a:xfrm>
            <a:off x="5183188" y="465137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2</a:t>
            </a:r>
            <a:r>
              <a:rPr lang="pt-BR" altLang="pt-BR" sz="1600">
                <a:latin typeface="Times New Roman" pitchFamily="18" charset="0"/>
              </a:rPr>
              <a:t> = 1</a:t>
            </a:r>
          </a:p>
        </p:txBody>
      </p:sp>
      <p:sp>
        <p:nvSpPr>
          <p:cNvPr id="33" name="Rectangle 54"/>
          <p:cNvSpPr>
            <a:spLocks noChangeArrowheads="1"/>
          </p:cNvSpPr>
          <p:nvPr/>
        </p:nvSpPr>
        <p:spPr bwMode="auto">
          <a:xfrm>
            <a:off x="5765800" y="4651375"/>
            <a:ext cx="684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3</a:t>
            </a:r>
            <a:r>
              <a:rPr lang="pt-BR" altLang="pt-BR" sz="1600">
                <a:latin typeface="Times New Roman" pitchFamily="18" charset="0"/>
              </a:rPr>
              <a:t> = 1</a:t>
            </a:r>
          </a:p>
        </p:txBody>
      </p:sp>
      <p:sp>
        <p:nvSpPr>
          <p:cNvPr id="34" name="Rectangle 55"/>
          <p:cNvSpPr>
            <a:spLocks noChangeArrowheads="1"/>
          </p:cNvSpPr>
          <p:nvPr/>
        </p:nvSpPr>
        <p:spPr bwMode="auto">
          <a:xfrm>
            <a:off x="6286500" y="4929188"/>
            <a:ext cx="1916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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2 </a:t>
            </a:r>
            <a:r>
              <a:rPr lang="pt-BR" altLang="pt-BR" sz="1600"/>
              <a:t>(sucessos)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2ADF-CE8B-4F56-A672-900744F5535F}" type="slidenum">
              <a:rPr lang="pt-BR"/>
              <a:pPr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18" grpId="0" autoUpdateAnimBg="0"/>
      <p:bldP spid="106520" grpId="0" autoUpdateAnimBg="0"/>
      <p:bldP spid="27" grpId="0" autoUpdateAnimBg="0"/>
      <p:bldP spid="28" grpId="0" animBg="1"/>
      <p:bldP spid="29" grpId="0" animBg="1"/>
      <p:bldP spid="30" grpId="0" animBg="1"/>
      <p:bldP spid="31" grpId="0" autoUpdateAnimBg="0"/>
      <p:bldP spid="32" grpId="0" autoUpdateAnimBg="0"/>
      <p:bldP spid="33" grpId="0" autoUpdateAnimBg="0"/>
      <p:bldP spid="3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85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(com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8447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8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8449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8450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8451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8452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8453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8454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graphicFrame>
        <p:nvGraphicFramePr>
          <p:cNvPr id="111632" name="Object 16"/>
          <p:cNvGraphicFramePr>
            <a:graphicFrameLocks noChangeAspect="1"/>
          </p:cNvGraphicFramePr>
          <p:nvPr/>
        </p:nvGraphicFramePr>
        <p:xfrm>
          <a:off x="3192463" y="3959225"/>
          <a:ext cx="10144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Equation" r:id="rId3" imgW="710891" imgH="203112" progId="Equation.DSMT4">
                  <p:embed/>
                </p:oleObj>
              </mc:Choice>
              <mc:Fallback>
                <p:oleObj name="Equation" r:id="rId3" imgW="710891" imgH="20311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959225"/>
                        <a:ext cx="10144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3" name="Object 17"/>
          <p:cNvGraphicFramePr>
            <a:graphicFrameLocks noChangeAspect="1"/>
          </p:cNvGraphicFramePr>
          <p:nvPr/>
        </p:nvGraphicFramePr>
        <p:xfrm>
          <a:off x="3192463" y="4662488"/>
          <a:ext cx="12700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Equation" r:id="rId5" imgW="888614" imgH="203112" progId="Equation.DSMT4">
                  <p:embed/>
                </p:oleObj>
              </mc:Choice>
              <mc:Fallback>
                <p:oleObj name="Equation" r:id="rId5" imgW="888614" imgH="203112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4662488"/>
                        <a:ext cx="12700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4" name="Object 18"/>
          <p:cNvGraphicFramePr>
            <a:graphicFrameLocks noChangeAspect="1"/>
          </p:cNvGraphicFramePr>
          <p:nvPr/>
        </p:nvGraphicFramePr>
        <p:xfrm>
          <a:off x="4216400" y="3811588"/>
          <a:ext cx="16510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Equation" r:id="rId7" imgW="1155700" imgH="393700" progId="Equation.DSMT4">
                  <p:embed/>
                </p:oleObj>
              </mc:Choice>
              <mc:Fallback>
                <p:oleObj name="Equation" r:id="rId7" imgW="1155700" imgH="3937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400" y="3811588"/>
                        <a:ext cx="16510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5" name="Object 19"/>
          <p:cNvGraphicFramePr>
            <a:graphicFrameLocks noChangeAspect="1"/>
          </p:cNvGraphicFramePr>
          <p:nvPr/>
        </p:nvGraphicFramePr>
        <p:xfrm>
          <a:off x="4483100" y="4518025"/>
          <a:ext cx="18891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8" name="Equation" r:id="rId9" imgW="1320227" imgH="393529" progId="Equation.DSMT4">
                  <p:embed/>
                </p:oleObj>
              </mc:Choice>
              <mc:Fallback>
                <p:oleObj name="Equation" r:id="rId9" imgW="1320227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3100" y="4518025"/>
                        <a:ext cx="18891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20"/>
          <p:cNvGraphicFramePr>
            <a:graphicFrameLocks noChangeAspect="1"/>
          </p:cNvGraphicFramePr>
          <p:nvPr/>
        </p:nvGraphicFramePr>
        <p:xfrm>
          <a:off x="3192463" y="3001963"/>
          <a:ext cx="16383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9" name="Equation" r:id="rId11" imgW="1143000" imgH="457200" progId="Equation.DSMT4">
                  <p:embed/>
                </p:oleObj>
              </mc:Choice>
              <mc:Fallback>
                <p:oleObj name="Equation" r:id="rId11" imgW="1143000" imgH="457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001963"/>
                        <a:ext cx="16383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37" name="Object 21"/>
          <p:cNvGraphicFramePr>
            <a:graphicFrameLocks noChangeAspect="1"/>
          </p:cNvGraphicFramePr>
          <p:nvPr/>
        </p:nvGraphicFramePr>
        <p:xfrm>
          <a:off x="4800600" y="2976563"/>
          <a:ext cx="16510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Equation" r:id="rId13" imgW="1155700" imgH="482600" progId="Equation.DSMT4">
                  <p:embed/>
                </p:oleObj>
              </mc:Choice>
              <mc:Fallback>
                <p:oleObj name="Equation" r:id="rId13" imgW="1155700" imgH="482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976563"/>
                        <a:ext cx="16510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22"/>
          <p:cNvSpPr>
            <a:spLocks noChangeArrowheads="1"/>
          </p:cNvSpPr>
          <p:nvPr/>
        </p:nvSpPr>
        <p:spPr bwMode="auto">
          <a:xfrm>
            <a:off x="6629400" y="3168650"/>
            <a:ext cx="1371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...,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sp>
        <p:nvSpPr>
          <p:cNvPr id="18444" name="Text Box 23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3</a:t>
            </a:r>
            <a:endParaRPr lang="pt-BR" altLang="pt-BR" sz="1600"/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6632575" y="3175000"/>
            <a:ext cx="1333500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3}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44E7C8-B193-4FAC-BF0F-4A70AB63AB34}" type="slidenum">
              <a:rPr lang="pt-BR"/>
              <a:pPr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uma bola vermelha.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uma bola vermelha (sucesso).</a:t>
            </a: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19464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5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9466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9467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9468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9469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9470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19471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6858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O experimento envolve de 1 a infinitos eventos independentes.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Para cada evento: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   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vermelha</a:t>
            </a:r>
            <a:r>
              <a:rPr lang="pt-BR" altLang="pt-BR" sz="1600">
                <a:latin typeface="Times New Roman" pitchFamily="18" charset="0"/>
              </a:rPr>
              <a:t>)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   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azul</a:t>
            </a:r>
            <a:r>
              <a:rPr lang="pt-BR" altLang="pt-BR" sz="1600">
                <a:latin typeface="Times New Roman" pitchFamily="18" charset="0"/>
              </a:rPr>
              <a:t>) = 2/7</a:t>
            </a:r>
          </a:p>
        </p:txBody>
      </p:sp>
      <p:sp>
        <p:nvSpPr>
          <p:cNvPr id="112654" name="Text Box 14"/>
          <p:cNvSpPr txBox="1">
            <a:spLocks noChangeArrowheads="1"/>
          </p:cNvSpPr>
          <p:nvPr/>
        </p:nvSpPr>
        <p:spPr bwMode="auto">
          <a:xfrm>
            <a:off x="2590800" y="3962400"/>
            <a:ext cx="396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</a:t>
            </a:r>
            <a:r>
              <a:rPr lang="pt-BR" altLang="pt-BR" sz="1600"/>
              <a:t>(probabilidade de sucesso)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/>
              <a:t> (probabilidade de fracasso,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1 -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/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CDB177-206B-4CC2-B7BF-2D9561DAE5E3}" type="slidenum">
              <a:rPr lang="pt-BR"/>
              <a:pPr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3" grpId="0" build="p" autoUpdateAnimBg="0"/>
      <p:bldP spid="11265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710" name="Object 46"/>
          <p:cNvGraphicFramePr>
            <a:graphicFrameLocks noChangeAspect="1"/>
          </p:cNvGraphicFramePr>
          <p:nvPr/>
        </p:nvGraphicFramePr>
        <p:xfrm>
          <a:off x="5795963" y="3308350"/>
          <a:ext cx="6715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6" name="Equation" r:id="rId3" imgW="469696" imgH="393529" progId="Equation.DSMT4">
                  <p:embed/>
                </p:oleObj>
              </mc:Choice>
              <mc:Fallback>
                <p:oleObj name="Equation" r:id="rId3" imgW="469696" imgH="393529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308350"/>
                        <a:ext cx="6715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1" name="Object 17"/>
          <p:cNvGraphicFramePr>
            <a:graphicFrameLocks noChangeAspect="1"/>
          </p:cNvGraphicFramePr>
          <p:nvPr/>
        </p:nvGraphicFramePr>
        <p:xfrm>
          <a:off x="1981200" y="3475038"/>
          <a:ext cx="200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7" name="Equation" r:id="rId5" imgW="139639" imgH="393529" progId="Equation.DSMT4">
                  <p:embed/>
                </p:oleObj>
              </mc:Choice>
              <mc:Fallback>
                <p:oleObj name="Equation" r:id="rId5" imgW="139639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75038"/>
                        <a:ext cx="200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6" name="Object 22"/>
          <p:cNvGraphicFramePr>
            <a:graphicFrameLocks noChangeAspect="1"/>
          </p:cNvGraphicFramePr>
          <p:nvPr/>
        </p:nvGraphicFramePr>
        <p:xfrm>
          <a:off x="1987550" y="4495800"/>
          <a:ext cx="36353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8" name="Equation" r:id="rId7" imgW="253890" imgH="393529" progId="Equation.DSMT4">
                  <p:embed/>
                </p:oleObj>
              </mc:Choice>
              <mc:Fallback>
                <p:oleObj name="Equation" r:id="rId7" imgW="253890" imgH="393529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4495800"/>
                        <a:ext cx="36353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2" name="Object 28"/>
          <p:cNvGraphicFramePr>
            <a:graphicFrameLocks noChangeAspect="1"/>
          </p:cNvGraphicFramePr>
          <p:nvPr/>
        </p:nvGraphicFramePr>
        <p:xfrm>
          <a:off x="2005013" y="54102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9" name="Equation" r:id="rId9" imgW="368140" imgH="393529" progId="Equation.DSMT4">
                  <p:embed/>
                </p:oleObj>
              </mc:Choice>
              <mc:Fallback>
                <p:oleObj name="Equation" r:id="rId9" imgW="368140" imgH="393529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5013" y="54102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6"/>
          <p:cNvGraphicFramePr>
            <a:graphicFrameLocks noChangeAspect="1"/>
          </p:cNvGraphicFramePr>
          <p:nvPr/>
        </p:nvGraphicFramePr>
        <p:xfrm>
          <a:off x="1966913" y="3481388"/>
          <a:ext cx="9493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0" name="Equation" r:id="rId11" imgW="660113" imgH="393529" progId="Equation.DSMT4">
                  <p:embed/>
                </p:oleObj>
              </mc:Choice>
              <mc:Fallback>
                <p:oleObj name="Equation" r:id="rId11" imgW="660113" imgH="39352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913" y="3481388"/>
                        <a:ext cx="949325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6069013" y="4800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sp>
        <p:nvSpPr>
          <p:cNvPr id="20489" name="Text Box 4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uma bola vermelha.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uma bola vermelha (sucesso).</a:t>
            </a:r>
          </a:p>
        </p:txBody>
      </p:sp>
      <p:grpSp>
        <p:nvGrpSpPr>
          <p:cNvPr id="20490" name="Group 5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0508" name="Freeform 6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509" name="Oval 7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0510" name="Oval 8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0511" name="Oval 9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0512" name="Oval 10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0513" name="Oval 11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0514" name="Oval 12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0515" name="Oval 13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0491" name="Text Box 14"/>
          <p:cNvSpPr txBox="1">
            <a:spLocks noChangeArrowheads="1"/>
          </p:cNvSpPr>
          <p:nvPr/>
        </p:nvSpPr>
        <p:spPr bwMode="auto">
          <a:xfrm>
            <a:off x="838200" y="2971800"/>
            <a:ext cx="396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      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      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</p:txBody>
      </p:sp>
      <p:graphicFrame>
        <p:nvGraphicFramePr>
          <p:cNvPr id="113679" name="Object 15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1" name="Equation" r:id="rId13" imgW="736600" imgH="203200" progId="Equation.DSMT4">
                  <p:embed/>
                </p:oleObj>
              </mc:Choice>
              <mc:Fallback>
                <p:oleObj name="Equation" r:id="rId13" imgW="736600" imgH="203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3" name="Text Box 19"/>
          <p:cNvSpPr txBox="1">
            <a:spLocks noChangeArrowheads="1"/>
          </p:cNvSpPr>
          <p:nvPr/>
        </p:nvSpPr>
        <p:spPr bwMode="auto">
          <a:xfrm>
            <a:off x="1936750" y="3975100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</a:p>
        </p:txBody>
      </p:sp>
      <p:graphicFrame>
        <p:nvGraphicFramePr>
          <p:cNvPr id="113684" name="Object 20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" name="Equation" r:id="rId15" imgW="723586" imgH="203112" progId="Equation.DSMT4">
                  <p:embed/>
                </p:oleObj>
              </mc:Choice>
              <mc:Fallback>
                <p:oleObj name="Equation" r:id="rId15" imgW="723586" imgH="203112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5" name="Object 21"/>
          <p:cNvGraphicFramePr>
            <a:graphicFrameLocks noChangeAspect="1"/>
          </p:cNvGraphicFramePr>
          <p:nvPr/>
        </p:nvGraphicFramePr>
        <p:xfrm>
          <a:off x="1968500" y="4495800"/>
          <a:ext cx="563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" name="Equation" r:id="rId17" imgW="393529" imgH="393529" progId="Equation.DSMT4">
                  <p:embed/>
                </p:oleObj>
              </mc:Choice>
              <mc:Fallback>
                <p:oleObj name="Equation" r:id="rId17" imgW="393529" imgH="393529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95800"/>
                        <a:ext cx="563563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7" name="Text Box 23"/>
          <p:cNvSpPr txBox="1">
            <a:spLocks noChangeArrowheads="1"/>
          </p:cNvSpPr>
          <p:nvPr/>
        </p:nvSpPr>
        <p:spPr bwMode="auto">
          <a:xfrm>
            <a:off x="1933575" y="4997450"/>
            <a:ext cx="438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p</a:t>
            </a:r>
          </a:p>
        </p:txBody>
      </p:sp>
      <p:graphicFrame>
        <p:nvGraphicFramePr>
          <p:cNvPr id="113689" name="Object 25"/>
          <p:cNvGraphicFramePr>
            <a:graphicFrameLocks noChangeAspect="1"/>
          </p:cNvGraphicFramePr>
          <p:nvPr/>
        </p:nvGraphicFramePr>
        <p:xfrm>
          <a:off x="2514600" y="4492625"/>
          <a:ext cx="10588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4" name="Equation" r:id="rId19" imgW="736280" imgH="393529" progId="Equation.DSMT4">
                  <p:embed/>
                </p:oleObj>
              </mc:Choice>
              <mc:Fallback>
                <p:oleObj name="Equation" r:id="rId19" imgW="736280" imgH="39352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492625"/>
                        <a:ext cx="10588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0" name="Object 26"/>
          <p:cNvGraphicFramePr>
            <a:graphicFrameLocks noChangeAspect="1"/>
          </p:cNvGraphicFramePr>
          <p:nvPr/>
        </p:nvGraphicFramePr>
        <p:xfrm>
          <a:off x="930275" y="55626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5" name="Equation" r:id="rId21" imgW="748975" imgH="203112" progId="Equation.DSMT4">
                  <p:embed/>
                </p:oleObj>
              </mc:Choice>
              <mc:Fallback>
                <p:oleObj name="Equation" r:id="rId21" imgW="748975" imgH="20311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5626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91" name="Object 27"/>
          <p:cNvGraphicFramePr>
            <a:graphicFrameLocks noChangeAspect="1"/>
          </p:cNvGraphicFramePr>
          <p:nvPr/>
        </p:nvGraphicFramePr>
        <p:xfrm>
          <a:off x="1985963" y="54102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6" name="Equation" r:id="rId23" imgW="507780" imgH="393529" progId="Equation.DSMT4">
                  <p:embed/>
                </p:oleObj>
              </mc:Choice>
              <mc:Fallback>
                <p:oleObj name="Equation" r:id="rId23" imgW="507780" imgH="39352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54102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93" name="Text Box 29"/>
          <p:cNvSpPr txBox="1">
            <a:spLocks noChangeArrowheads="1"/>
          </p:cNvSpPr>
          <p:nvPr/>
        </p:nvSpPr>
        <p:spPr bwMode="auto">
          <a:xfrm>
            <a:off x="1944688" y="591185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p</a:t>
            </a:r>
          </a:p>
        </p:txBody>
      </p:sp>
      <p:graphicFrame>
        <p:nvGraphicFramePr>
          <p:cNvPr id="113695" name="Object 31"/>
          <p:cNvGraphicFramePr>
            <a:graphicFrameLocks noChangeAspect="1"/>
          </p:cNvGraphicFramePr>
          <p:nvPr/>
        </p:nvGraphicFramePr>
        <p:xfrm>
          <a:off x="2682875" y="5353050"/>
          <a:ext cx="220186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7" name="Equation" r:id="rId25" imgW="1536700" imgH="469900" progId="Equation.DSMT4">
                  <p:embed/>
                </p:oleObj>
              </mc:Choice>
              <mc:Fallback>
                <p:oleObj name="Equation" r:id="rId25" imgW="1536700" imgH="4699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5353050"/>
                        <a:ext cx="220186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3" name="Object 39"/>
          <p:cNvGraphicFramePr>
            <a:graphicFrameLocks noChangeAspect="1"/>
          </p:cNvGraphicFramePr>
          <p:nvPr/>
        </p:nvGraphicFramePr>
        <p:xfrm>
          <a:off x="6683375" y="4824413"/>
          <a:ext cx="403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8" name="Equation" r:id="rId27" imgW="279400" imgH="228600" progId="Equation.DSMT4">
                  <p:embed/>
                </p:oleObj>
              </mc:Choice>
              <mc:Fallback>
                <p:oleObj name="Equation" r:id="rId27" imgW="279400" imgH="22860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4824413"/>
                        <a:ext cx="40322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8" name="Object 44"/>
          <p:cNvGraphicFramePr>
            <a:graphicFrameLocks noChangeAspect="1"/>
          </p:cNvGraphicFramePr>
          <p:nvPr/>
        </p:nvGraphicFramePr>
        <p:xfrm>
          <a:off x="4784725" y="34607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" name="Equation" r:id="rId29" imgW="736600" imgH="203200" progId="Equation.DSMT4">
                  <p:embed/>
                </p:oleObj>
              </mc:Choice>
              <mc:Fallback>
                <p:oleObj name="Equation" r:id="rId29" imgW="736600" imgH="2032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34607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09" name="Object 45"/>
          <p:cNvGraphicFramePr>
            <a:graphicFrameLocks noChangeAspect="1"/>
          </p:cNvGraphicFramePr>
          <p:nvPr/>
        </p:nvGraphicFramePr>
        <p:xfrm>
          <a:off x="5765800" y="3308350"/>
          <a:ext cx="908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0" name="Equation" r:id="rId31" imgW="634725" imgH="393529" progId="Equation.DSMT4">
                  <p:embed/>
                </p:oleObj>
              </mc:Choice>
              <mc:Fallback>
                <p:oleObj name="Equation" r:id="rId31" imgW="634725" imgH="393529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3308350"/>
                        <a:ext cx="908050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711" name="Text Box 47"/>
          <p:cNvSpPr txBox="1">
            <a:spLocks noChangeArrowheads="1"/>
          </p:cNvSpPr>
          <p:nvPr/>
        </p:nvSpPr>
        <p:spPr bwMode="auto">
          <a:xfrm>
            <a:off x="5735638" y="3810000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q p</a:t>
            </a:r>
          </a:p>
        </p:txBody>
      </p:sp>
      <p:graphicFrame>
        <p:nvGraphicFramePr>
          <p:cNvPr id="113712" name="Object 48"/>
          <p:cNvGraphicFramePr>
            <a:graphicFrameLocks noChangeAspect="1"/>
          </p:cNvGraphicFramePr>
          <p:nvPr/>
        </p:nvGraphicFramePr>
        <p:xfrm>
          <a:off x="6629400" y="3251200"/>
          <a:ext cx="230981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1" name="Equation" r:id="rId33" imgW="1612900" imgH="469900" progId="Equation.DSMT4">
                  <p:embed/>
                </p:oleObj>
              </mc:Choice>
              <mc:Fallback>
                <p:oleObj name="Equation" r:id="rId33" imgW="1612900" imgH="469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51200"/>
                        <a:ext cx="230981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648720-98F0-4BBA-B09A-A627FD6D1B1B}" type="slidenum">
              <a:rPr lang="pt-BR"/>
              <a:pPr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6" grpId="0" autoUpdateAnimBg="0"/>
      <p:bldP spid="113683" grpId="0" autoUpdateAnimBg="0"/>
      <p:bldP spid="113687" grpId="0" autoUpdateAnimBg="0"/>
      <p:bldP spid="113693" grpId="0" autoUpdateAnimBg="0"/>
      <p:bldP spid="11371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1507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1535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36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1537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1538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1539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1540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1541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1542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1508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1509" name="Object 14"/>
          <p:cNvGraphicFramePr>
            <a:graphicFrameLocks noChangeAspect="1"/>
          </p:cNvGraphicFramePr>
          <p:nvPr/>
        </p:nvGraphicFramePr>
        <p:xfrm>
          <a:off x="838200" y="3929063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3" name="Equation" r:id="rId3" imgW="736600" imgH="228600" progId="Equation.DSMT4">
                  <p:embed/>
                </p:oleObj>
              </mc:Choice>
              <mc:Fallback>
                <p:oleObj name="Equation" r:id="rId3" imgW="7366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29063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03" name="Object 15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4" name="Equation" r:id="rId5" imgW="736600" imgH="431800" progId="Equation.DSMT4">
                  <p:embed/>
                </p:oleObj>
              </mc:Choice>
              <mc:Fallback>
                <p:oleObj name="Equation" r:id="rId5" imgW="7366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Text Box 27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uma bola vermelha.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uma bola vermelha (sucesso).</a:t>
            </a:r>
          </a:p>
        </p:txBody>
      </p:sp>
      <p:graphicFrame>
        <p:nvGraphicFramePr>
          <p:cNvPr id="114716" name="Object 28"/>
          <p:cNvGraphicFramePr>
            <a:graphicFrameLocks noChangeAspect="1"/>
          </p:cNvGraphicFramePr>
          <p:nvPr/>
        </p:nvGraphicFramePr>
        <p:xfrm>
          <a:off x="3116263" y="2849563"/>
          <a:ext cx="1978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5" name="Equation" r:id="rId7" imgW="1384300" imgH="431800" progId="Equation.DSMT4">
                  <p:embed/>
                </p:oleObj>
              </mc:Choice>
              <mc:Fallback>
                <p:oleObj name="Equation" r:id="rId7" imgW="1384300" imgH="4318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2849563"/>
                        <a:ext cx="1978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17" name="Object 29"/>
          <p:cNvGraphicFramePr>
            <a:graphicFrameLocks noChangeAspect="1"/>
          </p:cNvGraphicFramePr>
          <p:nvPr/>
        </p:nvGraphicFramePr>
        <p:xfrm>
          <a:off x="3116263" y="3505200"/>
          <a:ext cx="14700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6" name="Equation" r:id="rId9" imgW="1028254" imgH="431613" progId="Equation.DSMT4">
                  <p:embed/>
                </p:oleObj>
              </mc:Choice>
              <mc:Fallback>
                <p:oleObj name="Equation" r:id="rId9" imgW="1028254" imgH="431613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3505200"/>
                        <a:ext cx="14700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41" name="Object 53"/>
          <p:cNvGraphicFramePr>
            <a:graphicFrameLocks noChangeAspect="1"/>
          </p:cNvGraphicFramePr>
          <p:nvPr/>
        </p:nvGraphicFramePr>
        <p:xfrm>
          <a:off x="3116263" y="4114800"/>
          <a:ext cx="17065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7" name="Equation" r:id="rId11" imgW="1193800" imgH="431800" progId="Equation.DSMT4">
                  <p:embed/>
                </p:oleObj>
              </mc:Choice>
              <mc:Fallback>
                <p:oleObj name="Equation" r:id="rId11" imgW="1193800" imgH="4318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114800"/>
                        <a:ext cx="17065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4343400" y="4191000"/>
            <a:ext cx="1143000" cy="714375"/>
            <a:chOff x="2736" y="2640"/>
            <a:chExt cx="720" cy="450"/>
          </a:xfrm>
        </p:grpSpPr>
        <p:sp>
          <p:nvSpPr>
            <p:cNvPr id="21533" name="Oval 55"/>
            <p:cNvSpPr>
              <a:spLocks noChangeArrowheads="1"/>
            </p:cNvSpPr>
            <p:nvPr/>
          </p:nvSpPr>
          <p:spPr bwMode="auto">
            <a:xfrm>
              <a:off x="2736" y="2640"/>
              <a:ext cx="336" cy="288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21534" name="Object 56"/>
            <p:cNvGraphicFramePr>
              <a:graphicFrameLocks noChangeAspect="1"/>
            </p:cNvGraphicFramePr>
            <p:nvPr/>
          </p:nvGraphicFramePr>
          <p:xfrm>
            <a:off x="3078" y="2688"/>
            <a:ext cx="378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78" name="Equation" r:id="rId13" imgW="418918" imgH="444307" progId="Equation.DSMT4">
                    <p:embed/>
                  </p:oleObj>
                </mc:Choice>
                <mc:Fallback>
                  <p:oleObj name="Equation" r:id="rId13" imgW="418918" imgH="444307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8" y="2688"/>
                          <a:ext cx="378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45" name="Object 57"/>
          <p:cNvGraphicFramePr>
            <a:graphicFrameLocks noChangeAspect="1"/>
          </p:cNvGraphicFramePr>
          <p:nvPr/>
        </p:nvGraphicFramePr>
        <p:xfrm>
          <a:off x="3116263" y="4773613"/>
          <a:ext cx="165258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9" name="Equation" r:id="rId15" imgW="1155199" imgH="444307" progId="Equation.DSMT4">
                  <p:embed/>
                </p:oleObj>
              </mc:Choice>
              <mc:Fallback>
                <p:oleObj name="Equation" r:id="rId15" imgW="1155199" imgH="444307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4773613"/>
                        <a:ext cx="1652587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46" name="Object 58"/>
          <p:cNvGraphicFramePr>
            <a:graphicFrameLocks noChangeAspect="1"/>
          </p:cNvGraphicFramePr>
          <p:nvPr/>
        </p:nvGraphicFramePr>
        <p:xfrm>
          <a:off x="3116263" y="5478463"/>
          <a:ext cx="18161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" name="Equation" r:id="rId17" imgW="1269449" imgH="431613" progId="Equation.DSMT4">
                  <p:embed/>
                </p:oleObj>
              </mc:Choice>
              <mc:Fallback>
                <p:oleObj name="Equation" r:id="rId17" imgW="1269449" imgH="431613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263" y="5478463"/>
                        <a:ext cx="181610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9"/>
          <p:cNvGrpSpPr>
            <a:grpSpLocks/>
          </p:cNvGrpSpPr>
          <p:nvPr/>
        </p:nvGrpSpPr>
        <p:grpSpPr bwMode="auto">
          <a:xfrm>
            <a:off x="4343400" y="5486400"/>
            <a:ext cx="1331913" cy="742950"/>
            <a:chOff x="2736" y="3456"/>
            <a:chExt cx="839" cy="468"/>
          </a:xfrm>
        </p:grpSpPr>
        <p:sp>
          <p:nvSpPr>
            <p:cNvPr id="21531" name="Oval 60"/>
            <p:cNvSpPr>
              <a:spLocks noChangeArrowheads="1"/>
            </p:cNvSpPr>
            <p:nvPr/>
          </p:nvSpPr>
          <p:spPr bwMode="auto">
            <a:xfrm>
              <a:off x="2736" y="3456"/>
              <a:ext cx="384" cy="404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21532" name="Object 61"/>
            <p:cNvGraphicFramePr>
              <a:graphicFrameLocks noChangeAspect="1"/>
            </p:cNvGraphicFramePr>
            <p:nvPr/>
          </p:nvGraphicFramePr>
          <p:xfrm>
            <a:off x="3151" y="3545"/>
            <a:ext cx="424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1" name="Equation" r:id="rId19" imgW="469900" imgH="419100" progId="Equation.DSMT4">
                    <p:embed/>
                  </p:oleObj>
                </mc:Choice>
                <mc:Fallback>
                  <p:oleObj name="Equation" r:id="rId19" imgW="469900" imgH="4191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" y="3545"/>
                          <a:ext cx="424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50" name="Object 62"/>
          <p:cNvGraphicFramePr>
            <a:graphicFrameLocks noChangeAspect="1"/>
          </p:cNvGraphicFramePr>
          <p:nvPr/>
        </p:nvGraphicFramePr>
        <p:xfrm>
          <a:off x="5867400" y="2835275"/>
          <a:ext cx="19796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2" name="Equation" r:id="rId21" imgW="1384300" imgH="457200" progId="Equation.DSMT4">
                  <p:embed/>
                </p:oleObj>
              </mc:Choice>
              <mc:Fallback>
                <p:oleObj name="Equation" r:id="rId21" imgW="1384300" imgH="4572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835275"/>
                        <a:ext cx="1979613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6858000" y="2743200"/>
            <a:ext cx="1570038" cy="982663"/>
            <a:chOff x="4320" y="1728"/>
            <a:chExt cx="989" cy="619"/>
          </a:xfrm>
        </p:grpSpPr>
        <p:sp>
          <p:nvSpPr>
            <p:cNvPr id="21529" name="Oval 64"/>
            <p:cNvSpPr>
              <a:spLocks noChangeArrowheads="1"/>
            </p:cNvSpPr>
            <p:nvPr/>
          </p:nvSpPr>
          <p:spPr bwMode="auto">
            <a:xfrm>
              <a:off x="4320" y="1728"/>
              <a:ext cx="672" cy="576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21530" name="Object 65"/>
            <p:cNvGraphicFramePr>
              <a:graphicFrameLocks noChangeAspect="1"/>
            </p:cNvGraphicFramePr>
            <p:nvPr/>
          </p:nvGraphicFramePr>
          <p:xfrm>
            <a:off x="4988" y="1968"/>
            <a:ext cx="321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3" name="Equation" r:id="rId23" imgW="355446" imgH="418918" progId="Equation.DSMT4">
                    <p:embed/>
                  </p:oleObj>
                </mc:Choice>
                <mc:Fallback>
                  <p:oleObj name="Equation" r:id="rId23" imgW="355446" imgH="418918" progId="Equation.DSMT4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8" y="1968"/>
                          <a:ext cx="321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4754" name="Object 66"/>
          <p:cNvGraphicFramePr>
            <a:graphicFrameLocks noChangeAspect="1"/>
          </p:cNvGraphicFramePr>
          <p:nvPr/>
        </p:nvGraphicFramePr>
        <p:xfrm>
          <a:off x="5867400" y="3525838"/>
          <a:ext cx="132556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4" name="Equation" r:id="rId25" imgW="927100" imgH="419100" progId="Equation.DSMT4">
                  <p:embed/>
                </p:oleObj>
              </mc:Choice>
              <mc:Fallback>
                <p:oleObj name="Equation" r:id="rId25" imgW="927100" imgH="419100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25838"/>
                        <a:ext cx="132556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7"/>
          <p:cNvGrpSpPr>
            <a:grpSpLocks/>
          </p:cNvGrpSpPr>
          <p:nvPr/>
        </p:nvGrpSpPr>
        <p:grpSpPr bwMode="auto">
          <a:xfrm>
            <a:off x="6605588" y="3725863"/>
            <a:ext cx="549275" cy="228600"/>
            <a:chOff x="4161" y="2347"/>
            <a:chExt cx="346" cy="144"/>
          </a:xfrm>
        </p:grpSpPr>
        <p:sp>
          <p:nvSpPr>
            <p:cNvPr id="21527" name="Line 68"/>
            <p:cNvSpPr>
              <a:spLocks noChangeShapeType="1"/>
            </p:cNvSpPr>
            <p:nvPr/>
          </p:nvSpPr>
          <p:spPr bwMode="auto">
            <a:xfrm flipV="1">
              <a:off x="4161" y="2347"/>
              <a:ext cx="9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528" name="Line 69"/>
            <p:cNvSpPr>
              <a:spLocks noChangeShapeType="1"/>
            </p:cNvSpPr>
            <p:nvPr/>
          </p:nvSpPr>
          <p:spPr bwMode="auto">
            <a:xfrm flipV="1">
              <a:off x="4444" y="2433"/>
              <a:ext cx="63" cy="4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5781675" y="4191000"/>
            <a:ext cx="1143000" cy="762000"/>
            <a:chOff x="4272" y="2880"/>
            <a:chExt cx="720" cy="480"/>
          </a:xfrm>
        </p:grpSpPr>
        <p:graphicFrame>
          <p:nvGraphicFramePr>
            <p:cNvPr id="21525" name="Object 71"/>
            <p:cNvGraphicFramePr>
              <a:graphicFrameLocks noChangeAspect="1"/>
            </p:cNvGraphicFramePr>
            <p:nvPr/>
          </p:nvGraphicFramePr>
          <p:xfrm>
            <a:off x="4320" y="2928"/>
            <a:ext cx="607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5" name="Equation" r:id="rId27" imgW="672808" imgH="418918" progId="Equation.DSMT4">
                    <p:embed/>
                  </p:oleObj>
                </mc:Choice>
                <mc:Fallback>
                  <p:oleObj name="Equation" r:id="rId27" imgW="672808" imgH="418918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2928"/>
                          <a:ext cx="607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6" name="Rectangle 72"/>
            <p:cNvSpPr>
              <a:spLocks noChangeArrowheads="1"/>
            </p:cNvSpPr>
            <p:nvPr/>
          </p:nvSpPr>
          <p:spPr bwMode="auto">
            <a:xfrm>
              <a:off x="4272" y="2880"/>
              <a:ext cx="720" cy="480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88395-84C0-41F5-B6A7-7668249C4E77}" type="slidenum">
              <a:rPr lang="pt-BR"/>
              <a:pPr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2541" name="Freeform 4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542" name="Oval 5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2543" name="Oval 6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2544" name="Oval 7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2545" name="Oval 8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2546" name="Oval 9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2547" name="Oval 1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2548" name="Oval 1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2532" name="Text Box 12"/>
          <p:cNvSpPr txBox="1">
            <a:spLocks noChangeArrowheads="1"/>
          </p:cNvSpPr>
          <p:nvPr/>
        </p:nvSpPr>
        <p:spPr bwMode="auto">
          <a:xfrm>
            <a:off x="838200" y="2971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2533" name="Object 13"/>
          <p:cNvGraphicFramePr>
            <a:graphicFrameLocks noChangeAspect="1"/>
          </p:cNvGraphicFramePr>
          <p:nvPr/>
        </p:nvGraphicFramePr>
        <p:xfrm>
          <a:off x="838200" y="3929063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9" name="Equation" r:id="rId3" imgW="736600" imgH="228600" progId="Equation.DSMT4">
                  <p:embed/>
                </p:oleObj>
              </mc:Choice>
              <mc:Fallback>
                <p:oleObj name="Equation" r:id="rId3" imgW="7366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29063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15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uma bola vermelha.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uma bola vermelha (sucesso).</a:t>
            </a:r>
          </a:p>
        </p:txBody>
      </p:sp>
      <p:graphicFrame>
        <p:nvGraphicFramePr>
          <p:cNvPr id="22535" name="Object 27"/>
          <p:cNvGraphicFramePr>
            <a:graphicFrameLocks noChangeAspect="1"/>
          </p:cNvGraphicFramePr>
          <p:nvPr/>
        </p:nvGraphicFramePr>
        <p:xfrm>
          <a:off x="885825" y="4991100"/>
          <a:ext cx="9636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0" name="Equation" r:id="rId5" imgW="672808" imgH="418918" progId="Equation.DSMT4">
                  <p:embed/>
                </p:oleObj>
              </mc:Choice>
              <mc:Fallback>
                <p:oleObj name="Equation" r:id="rId5" imgW="672808" imgH="41891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991100"/>
                        <a:ext cx="96361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29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1" name="Equation" r:id="rId7" imgW="1701800" imgH="228600" progId="Equation.DSMT4">
                  <p:embed/>
                </p:oleObj>
              </mc:Choice>
              <mc:Fallback>
                <p:oleObj name="Equation" r:id="rId7" imgW="17018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2" name="Object 30"/>
          <p:cNvGraphicFramePr>
            <a:graphicFrameLocks noChangeAspect="1"/>
          </p:cNvGraphicFramePr>
          <p:nvPr/>
        </p:nvGraphicFramePr>
        <p:xfrm>
          <a:off x="3124200" y="3327400"/>
          <a:ext cx="2160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2" name="Equation" r:id="rId9" imgW="1511300" imgH="431800" progId="Equation.DSMT4">
                  <p:embed/>
                </p:oleObj>
              </mc:Choice>
              <mc:Fallback>
                <p:oleObj name="Equation" r:id="rId9" imgW="1511300" imgH="4318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327400"/>
                        <a:ext cx="21605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3" name="Object 31"/>
          <p:cNvGraphicFramePr>
            <a:graphicFrameLocks noChangeAspect="1"/>
          </p:cNvGraphicFramePr>
          <p:nvPr/>
        </p:nvGraphicFramePr>
        <p:xfrm>
          <a:off x="3151188" y="3951288"/>
          <a:ext cx="165100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3" name="Equation" r:id="rId11" imgW="1155700" imgH="431800" progId="Equation.DSMT4">
                  <p:embed/>
                </p:oleObj>
              </mc:Choice>
              <mc:Fallback>
                <p:oleObj name="Equation" r:id="rId11" imgW="1155700" imgH="4318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3951288"/>
                        <a:ext cx="165100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4" name="Object 32"/>
          <p:cNvGraphicFramePr>
            <a:graphicFrameLocks noChangeAspect="1"/>
          </p:cNvGraphicFramePr>
          <p:nvPr/>
        </p:nvGraphicFramePr>
        <p:xfrm>
          <a:off x="3151188" y="4608513"/>
          <a:ext cx="143351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4" name="Equation" r:id="rId13" imgW="1002865" imgH="444307" progId="Equation.DSMT4">
                  <p:embed/>
                </p:oleObj>
              </mc:Choice>
              <mc:Fallback>
                <p:oleObj name="Equation" r:id="rId13" imgW="1002865" imgH="444307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4608513"/>
                        <a:ext cx="143351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C9D65A-E65A-47DC-9DB8-347317750860}" type="slidenum">
              <a:rPr lang="pt-BR"/>
              <a:pPr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3566" name="Freeform 4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567" name="Oval 5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3568" name="Oval 6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3569" name="Oval 7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3570" name="Oval 8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3571" name="Oval 9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3572" name="Oval 1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3573" name="Oval 1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3556" name="Text Box 12"/>
          <p:cNvSpPr txBox="1">
            <a:spLocks noChangeArrowheads="1"/>
          </p:cNvSpPr>
          <p:nvPr/>
        </p:nvSpPr>
        <p:spPr bwMode="auto">
          <a:xfrm>
            <a:off x="838200" y="29718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3557" name="Object 13"/>
          <p:cNvGraphicFramePr>
            <a:graphicFrameLocks noChangeAspect="1"/>
          </p:cNvGraphicFramePr>
          <p:nvPr/>
        </p:nvGraphicFramePr>
        <p:xfrm>
          <a:off x="838200" y="3929063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4" name="Equation" r:id="rId3" imgW="736600" imgH="228600" progId="Equation.DSMT4">
                  <p:embed/>
                </p:oleObj>
              </mc:Choice>
              <mc:Fallback>
                <p:oleObj name="Equation" r:id="rId3" imgW="7366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29063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Text Box 14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uma bola vermelha.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uma bola vermelha (sucesso).</a:t>
            </a:r>
          </a:p>
        </p:txBody>
      </p:sp>
      <p:graphicFrame>
        <p:nvGraphicFramePr>
          <p:cNvPr id="23559" name="Object 15"/>
          <p:cNvGraphicFramePr>
            <a:graphicFrameLocks noChangeAspect="1"/>
          </p:cNvGraphicFramePr>
          <p:nvPr/>
        </p:nvGraphicFramePr>
        <p:xfrm>
          <a:off x="885825" y="4991100"/>
          <a:ext cx="963613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5" name="Equation" r:id="rId5" imgW="672808" imgH="418918" progId="Equation.DSMT4">
                  <p:embed/>
                </p:oleObj>
              </mc:Choice>
              <mc:Fallback>
                <p:oleObj name="Equation" r:id="rId5" imgW="672808" imgH="4189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991100"/>
                        <a:ext cx="963613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16"/>
          <p:cNvGraphicFramePr>
            <a:graphicFrameLocks noChangeAspect="1"/>
          </p:cNvGraphicFramePr>
          <p:nvPr/>
        </p:nvGraphicFramePr>
        <p:xfrm>
          <a:off x="3124200" y="2873375"/>
          <a:ext cx="2433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6" name="Equation" r:id="rId7" imgW="1701800" imgH="228600" progId="Equation.DSMT4">
                  <p:embed/>
                </p:oleObj>
              </mc:Choice>
              <mc:Fallback>
                <p:oleObj name="Equation" r:id="rId7" imgW="17018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73375"/>
                        <a:ext cx="2433638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17"/>
          <p:cNvGraphicFramePr>
            <a:graphicFrameLocks noChangeAspect="1"/>
          </p:cNvGraphicFramePr>
          <p:nvPr/>
        </p:nvGraphicFramePr>
        <p:xfrm>
          <a:off x="3124200" y="3402013"/>
          <a:ext cx="197802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7" name="Equation" r:id="rId9" imgW="1384300" imgH="444500" progId="Equation.DSMT4">
                  <p:embed/>
                </p:oleObj>
              </mc:Choice>
              <mc:Fallback>
                <p:oleObj name="Equation" r:id="rId9" imgW="1384300" imgH="444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02013"/>
                        <a:ext cx="197802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3048000" y="4114800"/>
            <a:ext cx="1371600" cy="762000"/>
            <a:chOff x="1920" y="2592"/>
            <a:chExt cx="864" cy="480"/>
          </a:xfrm>
        </p:grpSpPr>
        <p:graphicFrame>
          <p:nvGraphicFramePr>
            <p:cNvPr id="23564" name="Object 20"/>
            <p:cNvGraphicFramePr>
              <a:graphicFrameLocks noChangeAspect="1"/>
            </p:cNvGraphicFramePr>
            <p:nvPr/>
          </p:nvGraphicFramePr>
          <p:xfrm>
            <a:off x="1968" y="2646"/>
            <a:ext cx="766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28" name="Equation" r:id="rId11" imgW="850531" imgH="418918" progId="Equation.DSMT4">
                    <p:embed/>
                  </p:oleObj>
                </mc:Choice>
                <mc:Fallback>
                  <p:oleObj name="Equation" r:id="rId11" imgW="850531" imgH="418918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646"/>
                          <a:ext cx="766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Rectangle 21"/>
            <p:cNvSpPr>
              <a:spLocks noChangeArrowheads="1"/>
            </p:cNvSpPr>
            <p:nvPr/>
          </p:nvSpPr>
          <p:spPr bwMode="auto">
            <a:xfrm>
              <a:off x="1920" y="2592"/>
              <a:ext cx="864" cy="480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BDA93-4EC3-4359-9821-D68750B7EF30}" type="slidenum">
              <a:rPr lang="pt-BR"/>
              <a:pPr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Geométrica</a:t>
            </a:r>
          </a:p>
        </p:txBody>
      </p:sp>
      <p:grpSp>
        <p:nvGrpSpPr>
          <p:cNvPr id="24579" name="Group 3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4590" name="Freeform 4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1" name="Oval 5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4592" name="Oval 6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4593" name="Oval 7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4594" name="Oval 8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4595" name="Oval 9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4596" name="Oval 10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4597" name="Oval 11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4580" name="Text Box 12"/>
          <p:cNvSpPr txBox="1">
            <a:spLocks noChangeArrowheads="1"/>
          </p:cNvSpPr>
          <p:nvPr/>
        </p:nvSpPr>
        <p:spPr bwMode="auto">
          <a:xfrm>
            <a:off x="5410200" y="3140075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4581" name="Object 13"/>
          <p:cNvGraphicFramePr>
            <a:graphicFrameLocks noChangeAspect="1"/>
          </p:cNvGraphicFramePr>
          <p:nvPr/>
        </p:nvGraphicFramePr>
        <p:xfrm>
          <a:off x="3181350" y="3143250"/>
          <a:ext cx="10572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8" name="Equation" r:id="rId3" imgW="736600" imgH="228600" progId="Equation.DSMT4">
                  <p:embed/>
                </p:oleObj>
              </mc:Choice>
              <mc:Fallback>
                <p:oleObj name="Equation" r:id="rId3" imgW="7366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3143250"/>
                        <a:ext cx="10572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14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uma bola vermelha.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uma bola vermelha (sucesso).</a:t>
            </a:r>
          </a:p>
        </p:txBody>
      </p:sp>
      <p:graphicFrame>
        <p:nvGraphicFramePr>
          <p:cNvPr id="117775" name="Object 15"/>
          <p:cNvGraphicFramePr>
            <a:graphicFrameLocks noChangeAspect="1"/>
          </p:cNvGraphicFramePr>
          <p:nvPr/>
        </p:nvGraphicFramePr>
        <p:xfrm>
          <a:off x="3189288" y="3810000"/>
          <a:ext cx="9636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9" name="Equation" r:id="rId5" imgW="672808" imgH="418918" progId="Equation.DSMT4">
                  <p:embed/>
                </p:oleObj>
              </mc:Choice>
              <mc:Fallback>
                <p:oleObj name="Equation" r:id="rId5" imgW="672808" imgH="4189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288" y="3810000"/>
                        <a:ext cx="9636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79" name="Object 19"/>
          <p:cNvGraphicFramePr>
            <a:graphicFrameLocks noChangeAspect="1"/>
          </p:cNvGraphicFramePr>
          <p:nvPr/>
        </p:nvGraphicFramePr>
        <p:xfrm>
          <a:off x="3194050" y="4505325"/>
          <a:ext cx="12160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0" name="Equation" r:id="rId7" imgW="850531" imgH="418918" progId="Equation.DSMT4">
                  <p:embed/>
                </p:oleObj>
              </mc:Choice>
              <mc:Fallback>
                <p:oleObj name="Equation" r:id="rId7" imgW="850531" imgH="41891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4050" y="4505325"/>
                        <a:ext cx="12160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25"/>
          <p:cNvSpPr txBox="1">
            <a:spLocks noChangeArrowheads="1"/>
          </p:cNvSpPr>
          <p:nvPr/>
        </p:nvSpPr>
        <p:spPr bwMode="auto">
          <a:xfrm>
            <a:off x="838200" y="2971800"/>
            <a:ext cx="914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</p:txBody>
      </p:sp>
      <p:graphicFrame>
        <p:nvGraphicFramePr>
          <p:cNvPr id="117786" name="Object 26"/>
          <p:cNvGraphicFramePr>
            <a:graphicFrameLocks noChangeAspect="1"/>
          </p:cNvGraphicFramePr>
          <p:nvPr/>
        </p:nvGraphicFramePr>
        <p:xfrm>
          <a:off x="4249738" y="2971800"/>
          <a:ext cx="855662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1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738" y="2971800"/>
                        <a:ext cx="855662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7" name="Object 27"/>
          <p:cNvGraphicFramePr>
            <a:graphicFrameLocks noChangeAspect="1"/>
          </p:cNvGraphicFramePr>
          <p:nvPr/>
        </p:nvGraphicFramePr>
        <p:xfrm>
          <a:off x="4171950" y="3817938"/>
          <a:ext cx="1435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2" name="Equation" r:id="rId11" imgW="1002865" imgH="393529" progId="Equation.DSMT4">
                  <p:embed/>
                </p:oleObj>
              </mc:Choice>
              <mc:Fallback>
                <p:oleObj name="Equation" r:id="rId11" imgW="1002865" imgH="39352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3817938"/>
                        <a:ext cx="1435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788" name="Object 28"/>
          <p:cNvGraphicFramePr>
            <a:graphicFrameLocks noChangeAspect="1"/>
          </p:cNvGraphicFramePr>
          <p:nvPr/>
        </p:nvGraphicFramePr>
        <p:xfrm>
          <a:off x="4427538" y="4505325"/>
          <a:ext cx="17446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63" name="Equation" r:id="rId13" imgW="1218671" imgH="393529" progId="Equation.DSMT4">
                  <p:embed/>
                </p:oleObj>
              </mc:Choice>
              <mc:Fallback>
                <p:oleObj name="Equation" r:id="rId13" imgW="1218671" imgH="393529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05325"/>
                        <a:ext cx="17446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E7C030-79C7-46BC-B408-699D648C2C28}" type="slidenum">
              <a:rPr lang="pt-BR"/>
              <a:pPr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 Negativa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7056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3 bolas vermelhas.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as 3 bolas vermelhas (sucessos).</a:t>
            </a:r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5608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609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5610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5611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5612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5613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5614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5615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118797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68580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O experimento envolve de 3 a infinitos eventos independentes.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Para cada evento: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   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vermelha</a:t>
            </a:r>
            <a:r>
              <a:rPr lang="pt-BR" altLang="pt-BR" sz="1600">
                <a:latin typeface="Times New Roman" pitchFamily="18" charset="0"/>
              </a:rPr>
              <a:t>)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   P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azul</a:t>
            </a:r>
            <a:r>
              <a:rPr lang="pt-BR" altLang="pt-BR" sz="1600">
                <a:latin typeface="Times New Roman" pitchFamily="18" charset="0"/>
              </a:rPr>
              <a:t>) = 2/7</a:t>
            </a:r>
          </a:p>
        </p:txBody>
      </p:sp>
      <p:sp>
        <p:nvSpPr>
          <p:cNvPr id="118798" name="Text Box 14"/>
          <p:cNvSpPr txBox="1">
            <a:spLocks noChangeArrowheads="1"/>
          </p:cNvSpPr>
          <p:nvPr/>
        </p:nvSpPr>
        <p:spPr bwMode="auto">
          <a:xfrm>
            <a:off x="2590800" y="3962400"/>
            <a:ext cx="396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</a:t>
            </a:r>
            <a:r>
              <a:rPr lang="pt-BR" altLang="pt-BR" sz="1600"/>
              <a:t>(probabilidade de sucesso)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/>
              <a:t> (probabilidade de fracasso,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1 -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/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1B1FDA-BE30-4FCE-B6C5-4238A20004F3}" type="slidenum">
              <a:rPr lang="pt-BR"/>
              <a:pPr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97" grpId="0" build="p" autoUpdateAnimBg="0"/>
      <p:bldP spid="11879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6069013" y="3552825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686550" y="3429000"/>
            <a:ext cx="1422400" cy="685800"/>
            <a:chOff x="4212" y="2160"/>
            <a:chExt cx="896" cy="432"/>
          </a:xfrm>
        </p:grpSpPr>
        <p:graphicFrame>
          <p:nvGraphicFramePr>
            <p:cNvPr id="26660" name="Object 29"/>
            <p:cNvGraphicFramePr>
              <a:graphicFrameLocks noChangeAspect="1"/>
            </p:cNvGraphicFramePr>
            <p:nvPr/>
          </p:nvGraphicFramePr>
          <p:xfrm>
            <a:off x="4807" y="2253"/>
            <a:ext cx="301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2" name="Equation" r:id="rId3" imgW="330200" imgH="228600" progId="Equation.DSMT4">
                    <p:embed/>
                  </p:oleObj>
                </mc:Choice>
                <mc:Fallback>
                  <p:oleObj name="Equation" r:id="rId3" imgW="330200" imgH="228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7" y="2253"/>
                          <a:ext cx="301" cy="206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1" name="Rectangle 48"/>
            <p:cNvSpPr>
              <a:spLocks noChangeArrowheads="1"/>
            </p:cNvSpPr>
            <p:nvPr/>
          </p:nvSpPr>
          <p:spPr bwMode="auto">
            <a:xfrm>
              <a:off x="4212" y="2160"/>
              <a:ext cx="624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graphicFrame>
        <p:nvGraphicFramePr>
          <p:cNvPr id="119845" name="Object 37"/>
          <p:cNvGraphicFramePr>
            <a:graphicFrameLocks noChangeAspect="1"/>
          </p:cNvGraphicFramePr>
          <p:nvPr/>
        </p:nvGraphicFramePr>
        <p:xfrm>
          <a:off x="2676525" y="3429000"/>
          <a:ext cx="12414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3" name="Equation" r:id="rId5" imgW="863225" imgH="469696" progId="Equation.DSMT4">
                  <p:embed/>
                </p:oleObj>
              </mc:Choice>
              <mc:Fallback>
                <p:oleObj name="Equation" r:id="rId5" imgW="863225" imgH="469696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3429000"/>
                        <a:ext cx="12414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1" name="Object 3"/>
          <p:cNvGraphicFramePr>
            <a:graphicFrameLocks noChangeAspect="1"/>
          </p:cNvGraphicFramePr>
          <p:nvPr/>
        </p:nvGraphicFramePr>
        <p:xfrm>
          <a:off x="1987550" y="349408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4" name="Equation" r:id="rId7" imgW="368140" imgH="393529" progId="Equation.DSMT4">
                  <p:embed/>
                </p:oleObj>
              </mc:Choice>
              <mc:Fallback>
                <p:oleObj name="Equation" r:id="rId7" imgW="368140" imgH="39352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50" y="349408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 Negativa</a:t>
            </a:r>
          </a:p>
        </p:txBody>
      </p:sp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3 bolas vermelhas.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as 3 bolas vermelhas (sucessos).</a:t>
            </a:r>
          </a:p>
        </p:txBody>
      </p:sp>
      <p:grpSp>
        <p:nvGrpSpPr>
          <p:cNvPr id="26632" name="Group 7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6652" name="Freeform 8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653" name="Oval 9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6654" name="Oval 10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6655" name="Oval 11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6656" name="Oval 12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6657" name="Oval 13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6658" name="Oval 14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6659" name="Oval 15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6633" name="Text Box 16"/>
          <p:cNvSpPr txBox="1">
            <a:spLocks noChangeArrowheads="1"/>
          </p:cNvSpPr>
          <p:nvPr/>
        </p:nvSpPr>
        <p:spPr bwMode="auto">
          <a:xfrm>
            <a:off x="838200" y="2971800"/>
            <a:ext cx="434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      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       </a:t>
            </a: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       </a:t>
            </a:r>
            <a:r>
              <a:rPr lang="pt-BR" altLang="pt-BR" sz="1600" i="1">
                <a:latin typeface="Times New Roman" pitchFamily="18" charset="0"/>
              </a:rPr>
              <a:t>r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graphicFrame>
        <p:nvGraphicFramePr>
          <p:cNvPr id="119825" name="Object 17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5" name="Equation" r:id="rId9" imgW="736600" imgH="203200" progId="Equation.DSMT4">
                  <p:embed/>
                </p:oleObj>
              </mc:Choice>
              <mc:Fallback>
                <p:oleObj name="Equation" r:id="rId9" imgW="736600" imgH="203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6" name="Text Box 18"/>
          <p:cNvSpPr txBox="1">
            <a:spLocks noChangeArrowheads="1"/>
          </p:cNvSpPr>
          <p:nvPr/>
        </p:nvSpPr>
        <p:spPr bwMode="auto">
          <a:xfrm>
            <a:off x="1936750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 p p</a:t>
            </a:r>
          </a:p>
        </p:txBody>
      </p:sp>
      <p:graphicFrame>
        <p:nvGraphicFramePr>
          <p:cNvPr id="119827" name="Object 19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6" name="Equation" r:id="rId11" imgW="723586" imgH="203112" progId="Equation.DSMT4">
                  <p:embed/>
                </p:oleObj>
              </mc:Choice>
              <mc:Fallback>
                <p:oleObj name="Equation" r:id="rId11" imgW="723586" imgH="20311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30" name="Text Box 22"/>
          <p:cNvSpPr txBox="1">
            <a:spLocks noChangeArrowheads="1"/>
          </p:cNvSpPr>
          <p:nvPr/>
        </p:nvSpPr>
        <p:spPr bwMode="auto">
          <a:xfrm>
            <a:off x="2324100" y="4997450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p p p</a:t>
            </a:r>
          </a:p>
        </p:txBody>
      </p:sp>
      <p:graphicFrame>
        <p:nvGraphicFramePr>
          <p:cNvPr id="119832" name="Object 24"/>
          <p:cNvGraphicFramePr>
            <a:graphicFrameLocks noChangeAspect="1"/>
          </p:cNvGraphicFramePr>
          <p:nvPr/>
        </p:nvGraphicFramePr>
        <p:xfrm>
          <a:off x="930275" y="56388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7" name="Equation" r:id="rId13" imgW="748975" imgH="203112" progId="Equation.DSMT4">
                  <p:embed/>
                </p:oleObj>
              </mc:Choice>
              <mc:Fallback>
                <p:oleObj name="Equation" r:id="rId13" imgW="748975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6388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35" name="Text Box 27"/>
          <p:cNvSpPr txBox="1">
            <a:spLocks noChangeArrowheads="1"/>
          </p:cNvSpPr>
          <p:nvPr/>
        </p:nvSpPr>
        <p:spPr bwMode="auto">
          <a:xfrm>
            <a:off x="2352675" y="5988050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 q p p p</a:t>
            </a:r>
          </a:p>
        </p:txBody>
      </p:sp>
      <p:graphicFrame>
        <p:nvGraphicFramePr>
          <p:cNvPr id="119846" name="Object 38"/>
          <p:cNvGraphicFramePr>
            <a:graphicFrameLocks noChangeAspect="1"/>
          </p:cNvGraphicFramePr>
          <p:nvPr/>
        </p:nvGraphicFramePr>
        <p:xfrm>
          <a:off x="3225800" y="4432300"/>
          <a:ext cx="1533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8" name="Equation" r:id="rId15" imgW="1066800" imgH="469900" progId="Equation.DSMT4">
                  <p:embed/>
                </p:oleObj>
              </mc:Choice>
              <mc:Fallback>
                <p:oleObj name="Equation" r:id="rId15" imgW="1066800" imgH="4699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4432300"/>
                        <a:ext cx="1533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8" name="Object 40"/>
          <p:cNvGraphicFramePr>
            <a:graphicFrameLocks noChangeAspect="1"/>
          </p:cNvGraphicFramePr>
          <p:nvPr/>
        </p:nvGraphicFramePr>
        <p:xfrm>
          <a:off x="2366963" y="4497388"/>
          <a:ext cx="6715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9" name="Equation" r:id="rId17" imgW="469696" imgH="393529" progId="Equation.DSMT4">
                  <p:embed/>
                </p:oleObj>
              </mc:Choice>
              <mc:Fallback>
                <p:oleObj name="Equation" r:id="rId17" imgW="469696" imgH="393529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4497388"/>
                        <a:ext cx="6715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9" name="Object 41"/>
          <p:cNvGraphicFramePr>
            <a:graphicFrameLocks noChangeAspect="1"/>
          </p:cNvGraphicFramePr>
          <p:nvPr/>
        </p:nvGraphicFramePr>
        <p:xfrm>
          <a:off x="1933575" y="4505325"/>
          <a:ext cx="4349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0" name="Equation" r:id="rId19" imgW="304536" imgH="393359" progId="Equation.DSMT4">
                  <p:embed/>
                </p:oleObj>
              </mc:Choice>
              <mc:Fallback>
                <p:oleObj name="Equation" r:id="rId19" imgW="304536" imgH="393359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4505325"/>
                        <a:ext cx="4349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0" name="Object 42"/>
          <p:cNvGraphicFramePr>
            <a:graphicFrameLocks noChangeAspect="1"/>
          </p:cNvGraphicFramePr>
          <p:nvPr/>
        </p:nvGraphicFramePr>
        <p:xfrm>
          <a:off x="3463925" y="5422900"/>
          <a:ext cx="18240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1" name="Equation" r:id="rId21" imgW="1269449" imgH="469696" progId="Equation.DSMT4">
                  <p:embed/>
                </p:oleObj>
              </mc:Choice>
              <mc:Fallback>
                <p:oleObj name="Equation" r:id="rId21" imgW="1269449" imgH="469696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3925" y="5422900"/>
                        <a:ext cx="18240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2" name="Object 44"/>
          <p:cNvGraphicFramePr>
            <a:graphicFrameLocks noChangeAspect="1"/>
          </p:cNvGraphicFramePr>
          <p:nvPr/>
        </p:nvGraphicFramePr>
        <p:xfrm>
          <a:off x="2432050" y="5497513"/>
          <a:ext cx="835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2" name="Equation" r:id="rId23" imgW="583947" imgH="393529" progId="Equation.DSMT4">
                  <p:embed/>
                </p:oleObj>
              </mc:Choice>
              <mc:Fallback>
                <p:oleObj name="Equation" r:id="rId23" imgW="583947" imgH="393529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5497513"/>
                        <a:ext cx="835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3" name="Object 45"/>
          <p:cNvGraphicFramePr>
            <a:graphicFrameLocks noChangeAspect="1"/>
          </p:cNvGraphicFramePr>
          <p:nvPr/>
        </p:nvGraphicFramePr>
        <p:xfrm>
          <a:off x="1973263" y="5495925"/>
          <a:ext cx="4714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3" name="Equation" r:id="rId25" imgW="330057" imgH="393529" progId="Equation.DSMT4">
                  <p:embed/>
                </p:oleObj>
              </mc:Choice>
              <mc:Fallback>
                <p:oleObj name="Equation" r:id="rId25" imgW="330057" imgH="393529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5495925"/>
                        <a:ext cx="47148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6"/>
          <p:cNvGraphicFramePr>
            <a:graphicFrameLocks noChangeAspect="1"/>
          </p:cNvGraphicFramePr>
          <p:nvPr/>
        </p:nvGraphicFramePr>
        <p:xfrm>
          <a:off x="6653213" y="3479800"/>
          <a:ext cx="992187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4" name="Equation" r:id="rId27" imgW="685800" imgH="419100" progId="Equation.DSMT4">
                  <p:embed/>
                </p:oleObj>
              </mc:Choice>
              <mc:Fallback>
                <p:oleObj name="Equation" r:id="rId27" imgW="685800" imgH="4191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13" y="3479800"/>
                        <a:ext cx="992187" cy="5984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5" name="Object 47"/>
          <p:cNvGraphicFramePr>
            <a:graphicFrameLocks noChangeAspect="1"/>
          </p:cNvGraphicFramePr>
          <p:nvPr/>
        </p:nvGraphicFramePr>
        <p:xfrm>
          <a:off x="6677025" y="3429000"/>
          <a:ext cx="9747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5" name="Equation" r:id="rId29" imgW="672808" imgH="457002" progId="Equation.DSMT4">
                  <p:embed/>
                </p:oleObj>
              </mc:Choice>
              <mc:Fallback>
                <p:oleObj name="Equation" r:id="rId29" imgW="672808" imgH="457002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3429000"/>
                        <a:ext cx="974725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0" name="Object 2"/>
          <p:cNvGraphicFramePr>
            <a:graphicFrameLocks noChangeAspect="1"/>
          </p:cNvGraphicFramePr>
          <p:nvPr/>
        </p:nvGraphicFramePr>
        <p:xfrm>
          <a:off x="1965325" y="3500438"/>
          <a:ext cx="7302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6" name="Equation" r:id="rId31" imgW="507780" imgH="393529" progId="Equation.DSMT4">
                  <p:embed/>
                </p:oleObj>
              </mc:Choice>
              <mc:Fallback>
                <p:oleObj name="Equation" r:id="rId31" imgW="507780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3500438"/>
                        <a:ext cx="730250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47" name="Object 39"/>
          <p:cNvGraphicFramePr>
            <a:graphicFrameLocks noChangeAspect="1"/>
          </p:cNvGraphicFramePr>
          <p:nvPr/>
        </p:nvGraphicFramePr>
        <p:xfrm>
          <a:off x="2333625" y="4503738"/>
          <a:ext cx="8953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7" name="Equation" r:id="rId33" imgW="622030" imgH="393529" progId="Equation.DSMT4">
                  <p:embed/>
                </p:oleObj>
              </mc:Choice>
              <mc:Fallback>
                <p:oleObj name="Equation" r:id="rId33" imgW="622030" imgH="393529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4503738"/>
                        <a:ext cx="895350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51" name="Object 43"/>
          <p:cNvGraphicFramePr>
            <a:graphicFrameLocks noChangeAspect="1"/>
          </p:cNvGraphicFramePr>
          <p:nvPr/>
        </p:nvGraphicFramePr>
        <p:xfrm>
          <a:off x="2398713" y="5494338"/>
          <a:ext cx="10779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8" name="Equation" r:id="rId35" imgW="748975" imgH="393529" progId="Equation.DSMT4">
                  <p:embed/>
                </p:oleObj>
              </mc:Choice>
              <mc:Fallback>
                <p:oleObj name="Equation" r:id="rId35" imgW="748975" imgH="393529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5494338"/>
                        <a:ext cx="1077912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32739B-399D-4534-BD49-F6BA9E710659}" type="slidenum">
              <a:rPr lang="pt-BR"/>
              <a:pPr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2" grpId="0" autoUpdateAnimBg="0"/>
      <p:bldP spid="119826" grpId="0" autoUpdateAnimBg="0"/>
      <p:bldP spid="119830" grpId="0" autoUpdateAnimBg="0"/>
      <p:bldP spid="11983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4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 Negativa</a:t>
            </a:r>
          </a:p>
        </p:txBody>
      </p:sp>
      <p:sp>
        <p:nvSpPr>
          <p:cNvPr id="27651" name="Text Box 9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3 bolas vermelhas.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as 3 bolas vermelhas (sucessos).</a:t>
            </a:r>
          </a:p>
        </p:txBody>
      </p:sp>
      <p:grpSp>
        <p:nvGrpSpPr>
          <p:cNvPr id="27652" name="Group 10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7676" name="Freeform 11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7" name="Oval 12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7678" name="Oval 13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7679" name="Oval 14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7680" name="Oval 15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7681" name="Oval 16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7682" name="Oval 17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7683" name="Oval 18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7653" name="Text Box 19"/>
          <p:cNvSpPr txBox="1">
            <a:spLocks noChangeArrowheads="1"/>
          </p:cNvSpPr>
          <p:nvPr/>
        </p:nvSpPr>
        <p:spPr bwMode="auto">
          <a:xfrm>
            <a:off x="838200" y="2971800"/>
            <a:ext cx="434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7654" name="Object 32"/>
          <p:cNvGraphicFramePr>
            <a:graphicFrameLocks noChangeAspect="1"/>
          </p:cNvGraphicFramePr>
          <p:nvPr/>
        </p:nvGraphicFramePr>
        <p:xfrm>
          <a:off x="838200" y="3781425"/>
          <a:ext cx="207803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4" name="Equation" r:id="rId3" imgW="1435100" imgH="457200" progId="Equation.DSMT4">
                  <p:embed/>
                </p:oleObj>
              </mc:Choice>
              <mc:Fallback>
                <p:oleObj name="Equation" r:id="rId3" imgW="1435100" imgH="4572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81425"/>
                        <a:ext cx="207803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69" name="Object 37"/>
          <p:cNvGraphicFramePr>
            <a:graphicFrameLocks noChangeAspect="1"/>
          </p:cNvGraphicFramePr>
          <p:nvPr/>
        </p:nvGraphicFramePr>
        <p:xfrm>
          <a:off x="914400" y="5029200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5" name="Equation" r:id="rId5" imgW="736600" imgH="431800" progId="Equation.DSMT4">
                  <p:embed/>
                </p:oleObj>
              </mc:Choice>
              <mc:Fallback>
                <p:oleObj name="Equation" r:id="rId5" imgW="736600" imgH="4318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29200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0" name="Text Box 38"/>
          <p:cNvSpPr txBox="1">
            <a:spLocks noChangeArrowheads="1"/>
          </p:cNvSpPr>
          <p:nvPr/>
        </p:nvSpPr>
        <p:spPr bwMode="auto">
          <a:xfrm>
            <a:off x="3352800" y="2819400"/>
            <a:ext cx="533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A v.a. Binomial Negativa pode ser entendida como uma somatória de </a:t>
            </a:r>
            <a:r>
              <a:rPr lang="pt-BR" altLang="pt-BR" sz="1600" i="1">
                <a:latin typeface="Times New Roman" pitchFamily="18" charset="0"/>
              </a:rPr>
              <a:t>r</a:t>
            </a:r>
            <a:r>
              <a:rPr lang="pt-BR" altLang="pt-BR" sz="1600"/>
              <a:t> v.a. Geométricas.</a:t>
            </a:r>
          </a:p>
        </p:txBody>
      </p:sp>
      <p:graphicFrame>
        <p:nvGraphicFramePr>
          <p:cNvPr id="120871" name="Object 39"/>
          <p:cNvGraphicFramePr>
            <a:graphicFrameLocks noChangeAspect="1"/>
          </p:cNvGraphicFramePr>
          <p:nvPr/>
        </p:nvGraphicFramePr>
        <p:xfrm>
          <a:off x="3451225" y="3352800"/>
          <a:ext cx="8921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6" name="Equation" r:id="rId7" imgW="622030" imgH="431613" progId="Equation.DSMT4">
                  <p:embed/>
                </p:oleObj>
              </mc:Choice>
              <mc:Fallback>
                <p:oleObj name="Equation" r:id="rId7" imgW="622030" imgH="431613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3352800"/>
                        <a:ext cx="892175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2" name="Text Box 40"/>
          <p:cNvSpPr txBox="1">
            <a:spLocks noChangeArrowheads="1"/>
          </p:cNvSpPr>
          <p:nvPr/>
        </p:nvSpPr>
        <p:spPr bwMode="auto">
          <a:xfrm>
            <a:off x="4343400" y="3487738"/>
            <a:ext cx="464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onde cada </a:t>
            </a: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i="1" baseline="-25000">
                <a:latin typeface="Times New Roman" pitchFamily="18" charset="0"/>
              </a:rPr>
              <a:t>i</a:t>
            </a:r>
            <a:r>
              <a:rPr lang="pt-BR" altLang="pt-BR" sz="1600"/>
              <a:t> tem distribuição Geométrica</a:t>
            </a:r>
          </a:p>
        </p:txBody>
      </p:sp>
      <p:graphicFrame>
        <p:nvGraphicFramePr>
          <p:cNvPr id="120873" name="Object 41"/>
          <p:cNvGraphicFramePr>
            <a:graphicFrameLocks noChangeAspect="1"/>
          </p:cNvGraphicFramePr>
          <p:nvPr/>
        </p:nvGraphicFramePr>
        <p:xfrm>
          <a:off x="3429000" y="4648200"/>
          <a:ext cx="16017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7" name="Equation" r:id="rId9" imgW="1117600" imgH="457200" progId="Equation.DSMT4">
                  <p:embed/>
                </p:oleObj>
              </mc:Choice>
              <mc:Fallback>
                <p:oleObj name="Equation" r:id="rId9" imgW="1117600" imgH="4572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648200"/>
                        <a:ext cx="1601788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4" name="Object 42"/>
          <p:cNvGraphicFramePr>
            <a:graphicFrameLocks noChangeAspect="1"/>
          </p:cNvGraphicFramePr>
          <p:nvPr/>
        </p:nvGraphicFramePr>
        <p:xfrm>
          <a:off x="5029200" y="4667250"/>
          <a:ext cx="9652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8" name="Equation" r:id="rId11" imgW="672808" imgH="431613" progId="Equation.DSMT4">
                  <p:embed/>
                </p:oleObj>
              </mc:Choice>
              <mc:Fallback>
                <p:oleObj name="Equation" r:id="rId11" imgW="672808" imgH="431613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667250"/>
                        <a:ext cx="965200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5" name="Object 43"/>
          <p:cNvGraphicFramePr>
            <a:graphicFrameLocks noChangeAspect="1"/>
          </p:cNvGraphicFramePr>
          <p:nvPr/>
        </p:nvGraphicFramePr>
        <p:xfrm>
          <a:off x="5975350" y="4667250"/>
          <a:ext cx="67310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9" name="Equation" r:id="rId13" imgW="469696" imgH="431613" progId="Equation.DSMT4">
                  <p:embed/>
                </p:oleObj>
              </mc:Choice>
              <mc:Fallback>
                <p:oleObj name="Equation" r:id="rId13" imgW="469696" imgH="431613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4667250"/>
                        <a:ext cx="673100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6" name="Object 44"/>
          <p:cNvGraphicFramePr>
            <a:graphicFrameLocks noChangeAspect="1"/>
          </p:cNvGraphicFramePr>
          <p:nvPr/>
        </p:nvGraphicFramePr>
        <p:xfrm>
          <a:off x="3429000" y="5365750"/>
          <a:ext cx="19288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0" name="Equation" r:id="rId15" imgW="1346200" imgH="457200" progId="Equation.DSMT4">
                  <p:embed/>
                </p:oleObj>
              </mc:Choice>
              <mc:Fallback>
                <p:oleObj name="Equation" r:id="rId15" imgW="1346200" imgH="4572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365750"/>
                        <a:ext cx="1928813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7" name="Object 45"/>
          <p:cNvGraphicFramePr>
            <a:graphicFrameLocks noChangeAspect="1"/>
          </p:cNvGraphicFramePr>
          <p:nvPr/>
        </p:nvGraphicFramePr>
        <p:xfrm>
          <a:off x="5334000" y="5384800"/>
          <a:ext cx="11287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1" name="Equation" r:id="rId17" imgW="787400" imgH="431800" progId="Equation.DSMT4">
                  <p:embed/>
                </p:oleObj>
              </mc:Choice>
              <mc:Fallback>
                <p:oleObj name="Equation" r:id="rId17" imgW="787400" imgH="4318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384800"/>
                        <a:ext cx="1128713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8" name="Object 46"/>
          <p:cNvGraphicFramePr>
            <a:graphicFrameLocks noChangeAspect="1"/>
          </p:cNvGraphicFramePr>
          <p:nvPr/>
        </p:nvGraphicFramePr>
        <p:xfrm>
          <a:off x="6438900" y="5384800"/>
          <a:ext cx="7651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2" name="Equation" r:id="rId19" imgW="533169" imgH="431613" progId="Equation.DSMT4">
                  <p:embed/>
                </p:oleObj>
              </mc:Choice>
              <mc:Fallback>
                <p:oleObj name="Equation" r:id="rId19" imgW="533169" imgH="431613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5384800"/>
                        <a:ext cx="765175" cy="6175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79" name="Object 47"/>
          <p:cNvGraphicFramePr>
            <a:graphicFrameLocks noChangeAspect="1"/>
          </p:cNvGraphicFramePr>
          <p:nvPr/>
        </p:nvGraphicFramePr>
        <p:xfrm>
          <a:off x="7235825" y="5413375"/>
          <a:ext cx="50800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3" name="Equation" r:id="rId21" imgW="355446" imgH="418918" progId="Equation.DSMT4">
                  <p:embed/>
                </p:oleObj>
              </mc:Choice>
              <mc:Fallback>
                <p:oleObj name="Equation" r:id="rId21" imgW="355446" imgH="418918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413375"/>
                        <a:ext cx="508000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80" name="Text Box 48"/>
          <p:cNvSpPr txBox="1">
            <a:spLocks noChangeArrowheads="1"/>
          </p:cNvSpPr>
          <p:nvPr/>
        </p:nvSpPr>
        <p:spPr bwMode="auto">
          <a:xfrm>
            <a:off x="3381375" y="4114800"/>
            <a:ext cx="332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Por exemplo: </a:t>
            </a:r>
            <a:r>
              <a:rPr lang="pt-BR" altLang="pt-BR" sz="1600" i="1">
                <a:latin typeface="Times New Roman" pitchFamily="18" charset="0"/>
              </a:rPr>
              <a:t>q q p q q q q p q q q p</a:t>
            </a:r>
          </a:p>
        </p:txBody>
      </p:sp>
      <p:sp>
        <p:nvSpPr>
          <p:cNvPr id="120881" name="Oval 49"/>
          <p:cNvSpPr>
            <a:spLocks noChangeArrowheads="1"/>
          </p:cNvSpPr>
          <p:nvPr/>
        </p:nvSpPr>
        <p:spPr bwMode="auto">
          <a:xfrm>
            <a:off x="4705350" y="4162425"/>
            <a:ext cx="449263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120882" name="Oval 50"/>
          <p:cNvSpPr>
            <a:spLocks noChangeArrowheads="1"/>
          </p:cNvSpPr>
          <p:nvPr/>
        </p:nvSpPr>
        <p:spPr bwMode="auto">
          <a:xfrm>
            <a:off x="5170488" y="4162425"/>
            <a:ext cx="747712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120883" name="Oval 51"/>
          <p:cNvSpPr>
            <a:spLocks noChangeArrowheads="1"/>
          </p:cNvSpPr>
          <p:nvPr/>
        </p:nvSpPr>
        <p:spPr bwMode="auto">
          <a:xfrm>
            <a:off x="5922963" y="4162425"/>
            <a:ext cx="615950" cy="3048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120884" name="Rectangle 52"/>
          <p:cNvSpPr>
            <a:spLocks noChangeArrowheads="1"/>
          </p:cNvSpPr>
          <p:nvPr/>
        </p:nvSpPr>
        <p:spPr bwMode="auto">
          <a:xfrm>
            <a:off x="4583113" y="383222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1</a:t>
            </a:r>
            <a:r>
              <a:rPr lang="pt-BR" altLang="pt-BR" sz="1600">
                <a:latin typeface="Times New Roman" pitchFamily="18" charset="0"/>
              </a:rPr>
              <a:t> = 2</a:t>
            </a:r>
          </a:p>
        </p:txBody>
      </p:sp>
      <p:sp>
        <p:nvSpPr>
          <p:cNvPr id="120885" name="Rectangle 53"/>
          <p:cNvSpPr>
            <a:spLocks noChangeArrowheads="1"/>
          </p:cNvSpPr>
          <p:nvPr/>
        </p:nvSpPr>
        <p:spPr bwMode="auto">
          <a:xfrm>
            <a:off x="5183188" y="383222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2</a:t>
            </a:r>
            <a:r>
              <a:rPr lang="pt-BR" altLang="pt-BR" sz="1600">
                <a:latin typeface="Times New Roman" pitchFamily="18" charset="0"/>
              </a:rPr>
              <a:t> = 4</a:t>
            </a:r>
          </a:p>
        </p:txBody>
      </p:sp>
      <p:sp>
        <p:nvSpPr>
          <p:cNvPr id="120886" name="Rectangle 54"/>
          <p:cNvSpPr>
            <a:spLocks noChangeArrowheads="1"/>
          </p:cNvSpPr>
          <p:nvPr/>
        </p:nvSpPr>
        <p:spPr bwMode="auto">
          <a:xfrm>
            <a:off x="5888038" y="3832225"/>
            <a:ext cx="684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Y</a:t>
            </a:r>
            <a:r>
              <a:rPr lang="pt-BR" altLang="pt-BR" sz="1600" baseline="-25000">
                <a:latin typeface="Times New Roman" pitchFamily="18" charset="0"/>
              </a:rPr>
              <a:t>3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sp>
        <p:nvSpPr>
          <p:cNvPr id="120887" name="Rectangle 55"/>
          <p:cNvSpPr>
            <a:spLocks noChangeArrowheads="1"/>
          </p:cNvSpPr>
          <p:nvPr/>
        </p:nvSpPr>
        <p:spPr bwMode="auto">
          <a:xfrm>
            <a:off x="6581775" y="4110038"/>
            <a:ext cx="20113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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 = 9 </a:t>
            </a:r>
            <a:r>
              <a:rPr lang="pt-BR" altLang="pt-BR" sz="1600"/>
              <a:t>(fracassos)</a:t>
            </a:r>
          </a:p>
        </p:txBody>
      </p:sp>
      <p:graphicFrame>
        <p:nvGraphicFramePr>
          <p:cNvPr id="120888" name="Object 56"/>
          <p:cNvGraphicFramePr>
            <a:graphicFrameLocks noChangeAspect="1"/>
          </p:cNvGraphicFramePr>
          <p:nvPr/>
        </p:nvGraphicFramePr>
        <p:xfrm>
          <a:off x="6680200" y="4695825"/>
          <a:ext cx="4730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04" name="Equation" r:id="rId23" imgW="330200" imgH="419100" progId="Equation.DSMT4">
                  <p:embed/>
                </p:oleObj>
              </mc:Choice>
              <mc:Fallback>
                <p:oleObj name="Equation" r:id="rId23" imgW="330200" imgH="4191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4695825"/>
                        <a:ext cx="473075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18AA81-F4AF-4D33-B2D1-6D8C9736A65E}" type="slidenum">
              <a:rPr lang="pt-BR"/>
              <a:pPr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70" grpId="0" autoUpdateAnimBg="0"/>
      <p:bldP spid="120872" grpId="0" autoUpdateAnimBg="0"/>
      <p:bldP spid="120880" grpId="0" autoUpdateAnimBg="0"/>
      <p:bldP spid="120881" grpId="0" animBg="1"/>
      <p:bldP spid="120882" grpId="0" animBg="1"/>
      <p:bldP spid="120883" grpId="0" animBg="1"/>
      <p:bldP spid="120884" grpId="0" autoUpdateAnimBg="0"/>
      <p:bldP spid="120885" grpId="0" autoUpdateAnimBg="0"/>
      <p:bldP spid="120886" grpId="0" autoUpdateAnimBg="0"/>
      <p:bldP spid="12088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Binomial Negativa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bolas da urna (com reposição), até que se consiga 3 bolas vermelhas.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azuis (fracassos) retiradas da urna até obter as 3 bolas vermelhas (sucessos).</a:t>
            </a:r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8686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7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8688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8689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8690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8691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8692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8693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8677" name="Text Box 35"/>
          <p:cNvSpPr txBox="1">
            <a:spLocks noChangeArrowheads="1"/>
          </p:cNvSpPr>
          <p:nvPr/>
        </p:nvSpPr>
        <p:spPr bwMode="auto">
          <a:xfrm>
            <a:off x="6858000" y="3140075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{0, 1, 2, ...,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</a:t>
            </a:r>
            <a:r>
              <a:rPr lang="pt-BR" altLang="pt-BR" sz="16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28678" name="Object 36"/>
          <p:cNvGraphicFramePr>
            <a:graphicFrameLocks noChangeAspect="1"/>
          </p:cNvGraphicFramePr>
          <p:nvPr/>
        </p:nvGraphicFramePr>
        <p:xfrm>
          <a:off x="2816225" y="2979738"/>
          <a:ext cx="20605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4" name="Equation" r:id="rId3" imgW="1435100" imgH="457200" progId="Equation.DSMT4">
                  <p:embed/>
                </p:oleObj>
              </mc:Choice>
              <mc:Fallback>
                <p:oleObj name="Equation" r:id="rId3" imgW="1435100" imgH="4572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2979738"/>
                        <a:ext cx="2060575" cy="6540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3" name="Object 37"/>
          <p:cNvGraphicFramePr>
            <a:graphicFrameLocks noChangeAspect="1"/>
          </p:cNvGraphicFramePr>
          <p:nvPr/>
        </p:nvGraphicFramePr>
        <p:xfrm>
          <a:off x="2816225" y="3810000"/>
          <a:ext cx="1035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5" name="Equation" r:id="rId5" imgW="723586" imgH="418918" progId="Equation.DSMT4">
                  <p:embed/>
                </p:oleObj>
              </mc:Choice>
              <mc:Fallback>
                <p:oleObj name="Equation" r:id="rId5" imgW="723586" imgH="41891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3810000"/>
                        <a:ext cx="10350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4" name="Object 38"/>
          <p:cNvGraphicFramePr>
            <a:graphicFrameLocks noChangeAspect="1"/>
          </p:cNvGraphicFramePr>
          <p:nvPr/>
        </p:nvGraphicFramePr>
        <p:xfrm>
          <a:off x="2816225" y="4505325"/>
          <a:ext cx="12160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name="Equation" r:id="rId7" imgW="850531" imgH="418918" progId="Equation.DSMT4">
                  <p:embed/>
                </p:oleObj>
              </mc:Choice>
              <mc:Fallback>
                <p:oleObj name="Equation" r:id="rId7" imgW="850531" imgH="418918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4505325"/>
                        <a:ext cx="12160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Text Box 39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5/7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q</a:t>
            </a:r>
            <a:r>
              <a:rPr lang="pt-BR" altLang="pt-BR" sz="1600">
                <a:latin typeface="Times New Roman" pitchFamily="18" charset="0"/>
              </a:rPr>
              <a:t> = 2/7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r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graphicFrame>
        <p:nvGraphicFramePr>
          <p:cNvPr id="121896" name="Object 40"/>
          <p:cNvGraphicFramePr>
            <a:graphicFrameLocks noChangeAspect="1"/>
          </p:cNvGraphicFramePr>
          <p:nvPr/>
        </p:nvGraphicFramePr>
        <p:xfrm>
          <a:off x="4876800" y="2963863"/>
          <a:ext cx="18208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Equation" r:id="rId9" imgW="1269449" imgH="482391" progId="Equation.DSMT4">
                  <p:embed/>
                </p:oleObj>
              </mc:Choice>
              <mc:Fallback>
                <p:oleObj name="Equation" r:id="rId9" imgW="1269449" imgH="482391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963863"/>
                        <a:ext cx="182086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7" name="Object 41"/>
          <p:cNvGraphicFramePr>
            <a:graphicFrameLocks noChangeAspect="1"/>
          </p:cNvGraphicFramePr>
          <p:nvPr/>
        </p:nvGraphicFramePr>
        <p:xfrm>
          <a:off x="3848100" y="3817938"/>
          <a:ext cx="15271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8" name="Equation" r:id="rId11" imgW="1066337" imgH="393529" progId="Equation.DSMT4">
                  <p:embed/>
                </p:oleObj>
              </mc:Choice>
              <mc:Fallback>
                <p:oleObj name="Equation" r:id="rId11" imgW="1066337" imgH="393529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3817938"/>
                        <a:ext cx="15271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98" name="Object 42"/>
          <p:cNvGraphicFramePr>
            <a:graphicFrameLocks noChangeAspect="1"/>
          </p:cNvGraphicFramePr>
          <p:nvPr/>
        </p:nvGraphicFramePr>
        <p:xfrm>
          <a:off x="4057650" y="4505325"/>
          <a:ext cx="18542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9" name="Equation" r:id="rId13" imgW="1295400" imgH="393700" progId="Equation.DSMT4">
                  <p:embed/>
                </p:oleObj>
              </mc:Choice>
              <mc:Fallback>
                <p:oleObj name="Equation" r:id="rId13" imgW="1295400" imgH="3937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4505325"/>
                        <a:ext cx="18542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7A9FD14-746D-4C0A-9148-DFE4F2DE967F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Hipergeométrica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(sem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29741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742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9743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9744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9745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9746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9747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29748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4122" name="Text Box 13"/>
          <p:cNvSpPr txBox="1">
            <a:spLocks noChangeArrowheads="1"/>
          </p:cNvSpPr>
          <p:nvPr/>
        </p:nvSpPr>
        <p:spPr bwMode="auto">
          <a:xfrm>
            <a:off x="827584" y="2924944"/>
            <a:ext cx="487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3}</a:t>
            </a:r>
            <a:endParaRPr lang="pt-BR" altLang="pt-BR" sz="1600"/>
          </a:p>
        </p:txBody>
      </p:sp>
      <p:sp>
        <p:nvSpPr>
          <p:cNvPr id="133134" name="Text Box 14"/>
          <p:cNvSpPr txBox="1">
            <a:spLocks noChangeArrowheads="1"/>
          </p:cNvSpPr>
          <p:nvPr/>
        </p:nvSpPr>
        <p:spPr bwMode="auto">
          <a:xfrm>
            <a:off x="2819400" y="2971800"/>
            <a:ext cx="5638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3        </a:t>
            </a:r>
            <a:r>
              <a:rPr lang="pt-BR" altLang="pt-BR" sz="1600" i="1">
                <a:latin typeface="Times New Roman" pitchFamily="18" charset="0"/>
              </a:rPr>
              <a:t>M</a:t>
            </a:r>
            <a:r>
              <a:rPr lang="pt-BR" altLang="pt-BR" sz="1600">
                <a:latin typeface="Times New Roman" pitchFamily="18" charset="0"/>
              </a:rPr>
              <a:t> = 7         </a:t>
            </a:r>
            <a:r>
              <a:rPr lang="pt-BR" altLang="pt-BR" sz="1600" i="1">
                <a:latin typeface="Times New Roman" pitchFamily="18" charset="0"/>
              </a:rPr>
              <a:t>K</a:t>
            </a:r>
            <a:r>
              <a:rPr lang="pt-BR" altLang="pt-BR" sz="1600">
                <a:latin typeface="Times New Roman" pitchFamily="18" charset="0"/>
              </a:rPr>
              <a:t> = 5</a:t>
            </a:r>
            <a:endParaRPr lang="pt-BR" altLang="pt-BR" sz="1600"/>
          </a:p>
        </p:txBody>
      </p:sp>
      <p:sp>
        <p:nvSpPr>
          <p:cNvPr id="133135" name="Text Box 15"/>
          <p:cNvSpPr txBox="1">
            <a:spLocks noChangeArrowheads="1"/>
          </p:cNvSpPr>
          <p:nvPr/>
        </p:nvSpPr>
        <p:spPr bwMode="auto">
          <a:xfrm>
            <a:off x="4787900" y="4725988"/>
            <a:ext cx="838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i="1">
                <a:latin typeface="Times New Roman" pitchFamily="18" charset="0"/>
              </a:rPr>
              <a:t>f</a:t>
            </a:r>
            <a:r>
              <a:rPr lang="pt-BR" altLang="pt-BR" sz="1600" i="1">
                <a:latin typeface="Times New Roman" pitchFamily="18" charset="0"/>
              </a:rPr>
              <a:t> </a:t>
            </a:r>
            <a:r>
              <a:rPr lang="pt-BR" altLang="pt-BR" sz="1600">
                <a:latin typeface="Times New Roman" pitchFamily="18" charset="0"/>
              </a:rPr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) = ?</a:t>
            </a:r>
          </a:p>
        </p:txBody>
      </p:sp>
      <p:graphicFrame>
        <p:nvGraphicFramePr>
          <p:cNvPr id="133136" name="Object 16"/>
          <p:cNvGraphicFramePr>
            <a:graphicFrameLocks noChangeAspect="1"/>
          </p:cNvGraphicFramePr>
          <p:nvPr/>
        </p:nvGraphicFramePr>
        <p:xfrm>
          <a:off x="9144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59" name="Equation" r:id="rId3" imgW="736600" imgH="203200" progId="Equation.DSMT4">
                  <p:embed/>
                </p:oleObj>
              </mc:Choice>
              <mc:Fallback>
                <p:oleObj name="Equation" r:id="rId3" imgW="7366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7" name="Object 17"/>
          <p:cNvGraphicFramePr>
            <a:graphicFrameLocks noChangeAspect="1"/>
          </p:cNvGraphicFramePr>
          <p:nvPr/>
        </p:nvGraphicFramePr>
        <p:xfrm>
          <a:off x="2038350" y="347345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0" name="Equation" r:id="rId5" imgW="507780" imgH="393529" progId="Equation.DSMT4">
                  <p:embed/>
                </p:oleObj>
              </mc:Choice>
              <mc:Fallback>
                <p:oleObj name="Equation" r:id="rId5" imgW="507780" imgH="39352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50" y="347345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8" name="Object 18"/>
          <p:cNvGraphicFramePr>
            <a:graphicFrameLocks noChangeAspect="1"/>
          </p:cNvGraphicFramePr>
          <p:nvPr/>
        </p:nvGraphicFramePr>
        <p:xfrm>
          <a:off x="2063750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1" name="Equation" r:id="rId7" imgW="368140" imgH="393529" progId="Equation.DSMT4">
                  <p:embed/>
                </p:oleObj>
              </mc:Choice>
              <mc:Fallback>
                <p:oleObj name="Equation" r:id="rId7" imgW="368140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9" name="Object 19"/>
          <p:cNvGraphicFramePr>
            <a:graphicFrameLocks noChangeAspect="1"/>
          </p:cNvGraphicFramePr>
          <p:nvPr/>
        </p:nvGraphicFramePr>
        <p:xfrm>
          <a:off x="2743200" y="3629025"/>
          <a:ext cx="163513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2" name="Equation" r:id="rId9" imgW="114102" imgH="177492" progId="Equation.DSMT4">
                  <p:embed/>
                </p:oleObj>
              </mc:Choice>
              <mc:Fallback>
                <p:oleObj name="Equation" r:id="rId9" imgW="114102" imgH="17749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629025"/>
                        <a:ext cx="163513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0" name="Text Box 20"/>
          <p:cNvSpPr txBox="1">
            <a:spLocks noChangeArrowheads="1"/>
          </p:cNvSpPr>
          <p:nvPr/>
        </p:nvSpPr>
        <p:spPr bwMode="auto">
          <a:xfrm>
            <a:off x="2005013" y="397510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a a</a:t>
            </a:r>
          </a:p>
        </p:txBody>
      </p:sp>
      <p:graphicFrame>
        <p:nvGraphicFramePr>
          <p:cNvPr id="133141" name="Object 21"/>
          <p:cNvGraphicFramePr>
            <a:graphicFrameLocks noChangeAspect="1"/>
          </p:cNvGraphicFramePr>
          <p:nvPr/>
        </p:nvGraphicFramePr>
        <p:xfrm>
          <a:off x="947738" y="4648200"/>
          <a:ext cx="103505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3" name="Equation" r:id="rId11" imgW="723586" imgH="203112" progId="Equation.DSMT4">
                  <p:embed/>
                </p:oleObj>
              </mc:Choice>
              <mc:Fallback>
                <p:oleObj name="Equation" r:id="rId11" imgW="723586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4648200"/>
                        <a:ext cx="103505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2" name="Object 22"/>
          <p:cNvGraphicFramePr>
            <a:graphicFrameLocks noChangeAspect="1"/>
          </p:cNvGraphicFramePr>
          <p:nvPr/>
        </p:nvGraphicFramePr>
        <p:xfrm>
          <a:off x="2381250" y="4495800"/>
          <a:ext cx="708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4" name="Equation" r:id="rId13" imgW="495085" imgH="393529" progId="Equation.DSMT4">
                  <p:embed/>
                </p:oleObj>
              </mc:Choice>
              <mc:Fallback>
                <p:oleObj name="Equation" r:id="rId13" imgW="495085" imgH="393529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495800"/>
                        <a:ext cx="70802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3" name="Object 23"/>
          <p:cNvGraphicFramePr>
            <a:graphicFrameLocks noChangeAspect="1"/>
          </p:cNvGraphicFramePr>
          <p:nvPr/>
        </p:nvGraphicFramePr>
        <p:xfrm>
          <a:off x="2390775" y="44958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5" name="Equation" r:id="rId15" imgW="368140" imgH="393529" progId="Equation.DSMT4">
                  <p:embed/>
                </p:oleObj>
              </mc:Choice>
              <mc:Fallback>
                <p:oleObj name="Equation" r:id="rId15" imgW="368140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4958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44" name="Text Box 24"/>
          <p:cNvSpPr txBox="1">
            <a:spLocks noChangeArrowheads="1"/>
          </p:cNvSpPr>
          <p:nvPr/>
        </p:nvSpPr>
        <p:spPr bwMode="auto">
          <a:xfrm>
            <a:off x="2330450" y="4997450"/>
            <a:ext cx="579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v a a</a:t>
            </a:r>
          </a:p>
        </p:txBody>
      </p:sp>
      <p:graphicFrame>
        <p:nvGraphicFramePr>
          <p:cNvPr id="133145" name="Object 25"/>
          <p:cNvGraphicFramePr>
            <a:graphicFrameLocks noChangeAspect="1"/>
          </p:cNvGraphicFramePr>
          <p:nvPr/>
        </p:nvGraphicFramePr>
        <p:xfrm>
          <a:off x="1968500" y="44926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6" name="Equation" r:id="rId16" imgW="304536" imgH="393359" progId="Equation.DSMT4">
                  <p:embed/>
                </p:oleObj>
              </mc:Choice>
              <mc:Fallback>
                <p:oleObj name="Equation" r:id="rId16" imgW="304536" imgH="39335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4926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6" name="Object 26"/>
          <p:cNvGraphicFramePr>
            <a:graphicFrameLocks noChangeAspect="1"/>
          </p:cNvGraphicFramePr>
          <p:nvPr/>
        </p:nvGraphicFramePr>
        <p:xfrm>
          <a:off x="3086100" y="4492625"/>
          <a:ext cx="8366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7" name="Equation" r:id="rId18" imgW="583947" imgH="393529" progId="Equation.DSMT4">
                  <p:embed/>
                </p:oleObj>
              </mc:Choice>
              <mc:Fallback>
                <p:oleObj name="Equation" r:id="rId18" imgW="583947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4492625"/>
                        <a:ext cx="8366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7" name="Object 27"/>
          <p:cNvGraphicFramePr>
            <a:graphicFrameLocks noChangeAspect="1"/>
          </p:cNvGraphicFramePr>
          <p:nvPr/>
        </p:nvGraphicFramePr>
        <p:xfrm>
          <a:off x="930275" y="5562600"/>
          <a:ext cx="10715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8" name="Equation" r:id="rId20" imgW="748975" imgH="203112" progId="Equation.DSMT4">
                  <p:embed/>
                </p:oleObj>
              </mc:Choice>
              <mc:Fallback>
                <p:oleObj name="Equation" r:id="rId20" imgW="748975" imgH="203112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5562600"/>
                        <a:ext cx="10715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8" name="Object 28"/>
          <p:cNvGraphicFramePr>
            <a:graphicFrameLocks noChangeAspect="1"/>
          </p:cNvGraphicFramePr>
          <p:nvPr/>
        </p:nvGraphicFramePr>
        <p:xfrm>
          <a:off x="2362200" y="5410200"/>
          <a:ext cx="7270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69" name="Equation" r:id="rId22" imgW="507780" imgH="393529" progId="Equation.DSMT4">
                  <p:embed/>
                </p:oleObj>
              </mc:Choice>
              <mc:Fallback>
                <p:oleObj name="Equation" r:id="rId22" imgW="507780" imgH="393529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10200"/>
                        <a:ext cx="72707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49" name="Object 29"/>
          <p:cNvGraphicFramePr>
            <a:graphicFrameLocks noChangeAspect="1"/>
          </p:cNvGraphicFramePr>
          <p:nvPr/>
        </p:nvGraphicFramePr>
        <p:xfrm>
          <a:off x="2390775" y="5410200"/>
          <a:ext cx="527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0" name="Equation" r:id="rId24" imgW="368140" imgH="393529" progId="Equation.DSMT4">
                  <p:embed/>
                </p:oleObj>
              </mc:Choice>
              <mc:Fallback>
                <p:oleObj name="Equation" r:id="rId24" imgW="368140" imgH="393529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5410200"/>
                        <a:ext cx="5270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0" name="Text Box 30"/>
          <p:cNvSpPr txBox="1">
            <a:spLocks noChangeArrowheads="1"/>
          </p:cNvSpPr>
          <p:nvPr/>
        </p:nvSpPr>
        <p:spPr bwMode="auto">
          <a:xfrm>
            <a:off x="2330450" y="5911850"/>
            <a:ext cx="568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v v a</a:t>
            </a:r>
          </a:p>
        </p:txBody>
      </p:sp>
      <p:graphicFrame>
        <p:nvGraphicFramePr>
          <p:cNvPr id="133151" name="Object 31"/>
          <p:cNvGraphicFramePr>
            <a:graphicFrameLocks noChangeAspect="1"/>
          </p:cNvGraphicFramePr>
          <p:nvPr/>
        </p:nvGraphicFramePr>
        <p:xfrm>
          <a:off x="1968500" y="5407025"/>
          <a:ext cx="436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1" name="Equation" r:id="rId25" imgW="304536" imgH="393359" progId="Equation.DSMT4">
                  <p:embed/>
                </p:oleObj>
              </mc:Choice>
              <mc:Fallback>
                <p:oleObj name="Equation" r:id="rId25" imgW="304536" imgH="393359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5407025"/>
                        <a:ext cx="4365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2" name="Object 32"/>
          <p:cNvGraphicFramePr>
            <a:graphicFrameLocks noChangeAspect="1"/>
          </p:cNvGraphicFramePr>
          <p:nvPr/>
        </p:nvGraphicFramePr>
        <p:xfrm>
          <a:off x="3067050" y="5407025"/>
          <a:ext cx="8366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2" name="Equation" r:id="rId27" imgW="583947" imgH="393529" progId="Equation.DSMT4">
                  <p:embed/>
                </p:oleObj>
              </mc:Choice>
              <mc:Fallback>
                <p:oleObj name="Equation" r:id="rId27" imgW="583947" imgH="393529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5407025"/>
                        <a:ext cx="8366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3" name="Object 33"/>
          <p:cNvGraphicFramePr>
            <a:graphicFrameLocks noChangeAspect="1"/>
          </p:cNvGraphicFramePr>
          <p:nvPr/>
        </p:nvGraphicFramePr>
        <p:xfrm>
          <a:off x="5257800" y="3625850"/>
          <a:ext cx="1054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3" name="Equation" r:id="rId29" imgW="736600" imgH="203200" progId="Equation.DSMT4">
                  <p:embed/>
                </p:oleObj>
              </mc:Choice>
              <mc:Fallback>
                <p:oleObj name="Equation" r:id="rId29" imgW="736600" imgH="2032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5850"/>
                        <a:ext cx="1054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4" name="Object 34"/>
          <p:cNvGraphicFramePr>
            <a:graphicFrameLocks noChangeAspect="1"/>
          </p:cNvGraphicFramePr>
          <p:nvPr/>
        </p:nvGraphicFramePr>
        <p:xfrm>
          <a:off x="6353175" y="3473450"/>
          <a:ext cx="708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4" name="Equation" r:id="rId31" imgW="495085" imgH="393529" progId="Equation.DSMT4">
                  <p:embed/>
                </p:oleObj>
              </mc:Choice>
              <mc:Fallback>
                <p:oleObj name="Equation" r:id="rId31" imgW="495085" imgH="393529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3175" y="3473450"/>
                        <a:ext cx="708025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5" name="Object 35"/>
          <p:cNvGraphicFramePr>
            <a:graphicFrameLocks noChangeAspect="1"/>
          </p:cNvGraphicFramePr>
          <p:nvPr/>
        </p:nvGraphicFramePr>
        <p:xfrm>
          <a:off x="6359525" y="3475038"/>
          <a:ext cx="5270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5" name="Equation" r:id="rId33" imgW="368140" imgH="393529" progId="Equation.DSMT4">
                  <p:embed/>
                </p:oleObj>
              </mc:Choice>
              <mc:Fallback>
                <p:oleObj name="Equation" r:id="rId33" imgW="368140" imgH="393529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9525" y="3475038"/>
                        <a:ext cx="52705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6" name="Object 36"/>
          <p:cNvGraphicFramePr>
            <a:graphicFrameLocks noChangeAspect="1"/>
          </p:cNvGraphicFramePr>
          <p:nvPr/>
        </p:nvGraphicFramePr>
        <p:xfrm>
          <a:off x="7078663" y="3473450"/>
          <a:ext cx="69373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6" name="Equation" r:id="rId34" imgW="482391" imgH="393529" progId="Equation.DSMT4">
                  <p:embed/>
                </p:oleObj>
              </mc:Choice>
              <mc:Fallback>
                <p:oleObj name="Equation" r:id="rId34" imgW="482391" imgH="39352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8663" y="3473450"/>
                        <a:ext cx="693737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7" name="Text Box 37"/>
          <p:cNvSpPr txBox="1">
            <a:spLocks noChangeArrowheads="1"/>
          </p:cNvSpPr>
          <p:nvPr/>
        </p:nvSpPr>
        <p:spPr bwMode="auto">
          <a:xfrm>
            <a:off x="6348413" y="3975100"/>
            <a:ext cx="5572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v v v</a:t>
            </a:r>
          </a:p>
        </p:txBody>
      </p: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5435600" y="4337050"/>
            <a:ext cx="3475038" cy="1162050"/>
            <a:chOff x="3424" y="2635"/>
            <a:chExt cx="2189" cy="732"/>
          </a:xfrm>
        </p:grpSpPr>
        <p:sp>
          <p:nvSpPr>
            <p:cNvPr id="29739" name="Rectangle 39"/>
            <p:cNvSpPr>
              <a:spLocks noChangeArrowheads="1"/>
            </p:cNvSpPr>
            <p:nvPr/>
          </p:nvSpPr>
          <p:spPr bwMode="auto">
            <a:xfrm>
              <a:off x="3424" y="2784"/>
              <a:ext cx="1648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aphicFrame>
          <p:nvGraphicFramePr>
            <p:cNvPr id="29740" name="Object 40"/>
            <p:cNvGraphicFramePr>
              <a:graphicFrameLocks noChangeAspect="1"/>
            </p:cNvGraphicFramePr>
            <p:nvPr/>
          </p:nvGraphicFramePr>
          <p:xfrm>
            <a:off x="3990" y="2635"/>
            <a:ext cx="1623" cy="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77" name="Equation" r:id="rId36" imgW="1790700" imgH="812800" progId="Equation.DSMT4">
                    <p:embed/>
                  </p:oleObj>
                </mc:Choice>
                <mc:Fallback>
                  <p:oleObj name="Equation" r:id="rId36" imgW="1790700" imgH="8128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0" y="2635"/>
                          <a:ext cx="1623" cy="7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3161" name="Object 41"/>
          <p:cNvGraphicFramePr>
            <a:graphicFrameLocks noChangeAspect="1"/>
          </p:cNvGraphicFramePr>
          <p:nvPr/>
        </p:nvGraphicFramePr>
        <p:xfrm>
          <a:off x="5405438" y="4621213"/>
          <a:ext cx="9080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8" name="Equation" r:id="rId38" imgW="634725" imgH="418918" progId="Equation.DSMT4">
                  <p:embed/>
                </p:oleObj>
              </mc:Choice>
              <mc:Fallback>
                <p:oleObj name="Equation" r:id="rId38" imgW="634725" imgH="418918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4621213"/>
                        <a:ext cx="908050" cy="600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2" name="Object 42"/>
          <p:cNvGraphicFramePr>
            <a:graphicFrameLocks noChangeAspect="1"/>
          </p:cNvGraphicFramePr>
          <p:nvPr/>
        </p:nvGraphicFramePr>
        <p:xfrm>
          <a:off x="5257800" y="5505450"/>
          <a:ext cx="1985963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79" name="Equation" r:id="rId40" imgW="1384300" imgH="914400" progId="Equation.DSMT4">
                  <p:embed/>
                </p:oleObj>
              </mc:Choice>
              <mc:Fallback>
                <p:oleObj name="Equation" r:id="rId40" imgW="1384300" imgH="9144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505450"/>
                        <a:ext cx="1985963" cy="1308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2411412" y="2492375"/>
            <a:ext cx="1655763" cy="841375"/>
            <a:chOff x="1519" y="1570"/>
            <a:chExt cx="1043" cy="530"/>
          </a:xfrm>
        </p:grpSpPr>
        <p:sp>
          <p:nvSpPr>
            <p:cNvPr id="29737" name="Text Box 44"/>
            <p:cNvSpPr txBox="1">
              <a:spLocks noChangeArrowheads="1"/>
            </p:cNvSpPr>
            <p:nvPr/>
          </p:nvSpPr>
          <p:spPr bwMode="auto">
            <a:xfrm>
              <a:off x="1519" y="1570"/>
              <a:ext cx="104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/>
                <a:t>número de bolas retiradas da urna</a:t>
              </a:r>
            </a:p>
          </p:txBody>
        </p:sp>
        <p:sp>
          <p:nvSpPr>
            <p:cNvPr id="29738" name="Oval 45"/>
            <p:cNvSpPr>
              <a:spLocks noChangeArrowheads="1"/>
            </p:cNvSpPr>
            <p:nvPr/>
          </p:nvSpPr>
          <p:spPr bwMode="auto">
            <a:xfrm>
              <a:off x="1770" y="1860"/>
              <a:ext cx="384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3635376" y="2420939"/>
            <a:ext cx="1081088" cy="912813"/>
            <a:chOff x="1753" y="1525"/>
            <a:chExt cx="681" cy="575"/>
          </a:xfrm>
        </p:grpSpPr>
        <p:sp>
          <p:nvSpPr>
            <p:cNvPr id="29735" name="Text Box 47"/>
            <p:cNvSpPr txBox="1">
              <a:spLocks noChangeArrowheads="1"/>
            </p:cNvSpPr>
            <p:nvPr/>
          </p:nvSpPr>
          <p:spPr bwMode="auto">
            <a:xfrm>
              <a:off x="1753" y="1525"/>
              <a:ext cx="681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/>
                <a:t>número total de bolas na urna</a:t>
              </a:r>
            </a:p>
          </p:txBody>
        </p:sp>
        <p:sp>
          <p:nvSpPr>
            <p:cNvPr id="29736" name="Oval 48"/>
            <p:cNvSpPr>
              <a:spLocks noChangeArrowheads="1"/>
            </p:cNvSpPr>
            <p:nvPr/>
          </p:nvSpPr>
          <p:spPr bwMode="auto">
            <a:xfrm>
              <a:off x="1770" y="1860"/>
              <a:ext cx="384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grpSp>
        <p:nvGrpSpPr>
          <p:cNvPr id="6" name="Group 49"/>
          <p:cNvGrpSpPr>
            <a:grpSpLocks/>
          </p:cNvGrpSpPr>
          <p:nvPr/>
        </p:nvGrpSpPr>
        <p:grpSpPr bwMode="auto">
          <a:xfrm>
            <a:off x="4595814" y="2349503"/>
            <a:ext cx="1271588" cy="984251"/>
            <a:chOff x="1770" y="1480"/>
            <a:chExt cx="801" cy="620"/>
          </a:xfrm>
        </p:grpSpPr>
        <p:sp>
          <p:nvSpPr>
            <p:cNvPr id="29733" name="Text Box 50"/>
            <p:cNvSpPr txBox="1">
              <a:spLocks noChangeArrowheads="1"/>
            </p:cNvSpPr>
            <p:nvPr/>
          </p:nvSpPr>
          <p:spPr bwMode="auto">
            <a:xfrm>
              <a:off x="1800" y="1480"/>
              <a:ext cx="771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100" dirty="0"/>
                <a:t>número de bolas vermelhas na urna</a:t>
              </a:r>
            </a:p>
          </p:txBody>
        </p:sp>
        <p:sp>
          <p:nvSpPr>
            <p:cNvPr id="29734" name="Oval 51"/>
            <p:cNvSpPr>
              <a:spLocks noChangeArrowheads="1"/>
            </p:cNvSpPr>
            <p:nvPr/>
          </p:nvSpPr>
          <p:spPr bwMode="auto">
            <a:xfrm>
              <a:off x="1770" y="1860"/>
              <a:ext cx="384" cy="240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6942B7-70C4-4652-A545-EA23CECF51CC}" type="slidenum">
              <a:rPr lang="pt-BR"/>
              <a:pPr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2" grpId="0"/>
      <p:bldP spid="133134" grpId="0" autoUpdateAnimBg="0"/>
      <p:bldP spid="133135" grpId="0" autoUpdateAnimBg="0"/>
      <p:bldP spid="133140" grpId="0" autoUpdateAnimBg="0"/>
      <p:bldP spid="133144" grpId="0" autoUpdateAnimBg="0"/>
      <p:bldP spid="133150" grpId="0" autoUpdateAnimBg="0"/>
      <p:bldP spid="13315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Hipergeométrica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(sem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30724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30739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740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0741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0742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0743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0744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0745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0746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30725" name="Text Box 13"/>
          <p:cNvSpPr txBox="1">
            <a:spLocks noChangeArrowheads="1"/>
          </p:cNvSpPr>
          <p:nvPr/>
        </p:nvSpPr>
        <p:spPr bwMode="auto">
          <a:xfrm>
            <a:off x="838200" y="2971800"/>
            <a:ext cx="487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>
                <a:latin typeface="Times New Roman" pitchFamily="18" charset="0"/>
              </a:rPr>
              <a:t>: {1, 2, 3}</a:t>
            </a:r>
            <a:endParaRPr lang="pt-BR" altLang="pt-BR" sz="1600"/>
          </a:p>
        </p:txBody>
      </p:sp>
      <p:graphicFrame>
        <p:nvGraphicFramePr>
          <p:cNvPr id="30726" name="Object 42"/>
          <p:cNvGraphicFramePr>
            <a:graphicFrameLocks noChangeAspect="1"/>
          </p:cNvGraphicFramePr>
          <p:nvPr/>
        </p:nvGraphicFramePr>
        <p:xfrm>
          <a:off x="838200" y="3733800"/>
          <a:ext cx="1985963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7" name="Equation" r:id="rId3" imgW="1384300" imgH="914400" progId="Equation.DSMT4">
                  <p:embed/>
                </p:oleObj>
              </mc:Choice>
              <mc:Fallback>
                <p:oleObj name="Equation" r:id="rId3" imgW="1384300" imgH="9144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985963" cy="1308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6" name="Object 52"/>
          <p:cNvGraphicFramePr>
            <a:graphicFrameLocks noChangeAspect="1"/>
          </p:cNvGraphicFramePr>
          <p:nvPr/>
        </p:nvGraphicFramePr>
        <p:xfrm>
          <a:off x="914400" y="5324475"/>
          <a:ext cx="10525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8" name="Equation" r:id="rId5" imgW="736600" imgH="431800" progId="Equation.DSMT4">
                  <p:embed/>
                </p:oleObj>
              </mc:Choice>
              <mc:Fallback>
                <p:oleObj name="Equation" r:id="rId5" imgW="736600" imgH="4318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324475"/>
                        <a:ext cx="1052513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7" name="Object 53"/>
          <p:cNvGraphicFramePr>
            <a:graphicFrameLocks noChangeAspect="1"/>
          </p:cNvGraphicFramePr>
          <p:nvPr/>
        </p:nvGraphicFramePr>
        <p:xfrm>
          <a:off x="4267200" y="2590800"/>
          <a:ext cx="12033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9" name="Equation" r:id="rId7" imgW="837836" imgH="393529" progId="Equation.DSMT4">
                  <p:embed/>
                </p:oleObj>
              </mc:Choice>
              <mc:Fallback>
                <p:oleObj name="Equation" r:id="rId7" imgW="837836" imgH="393529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590800"/>
                        <a:ext cx="120332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58" name="Object 54"/>
          <p:cNvGraphicFramePr>
            <a:graphicFrameLocks noChangeAspect="1"/>
          </p:cNvGraphicFramePr>
          <p:nvPr/>
        </p:nvGraphicFramePr>
        <p:xfrm>
          <a:off x="4267200" y="3276600"/>
          <a:ext cx="26257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0" name="Equation" r:id="rId9" imgW="1828800" imgH="393700" progId="Equation.DSMT4">
                  <p:embed/>
                </p:oleObj>
              </mc:Choice>
              <mc:Fallback>
                <p:oleObj name="Equation" r:id="rId9" imgW="1828800" imgH="3937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76600"/>
                        <a:ext cx="262572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59" name="Text Box 55"/>
          <p:cNvSpPr txBox="1">
            <a:spLocks noChangeArrowheads="1"/>
          </p:cNvSpPr>
          <p:nvPr/>
        </p:nvSpPr>
        <p:spPr bwMode="auto">
          <a:xfrm>
            <a:off x="4175125" y="3962400"/>
            <a:ext cx="2895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OBS: se </a:t>
            </a:r>
            <a:r>
              <a:rPr lang="pt-BR" altLang="pt-BR" sz="1600" i="1">
                <a:latin typeface="Times New Roman" pitchFamily="18" charset="0"/>
              </a:rPr>
              <a:t>M</a:t>
            </a:r>
            <a:r>
              <a:rPr lang="pt-BR" altLang="pt-BR" sz="1600"/>
              <a:t> for muito grande:</a:t>
            </a:r>
          </a:p>
        </p:txBody>
      </p:sp>
      <p:graphicFrame>
        <p:nvGraphicFramePr>
          <p:cNvPr id="123960" name="Object 56"/>
          <p:cNvGraphicFramePr>
            <a:graphicFrameLocks noChangeAspect="1"/>
          </p:cNvGraphicFramePr>
          <p:nvPr/>
        </p:nvGraphicFramePr>
        <p:xfrm>
          <a:off x="4724400" y="4354513"/>
          <a:ext cx="784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1" name="Equation" r:id="rId11" imgW="545863" imgH="393529" progId="Equation.DSMT4">
                  <p:embed/>
                </p:oleObj>
              </mc:Choice>
              <mc:Fallback>
                <p:oleObj name="Equation" r:id="rId11" imgW="545863" imgH="393529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354513"/>
                        <a:ext cx="784225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61" name="Text Box 57"/>
          <p:cNvSpPr txBox="1">
            <a:spLocks noChangeArrowheads="1"/>
          </p:cNvSpPr>
          <p:nvPr/>
        </p:nvSpPr>
        <p:spPr bwMode="auto">
          <a:xfrm>
            <a:off x="5514975" y="4459288"/>
            <a:ext cx="26908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(probabilidade de sucesso)</a:t>
            </a:r>
          </a:p>
        </p:txBody>
      </p:sp>
      <p:graphicFrame>
        <p:nvGraphicFramePr>
          <p:cNvPr id="123962" name="Object 58"/>
          <p:cNvGraphicFramePr>
            <a:graphicFrameLocks noChangeAspect="1"/>
          </p:cNvGraphicFramePr>
          <p:nvPr/>
        </p:nvGraphicFramePr>
        <p:xfrm>
          <a:off x="4724400" y="4964113"/>
          <a:ext cx="11303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2" name="Equation" r:id="rId13" imgW="787058" imgH="393529" progId="Equation.DSMT4">
                  <p:embed/>
                </p:oleObj>
              </mc:Choice>
              <mc:Fallback>
                <p:oleObj name="Equation" r:id="rId13" imgW="787058" imgH="393529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964113"/>
                        <a:ext cx="1130300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63" name="Text Box 59"/>
          <p:cNvSpPr txBox="1">
            <a:spLocks noChangeArrowheads="1"/>
          </p:cNvSpPr>
          <p:nvPr/>
        </p:nvSpPr>
        <p:spPr bwMode="auto">
          <a:xfrm>
            <a:off x="5853113" y="5068888"/>
            <a:ext cx="2786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(probabilidade de fracasso)</a:t>
            </a:r>
          </a:p>
        </p:txBody>
      </p:sp>
      <p:graphicFrame>
        <p:nvGraphicFramePr>
          <p:cNvPr id="123964" name="Object 60"/>
          <p:cNvGraphicFramePr>
            <a:graphicFrameLocks noChangeAspect="1"/>
          </p:cNvGraphicFramePr>
          <p:nvPr/>
        </p:nvGraphicFramePr>
        <p:xfrm>
          <a:off x="4724400" y="5573713"/>
          <a:ext cx="10398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3" name="Equation" r:id="rId15" imgW="723586" imgH="393529" progId="Equation.DSMT4">
                  <p:embed/>
                </p:oleObj>
              </mc:Choice>
              <mc:Fallback>
                <p:oleObj name="Equation" r:id="rId15" imgW="723586" imgH="393529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573713"/>
                        <a:ext cx="1039813" cy="5619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966" name="Text Box 62"/>
          <p:cNvSpPr txBox="1">
            <a:spLocks noChangeArrowheads="1"/>
          </p:cNvSpPr>
          <p:nvPr/>
        </p:nvSpPr>
        <p:spPr bwMode="auto">
          <a:xfrm>
            <a:off x="4724400" y="6248400"/>
            <a:ext cx="2862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Hipergeométrica </a:t>
            </a:r>
            <a:r>
              <a:rPr lang="pt-BR" altLang="pt-BR" sz="1600">
                <a:sym typeface="Symbol" pitchFamily="18" charset="2"/>
              </a:rPr>
              <a:t> </a:t>
            </a:r>
            <a:r>
              <a:rPr lang="pt-BR" altLang="pt-BR" sz="1600"/>
              <a:t>Binomial</a:t>
            </a:r>
          </a:p>
        </p:txBody>
      </p:sp>
      <p:graphicFrame>
        <p:nvGraphicFramePr>
          <p:cNvPr id="123967" name="Object 63"/>
          <p:cNvGraphicFramePr>
            <a:graphicFrameLocks noChangeAspect="1"/>
          </p:cNvGraphicFramePr>
          <p:nvPr/>
        </p:nvGraphicFramePr>
        <p:xfrm>
          <a:off x="5965825" y="5699125"/>
          <a:ext cx="2717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4" name="Equation" r:id="rId17" imgW="1892300" imgH="203200" progId="Equation.DSMT4">
                  <p:embed/>
                </p:oleObj>
              </mc:Choice>
              <mc:Fallback>
                <p:oleObj name="Equation" r:id="rId17" imgW="1892300" imgH="2032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5699125"/>
                        <a:ext cx="2717800" cy="288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711D21-F4C6-43E9-A075-1EB66592441E}" type="slidenum">
              <a:rPr lang="pt-BR"/>
              <a:pPr>
                <a:defRPr/>
              </a:pPr>
              <a:t>28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59" grpId="0" autoUpdateAnimBg="0"/>
      <p:bldP spid="123961" grpId="0" autoUpdateAnimBg="0"/>
      <p:bldP spid="123963" grpId="0" autoUpdateAnimBg="0"/>
      <p:bldP spid="12396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Hipergeométrica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981200" y="1600200"/>
            <a:ext cx="6629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o experimento: retiram-se 3 bolas da urna (sem reposição). Define-se uma v.a. 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cujos valores representam o número total de bolas vermelhas dentre as 3 escolhidas.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838200" y="1447800"/>
            <a:ext cx="914400" cy="1295400"/>
            <a:chOff x="2688" y="3264"/>
            <a:chExt cx="576" cy="816"/>
          </a:xfrm>
        </p:grpSpPr>
        <p:sp>
          <p:nvSpPr>
            <p:cNvPr id="31762" name="Freeform 5"/>
            <p:cNvSpPr>
              <a:spLocks/>
            </p:cNvSpPr>
            <p:nvPr/>
          </p:nvSpPr>
          <p:spPr bwMode="auto">
            <a:xfrm>
              <a:off x="2688" y="3264"/>
              <a:ext cx="576" cy="816"/>
            </a:xfrm>
            <a:custGeom>
              <a:avLst/>
              <a:gdLst>
                <a:gd name="T0" fmla="*/ 0 w 576"/>
                <a:gd name="T1" fmla="*/ 0 h 816"/>
                <a:gd name="T2" fmla="*/ 0 w 576"/>
                <a:gd name="T3" fmla="*/ 816 h 816"/>
                <a:gd name="T4" fmla="*/ 576 w 576"/>
                <a:gd name="T5" fmla="*/ 816 h 816"/>
                <a:gd name="T6" fmla="*/ 576 w 57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816"/>
                <a:gd name="T14" fmla="*/ 576 w 57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816">
                  <a:moveTo>
                    <a:pt x="0" y="0"/>
                  </a:moveTo>
                  <a:lnTo>
                    <a:pt x="0" y="816"/>
                  </a:lnTo>
                  <a:lnTo>
                    <a:pt x="576" y="816"/>
                  </a:lnTo>
                  <a:lnTo>
                    <a:pt x="57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763" name="Oval 6"/>
            <p:cNvSpPr>
              <a:spLocks noChangeArrowheads="1"/>
            </p:cNvSpPr>
            <p:nvPr/>
          </p:nvSpPr>
          <p:spPr bwMode="auto">
            <a:xfrm>
              <a:off x="2784" y="336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1764" name="Oval 7"/>
            <p:cNvSpPr>
              <a:spLocks noChangeArrowheads="1"/>
            </p:cNvSpPr>
            <p:nvPr/>
          </p:nvSpPr>
          <p:spPr bwMode="auto">
            <a:xfrm>
              <a:off x="3024" y="348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1765" name="Oval 8"/>
            <p:cNvSpPr>
              <a:spLocks noChangeArrowheads="1"/>
            </p:cNvSpPr>
            <p:nvPr/>
          </p:nvSpPr>
          <p:spPr bwMode="auto">
            <a:xfrm>
              <a:off x="2784" y="3840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1766" name="Oval 9"/>
            <p:cNvSpPr>
              <a:spLocks noChangeArrowheads="1"/>
            </p:cNvSpPr>
            <p:nvPr/>
          </p:nvSpPr>
          <p:spPr bwMode="auto">
            <a:xfrm>
              <a:off x="2784" y="3600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1767" name="Oval 10"/>
            <p:cNvSpPr>
              <a:spLocks noChangeArrowheads="1"/>
            </p:cNvSpPr>
            <p:nvPr/>
          </p:nvSpPr>
          <p:spPr bwMode="auto">
            <a:xfrm>
              <a:off x="3024" y="3696"/>
              <a:ext cx="144" cy="144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1768" name="Oval 11"/>
            <p:cNvSpPr>
              <a:spLocks noChangeArrowheads="1"/>
            </p:cNvSpPr>
            <p:nvPr/>
          </p:nvSpPr>
          <p:spPr bwMode="auto">
            <a:xfrm>
              <a:off x="3024" y="3264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1769" name="Oval 12"/>
            <p:cNvSpPr>
              <a:spLocks noChangeArrowheads="1"/>
            </p:cNvSpPr>
            <p:nvPr/>
          </p:nvSpPr>
          <p:spPr bwMode="auto">
            <a:xfrm>
              <a:off x="3024" y="3912"/>
              <a:ext cx="144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graphicFrame>
        <p:nvGraphicFramePr>
          <p:cNvPr id="31749" name="Object 14"/>
          <p:cNvGraphicFramePr>
            <a:graphicFrameLocks noChangeAspect="1"/>
          </p:cNvGraphicFramePr>
          <p:nvPr/>
        </p:nvGraphicFramePr>
        <p:xfrm>
          <a:off x="2166938" y="2652713"/>
          <a:ext cx="198755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0" name="Equation" r:id="rId3" imgW="1384300" imgH="914400" progId="Equation.DSMT4">
                  <p:embed/>
                </p:oleObj>
              </mc:Choice>
              <mc:Fallback>
                <p:oleObj name="Equation" r:id="rId3" imgW="1384300" imgH="914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2652713"/>
                        <a:ext cx="1987550" cy="1308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3" name="Object 15"/>
          <p:cNvGraphicFramePr>
            <a:graphicFrameLocks noChangeAspect="1"/>
          </p:cNvGraphicFramePr>
          <p:nvPr/>
        </p:nvGraphicFramePr>
        <p:xfrm>
          <a:off x="2166938" y="4132263"/>
          <a:ext cx="11985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1" name="Equation" r:id="rId5" imgW="837836" imgH="393529" progId="Equation.DSMT4">
                  <p:embed/>
                </p:oleObj>
              </mc:Choice>
              <mc:Fallback>
                <p:oleObj name="Equation" r:id="rId5" imgW="837836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132263"/>
                        <a:ext cx="11985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4" name="Object 16"/>
          <p:cNvGraphicFramePr>
            <a:graphicFrameLocks noChangeAspect="1"/>
          </p:cNvGraphicFramePr>
          <p:nvPr/>
        </p:nvGraphicFramePr>
        <p:xfrm>
          <a:off x="2166938" y="4827588"/>
          <a:ext cx="26146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7" imgW="1828800" imgH="393700" progId="Equation.DSMT4">
                  <p:embed/>
                </p:oleObj>
              </mc:Choice>
              <mc:Fallback>
                <p:oleObj name="Equation" r:id="rId7" imgW="1828800" imgH="393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827588"/>
                        <a:ext cx="26146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17"/>
          <p:cNvSpPr txBox="1">
            <a:spLocks noChangeArrowheads="1"/>
          </p:cNvSpPr>
          <p:nvPr/>
        </p:nvSpPr>
        <p:spPr bwMode="auto">
          <a:xfrm>
            <a:off x="838200" y="2971800"/>
            <a:ext cx="9144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M</a:t>
            </a:r>
            <a:r>
              <a:rPr lang="pt-BR" altLang="pt-BR" sz="1600">
                <a:latin typeface="Times New Roman" pitchFamily="18" charset="0"/>
              </a:rPr>
              <a:t> = 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K</a:t>
            </a:r>
            <a:r>
              <a:rPr lang="pt-BR" altLang="pt-BR" sz="1600">
                <a:latin typeface="Times New Roman" pitchFamily="18" charset="0"/>
              </a:rPr>
              <a:t> = 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3</a:t>
            </a:r>
          </a:p>
        </p:txBody>
      </p:sp>
      <p:graphicFrame>
        <p:nvGraphicFramePr>
          <p:cNvPr id="124946" name="Object 18"/>
          <p:cNvGraphicFramePr>
            <a:graphicFrameLocks noChangeAspect="1"/>
          </p:cNvGraphicFramePr>
          <p:nvPr/>
        </p:nvGraphicFramePr>
        <p:xfrm>
          <a:off x="4135438" y="2655888"/>
          <a:ext cx="1274762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9" imgW="889000" imgH="914400" progId="Equation.DSMT4">
                  <p:embed/>
                </p:oleObj>
              </mc:Choice>
              <mc:Fallback>
                <p:oleObj name="Equation" r:id="rId9" imgW="889000" imgH="914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8" y="2655888"/>
                        <a:ext cx="1274762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7" name="Object 19"/>
          <p:cNvGraphicFramePr>
            <a:graphicFrameLocks noChangeAspect="1"/>
          </p:cNvGraphicFramePr>
          <p:nvPr/>
        </p:nvGraphicFramePr>
        <p:xfrm>
          <a:off x="3354388" y="4132263"/>
          <a:ext cx="121761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4" name="Equation" r:id="rId11" imgW="850531" imgH="393529" progId="Equation.DSMT4">
                  <p:embed/>
                </p:oleObj>
              </mc:Choice>
              <mc:Fallback>
                <p:oleObj name="Equation" r:id="rId11" imgW="850531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4132263"/>
                        <a:ext cx="121761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8" name="Object 20"/>
          <p:cNvGraphicFramePr>
            <a:graphicFrameLocks noChangeAspect="1"/>
          </p:cNvGraphicFramePr>
          <p:nvPr/>
        </p:nvGraphicFramePr>
        <p:xfrm>
          <a:off x="4772025" y="4829175"/>
          <a:ext cx="21637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5" name="Equation" r:id="rId13" imgW="1511300" imgH="393700" progId="Equation.DSMT4">
                  <p:embed/>
                </p:oleObj>
              </mc:Choice>
              <mc:Fallback>
                <p:oleObj name="Equation" r:id="rId13" imgW="1511300" imgH="3937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2025" y="4829175"/>
                        <a:ext cx="21637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50" name="Text Box 22"/>
          <p:cNvSpPr txBox="1">
            <a:spLocks noChangeArrowheads="1"/>
          </p:cNvSpPr>
          <p:nvPr/>
        </p:nvSpPr>
        <p:spPr bwMode="auto">
          <a:xfrm>
            <a:off x="5600700" y="3063875"/>
            <a:ext cx="17526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700" i="1">
                <a:latin typeface="Times New Roman" pitchFamily="18" charset="0"/>
              </a:rPr>
              <a:t>X</a:t>
            </a:r>
            <a:r>
              <a:rPr lang="pt-BR" altLang="pt-BR" sz="1700">
                <a:latin typeface="Times New Roman" pitchFamily="18" charset="0"/>
              </a:rPr>
              <a:t>: {?, ..., </a:t>
            </a:r>
            <a:r>
              <a:rPr lang="pt-BR" altLang="pt-BR" sz="1700">
                <a:latin typeface="Times New Roman" pitchFamily="18" charset="0"/>
                <a:sym typeface="Symbol" pitchFamily="18" charset="2"/>
              </a:rPr>
              <a:t>?</a:t>
            </a:r>
            <a:r>
              <a:rPr lang="pt-BR" altLang="pt-BR" sz="1700">
                <a:latin typeface="Times New Roman" pitchFamily="18" charset="0"/>
              </a:rPr>
              <a:t>}</a:t>
            </a:r>
          </a:p>
        </p:txBody>
      </p:sp>
      <p:graphicFrame>
        <p:nvGraphicFramePr>
          <p:cNvPr id="124949" name="Object 21"/>
          <p:cNvGraphicFramePr>
            <a:graphicFrameLocks noChangeAspect="1"/>
          </p:cNvGraphicFramePr>
          <p:nvPr/>
        </p:nvGraphicFramePr>
        <p:xfrm>
          <a:off x="5638800" y="3124200"/>
          <a:ext cx="33686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6" name="Equation" r:id="rId15" imgW="2349500" imgH="203200" progId="Equation.DSMT4">
                  <p:embed/>
                </p:oleObj>
              </mc:Choice>
              <mc:Fallback>
                <p:oleObj name="Equation" r:id="rId15" imgW="2349500" imgH="203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124200"/>
                        <a:ext cx="3368675" cy="2905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3"/>
          <p:cNvGrpSpPr>
            <a:grpSpLocks/>
          </p:cNvGrpSpPr>
          <p:nvPr/>
        </p:nvGrpSpPr>
        <p:grpSpPr bwMode="auto">
          <a:xfrm>
            <a:off x="5594350" y="3000375"/>
            <a:ext cx="3335338" cy="500063"/>
            <a:chOff x="5593648" y="3000372"/>
            <a:chExt cx="3336070" cy="500066"/>
          </a:xfrm>
        </p:grpSpPr>
        <p:sp>
          <p:nvSpPr>
            <p:cNvPr id="23" name="Retângulo 22"/>
            <p:cNvSpPr/>
            <p:nvPr/>
          </p:nvSpPr>
          <p:spPr>
            <a:xfrm>
              <a:off x="5642872" y="3000372"/>
              <a:ext cx="3286846" cy="5000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31761" name="Text Box 35"/>
            <p:cNvSpPr txBox="1">
              <a:spLocks noChangeArrowheads="1"/>
            </p:cNvSpPr>
            <p:nvPr/>
          </p:nvSpPr>
          <p:spPr bwMode="auto">
            <a:xfrm>
              <a:off x="5593648" y="3086285"/>
              <a:ext cx="1752600" cy="3365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: {1, 2, 3}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DEA4EE-0B43-47BD-9F35-3BAE0F490975}" type="slidenum">
              <a:rPr lang="pt-BR"/>
              <a:pPr>
                <a:defRPr/>
              </a:pPr>
              <a:t>29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0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Suponha que uma central telefônica recebeu 270 chamadas num período de 3 horas, ou seja, 1,5 chamadas por minuto. Deseja-se calcular a probabilidade de que nos próximos 3 minutos sejam recebidas 0, 1, 2, etc chamadas.</a:t>
            </a:r>
          </a:p>
        </p:txBody>
      </p:sp>
      <p:sp>
        <p:nvSpPr>
          <p:cNvPr id="126010" name="Text Box 58"/>
          <p:cNvSpPr txBox="1">
            <a:spLocks noChangeArrowheads="1"/>
          </p:cNvSpPr>
          <p:nvPr/>
        </p:nvSpPr>
        <p:spPr bwMode="auto">
          <a:xfrm>
            <a:off x="762000" y="24511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que a qualquer instante, uma chamada é tão provável de ocorrer como em qualquer outro instante e assim, a probabilidade permanece constante. </a:t>
            </a:r>
          </a:p>
        </p:txBody>
      </p:sp>
      <p:grpSp>
        <p:nvGrpSpPr>
          <p:cNvPr id="2" name="Group 76"/>
          <p:cNvGrpSpPr>
            <a:grpSpLocks/>
          </p:cNvGrpSpPr>
          <p:nvPr/>
        </p:nvGrpSpPr>
        <p:grpSpPr bwMode="auto">
          <a:xfrm>
            <a:off x="773113" y="3470275"/>
            <a:ext cx="3706812" cy="568325"/>
            <a:chOff x="487" y="2186"/>
            <a:chExt cx="2335" cy="358"/>
          </a:xfrm>
        </p:grpSpPr>
        <p:grpSp>
          <p:nvGrpSpPr>
            <p:cNvPr id="32783" name="Group 72"/>
            <p:cNvGrpSpPr>
              <a:grpSpLocks/>
            </p:cNvGrpSpPr>
            <p:nvPr/>
          </p:nvGrpSpPr>
          <p:grpSpPr bwMode="auto">
            <a:xfrm>
              <a:off x="576" y="2400"/>
              <a:ext cx="1920" cy="144"/>
              <a:chOff x="576" y="2208"/>
              <a:chExt cx="1920" cy="144"/>
            </a:xfrm>
          </p:grpSpPr>
          <p:grpSp>
            <p:nvGrpSpPr>
              <p:cNvPr id="32788" name="Group 69"/>
              <p:cNvGrpSpPr>
                <a:grpSpLocks/>
              </p:cNvGrpSpPr>
              <p:nvPr/>
            </p:nvGrpSpPr>
            <p:grpSpPr bwMode="auto">
              <a:xfrm>
                <a:off x="576" y="2208"/>
                <a:ext cx="1920" cy="144"/>
                <a:chOff x="576" y="2208"/>
                <a:chExt cx="1920" cy="144"/>
              </a:xfrm>
            </p:grpSpPr>
            <p:sp>
              <p:nvSpPr>
                <p:cNvPr id="32790" name="Line 59"/>
                <p:cNvSpPr>
                  <a:spLocks noChangeShapeType="1"/>
                </p:cNvSpPr>
                <p:nvPr/>
              </p:nvSpPr>
              <p:spPr bwMode="auto">
                <a:xfrm>
                  <a:off x="576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1" name="Line 60"/>
                <p:cNvSpPr>
                  <a:spLocks noChangeShapeType="1"/>
                </p:cNvSpPr>
                <p:nvPr/>
              </p:nvSpPr>
              <p:spPr bwMode="auto">
                <a:xfrm>
                  <a:off x="789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2" name="Line 61"/>
                <p:cNvSpPr>
                  <a:spLocks noChangeShapeType="1"/>
                </p:cNvSpPr>
                <p:nvPr/>
              </p:nvSpPr>
              <p:spPr bwMode="auto">
                <a:xfrm>
                  <a:off x="1002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3" name="Line 62"/>
                <p:cNvSpPr>
                  <a:spLocks noChangeShapeType="1"/>
                </p:cNvSpPr>
                <p:nvPr/>
              </p:nvSpPr>
              <p:spPr bwMode="auto">
                <a:xfrm>
                  <a:off x="1216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4" name="Line 63"/>
                <p:cNvSpPr>
                  <a:spLocks noChangeShapeType="1"/>
                </p:cNvSpPr>
                <p:nvPr/>
              </p:nvSpPr>
              <p:spPr bwMode="auto">
                <a:xfrm>
                  <a:off x="1429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5" name="Line 64"/>
                <p:cNvSpPr>
                  <a:spLocks noChangeShapeType="1"/>
                </p:cNvSpPr>
                <p:nvPr/>
              </p:nvSpPr>
              <p:spPr bwMode="auto">
                <a:xfrm>
                  <a:off x="1642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6" name="Line 65"/>
                <p:cNvSpPr>
                  <a:spLocks noChangeShapeType="1"/>
                </p:cNvSpPr>
                <p:nvPr/>
              </p:nvSpPr>
              <p:spPr bwMode="auto">
                <a:xfrm>
                  <a:off x="1856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7" name="Line 66"/>
                <p:cNvSpPr>
                  <a:spLocks noChangeShapeType="1"/>
                </p:cNvSpPr>
                <p:nvPr/>
              </p:nvSpPr>
              <p:spPr bwMode="auto">
                <a:xfrm>
                  <a:off x="2069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8" name="Line 67"/>
                <p:cNvSpPr>
                  <a:spLocks noChangeShapeType="1"/>
                </p:cNvSpPr>
                <p:nvPr/>
              </p:nvSpPr>
              <p:spPr bwMode="auto">
                <a:xfrm>
                  <a:off x="2282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2799" name="Line 68"/>
                <p:cNvSpPr>
                  <a:spLocks noChangeShapeType="1"/>
                </p:cNvSpPr>
                <p:nvPr/>
              </p:nvSpPr>
              <p:spPr bwMode="auto">
                <a:xfrm>
                  <a:off x="2496" y="2208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32789" name="Line 70"/>
              <p:cNvSpPr>
                <a:spLocks noChangeShapeType="1"/>
              </p:cNvSpPr>
              <p:nvPr/>
            </p:nvSpPr>
            <p:spPr bwMode="auto">
              <a:xfrm>
                <a:off x="576" y="2280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32784" name="Text Box 71"/>
            <p:cNvSpPr txBox="1">
              <a:spLocks noChangeArrowheads="1"/>
            </p:cNvSpPr>
            <p:nvPr/>
          </p:nvSpPr>
          <p:spPr bwMode="auto">
            <a:xfrm>
              <a:off x="487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2785" name="Text Box 73"/>
            <p:cNvSpPr txBox="1">
              <a:spLocks noChangeArrowheads="1"/>
            </p:cNvSpPr>
            <p:nvPr/>
          </p:nvSpPr>
          <p:spPr bwMode="auto">
            <a:xfrm>
              <a:off x="1128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2786" name="Text Box 74"/>
            <p:cNvSpPr txBox="1">
              <a:spLocks noChangeArrowheads="1"/>
            </p:cNvSpPr>
            <p:nvPr/>
          </p:nvSpPr>
          <p:spPr bwMode="auto">
            <a:xfrm>
              <a:off x="1769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2787" name="Text Box 75"/>
            <p:cNvSpPr txBox="1">
              <a:spLocks noChangeArrowheads="1"/>
            </p:cNvSpPr>
            <p:nvPr/>
          </p:nvSpPr>
          <p:spPr bwMode="auto">
            <a:xfrm>
              <a:off x="2410" y="2186"/>
              <a:ext cx="4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3 min</a:t>
              </a:r>
            </a:p>
          </p:txBody>
        </p:sp>
      </p:grpSp>
      <p:sp>
        <p:nvSpPr>
          <p:cNvPr id="126029" name="Text Box 77"/>
          <p:cNvSpPr txBox="1">
            <a:spLocks noChangeArrowheads="1"/>
          </p:cNvSpPr>
          <p:nvPr/>
        </p:nvSpPr>
        <p:spPr bwMode="auto">
          <a:xfrm>
            <a:off x="4648200" y="3181350"/>
            <a:ext cx="41148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Pode-se considerar cada intervalo como uma Bernoulli, sendo sucesso receber uma chamada e fracasso não receber nenhuma chamada.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Sendo assim, quanto vale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</a:t>
            </a: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(sucesso)</a:t>
            </a:r>
            <a:r>
              <a:rPr lang="pt-BR" altLang="pt-BR" sz="1600"/>
              <a:t>?</a:t>
            </a:r>
          </a:p>
        </p:txBody>
      </p:sp>
      <p:graphicFrame>
        <p:nvGraphicFramePr>
          <p:cNvPr id="126030" name="Object 78"/>
          <p:cNvGraphicFramePr>
            <a:graphicFrameLocks noChangeAspect="1"/>
          </p:cNvGraphicFramePr>
          <p:nvPr/>
        </p:nvGraphicFramePr>
        <p:xfrm>
          <a:off x="838200" y="4724400"/>
          <a:ext cx="746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0" name="Equation" r:id="rId3" imgW="520474" imgH="203112" progId="Equation.DSMT4">
                  <p:embed/>
                </p:oleObj>
              </mc:Choice>
              <mc:Fallback>
                <p:oleObj name="Equation" r:id="rId3" imgW="520474" imgH="203112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724400"/>
                        <a:ext cx="746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31" name="Object 79"/>
          <p:cNvGraphicFramePr>
            <a:graphicFrameLocks noChangeAspect="1"/>
          </p:cNvGraphicFramePr>
          <p:nvPr/>
        </p:nvGraphicFramePr>
        <p:xfrm>
          <a:off x="1555750" y="4719638"/>
          <a:ext cx="344488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1" name="Equation" r:id="rId5" imgW="241195" imgH="203112" progId="Equation.DSMT4">
                  <p:embed/>
                </p:oleObj>
              </mc:Choice>
              <mc:Fallback>
                <p:oleObj name="Equation" r:id="rId5" imgW="241195" imgH="203112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0" y="4719638"/>
                        <a:ext cx="344488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033" name="Text Box 81"/>
          <p:cNvSpPr txBox="1">
            <a:spLocks noChangeArrowheads="1"/>
          </p:cNvSpPr>
          <p:nvPr/>
        </p:nvSpPr>
        <p:spPr bwMode="auto">
          <a:xfrm>
            <a:off x="790575" y="4999038"/>
            <a:ext cx="1778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como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9</a:t>
            </a:r>
            <a:r>
              <a:rPr lang="pt-BR" altLang="pt-BR" sz="1600"/>
              <a:t>, então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np</a:t>
            </a:r>
            <a:r>
              <a:rPr lang="pt-BR" altLang="pt-BR" sz="1600">
                <a:latin typeface="Times New Roman" pitchFamily="18" charset="0"/>
              </a:rPr>
              <a:t> = 4,5</a:t>
            </a:r>
            <a:endParaRPr lang="pt-BR" altLang="pt-BR" sz="1600" i="1">
              <a:latin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portanto</a:t>
            </a:r>
            <a:r>
              <a:rPr lang="pt-BR" altLang="pt-BR" sz="1600" i="1">
                <a:latin typeface="Times New Roman" pitchFamily="18" charset="0"/>
              </a:rPr>
              <a:t> p</a:t>
            </a:r>
            <a:r>
              <a:rPr lang="pt-BR" altLang="pt-BR" sz="1600">
                <a:latin typeface="Times New Roman" pitchFamily="18" charset="0"/>
              </a:rPr>
              <a:t> = 0,5</a:t>
            </a:r>
          </a:p>
        </p:txBody>
      </p:sp>
      <p:graphicFrame>
        <p:nvGraphicFramePr>
          <p:cNvPr id="126034" name="Object 82"/>
          <p:cNvGraphicFramePr>
            <a:graphicFrameLocks noChangeAspect="1"/>
          </p:cNvGraphicFramePr>
          <p:nvPr/>
        </p:nvGraphicFramePr>
        <p:xfrm>
          <a:off x="838200" y="6057900"/>
          <a:ext cx="671513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2" name="Equation" r:id="rId7" imgW="469696" imgH="203112" progId="Equation.DSMT4">
                  <p:embed/>
                </p:oleObj>
              </mc:Choice>
              <mc:Fallback>
                <p:oleObj name="Equation" r:id="rId7" imgW="469696" imgH="203112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6057900"/>
                        <a:ext cx="671513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35" name="Object 83"/>
          <p:cNvGraphicFramePr>
            <a:graphicFrameLocks noChangeAspect="1"/>
          </p:cNvGraphicFramePr>
          <p:nvPr/>
        </p:nvGraphicFramePr>
        <p:xfrm>
          <a:off x="1524000" y="5876925"/>
          <a:ext cx="276066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3" name="Equation" r:id="rId9" imgW="1930400" imgH="457200" progId="Equation.DSMT4">
                  <p:embed/>
                </p:oleObj>
              </mc:Choice>
              <mc:Fallback>
                <p:oleObj name="Equation" r:id="rId9" imgW="1930400" imgH="4572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876925"/>
                        <a:ext cx="276066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036" name="Text Box 84"/>
          <p:cNvSpPr txBox="1">
            <a:spLocks noChangeArrowheads="1"/>
          </p:cNvSpPr>
          <p:nvPr/>
        </p:nvSpPr>
        <p:spPr bwMode="auto">
          <a:xfrm>
            <a:off x="4876800" y="5638800"/>
            <a:ext cx="39020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</a:rPr>
              <a:t>Problema</a:t>
            </a:r>
            <a:r>
              <a:rPr lang="pt-BR" altLang="pt-BR" sz="1600"/>
              <a:t>: não considera a possibilidade de 2 ou mais chamadas dentro do mesmo intervalo!</a:t>
            </a:r>
          </a:p>
        </p:txBody>
      </p:sp>
      <p:sp>
        <p:nvSpPr>
          <p:cNvPr id="126037" name="Rectangle 85"/>
          <p:cNvSpPr>
            <a:spLocks noChangeArrowheads="1"/>
          </p:cNvSpPr>
          <p:nvPr/>
        </p:nvSpPr>
        <p:spPr bwMode="auto">
          <a:xfrm>
            <a:off x="3902075" y="4676775"/>
            <a:ext cx="5089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(</a:t>
            </a:r>
            <a:r>
              <a:rPr lang="pt-BR" altLang="pt-BR" sz="1600" i="1">
                <a:latin typeface="Times New Roman" pitchFamily="18" charset="0"/>
              </a:rPr>
              <a:t>X</a:t>
            </a:r>
            <a:r>
              <a:rPr lang="pt-BR" altLang="pt-BR" sz="1600"/>
              <a:t> é o número de chamadas recebidas em 3 minutos)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2201D5-C980-4A37-B594-1A15A1E6AFA9}" type="slidenum">
              <a:rPr lang="pt-BR"/>
              <a:pPr>
                <a:defRPr/>
              </a:pPr>
              <a:t>30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10" grpId="0" autoUpdateAnimBg="0"/>
      <p:bldP spid="126029" grpId="0" build="p" autoUpdateAnimBg="0"/>
      <p:bldP spid="126033" grpId="0" build="p" autoUpdateAnimBg="0"/>
      <p:bldP spid="126036" grpId="0" autoUpdateAnimBg="0"/>
      <p:bldP spid="12603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Suponha que uma central telefônica recebeu 270 chamadas num período de 3 horas, ou seja, 1,5 chamadas por minuto. Deseja-se calcular a probabilidade de que nos próximos 3 minutos sejam recebidas 0, 1, 2, etc chamadas.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762000" y="24511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que a qualquer instante, uma chamada é tão provável de ocorrer como em qualquer outro instante e assim, a probabilidade permanece constante. </a:t>
            </a:r>
          </a:p>
        </p:txBody>
      </p:sp>
      <p:graphicFrame>
        <p:nvGraphicFramePr>
          <p:cNvPr id="127000" name="Object 24"/>
          <p:cNvGraphicFramePr>
            <a:graphicFrameLocks noChangeAspect="1"/>
          </p:cNvGraphicFramePr>
          <p:nvPr/>
        </p:nvGraphicFramePr>
        <p:xfrm>
          <a:off x="835025" y="4724400"/>
          <a:ext cx="10731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0" name="Equation" r:id="rId3" imgW="748975" imgH="203112" progId="Equation.DSMT4">
                  <p:embed/>
                </p:oleObj>
              </mc:Choice>
              <mc:Fallback>
                <p:oleObj name="Equation" r:id="rId3" imgW="748975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4724400"/>
                        <a:ext cx="10731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003" name="Text Box 27"/>
          <p:cNvSpPr txBox="1">
            <a:spLocks noChangeArrowheads="1"/>
          </p:cNvSpPr>
          <p:nvPr/>
        </p:nvSpPr>
        <p:spPr bwMode="auto">
          <a:xfrm>
            <a:off x="790575" y="4999038"/>
            <a:ext cx="1879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como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>
                <a:latin typeface="Times New Roman" pitchFamily="18" charset="0"/>
              </a:rPr>
              <a:t> = 18</a:t>
            </a:r>
            <a:r>
              <a:rPr lang="pt-BR" altLang="pt-BR" sz="1600"/>
              <a:t>, então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p</a:t>
            </a:r>
            <a:r>
              <a:rPr lang="pt-BR" altLang="pt-BR" sz="1600">
                <a:latin typeface="Times New Roman" pitchFamily="18" charset="0"/>
              </a:rPr>
              <a:t> = 0,25</a:t>
            </a:r>
          </a:p>
        </p:txBody>
      </p:sp>
      <p:graphicFrame>
        <p:nvGraphicFramePr>
          <p:cNvPr id="127004" name="Object 28"/>
          <p:cNvGraphicFramePr>
            <a:graphicFrameLocks noChangeAspect="1"/>
          </p:cNvGraphicFramePr>
          <p:nvPr/>
        </p:nvGraphicFramePr>
        <p:xfrm>
          <a:off x="838200" y="5942013"/>
          <a:ext cx="6715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1" name="Equation" r:id="rId5" imgW="469696" imgH="203112" progId="Equation.DSMT4">
                  <p:embed/>
                </p:oleObj>
              </mc:Choice>
              <mc:Fallback>
                <p:oleObj name="Equation" r:id="rId5" imgW="469696" imgH="20311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942013"/>
                        <a:ext cx="671513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005" name="Object 29"/>
          <p:cNvGraphicFramePr>
            <a:graphicFrameLocks noChangeAspect="1"/>
          </p:cNvGraphicFramePr>
          <p:nvPr/>
        </p:nvGraphicFramePr>
        <p:xfrm>
          <a:off x="1508125" y="5761038"/>
          <a:ext cx="19970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2" name="Equation" r:id="rId7" imgW="1397000" imgH="457200" progId="Equation.DSMT4">
                  <p:embed/>
                </p:oleObj>
              </mc:Choice>
              <mc:Fallback>
                <p:oleObj name="Equation" r:id="rId7" imgW="1397000" imgH="4572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5761038"/>
                        <a:ext cx="19970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006" name="Text Box 30"/>
          <p:cNvSpPr txBox="1">
            <a:spLocks noChangeArrowheads="1"/>
          </p:cNvSpPr>
          <p:nvPr/>
        </p:nvSpPr>
        <p:spPr bwMode="auto">
          <a:xfrm>
            <a:off x="4876800" y="5638800"/>
            <a:ext cx="39020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</a:rPr>
              <a:t>Problema</a:t>
            </a:r>
            <a:r>
              <a:rPr lang="pt-BR" altLang="pt-BR" sz="1600"/>
              <a:t>: não considera a possibilidade de 2 ou mais chamadas dentro do mesmo intervalo!</a:t>
            </a:r>
          </a:p>
        </p:txBody>
      </p:sp>
      <p:grpSp>
        <p:nvGrpSpPr>
          <p:cNvPr id="33802" name="Group 43"/>
          <p:cNvGrpSpPr>
            <a:grpSpLocks/>
          </p:cNvGrpSpPr>
          <p:nvPr/>
        </p:nvGrpSpPr>
        <p:grpSpPr bwMode="auto">
          <a:xfrm>
            <a:off x="773113" y="3470275"/>
            <a:ext cx="3706812" cy="568325"/>
            <a:chOff x="487" y="2186"/>
            <a:chExt cx="2335" cy="358"/>
          </a:xfrm>
        </p:grpSpPr>
        <p:sp>
          <p:nvSpPr>
            <p:cNvPr id="33804" name="Text Box 19"/>
            <p:cNvSpPr txBox="1">
              <a:spLocks noChangeArrowheads="1"/>
            </p:cNvSpPr>
            <p:nvPr/>
          </p:nvSpPr>
          <p:spPr bwMode="auto">
            <a:xfrm>
              <a:off x="487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3805" name="Text Box 20"/>
            <p:cNvSpPr txBox="1">
              <a:spLocks noChangeArrowheads="1"/>
            </p:cNvSpPr>
            <p:nvPr/>
          </p:nvSpPr>
          <p:spPr bwMode="auto">
            <a:xfrm>
              <a:off x="1128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3806" name="Text Box 21"/>
            <p:cNvSpPr txBox="1">
              <a:spLocks noChangeArrowheads="1"/>
            </p:cNvSpPr>
            <p:nvPr/>
          </p:nvSpPr>
          <p:spPr bwMode="auto">
            <a:xfrm>
              <a:off x="1769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3807" name="Text Box 22"/>
            <p:cNvSpPr txBox="1">
              <a:spLocks noChangeArrowheads="1"/>
            </p:cNvSpPr>
            <p:nvPr/>
          </p:nvSpPr>
          <p:spPr bwMode="auto">
            <a:xfrm>
              <a:off x="2410" y="2186"/>
              <a:ext cx="4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3 min</a:t>
              </a:r>
            </a:p>
          </p:txBody>
        </p:sp>
        <p:grpSp>
          <p:nvGrpSpPr>
            <p:cNvPr id="33808" name="Group 42"/>
            <p:cNvGrpSpPr>
              <a:grpSpLocks/>
            </p:cNvGrpSpPr>
            <p:nvPr/>
          </p:nvGrpSpPr>
          <p:grpSpPr bwMode="auto">
            <a:xfrm>
              <a:off x="576" y="2400"/>
              <a:ext cx="1920" cy="144"/>
              <a:chOff x="576" y="2400"/>
              <a:chExt cx="1920" cy="144"/>
            </a:xfrm>
          </p:grpSpPr>
          <p:sp>
            <p:nvSpPr>
              <p:cNvPr id="33809" name="Line 18"/>
              <p:cNvSpPr>
                <a:spLocks noChangeShapeType="1"/>
              </p:cNvSpPr>
              <p:nvPr/>
            </p:nvSpPr>
            <p:spPr bwMode="auto">
              <a:xfrm>
                <a:off x="576" y="2472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33810" name="Group 41"/>
              <p:cNvGrpSpPr>
                <a:grpSpLocks/>
              </p:cNvGrpSpPr>
              <p:nvPr/>
            </p:nvGrpSpPr>
            <p:grpSpPr bwMode="auto">
              <a:xfrm>
                <a:off x="576" y="2400"/>
                <a:ext cx="1920" cy="144"/>
                <a:chOff x="576" y="2400"/>
                <a:chExt cx="1920" cy="144"/>
              </a:xfrm>
            </p:grpSpPr>
            <p:sp>
              <p:nvSpPr>
                <p:cNvPr id="33811" name="Line 8"/>
                <p:cNvSpPr>
                  <a:spLocks noChangeShapeType="1"/>
                </p:cNvSpPr>
                <p:nvPr/>
              </p:nvSpPr>
              <p:spPr bwMode="auto">
                <a:xfrm>
                  <a:off x="57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2" name="Line 9"/>
                <p:cNvSpPr>
                  <a:spLocks noChangeShapeType="1"/>
                </p:cNvSpPr>
                <p:nvPr/>
              </p:nvSpPr>
              <p:spPr bwMode="auto">
                <a:xfrm>
                  <a:off x="789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3" name="Line 10"/>
                <p:cNvSpPr>
                  <a:spLocks noChangeShapeType="1"/>
                </p:cNvSpPr>
                <p:nvPr/>
              </p:nvSpPr>
              <p:spPr bwMode="auto">
                <a:xfrm>
                  <a:off x="1002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4" name="Line 11"/>
                <p:cNvSpPr>
                  <a:spLocks noChangeShapeType="1"/>
                </p:cNvSpPr>
                <p:nvPr/>
              </p:nvSpPr>
              <p:spPr bwMode="auto">
                <a:xfrm>
                  <a:off x="121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5" name="Line 12"/>
                <p:cNvSpPr>
                  <a:spLocks noChangeShapeType="1"/>
                </p:cNvSpPr>
                <p:nvPr/>
              </p:nvSpPr>
              <p:spPr bwMode="auto">
                <a:xfrm>
                  <a:off x="1429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6" name="Line 13"/>
                <p:cNvSpPr>
                  <a:spLocks noChangeShapeType="1"/>
                </p:cNvSpPr>
                <p:nvPr/>
              </p:nvSpPr>
              <p:spPr bwMode="auto">
                <a:xfrm>
                  <a:off x="1642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7" name="Line 14"/>
                <p:cNvSpPr>
                  <a:spLocks noChangeShapeType="1"/>
                </p:cNvSpPr>
                <p:nvPr/>
              </p:nvSpPr>
              <p:spPr bwMode="auto">
                <a:xfrm>
                  <a:off x="185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8" name="Line 15"/>
                <p:cNvSpPr>
                  <a:spLocks noChangeShapeType="1"/>
                </p:cNvSpPr>
                <p:nvPr/>
              </p:nvSpPr>
              <p:spPr bwMode="auto">
                <a:xfrm>
                  <a:off x="2069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19" name="Line 16"/>
                <p:cNvSpPr>
                  <a:spLocks noChangeShapeType="1"/>
                </p:cNvSpPr>
                <p:nvPr/>
              </p:nvSpPr>
              <p:spPr bwMode="auto">
                <a:xfrm>
                  <a:off x="2282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0" name="Line 17"/>
                <p:cNvSpPr>
                  <a:spLocks noChangeShapeType="1"/>
                </p:cNvSpPr>
                <p:nvPr/>
              </p:nvSpPr>
              <p:spPr bwMode="auto">
                <a:xfrm>
                  <a:off x="249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1" name="Line 32"/>
                <p:cNvSpPr>
                  <a:spLocks noChangeShapeType="1"/>
                </p:cNvSpPr>
                <p:nvPr/>
              </p:nvSpPr>
              <p:spPr bwMode="auto">
                <a:xfrm>
                  <a:off x="682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2" name="Line 33"/>
                <p:cNvSpPr>
                  <a:spLocks noChangeShapeType="1"/>
                </p:cNvSpPr>
                <p:nvPr/>
              </p:nvSpPr>
              <p:spPr bwMode="auto">
                <a:xfrm>
                  <a:off x="89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3" name="Line 34"/>
                <p:cNvSpPr>
                  <a:spLocks noChangeShapeType="1"/>
                </p:cNvSpPr>
                <p:nvPr/>
              </p:nvSpPr>
              <p:spPr bwMode="auto">
                <a:xfrm>
                  <a:off x="1109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4" name="Line 35"/>
                <p:cNvSpPr>
                  <a:spLocks noChangeShapeType="1"/>
                </p:cNvSpPr>
                <p:nvPr/>
              </p:nvSpPr>
              <p:spPr bwMode="auto">
                <a:xfrm>
                  <a:off x="1322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5" name="Line 36"/>
                <p:cNvSpPr>
                  <a:spLocks noChangeShapeType="1"/>
                </p:cNvSpPr>
                <p:nvPr/>
              </p:nvSpPr>
              <p:spPr bwMode="auto">
                <a:xfrm>
                  <a:off x="153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6" name="Line 37"/>
                <p:cNvSpPr>
                  <a:spLocks noChangeShapeType="1"/>
                </p:cNvSpPr>
                <p:nvPr/>
              </p:nvSpPr>
              <p:spPr bwMode="auto">
                <a:xfrm>
                  <a:off x="1749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7" name="Line 38"/>
                <p:cNvSpPr>
                  <a:spLocks noChangeShapeType="1"/>
                </p:cNvSpPr>
                <p:nvPr/>
              </p:nvSpPr>
              <p:spPr bwMode="auto">
                <a:xfrm>
                  <a:off x="1962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8" name="Line 39"/>
                <p:cNvSpPr>
                  <a:spLocks noChangeShapeType="1"/>
                </p:cNvSpPr>
                <p:nvPr/>
              </p:nvSpPr>
              <p:spPr bwMode="auto">
                <a:xfrm>
                  <a:off x="2176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3829" name="Line 40"/>
                <p:cNvSpPr>
                  <a:spLocks noChangeShapeType="1"/>
                </p:cNvSpPr>
                <p:nvPr/>
              </p:nvSpPr>
              <p:spPr bwMode="auto">
                <a:xfrm>
                  <a:off x="2389" y="2400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59B07A-BEF9-462A-BBE0-1602E1F0C8CD}" type="slidenum">
              <a:rPr lang="pt-BR"/>
              <a:pPr>
                <a:defRPr/>
              </a:pPr>
              <a:t>31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03" grpId="0" build="p" autoUpdateAnimBg="0"/>
      <p:bldP spid="12700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Suponha que uma central telefônica recebeu 270 chamadas num período de 3 horas, ou seja, 1,5 chamadas por minuto. Deseja-se calcular a probabilidade de que nos próximos 3 minutos sejam recebidas 0, 1, 2, etc chamadas.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762000" y="24511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que a qualquer instante, uma chamada é tão provável de ocorrer como em qualquer outro instante e assim, a probabilidade permanece constante. </a:t>
            </a:r>
          </a:p>
        </p:txBody>
      </p:sp>
      <p:graphicFrame>
        <p:nvGraphicFramePr>
          <p:cNvPr id="128005" name="Object 5"/>
          <p:cNvGraphicFramePr>
            <a:graphicFrameLocks noChangeAspect="1"/>
          </p:cNvGraphicFramePr>
          <p:nvPr/>
        </p:nvGraphicFramePr>
        <p:xfrm>
          <a:off x="827088" y="4724400"/>
          <a:ext cx="14382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3" name="Equation" r:id="rId3" imgW="1002865" imgH="203112" progId="Equation.DSMT4">
                  <p:embed/>
                </p:oleObj>
              </mc:Choice>
              <mc:Fallback>
                <p:oleObj name="Equation" r:id="rId3" imgW="1002865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724400"/>
                        <a:ext cx="14382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6" name="Text Box 6"/>
          <p:cNvSpPr txBox="1">
            <a:spLocks noChangeArrowheads="1"/>
          </p:cNvSpPr>
          <p:nvPr/>
        </p:nvSpPr>
        <p:spPr bwMode="auto">
          <a:xfrm>
            <a:off x="790575" y="4999038"/>
            <a:ext cx="708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então</a:t>
            </a:r>
          </a:p>
        </p:txBody>
      </p:sp>
      <p:graphicFrame>
        <p:nvGraphicFramePr>
          <p:cNvPr id="128008" name="Object 8"/>
          <p:cNvGraphicFramePr>
            <a:graphicFrameLocks noChangeAspect="1"/>
          </p:cNvGraphicFramePr>
          <p:nvPr/>
        </p:nvGraphicFramePr>
        <p:xfrm>
          <a:off x="838200" y="5743575"/>
          <a:ext cx="248602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4" name="Equation" r:id="rId5" imgW="1739900" imgH="482600" progId="Equation.DSMT4">
                  <p:embed/>
                </p:oleObj>
              </mc:Choice>
              <mc:Fallback>
                <p:oleObj name="Equation" r:id="rId5" imgW="1739900" imgH="482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43575"/>
                        <a:ext cx="2486025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9" name="Text Box 9"/>
          <p:cNvSpPr txBox="1">
            <a:spLocks noChangeArrowheads="1"/>
          </p:cNvSpPr>
          <p:nvPr/>
        </p:nvSpPr>
        <p:spPr bwMode="auto">
          <a:xfrm>
            <a:off x="4648200" y="4656138"/>
            <a:ext cx="4130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Se </a:t>
            </a:r>
            <a:r>
              <a:rPr lang="pt-BR" altLang="pt-BR" sz="1600" i="1">
                <a:latin typeface="Times New Roman" pitchFamily="18" charset="0"/>
              </a:rPr>
              <a:t>n</a:t>
            </a:r>
            <a:r>
              <a:rPr lang="pt-BR" altLang="pt-BR" sz="1600"/>
              <a:t> </a:t>
            </a:r>
            <a:r>
              <a:rPr lang="pt-BR" altLang="pt-BR" sz="1600">
                <a:sym typeface="Symbol" pitchFamily="18" charset="2"/>
              </a:rPr>
              <a:t> , então </a:t>
            </a:r>
            <a:r>
              <a:rPr lang="pt-BR" altLang="pt-BR" sz="1600" i="1">
                <a:latin typeface="Times New Roman" pitchFamily="18" charset="0"/>
                <a:sym typeface="Symbol" pitchFamily="18" charset="2"/>
              </a:rPr>
              <a:t>p</a:t>
            </a:r>
            <a:r>
              <a:rPr lang="pt-BR" altLang="pt-BR" sz="1600">
                <a:sym typeface="Symbol" pitchFamily="18" charset="2"/>
              </a:rPr>
              <a:t>  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0</a:t>
            </a:r>
            <a:r>
              <a:rPr lang="pt-BR" altLang="pt-BR" sz="1600">
                <a:sym typeface="Symbol" pitchFamily="18" charset="2"/>
              </a:rPr>
              <a:t> e </a:t>
            </a:r>
            <a:r>
              <a:rPr lang="pt-BR" altLang="pt-BR" sz="1600" i="1">
                <a:latin typeface="Times New Roman" pitchFamily="18" charset="0"/>
                <a:sym typeface="Symbol" pitchFamily="18" charset="2"/>
              </a:rPr>
              <a:t>f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(</a:t>
            </a:r>
            <a:r>
              <a:rPr lang="pt-BR" altLang="pt-BR" sz="1600" i="1">
                <a:latin typeface="Times New Roman" pitchFamily="18" charset="0"/>
                <a:sym typeface="Symbol" pitchFamily="18" charset="2"/>
              </a:rPr>
              <a:t>x</a:t>
            </a:r>
            <a:r>
              <a:rPr lang="pt-BR" altLang="pt-BR" sz="1600">
                <a:latin typeface="Times New Roman" pitchFamily="18" charset="0"/>
                <a:sym typeface="Symbol" pitchFamily="18" charset="2"/>
              </a:rPr>
              <a:t>)</a:t>
            </a:r>
            <a:r>
              <a:rPr lang="pt-BR" altLang="pt-BR" sz="1600">
                <a:sym typeface="Symbol" pitchFamily="18" charset="2"/>
              </a:rPr>
              <a:t> tende para:</a:t>
            </a:r>
            <a:endParaRPr lang="pt-BR" altLang="pt-BR" sz="1600"/>
          </a:p>
        </p:txBody>
      </p:sp>
      <p:grpSp>
        <p:nvGrpSpPr>
          <p:cNvPr id="34825" name="Group 39"/>
          <p:cNvGrpSpPr>
            <a:grpSpLocks/>
          </p:cNvGrpSpPr>
          <p:nvPr/>
        </p:nvGrpSpPr>
        <p:grpSpPr bwMode="auto">
          <a:xfrm>
            <a:off x="773113" y="3470275"/>
            <a:ext cx="3706812" cy="568325"/>
            <a:chOff x="487" y="2186"/>
            <a:chExt cx="2335" cy="358"/>
          </a:xfrm>
        </p:grpSpPr>
        <p:sp>
          <p:nvSpPr>
            <p:cNvPr id="34836" name="Text Box 11"/>
            <p:cNvSpPr txBox="1">
              <a:spLocks noChangeArrowheads="1"/>
            </p:cNvSpPr>
            <p:nvPr/>
          </p:nvSpPr>
          <p:spPr bwMode="auto">
            <a:xfrm>
              <a:off x="487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4837" name="Text Box 12"/>
            <p:cNvSpPr txBox="1">
              <a:spLocks noChangeArrowheads="1"/>
            </p:cNvSpPr>
            <p:nvPr/>
          </p:nvSpPr>
          <p:spPr bwMode="auto">
            <a:xfrm>
              <a:off x="1128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4838" name="Text Box 13"/>
            <p:cNvSpPr txBox="1">
              <a:spLocks noChangeArrowheads="1"/>
            </p:cNvSpPr>
            <p:nvPr/>
          </p:nvSpPr>
          <p:spPr bwMode="auto">
            <a:xfrm>
              <a:off x="1769" y="2186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4839" name="Text Box 14"/>
            <p:cNvSpPr txBox="1">
              <a:spLocks noChangeArrowheads="1"/>
            </p:cNvSpPr>
            <p:nvPr/>
          </p:nvSpPr>
          <p:spPr bwMode="auto">
            <a:xfrm>
              <a:off x="2410" y="2186"/>
              <a:ext cx="4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3 min</a:t>
              </a:r>
            </a:p>
          </p:txBody>
        </p:sp>
        <p:sp>
          <p:nvSpPr>
            <p:cNvPr id="34840" name="Line 16"/>
            <p:cNvSpPr>
              <a:spLocks noChangeShapeType="1"/>
            </p:cNvSpPr>
            <p:nvPr/>
          </p:nvSpPr>
          <p:spPr bwMode="auto">
            <a:xfrm>
              <a:off x="576" y="247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841" name="Line 18"/>
            <p:cNvSpPr>
              <a:spLocks noChangeShapeType="1"/>
            </p:cNvSpPr>
            <p:nvPr/>
          </p:nvSpPr>
          <p:spPr bwMode="auto">
            <a:xfrm>
              <a:off x="576" y="24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842" name="Line 27"/>
            <p:cNvSpPr>
              <a:spLocks noChangeShapeType="1"/>
            </p:cNvSpPr>
            <p:nvPr/>
          </p:nvSpPr>
          <p:spPr bwMode="auto">
            <a:xfrm>
              <a:off x="2496" y="240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914400" y="4075113"/>
            <a:ext cx="3048000" cy="481012"/>
            <a:chOff x="576" y="2567"/>
            <a:chExt cx="1920" cy="303"/>
          </a:xfrm>
        </p:grpSpPr>
        <p:sp>
          <p:nvSpPr>
            <p:cNvPr id="34834" name="AutoShape 37"/>
            <p:cNvSpPr>
              <a:spLocks/>
            </p:cNvSpPr>
            <p:nvPr/>
          </p:nvSpPr>
          <p:spPr bwMode="auto">
            <a:xfrm rot="-5400000">
              <a:off x="1475" y="1668"/>
              <a:ext cx="121" cy="1920"/>
            </a:xfrm>
            <a:prstGeom prst="leftBrace">
              <a:avLst>
                <a:gd name="adj1" fmla="val 13223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4835" name="Text Box 38"/>
            <p:cNvSpPr txBox="1">
              <a:spLocks noChangeArrowheads="1"/>
            </p:cNvSpPr>
            <p:nvPr/>
          </p:nvSpPr>
          <p:spPr bwMode="auto">
            <a:xfrm>
              <a:off x="1135" y="2658"/>
              <a:ext cx="8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n</a:t>
              </a:r>
              <a:r>
                <a:rPr lang="pt-BR" altLang="pt-BR" sz="1600"/>
                <a:t> intervalos</a:t>
              </a:r>
            </a:p>
          </p:txBody>
        </p:sp>
      </p:grpSp>
      <p:graphicFrame>
        <p:nvGraphicFramePr>
          <p:cNvPr id="128042" name="Object 42"/>
          <p:cNvGraphicFramePr>
            <a:graphicFrameLocks noChangeAspect="1"/>
          </p:cNvGraphicFramePr>
          <p:nvPr/>
        </p:nvGraphicFramePr>
        <p:xfrm>
          <a:off x="830263" y="5229225"/>
          <a:ext cx="617537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5" name="Equation" r:id="rId7" imgW="431613" imgH="393529" progId="Equation.DSMT4">
                  <p:embed/>
                </p:oleObj>
              </mc:Choice>
              <mc:Fallback>
                <p:oleObj name="Equation" r:id="rId7" imgW="431613" imgH="393529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5229225"/>
                        <a:ext cx="617537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43" name="Object 43"/>
          <p:cNvGraphicFramePr>
            <a:graphicFrameLocks noChangeAspect="1"/>
          </p:cNvGraphicFramePr>
          <p:nvPr/>
        </p:nvGraphicFramePr>
        <p:xfrm>
          <a:off x="4724400" y="5151438"/>
          <a:ext cx="12700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6" name="Equation" r:id="rId9" imgW="889000" imgH="419100" progId="Equation.DSMT4">
                  <p:embed/>
                </p:oleObj>
              </mc:Choice>
              <mc:Fallback>
                <p:oleObj name="Equation" r:id="rId9" imgW="889000" imgH="4191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151438"/>
                        <a:ext cx="12700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44" name="Object 44"/>
          <p:cNvGraphicFramePr>
            <a:graphicFrameLocks noChangeAspect="1"/>
          </p:cNvGraphicFramePr>
          <p:nvPr/>
        </p:nvGraphicFramePr>
        <p:xfrm>
          <a:off x="4724400" y="6022975"/>
          <a:ext cx="86995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7" name="Equation" r:id="rId11" imgW="609336" imgH="203112" progId="Equation.DSMT4">
                  <p:embed/>
                </p:oleObj>
              </mc:Choice>
              <mc:Fallback>
                <p:oleObj name="Equation" r:id="rId11" imgW="609336" imgH="203112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6022975"/>
                        <a:ext cx="869950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45" name="Object 45"/>
          <p:cNvGraphicFramePr>
            <a:graphicFrameLocks noChangeAspect="1"/>
          </p:cNvGraphicFramePr>
          <p:nvPr/>
        </p:nvGraphicFramePr>
        <p:xfrm>
          <a:off x="6405563" y="6019800"/>
          <a:ext cx="101441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8" name="Equation" r:id="rId13" imgW="710891" imgH="203112" progId="Equation.DSMT4">
                  <p:embed/>
                </p:oleObj>
              </mc:Choice>
              <mc:Fallback>
                <p:oleObj name="Equation" r:id="rId13" imgW="710891" imgH="203112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5563" y="6019800"/>
                        <a:ext cx="1014412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46" name="Text Box 46"/>
          <p:cNvSpPr txBox="1">
            <a:spLocks noChangeArrowheads="1"/>
          </p:cNvSpPr>
          <p:nvPr/>
        </p:nvSpPr>
        <p:spPr bwMode="auto">
          <a:xfrm>
            <a:off x="6156325" y="5322888"/>
            <a:ext cx="248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(</a:t>
            </a:r>
            <a:r>
              <a:rPr lang="pt-BR" altLang="pt-BR" sz="1600">
                <a:solidFill>
                  <a:srgbClr val="FF3300"/>
                </a:solidFill>
              </a:rPr>
              <a:t>distribuição de Poisson</a:t>
            </a:r>
            <a:r>
              <a:rPr lang="pt-BR" altLang="pt-BR" sz="1600"/>
              <a:t>)</a:t>
            </a:r>
          </a:p>
        </p:txBody>
      </p:sp>
      <p:graphicFrame>
        <p:nvGraphicFramePr>
          <p:cNvPr id="128047" name="Object 47"/>
          <p:cNvGraphicFramePr>
            <a:graphicFrameLocks noChangeAspect="1"/>
          </p:cNvGraphicFramePr>
          <p:nvPr/>
        </p:nvGraphicFramePr>
        <p:xfrm>
          <a:off x="2298700" y="4770438"/>
          <a:ext cx="4730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9" name="Equation" r:id="rId15" imgW="330057" imgH="165028" progId="Equation.DSMT4">
                  <p:embed/>
                </p:oleObj>
              </mc:Choice>
              <mc:Fallback>
                <p:oleObj name="Equation" r:id="rId15" imgW="330057" imgH="165028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4770438"/>
                        <a:ext cx="473075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F5EB40-7552-47D5-B768-0630B16D50B2}" type="slidenum">
              <a:rPr lang="pt-BR"/>
              <a:pPr>
                <a:defRPr/>
              </a:pPr>
              <a:t>32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6" grpId="0" autoUpdateAnimBg="0"/>
      <p:bldP spid="128009" grpId="0" autoUpdateAnimBg="0"/>
      <p:bldP spid="128046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981200" y="3352800"/>
            <a:ext cx="4694238" cy="3146425"/>
            <a:chOff x="451" y="2112"/>
            <a:chExt cx="2957" cy="1982"/>
          </a:xfrm>
        </p:grpSpPr>
        <p:pic>
          <p:nvPicPr>
            <p:cNvPr id="35855" name="Picture 2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" y="2112"/>
              <a:ext cx="2957" cy="1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6" name="Text Box 28"/>
            <p:cNvSpPr txBox="1">
              <a:spLocks noChangeArrowheads="1"/>
            </p:cNvSpPr>
            <p:nvPr/>
          </p:nvSpPr>
          <p:spPr bwMode="auto">
            <a:xfrm>
              <a:off x="1437" y="2256"/>
              <a:ext cx="93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Binomial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n</a:t>
              </a:r>
              <a:r>
                <a:rPr lang="pt-BR" altLang="pt-BR" sz="1600">
                  <a:latin typeface="Times New Roman" pitchFamily="18" charset="0"/>
                </a:rPr>
                <a:t> = 10, p = 0,45</a:t>
              </a:r>
            </a:p>
          </p:txBody>
        </p:sp>
      </p:grpSp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de Poisson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Suponha que uma central telefônica recebeu 270 chamadas num período de 3 horas, ou seja, 1,5 chamadas por minuto. Deseja-se calcular a probabilidade de que nos próximos 3 minutos sejam recebidas 0, 1, 2, etc chamadas.</a:t>
            </a:r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762000" y="2451100"/>
            <a:ext cx="76200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Considere que a qualquer instante, uma chamada é tão provável de ocorrer como em qualquer outro instante e assim, a probabilidade permanece constante. </a:t>
            </a: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1981200" y="3352800"/>
            <a:ext cx="4694238" cy="3146425"/>
            <a:chOff x="451" y="2112"/>
            <a:chExt cx="2957" cy="1982"/>
          </a:xfrm>
        </p:grpSpPr>
        <p:pic>
          <p:nvPicPr>
            <p:cNvPr id="35853" name="Picture 3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" y="2112"/>
              <a:ext cx="2957" cy="1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4" name="Rectangle 30"/>
            <p:cNvSpPr>
              <a:spLocks noChangeArrowheads="1"/>
            </p:cNvSpPr>
            <p:nvPr/>
          </p:nvSpPr>
          <p:spPr bwMode="auto">
            <a:xfrm>
              <a:off x="1501" y="2549"/>
              <a:ext cx="99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Binomial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n</a:t>
              </a:r>
              <a:r>
                <a:rPr lang="pt-BR" altLang="pt-BR" sz="1600">
                  <a:latin typeface="Times New Roman" pitchFamily="18" charset="0"/>
                </a:rPr>
                <a:t> = 20, </a:t>
              </a:r>
              <a:r>
                <a:rPr lang="pt-BR" altLang="pt-BR" sz="1600" i="1">
                  <a:latin typeface="Times New Roman" pitchFamily="18" charset="0"/>
                </a:rPr>
                <a:t>p</a:t>
              </a:r>
              <a:r>
                <a:rPr lang="pt-BR" altLang="pt-BR" sz="1600">
                  <a:latin typeface="Times New Roman" pitchFamily="18" charset="0"/>
                </a:rPr>
                <a:t> = 0,225</a:t>
              </a:r>
            </a:p>
          </p:txBody>
        </p: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1981200" y="3352800"/>
            <a:ext cx="4694238" cy="3146425"/>
            <a:chOff x="451" y="2112"/>
            <a:chExt cx="2957" cy="1982"/>
          </a:xfrm>
        </p:grpSpPr>
        <p:pic>
          <p:nvPicPr>
            <p:cNvPr id="35851" name="Picture 3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" y="2112"/>
              <a:ext cx="2957" cy="1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2" name="Rectangle 31"/>
            <p:cNvSpPr>
              <a:spLocks noChangeArrowheads="1"/>
            </p:cNvSpPr>
            <p:nvPr/>
          </p:nvSpPr>
          <p:spPr bwMode="auto">
            <a:xfrm>
              <a:off x="1488" y="2554"/>
              <a:ext cx="106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Binomial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n</a:t>
              </a:r>
              <a:r>
                <a:rPr lang="pt-BR" altLang="pt-BR" sz="1600">
                  <a:latin typeface="Times New Roman" pitchFamily="18" charset="0"/>
                </a:rPr>
                <a:t> = 160, p = 0,028</a:t>
              </a:r>
            </a:p>
          </p:txBody>
        </p:sp>
      </p:grpSp>
      <p:sp>
        <p:nvSpPr>
          <p:cNvPr id="35848" name="Text Box 27"/>
          <p:cNvSpPr txBox="1">
            <a:spLocks noChangeArrowheads="1"/>
          </p:cNvSpPr>
          <p:nvPr/>
        </p:nvSpPr>
        <p:spPr bwMode="auto">
          <a:xfrm>
            <a:off x="4287838" y="5530850"/>
            <a:ext cx="86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Poisson</a:t>
            </a:r>
          </a:p>
        </p:txBody>
      </p:sp>
      <p:sp>
        <p:nvSpPr>
          <p:cNvPr id="129063" name="Text Box 39"/>
          <p:cNvSpPr txBox="1">
            <a:spLocks noChangeArrowheads="1"/>
          </p:cNvSpPr>
          <p:nvPr/>
        </p:nvSpPr>
        <p:spPr bwMode="auto">
          <a:xfrm>
            <a:off x="808038" y="6407150"/>
            <a:ext cx="72628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200"/>
              <a:t>Dica para identificação: eventos em que somente é possível contar os sucessos mas não os fracassos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6E9A2-A6E9-4393-B794-550A4A6526F5}" type="slidenum">
              <a:rPr lang="pt-BR"/>
              <a:pPr>
                <a:defRPr/>
              </a:pPr>
              <a:t>33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6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Resumo Distribuições Discretas</a:t>
            </a:r>
          </a:p>
        </p:txBody>
      </p:sp>
      <p:pic>
        <p:nvPicPr>
          <p:cNvPr id="36867" name="Picture 82" descr="DistribuicoesDiscretasResum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333500"/>
            <a:ext cx="7099300" cy="529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85"/>
          <p:cNvGrpSpPr>
            <a:grpSpLocks/>
          </p:cNvGrpSpPr>
          <p:nvPr/>
        </p:nvGrpSpPr>
        <p:grpSpPr bwMode="auto">
          <a:xfrm>
            <a:off x="101600" y="2514600"/>
            <a:ext cx="889000" cy="914400"/>
            <a:chOff x="64" y="1584"/>
            <a:chExt cx="560" cy="576"/>
          </a:xfrm>
        </p:grpSpPr>
        <p:sp>
          <p:nvSpPr>
            <p:cNvPr id="36879" name="AutoShape 83"/>
            <p:cNvSpPr>
              <a:spLocks noChangeArrowheads="1"/>
            </p:cNvSpPr>
            <p:nvPr/>
          </p:nvSpPr>
          <p:spPr bwMode="auto">
            <a:xfrm flipV="1">
              <a:off x="432" y="1584"/>
              <a:ext cx="192" cy="576"/>
            </a:xfrm>
            <a:prstGeom prst="curvedRightArrow">
              <a:avLst>
                <a:gd name="adj1" fmla="val 60000"/>
                <a:gd name="adj2" fmla="val 120000"/>
                <a:gd name="adj3" fmla="val 33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6880" name="Text Box 84"/>
            <p:cNvSpPr txBox="1">
              <a:spLocks noChangeArrowheads="1"/>
            </p:cNvSpPr>
            <p:nvPr/>
          </p:nvSpPr>
          <p:spPr bwMode="auto">
            <a:xfrm>
              <a:off x="64" y="1719"/>
              <a:ext cx="3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n</a:t>
              </a:r>
              <a:r>
                <a:rPr lang="pt-BR" altLang="pt-BR" sz="1600">
                  <a:latin typeface="Times New Roman" pitchFamily="18" charset="0"/>
                </a:rPr>
                <a:t> = 1</a:t>
              </a:r>
            </a:p>
          </p:txBody>
        </p:sp>
      </p:grp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123825" y="3857625"/>
            <a:ext cx="866775" cy="914400"/>
            <a:chOff x="78" y="1584"/>
            <a:chExt cx="546" cy="576"/>
          </a:xfrm>
        </p:grpSpPr>
        <p:sp>
          <p:nvSpPr>
            <p:cNvPr id="36877" name="AutoShape 87"/>
            <p:cNvSpPr>
              <a:spLocks noChangeArrowheads="1"/>
            </p:cNvSpPr>
            <p:nvPr/>
          </p:nvSpPr>
          <p:spPr bwMode="auto">
            <a:xfrm flipV="1">
              <a:off x="432" y="1584"/>
              <a:ext cx="192" cy="576"/>
            </a:xfrm>
            <a:prstGeom prst="curvedRightArrow">
              <a:avLst>
                <a:gd name="adj1" fmla="val 60000"/>
                <a:gd name="adj2" fmla="val 120000"/>
                <a:gd name="adj3" fmla="val 33333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6878" name="Text Box 88"/>
            <p:cNvSpPr txBox="1">
              <a:spLocks noChangeArrowheads="1"/>
            </p:cNvSpPr>
            <p:nvPr/>
          </p:nvSpPr>
          <p:spPr bwMode="auto">
            <a:xfrm>
              <a:off x="78" y="1719"/>
              <a:ext cx="36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r</a:t>
              </a:r>
              <a:r>
                <a:rPr lang="pt-BR" altLang="pt-BR" sz="1600">
                  <a:latin typeface="Times New Roman" pitchFamily="18" charset="0"/>
                </a:rPr>
                <a:t> = 1</a:t>
              </a:r>
            </a:p>
          </p:txBody>
        </p:sp>
      </p:grpSp>
      <p:grpSp>
        <p:nvGrpSpPr>
          <p:cNvPr id="4" name="Group 94"/>
          <p:cNvGrpSpPr>
            <a:grpSpLocks/>
          </p:cNvGrpSpPr>
          <p:nvPr/>
        </p:nvGrpSpPr>
        <p:grpSpPr bwMode="auto">
          <a:xfrm>
            <a:off x="1066800" y="1752600"/>
            <a:ext cx="1150938" cy="4676775"/>
            <a:chOff x="672" y="1104"/>
            <a:chExt cx="725" cy="2946"/>
          </a:xfrm>
        </p:grpSpPr>
        <p:sp>
          <p:nvSpPr>
            <p:cNvPr id="36872" name="Rectangle 89"/>
            <p:cNvSpPr>
              <a:spLocks noChangeArrowheads="1"/>
            </p:cNvSpPr>
            <p:nvPr/>
          </p:nvSpPr>
          <p:spPr bwMode="auto">
            <a:xfrm>
              <a:off x="672" y="1104"/>
              <a:ext cx="404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6873" name="Rectangle 90"/>
            <p:cNvSpPr>
              <a:spLocks noChangeArrowheads="1"/>
            </p:cNvSpPr>
            <p:nvPr/>
          </p:nvSpPr>
          <p:spPr bwMode="auto">
            <a:xfrm>
              <a:off x="672" y="1968"/>
              <a:ext cx="355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6874" name="Rectangle 91"/>
            <p:cNvSpPr>
              <a:spLocks noChangeArrowheads="1"/>
            </p:cNvSpPr>
            <p:nvPr/>
          </p:nvSpPr>
          <p:spPr bwMode="auto">
            <a:xfrm>
              <a:off x="672" y="2826"/>
              <a:ext cx="725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6875" name="Rectangle 92"/>
            <p:cNvSpPr>
              <a:spLocks noChangeArrowheads="1"/>
            </p:cNvSpPr>
            <p:nvPr/>
          </p:nvSpPr>
          <p:spPr bwMode="auto">
            <a:xfrm>
              <a:off x="672" y="3342"/>
              <a:ext cx="685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36876" name="Rectangle 93"/>
            <p:cNvSpPr>
              <a:spLocks noChangeArrowheads="1"/>
            </p:cNvSpPr>
            <p:nvPr/>
          </p:nvSpPr>
          <p:spPr bwMode="auto">
            <a:xfrm>
              <a:off x="672" y="3858"/>
              <a:ext cx="319" cy="19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</p:grp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56CFF3-F343-409A-94CD-30C3684595E1}" type="slidenum">
              <a:rPr lang="pt-BR"/>
              <a:pPr>
                <a:defRPr/>
              </a:pPr>
              <a:t>34</a:t>
            </a:fld>
            <a:endParaRPr lang="pt-B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5689600" y="2414588"/>
            <a:ext cx="2787650" cy="1268412"/>
            <a:chOff x="5580959" y="5105449"/>
            <a:chExt cx="2787948" cy="1268214"/>
          </a:xfrm>
        </p:grpSpPr>
        <p:sp>
          <p:nvSpPr>
            <p:cNvPr id="8" name="Retângulo 7"/>
            <p:cNvSpPr/>
            <p:nvPr/>
          </p:nvSpPr>
          <p:spPr>
            <a:xfrm>
              <a:off x="5580959" y="5611782"/>
              <a:ext cx="1386036" cy="761881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graphicFrame>
          <p:nvGraphicFramePr>
            <p:cNvPr id="37913" name="Objeto 36"/>
            <p:cNvGraphicFramePr>
              <a:graphicFrameLocks noChangeAspect="1"/>
            </p:cNvGraphicFramePr>
            <p:nvPr/>
          </p:nvGraphicFramePr>
          <p:xfrm>
            <a:off x="6881420" y="5105449"/>
            <a:ext cx="1487487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5" name="Equation" r:id="rId3" imgW="1040948" imgH="203112" progId="Equation.DSMT4">
                    <p:embed/>
                  </p:oleObj>
                </mc:Choice>
                <mc:Fallback>
                  <p:oleObj name="Equation" r:id="rId3" imgW="1040948" imgH="203112" progId="Equation.DSMT4">
                    <p:embed/>
                    <p:pic>
                      <p:nvPicPr>
                        <p:cNvPr id="0" name="Objeto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420" y="5105449"/>
                          <a:ext cx="1487487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Conector de seta reta 9"/>
            <p:cNvCxnSpPr/>
            <p:nvPr/>
          </p:nvCxnSpPr>
          <p:spPr>
            <a:xfrm flipV="1">
              <a:off x="6266832" y="5349886"/>
              <a:ext cx="647769" cy="64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aphicFrame>
        <p:nvGraphicFramePr>
          <p:cNvPr id="18440" name="Object 15"/>
          <p:cNvGraphicFramePr>
            <a:graphicFrameLocks noChangeAspect="1"/>
          </p:cNvGraphicFramePr>
          <p:nvPr/>
        </p:nvGraphicFramePr>
        <p:xfrm>
          <a:off x="1116013" y="3997325"/>
          <a:ext cx="8731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6" name="Equation" r:id="rId5" imgW="609336" imgH="203112" progId="Equation.DSMT4">
                  <p:embed/>
                </p:oleObj>
              </mc:Choice>
              <mc:Fallback>
                <p:oleObj name="Equation" r:id="rId5" imgW="609336" imgH="20311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997325"/>
                        <a:ext cx="8731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21"/>
          <p:cNvGraphicFramePr>
            <a:graphicFrameLocks noChangeAspect="1"/>
          </p:cNvGraphicFramePr>
          <p:nvPr/>
        </p:nvGraphicFramePr>
        <p:xfrm>
          <a:off x="1116013" y="4662488"/>
          <a:ext cx="103822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67" name="Equation" r:id="rId7" imgW="723586" imgH="203112" progId="Equation.DSMT4">
                  <p:embed/>
                </p:oleObj>
              </mc:Choice>
              <mc:Fallback>
                <p:oleObj name="Equation" r:id="rId7" imgW="723586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62488"/>
                        <a:ext cx="1038225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279E1B-4123-4AA2-BEEC-4F29C2975B72}" type="slidenum">
              <a:rPr lang="pt-BR"/>
              <a:pPr>
                <a:defRPr/>
              </a:pPr>
              <a:t>35</a:t>
            </a:fld>
            <a:endParaRPr lang="pt-BR"/>
          </a:p>
        </p:txBody>
      </p:sp>
      <p:sp>
        <p:nvSpPr>
          <p:cNvPr id="37895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Uma variável aleatória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/>
              <a:t> tem distribuição Uniforme no intervalo 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pt-BR" altLang="pt-BR" sz="1600"/>
              <a:t>  se sua função densidade de probabilidade for dada por: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052513" y="2314575"/>
            <a:ext cx="2927350" cy="944563"/>
            <a:chOff x="1052513" y="2314575"/>
            <a:chExt cx="2927305" cy="944563"/>
          </a:xfrm>
        </p:grpSpPr>
        <p:sp>
          <p:nvSpPr>
            <p:cNvPr id="18438" name="Text Box 12"/>
            <p:cNvSpPr txBox="1">
              <a:spLocks noChangeArrowheads="1"/>
            </p:cNvSpPr>
            <p:nvPr/>
          </p:nvSpPr>
          <p:spPr bwMode="auto">
            <a:xfrm>
              <a:off x="2411392" y="2462213"/>
              <a:ext cx="122711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 smtClean="0">
                  <a:latin typeface="+mn-lt"/>
                </a:rPr>
                <a:t>se </a:t>
              </a:r>
              <a:r>
                <a:rPr lang="pt-BR" altLang="pt-BR" sz="1600" i="1" dirty="0" smtClean="0">
                  <a:latin typeface="Times New Roman" charset="0"/>
                </a:rPr>
                <a:t>a </a:t>
              </a:r>
              <a:r>
                <a:rPr lang="pt-BR" altLang="pt-BR" sz="1600" dirty="0" smtClean="0">
                  <a:latin typeface="Times New Roman" charset="0"/>
                </a:rPr>
                <a:t>≤</a:t>
              </a:r>
              <a:r>
                <a:rPr lang="pt-BR" altLang="pt-BR" sz="1600" i="1" dirty="0" smtClean="0">
                  <a:latin typeface="Times New Roman" charset="0"/>
                </a:rPr>
                <a:t> x </a:t>
              </a:r>
              <a:r>
                <a:rPr lang="pt-BR" altLang="pt-BR" sz="1600" dirty="0" smtClean="0">
                  <a:latin typeface="Times New Roman" charset="0"/>
                </a:rPr>
                <a:t>≤ </a:t>
              </a:r>
              <a:r>
                <a:rPr lang="pt-BR" altLang="pt-BR" sz="1600" i="1" dirty="0" smtClean="0">
                  <a:latin typeface="Times New Roman" charset="0"/>
                </a:rPr>
                <a:t>b</a:t>
              </a:r>
            </a:p>
          </p:txBody>
        </p:sp>
        <p:graphicFrame>
          <p:nvGraphicFramePr>
            <p:cNvPr id="37910" name="Object 13"/>
            <p:cNvGraphicFramePr>
              <a:graphicFrameLocks noChangeAspect="1"/>
            </p:cNvGraphicFramePr>
            <p:nvPr/>
          </p:nvGraphicFramePr>
          <p:xfrm>
            <a:off x="1052513" y="2314575"/>
            <a:ext cx="1309687" cy="944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8" name="Equation" r:id="rId9" imgW="914400" imgH="660400" progId="Equation.DSMT4">
                    <p:embed/>
                  </p:oleObj>
                </mc:Choice>
                <mc:Fallback>
                  <p:oleObj name="Equation" r:id="rId9" imgW="914400" imgH="6604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2513" y="2314575"/>
                          <a:ext cx="1309687" cy="944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411392" y="2898775"/>
              <a:ext cx="1568426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 smtClean="0">
                  <a:latin typeface="+mn-lt"/>
                </a:rPr>
                <a:t>caso contrário</a:t>
              </a:r>
              <a:endParaRPr lang="pt-BR" altLang="pt-BR" sz="1600" i="1" dirty="0" smtClean="0">
                <a:latin typeface="Times New Roman" charset="0"/>
              </a:endParaRPr>
            </a:p>
          </p:txBody>
        </p:sp>
      </p:grpSp>
      <p:grpSp>
        <p:nvGrpSpPr>
          <p:cNvPr id="18" name="Grupo 17"/>
          <p:cNvGrpSpPr>
            <a:grpSpLocks/>
          </p:cNvGrpSpPr>
          <p:nvPr/>
        </p:nvGrpSpPr>
        <p:grpSpPr bwMode="auto">
          <a:xfrm>
            <a:off x="4789488" y="2322513"/>
            <a:ext cx="2951162" cy="1682750"/>
            <a:chOff x="4789189" y="2322314"/>
            <a:chExt cx="2951163" cy="1682750"/>
          </a:xfrm>
        </p:grpSpPr>
        <p:grpSp>
          <p:nvGrpSpPr>
            <p:cNvPr id="37898" name="Grupo 4"/>
            <p:cNvGrpSpPr>
              <a:grpSpLocks/>
            </p:cNvGrpSpPr>
            <p:nvPr/>
          </p:nvGrpSpPr>
          <p:grpSpPr bwMode="auto">
            <a:xfrm>
              <a:off x="4789189" y="2322314"/>
              <a:ext cx="2951163" cy="1682750"/>
              <a:chOff x="5386198" y="2189346"/>
              <a:chExt cx="2951163" cy="1682750"/>
            </a:xfrm>
          </p:grpSpPr>
          <p:grpSp>
            <p:nvGrpSpPr>
              <p:cNvPr id="37901" name="Group 23"/>
              <p:cNvGrpSpPr>
                <a:grpSpLocks/>
              </p:cNvGrpSpPr>
              <p:nvPr/>
            </p:nvGrpSpPr>
            <p:grpSpPr bwMode="auto">
              <a:xfrm>
                <a:off x="5386198" y="2189346"/>
                <a:ext cx="2951163" cy="1682750"/>
                <a:chOff x="1830" y="1063"/>
                <a:chExt cx="1859" cy="1060"/>
              </a:xfrm>
            </p:grpSpPr>
            <p:sp>
              <p:nvSpPr>
                <p:cNvPr id="37906" name="Freeform 4"/>
                <p:cNvSpPr>
                  <a:spLocks/>
                </p:cNvSpPr>
                <p:nvPr/>
              </p:nvSpPr>
              <p:spPr bwMode="auto">
                <a:xfrm>
                  <a:off x="2113" y="1104"/>
                  <a:ext cx="1488" cy="816"/>
                </a:xfrm>
                <a:custGeom>
                  <a:avLst/>
                  <a:gdLst>
                    <a:gd name="T0" fmla="*/ 0 w 1488"/>
                    <a:gd name="T1" fmla="*/ 0 h 816"/>
                    <a:gd name="T2" fmla="*/ 0 w 1488"/>
                    <a:gd name="T3" fmla="*/ 816 h 816"/>
                    <a:gd name="T4" fmla="*/ 1488 w 1488"/>
                    <a:gd name="T5" fmla="*/ 816 h 816"/>
                    <a:gd name="T6" fmla="*/ 0 60000 65536"/>
                    <a:gd name="T7" fmla="*/ 0 60000 65536"/>
                    <a:gd name="T8" fmla="*/ 0 60000 65536"/>
                    <a:gd name="T9" fmla="*/ 0 w 1488"/>
                    <a:gd name="T10" fmla="*/ 0 h 816"/>
                    <a:gd name="T11" fmla="*/ 1488 w 1488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88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488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3790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830" y="1063"/>
                  <a:ext cx="29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f</a:t>
                  </a:r>
                  <a:r>
                    <a:rPr lang="pt-BR" altLang="pt-BR" sz="1600">
                      <a:latin typeface="Times New Roman" pitchFamily="18" charset="0"/>
                    </a:rPr>
                    <a:t>(</a:t>
                  </a: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  <a:r>
                    <a:rPr lang="pt-BR" altLang="pt-BR" sz="1600">
                      <a:latin typeface="Times New Roman" pitchFamily="18" charset="0"/>
                    </a:rPr>
                    <a:t>)</a:t>
                  </a:r>
                </a:p>
              </p:txBody>
            </p:sp>
            <p:sp>
              <p:nvSpPr>
                <p:cNvPr id="3790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495" y="1911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</a:p>
              </p:txBody>
            </p:sp>
          </p:grpSp>
          <p:grpSp>
            <p:nvGrpSpPr>
              <p:cNvPr id="37902" name="Group 7"/>
              <p:cNvGrpSpPr>
                <a:grpSpLocks/>
              </p:cNvGrpSpPr>
              <p:nvPr/>
            </p:nvGrpSpPr>
            <p:grpSpPr bwMode="auto">
              <a:xfrm>
                <a:off x="6143436" y="3459346"/>
                <a:ext cx="1654175" cy="350837"/>
                <a:chOff x="1250" y="1863"/>
                <a:chExt cx="1042" cy="221"/>
              </a:xfrm>
            </p:grpSpPr>
            <p:sp>
              <p:nvSpPr>
                <p:cNvPr id="3790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50" y="1863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a</a:t>
                  </a:r>
                </a:p>
              </p:txBody>
            </p:sp>
            <p:sp>
              <p:nvSpPr>
                <p:cNvPr id="3790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112" y="1872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b</a:t>
                  </a:r>
                </a:p>
              </p:txBody>
            </p:sp>
          </p:grpSp>
          <p:sp>
            <p:nvSpPr>
              <p:cNvPr id="37903" name="Rectangle 10"/>
              <p:cNvSpPr>
                <a:spLocks noChangeArrowheads="1"/>
              </p:cNvSpPr>
              <p:nvPr/>
            </p:nvSpPr>
            <p:spPr bwMode="auto">
              <a:xfrm>
                <a:off x="6292661" y="2787833"/>
                <a:ext cx="1371600" cy="76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/>
              </a:p>
            </p:txBody>
          </p:sp>
        </p:grpSp>
        <p:graphicFrame>
          <p:nvGraphicFramePr>
            <p:cNvPr id="37899" name="Objeto 53"/>
            <p:cNvGraphicFramePr>
              <a:graphicFrameLocks noChangeAspect="1"/>
            </p:cNvGraphicFramePr>
            <p:nvPr/>
          </p:nvGraphicFramePr>
          <p:xfrm>
            <a:off x="4851470" y="2724150"/>
            <a:ext cx="355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69" name="Equation" r:id="rId11" imgW="355292" imgH="393359" progId="Equation.DSMT4">
                    <p:embed/>
                  </p:oleObj>
                </mc:Choice>
                <mc:Fallback>
                  <p:oleObj name="Equation" r:id="rId11" imgW="355292" imgH="393359" progId="Equation.DSMT4">
                    <p:embed/>
                    <p:pic>
                      <p:nvPicPr>
                        <p:cNvPr id="0" name="Objeto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1470" y="2724150"/>
                          <a:ext cx="355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Conector reto 54"/>
            <p:cNvCxnSpPr/>
            <p:nvPr/>
          </p:nvCxnSpPr>
          <p:spPr>
            <a:xfrm flipH="1">
              <a:off x="5238451" y="2920801"/>
              <a:ext cx="45085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pSp>
        <p:nvGrpSpPr>
          <p:cNvPr id="38915" name="Group 36"/>
          <p:cNvGrpSpPr>
            <a:grpSpLocks/>
          </p:cNvGrpSpPr>
          <p:nvPr/>
        </p:nvGrpSpPr>
        <p:grpSpPr bwMode="auto">
          <a:xfrm>
            <a:off x="1227138" y="1687513"/>
            <a:ext cx="2951162" cy="1682750"/>
            <a:chOff x="773" y="1063"/>
            <a:chExt cx="1859" cy="1060"/>
          </a:xfrm>
        </p:grpSpPr>
        <p:sp>
          <p:nvSpPr>
            <p:cNvPr id="38933" name="Freeform 4"/>
            <p:cNvSpPr>
              <a:spLocks/>
            </p:cNvSpPr>
            <p:nvPr/>
          </p:nvSpPr>
          <p:spPr bwMode="auto">
            <a:xfrm>
              <a:off x="1056" y="1104"/>
              <a:ext cx="1488" cy="816"/>
            </a:xfrm>
            <a:custGeom>
              <a:avLst/>
              <a:gdLst>
                <a:gd name="T0" fmla="*/ 0 w 1488"/>
                <a:gd name="T1" fmla="*/ 0 h 816"/>
                <a:gd name="T2" fmla="*/ 0 w 1488"/>
                <a:gd name="T3" fmla="*/ 816 h 816"/>
                <a:gd name="T4" fmla="*/ 1488 w 1488"/>
                <a:gd name="T5" fmla="*/ 816 h 816"/>
                <a:gd name="T6" fmla="*/ 0 60000 65536"/>
                <a:gd name="T7" fmla="*/ 0 60000 65536"/>
                <a:gd name="T8" fmla="*/ 0 60000 65536"/>
                <a:gd name="T9" fmla="*/ 0 w 1488"/>
                <a:gd name="T10" fmla="*/ 0 h 816"/>
                <a:gd name="T11" fmla="*/ 1488 w 14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816">
                  <a:moveTo>
                    <a:pt x="0" y="0"/>
                  </a:moveTo>
                  <a:lnTo>
                    <a:pt x="0" y="816"/>
                  </a:lnTo>
                  <a:lnTo>
                    <a:pt x="1488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934" name="Text Box 5"/>
            <p:cNvSpPr txBox="1">
              <a:spLocks noChangeArrowheads="1"/>
            </p:cNvSpPr>
            <p:nvPr/>
          </p:nvSpPr>
          <p:spPr bwMode="auto">
            <a:xfrm>
              <a:off x="773" y="1063"/>
              <a:ext cx="2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f</a:t>
              </a:r>
              <a:r>
                <a:rPr lang="pt-BR" altLang="pt-BR" sz="1600">
                  <a:latin typeface="Times New Roman" pitchFamily="18" charset="0"/>
                </a:rPr>
                <a:t>(</a:t>
              </a: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8935" name="Text Box 6"/>
            <p:cNvSpPr txBox="1">
              <a:spLocks noChangeArrowheads="1"/>
            </p:cNvSpPr>
            <p:nvPr/>
          </p:nvSpPr>
          <p:spPr bwMode="auto">
            <a:xfrm>
              <a:off x="2438" y="1911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38916" name="Group 7"/>
          <p:cNvGrpSpPr>
            <a:grpSpLocks/>
          </p:cNvGrpSpPr>
          <p:nvPr/>
        </p:nvGrpSpPr>
        <p:grpSpPr bwMode="auto">
          <a:xfrm>
            <a:off x="1984375" y="2957513"/>
            <a:ext cx="1654175" cy="350837"/>
            <a:chOff x="1250" y="1863"/>
            <a:chExt cx="1042" cy="221"/>
          </a:xfrm>
        </p:grpSpPr>
        <p:sp>
          <p:nvSpPr>
            <p:cNvPr id="38931" name="Text Box 8"/>
            <p:cNvSpPr txBox="1">
              <a:spLocks noChangeArrowheads="1"/>
            </p:cNvSpPr>
            <p:nvPr/>
          </p:nvSpPr>
          <p:spPr bwMode="auto">
            <a:xfrm>
              <a:off x="1250" y="186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8932" name="Text Box 9"/>
            <p:cNvSpPr txBox="1">
              <a:spLocks noChangeArrowheads="1"/>
            </p:cNvSpPr>
            <p:nvPr/>
          </p:nvSpPr>
          <p:spPr bwMode="auto">
            <a:xfrm>
              <a:off x="2112" y="18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38917" name="Rectangle 10"/>
          <p:cNvSpPr>
            <a:spLocks noChangeArrowheads="1"/>
          </p:cNvSpPr>
          <p:nvPr/>
        </p:nvSpPr>
        <p:spPr bwMode="auto">
          <a:xfrm>
            <a:off x="2133600" y="2286000"/>
            <a:ext cx="13716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38918" name="Text Box 11"/>
          <p:cNvSpPr txBox="1">
            <a:spLocks noChangeArrowheads="1"/>
          </p:cNvSpPr>
          <p:nvPr/>
        </p:nvSpPr>
        <p:spPr bwMode="auto">
          <a:xfrm>
            <a:off x="4733925" y="2133600"/>
            <a:ext cx="911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</a:t>
            </a:r>
            <a:r>
              <a:rPr lang="pt-BR" altLang="pt-BR" sz="1600">
                <a:latin typeface="Times New Roman" pitchFamily="18" charset="0"/>
              </a:rPr>
              <a:t>≤</a:t>
            </a:r>
            <a:r>
              <a:rPr lang="pt-BR" altLang="pt-BR" sz="1600" i="1">
                <a:latin typeface="Times New Roman" pitchFamily="18" charset="0"/>
              </a:rPr>
              <a:t> x </a:t>
            </a:r>
            <a:r>
              <a:rPr lang="pt-BR" altLang="pt-BR" sz="1600">
                <a:latin typeface="Times New Roman" pitchFamily="18" charset="0"/>
              </a:rPr>
              <a:t>≤ </a:t>
            </a:r>
            <a:r>
              <a:rPr lang="pt-BR" altLang="pt-BR" sz="1600" i="1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38919" name="Object 24"/>
          <p:cNvGraphicFramePr>
            <a:graphicFrameLocks noChangeAspect="1"/>
          </p:cNvGraphicFramePr>
          <p:nvPr/>
        </p:nvGraphicFramePr>
        <p:xfrm>
          <a:off x="1660525" y="3581400"/>
          <a:ext cx="1182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6" name="Equation" r:id="rId3" imgW="825500" imgH="393700" progId="Equation.DSMT4">
                  <p:embed/>
                </p:oleObj>
              </mc:Choice>
              <mc:Fallback>
                <p:oleObj name="Equation" r:id="rId3" imgW="825500" imgH="393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3581400"/>
                        <a:ext cx="1182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4" name="Object 26"/>
          <p:cNvGraphicFramePr>
            <a:graphicFrameLocks noChangeAspect="1"/>
          </p:cNvGraphicFramePr>
          <p:nvPr/>
        </p:nvGraphicFramePr>
        <p:xfrm>
          <a:off x="4114800" y="3429000"/>
          <a:ext cx="16192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7" name="Equation" r:id="rId5" imgW="1129810" imgH="482391" progId="Equation.DSMT4">
                  <p:embed/>
                </p:oleObj>
              </mc:Choice>
              <mc:Fallback>
                <p:oleObj name="Equation" r:id="rId5" imgW="1129810" imgH="482391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429000"/>
                        <a:ext cx="16192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5" name="Object 27"/>
          <p:cNvGraphicFramePr>
            <a:graphicFrameLocks noChangeAspect="1"/>
          </p:cNvGraphicFramePr>
          <p:nvPr/>
        </p:nvGraphicFramePr>
        <p:xfrm>
          <a:off x="4141788" y="4114800"/>
          <a:ext cx="28384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8" name="Equation" r:id="rId7" imgW="1981200" imgH="482600" progId="Equation.DSMT4">
                  <p:embed/>
                </p:oleObj>
              </mc:Choice>
              <mc:Fallback>
                <p:oleObj name="Equation" r:id="rId7" imgW="1981200" imgH="482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4114800"/>
                        <a:ext cx="28384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6" name="Object 28"/>
          <p:cNvGraphicFramePr>
            <a:graphicFrameLocks noChangeAspect="1"/>
          </p:cNvGraphicFramePr>
          <p:nvPr/>
        </p:nvGraphicFramePr>
        <p:xfrm>
          <a:off x="4114800" y="4800600"/>
          <a:ext cx="32194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9" name="Equation" r:id="rId9" imgW="2247900" imgH="508000" progId="Equation.DSMT4">
                  <p:embed/>
                </p:oleObj>
              </mc:Choice>
              <mc:Fallback>
                <p:oleObj name="Equation" r:id="rId9" imgW="2247900" imgH="508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800600"/>
                        <a:ext cx="32194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7" name="Object 29"/>
          <p:cNvGraphicFramePr>
            <a:graphicFrameLocks noChangeAspect="1"/>
          </p:cNvGraphicFramePr>
          <p:nvPr/>
        </p:nvGraphicFramePr>
        <p:xfrm>
          <a:off x="4114800" y="5611813"/>
          <a:ext cx="2947988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0" name="Equation" r:id="rId11" imgW="2057400" imgH="444500" progId="Equation.DSMT4">
                  <p:embed/>
                </p:oleObj>
              </mc:Choice>
              <mc:Fallback>
                <p:oleObj name="Equation" r:id="rId11" imgW="2057400" imgH="4445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611813"/>
                        <a:ext cx="2947988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5861050" y="5680075"/>
            <a:ext cx="909638" cy="512763"/>
            <a:chOff x="3637" y="3578"/>
            <a:chExt cx="573" cy="323"/>
          </a:xfrm>
        </p:grpSpPr>
        <p:sp>
          <p:nvSpPr>
            <p:cNvPr id="38929" name="Line 30"/>
            <p:cNvSpPr>
              <a:spLocks noChangeShapeType="1"/>
            </p:cNvSpPr>
            <p:nvPr/>
          </p:nvSpPr>
          <p:spPr bwMode="auto">
            <a:xfrm flipH="1">
              <a:off x="3637" y="3578"/>
              <a:ext cx="33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930" name="Line 31"/>
            <p:cNvSpPr>
              <a:spLocks noChangeShapeType="1"/>
            </p:cNvSpPr>
            <p:nvPr/>
          </p:nvSpPr>
          <p:spPr bwMode="auto">
            <a:xfrm flipH="1">
              <a:off x="3874" y="3757"/>
              <a:ext cx="33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99361" name="Object 33"/>
          <p:cNvGraphicFramePr>
            <a:graphicFrameLocks noChangeAspect="1"/>
          </p:cNvGraphicFramePr>
          <p:nvPr/>
        </p:nvGraphicFramePr>
        <p:xfrm>
          <a:off x="7062788" y="5648325"/>
          <a:ext cx="7096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1" name="Equation" r:id="rId13" imgW="495085" imgH="393529" progId="Equation.DSMT4">
                  <p:embed/>
                </p:oleObj>
              </mc:Choice>
              <mc:Fallback>
                <p:oleObj name="Equation" r:id="rId13" imgW="495085" imgH="393529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5648325"/>
                        <a:ext cx="7096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62" name="Rectangle 34"/>
          <p:cNvSpPr>
            <a:spLocks noChangeArrowheads="1"/>
          </p:cNvSpPr>
          <p:nvPr/>
        </p:nvSpPr>
        <p:spPr bwMode="auto">
          <a:xfrm>
            <a:off x="7239000" y="5638800"/>
            <a:ext cx="533400" cy="6096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AD1130-8015-4016-BCFF-202A0733C204}" type="slidenum">
              <a:rPr lang="pt-BR"/>
              <a:pPr>
                <a:defRPr/>
              </a:pPr>
              <a:t>36</a:t>
            </a:fld>
            <a:endParaRPr lang="pt-BR"/>
          </a:p>
        </p:txBody>
      </p:sp>
      <p:graphicFrame>
        <p:nvGraphicFramePr>
          <p:cNvPr id="38928" name="Objeto 26"/>
          <p:cNvGraphicFramePr>
            <a:graphicFrameLocks noChangeAspect="1"/>
          </p:cNvGraphicFramePr>
          <p:nvPr/>
        </p:nvGraphicFramePr>
        <p:xfrm>
          <a:off x="1660525" y="4554538"/>
          <a:ext cx="873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2" name="Equation" r:id="rId15" imgW="609336" imgH="203112" progId="Equation.DSMT4">
                  <p:embed/>
                </p:oleObj>
              </mc:Choice>
              <mc:Fallback>
                <p:oleObj name="Equation" r:id="rId15" imgW="609336" imgH="203112" progId="Equation.DSMT4">
                  <p:embed/>
                  <p:pic>
                    <p:nvPicPr>
                      <p:cNvPr id="0" name="Objeto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554538"/>
                        <a:ext cx="873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6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pSp>
        <p:nvGrpSpPr>
          <p:cNvPr id="39939" name="Group 26"/>
          <p:cNvGrpSpPr>
            <a:grpSpLocks/>
          </p:cNvGrpSpPr>
          <p:nvPr/>
        </p:nvGrpSpPr>
        <p:grpSpPr bwMode="auto">
          <a:xfrm>
            <a:off x="1227138" y="1687513"/>
            <a:ext cx="2951162" cy="1682750"/>
            <a:chOff x="773" y="1063"/>
            <a:chExt cx="1859" cy="1060"/>
          </a:xfrm>
        </p:grpSpPr>
        <p:sp>
          <p:nvSpPr>
            <p:cNvPr id="39954" name="Freeform 4"/>
            <p:cNvSpPr>
              <a:spLocks/>
            </p:cNvSpPr>
            <p:nvPr/>
          </p:nvSpPr>
          <p:spPr bwMode="auto">
            <a:xfrm>
              <a:off x="1056" y="1104"/>
              <a:ext cx="1488" cy="816"/>
            </a:xfrm>
            <a:custGeom>
              <a:avLst/>
              <a:gdLst>
                <a:gd name="T0" fmla="*/ 0 w 1488"/>
                <a:gd name="T1" fmla="*/ 0 h 816"/>
                <a:gd name="T2" fmla="*/ 0 w 1488"/>
                <a:gd name="T3" fmla="*/ 816 h 816"/>
                <a:gd name="T4" fmla="*/ 1488 w 1488"/>
                <a:gd name="T5" fmla="*/ 816 h 816"/>
                <a:gd name="T6" fmla="*/ 0 60000 65536"/>
                <a:gd name="T7" fmla="*/ 0 60000 65536"/>
                <a:gd name="T8" fmla="*/ 0 60000 65536"/>
                <a:gd name="T9" fmla="*/ 0 w 1488"/>
                <a:gd name="T10" fmla="*/ 0 h 816"/>
                <a:gd name="T11" fmla="*/ 1488 w 14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816">
                  <a:moveTo>
                    <a:pt x="0" y="0"/>
                  </a:moveTo>
                  <a:lnTo>
                    <a:pt x="0" y="816"/>
                  </a:lnTo>
                  <a:lnTo>
                    <a:pt x="1488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955" name="Text Box 5"/>
            <p:cNvSpPr txBox="1">
              <a:spLocks noChangeArrowheads="1"/>
            </p:cNvSpPr>
            <p:nvPr/>
          </p:nvSpPr>
          <p:spPr bwMode="auto">
            <a:xfrm>
              <a:off x="773" y="1063"/>
              <a:ext cx="2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f</a:t>
              </a:r>
              <a:r>
                <a:rPr lang="pt-BR" altLang="pt-BR" sz="1600">
                  <a:latin typeface="Times New Roman" pitchFamily="18" charset="0"/>
                </a:rPr>
                <a:t>(</a:t>
              </a: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9956" name="Text Box 6"/>
            <p:cNvSpPr txBox="1">
              <a:spLocks noChangeArrowheads="1"/>
            </p:cNvSpPr>
            <p:nvPr/>
          </p:nvSpPr>
          <p:spPr bwMode="auto">
            <a:xfrm>
              <a:off x="2438" y="1911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39940" name="Group 7"/>
          <p:cNvGrpSpPr>
            <a:grpSpLocks/>
          </p:cNvGrpSpPr>
          <p:nvPr/>
        </p:nvGrpSpPr>
        <p:grpSpPr bwMode="auto">
          <a:xfrm>
            <a:off x="1984375" y="2957513"/>
            <a:ext cx="1654175" cy="350837"/>
            <a:chOff x="1250" y="1863"/>
            <a:chExt cx="1042" cy="221"/>
          </a:xfrm>
        </p:grpSpPr>
        <p:sp>
          <p:nvSpPr>
            <p:cNvPr id="39952" name="Text Box 8"/>
            <p:cNvSpPr txBox="1">
              <a:spLocks noChangeArrowheads="1"/>
            </p:cNvSpPr>
            <p:nvPr/>
          </p:nvSpPr>
          <p:spPr bwMode="auto">
            <a:xfrm>
              <a:off x="1250" y="186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9953" name="Text Box 9"/>
            <p:cNvSpPr txBox="1">
              <a:spLocks noChangeArrowheads="1"/>
            </p:cNvSpPr>
            <p:nvPr/>
          </p:nvSpPr>
          <p:spPr bwMode="auto">
            <a:xfrm>
              <a:off x="2112" y="18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39941" name="Rectangle 10"/>
          <p:cNvSpPr>
            <a:spLocks noChangeArrowheads="1"/>
          </p:cNvSpPr>
          <p:nvPr/>
        </p:nvSpPr>
        <p:spPr bwMode="auto">
          <a:xfrm>
            <a:off x="2133600" y="2286000"/>
            <a:ext cx="13716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39942" name="Text Box 11"/>
          <p:cNvSpPr txBox="1">
            <a:spLocks noChangeArrowheads="1"/>
          </p:cNvSpPr>
          <p:nvPr/>
        </p:nvSpPr>
        <p:spPr bwMode="auto">
          <a:xfrm>
            <a:off x="4733925" y="2133600"/>
            <a:ext cx="911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</a:t>
            </a:r>
            <a:r>
              <a:rPr lang="pt-BR" altLang="pt-BR" sz="1600">
                <a:latin typeface="Times New Roman" pitchFamily="18" charset="0"/>
              </a:rPr>
              <a:t>≤</a:t>
            </a:r>
            <a:r>
              <a:rPr lang="pt-BR" altLang="pt-BR" sz="1600" i="1">
                <a:latin typeface="Times New Roman" pitchFamily="18" charset="0"/>
              </a:rPr>
              <a:t> x </a:t>
            </a:r>
            <a:r>
              <a:rPr lang="pt-BR" altLang="pt-BR" sz="1600">
                <a:latin typeface="Times New Roman" pitchFamily="18" charset="0"/>
              </a:rPr>
              <a:t>≤ </a:t>
            </a:r>
            <a:r>
              <a:rPr lang="pt-BR" altLang="pt-BR" sz="1600" i="1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39943" name="Object 13"/>
          <p:cNvGraphicFramePr>
            <a:graphicFrameLocks noChangeAspect="1"/>
          </p:cNvGraphicFramePr>
          <p:nvPr/>
        </p:nvGraphicFramePr>
        <p:xfrm>
          <a:off x="1660525" y="3581400"/>
          <a:ext cx="1182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7" name="Equation" r:id="rId3" imgW="825500" imgH="393700" progId="Equation.DSMT4">
                  <p:embed/>
                </p:oleObj>
              </mc:Choice>
              <mc:Fallback>
                <p:oleObj name="Equation" r:id="rId3" imgW="8255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3581400"/>
                        <a:ext cx="1182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7" name="Object 15"/>
          <p:cNvGraphicFramePr>
            <a:graphicFrameLocks noChangeAspect="1"/>
          </p:cNvGraphicFramePr>
          <p:nvPr/>
        </p:nvGraphicFramePr>
        <p:xfrm>
          <a:off x="4164013" y="3932238"/>
          <a:ext cx="183832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8" name="Equation" r:id="rId5" imgW="1282700" imgH="482600" progId="Equation.DSMT4">
                  <p:embed/>
                </p:oleObj>
              </mc:Choice>
              <mc:Fallback>
                <p:oleObj name="Equation" r:id="rId5" imgW="12827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932238"/>
                        <a:ext cx="183832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/>
          <p:cNvGraphicFramePr>
            <a:graphicFrameLocks noChangeAspect="1"/>
          </p:cNvGraphicFramePr>
          <p:nvPr/>
        </p:nvGraphicFramePr>
        <p:xfrm>
          <a:off x="4181475" y="4632325"/>
          <a:ext cx="31115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39" name="Equation" r:id="rId7" imgW="2171700" imgH="482600" progId="Equation.DSMT4">
                  <p:embed/>
                </p:oleObj>
              </mc:Choice>
              <mc:Fallback>
                <p:oleObj name="Equation" r:id="rId7" imgW="2171700" imgH="482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5" y="4632325"/>
                        <a:ext cx="31115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9" name="Object 17"/>
          <p:cNvGraphicFramePr>
            <a:graphicFrameLocks noChangeAspect="1"/>
          </p:cNvGraphicFramePr>
          <p:nvPr/>
        </p:nvGraphicFramePr>
        <p:xfrm>
          <a:off x="4164013" y="5332413"/>
          <a:ext cx="3275012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0" name="Equation" r:id="rId9" imgW="2286000" imgH="508000" progId="Equation.DSMT4">
                  <p:embed/>
                </p:oleObj>
              </mc:Choice>
              <mc:Fallback>
                <p:oleObj name="Equation" r:id="rId9" imgW="2286000" imgH="508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5332413"/>
                        <a:ext cx="3275012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0" name="Object 18"/>
          <p:cNvGraphicFramePr>
            <a:graphicFrameLocks noChangeAspect="1"/>
          </p:cNvGraphicFramePr>
          <p:nvPr/>
        </p:nvGraphicFramePr>
        <p:xfrm>
          <a:off x="4164013" y="6069013"/>
          <a:ext cx="160178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1" name="Equation" r:id="rId11" imgW="1117115" imgH="444307" progId="Equation.DSMT4">
                  <p:embed/>
                </p:oleObj>
              </mc:Choice>
              <mc:Fallback>
                <p:oleObj name="Equation" r:id="rId11" imgW="1117115" imgH="444307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6069013"/>
                        <a:ext cx="1601787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22"/>
          <p:cNvGraphicFramePr>
            <a:graphicFrameLocks noChangeAspect="1"/>
          </p:cNvGraphicFramePr>
          <p:nvPr/>
        </p:nvGraphicFramePr>
        <p:xfrm>
          <a:off x="1660525" y="4419600"/>
          <a:ext cx="12557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2" name="Equation" r:id="rId13" imgW="875920" imgH="393529" progId="Equation.DSMT4">
                  <p:embed/>
                </p:oleObj>
              </mc:Choice>
              <mc:Fallback>
                <p:oleObj name="Equation" r:id="rId13" imgW="875920" imgH="393529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419600"/>
                        <a:ext cx="12557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9" name="Object 24"/>
          <p:cNvGraphicFramePr>
            <a:graphicFrameLocks noChangeAspect="1"/>
          </p:cNvGraphicFramePr>
          <p:nvPr/>
        </p:nvGraphicFramePr>
        <p:xfrm>
          <a:off x="4164013" y="3597275"/>
          <a:ext cx="24336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3" name="Equation" r:id="rId15" imgW="1701800" imgH="228600" progId="Equation.DSMT4">
                  <p:embed/>
                </p:oleObj>
              </mc:Choice>
              <mc:Fallback>
                <p:oleObj name="Equation" r:id="rId15" imgW="170180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597275"/>
                        <a:ext cx="24336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168FD9-2303-49F2-8893-43FC6BE5E568}" type="slidenum">
              <a:rPr lang="pt-BR"/>
              <a:pPr>
                <a:defRPr/>
              </a:pPr>
              <a:t>37</a:t>
            </a:fld>
            <a:endParaRPr lang="pt-BR"/>
          </a:p>
        </p:txBody>
      </p:sp>
      <p:graphicFrame>
        <p:nvGraphicFramePr>
          <p:cNvPr id="39951" name="Objeto 2"/>
          <p:cNvGraphicFramePr>
            <a:graphicFrameLocks noChangeAspect="1"/>
          </p:cNvGraphicFramePr>
          <p:nvPr/>
        </p:nvGraphicFramePr>
        <p:xfrm>
          <a:off x="1660525" y="5226050"/>
          <a:ext cx="10382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4" name="Equation" r:id="rId17" imgW="723586" imgH="203112" progId="Equation.DSMT4">
                  <p:embed/>
                </p:oleObj>
              </mc:Choice>
              <mc:Fallback>
                <p:oleObj name="Equation" r:id="rId17" imgW="723586" imgH="203112" progId="Equation.DSMT4">
                  <p:embed/>
                  <p:pic>
                    <p:nvPicPr>
                      <p:cNvPr id="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5226050"/>
                        <a:ext cx="10382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pSp>
        <p:nvGrpSpPr>
          <p:cNvPr id="40963" name="Group 32"/>
          <p:cNvGrpSpPr>
            <a:grpSpLocks/>
          </p:cNvGrpSpPr>
          <p:nvPr/>
        </p:nvGrpSpPr>
        <p:grpSpPr bwMode="auto">
          <a:xfrm>
            <a:off x="1227138" y="1687513"/>
            <a:ext cx="2951162" cy="1682750"/>
            <a:chOff x="773" y="1063"/>
            <a:chExt cx="1859" cy="1060"/>
          </a:xfrm>
        </p:grpSpPr>
        <p:sp>
          <p:nvSpPr>
            <p:cNvPr id="40984" name="Freeform 4"/>
            <p:cNvSpPr>
              <a:spLocks/>
            </p:cNvSpPr>
            <p:nvPr/>
          </p:nvSpPr>
          <p:spPr bwMode="auto">
            <a:xfrm>
              <a:off x="1056" y="1104"/>
              <a:ext cx="1488" cy="816"/>
            </a:xfrm>
            <a:custGeom>
              <a:avLst/>
              <a:gdLst>
                <a:gd name="T0" fmla="*/ 0 w 1488"/>
                <a:gd name="T1" fmla="*/ 0 h 816"/>
                <a:gd name="T2" fmla="*/ 0 w 1488"/>
                <a:gd name="T3" fmla="*/ 816 h 816"/>
                <a:gd name="T4" fmla="*/ 1488 w 1488"/>
                <a:gd name="T5" fmla="*/ 816 h 816"/>
                <a:gd name="T6" fmla="*/ 0 60000 65536"/>
                <a:gd name="T7" fmla="*/ 0 60000 65536"/>
                <a:gd name="T8" fmla="*/ 0 60000 65536"/>
                <a:gd name="T9" fmla="*/ 0 w 1488"/>
                <a:gd name="T10" fmla="*/ 0 h 816"/>
                <a:gd name="T11" fmla="*/ 1488 w 14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816">
                  <a:moveTo>
                    <a:pt x="0" y="0"/>
                  </a:moveTo>
                  <a:lnTo>
                    <a:pt x="0" y="816"/>
                  </a:lnTo>
                  <a:lnTo>
                    <a:pt x="1488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985" name="Text Box 5"/>
            <p:cNvSpPr txBox="1">
              <a:spLocks noChangeArrowheads="1"/>
            </p:cNvSpPr>
            <p:nvPr/>
          </p:nvSpPr>
          <p:spPr bwMode="auto">
            <a:xfrm>
              <a:off x="773" y="1063"/>
              <a:ext cx="2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f</a:t>
              </a:r>
              <a:r>
                <a:rPr lang="pt-BR" altLang="pt-BR" sz="1600">
                  <a:latin typeface="Times New Roman" pitchFamily="18" charset="0"/>
                </a:rPr>
                <a:t>(</a:t>
              </a:r>
              <a:r>
                <a:rPr lang="pt-BR" altLang="pt-BR" sz="1600" i="1">
                  <a:latin typeface="Times New Roman" pitchFamily="18" charset="0"/>
                </a:rPr>
                <a:t>x</a:t>
              </a:r>
              <a:r>
                <a:rPr lang="pt-BR" altLang="pt-BR" sz="160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40986" name="Text Box 6"/>
            <p:cNvSpPr txBox="1">
              <a:spLocks noChangeArrowheads="1"/>
            </p:cNvSpPr>
            <p:nvPr/>
          </p:nvSpPr>
          <p:spPr bwMode="auto">
            <a:xfrm>
              <a:off x="2438" y="1911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grpSp>
        <p:nvGrpSpPr>
          <p:cNvPr id="40964" name="Group 7"/>
          <p:cNvGrpSpPr>
            <a:grpSpLocks/>
          </p:cNvGrpSpPr>
          <p:nvPr/>
        </p:nvGrpSpPr>
        <p:grpSpPr bwMode="auto">
          <a:xfrm>
            <a:off x="1984375" y="2957513"/>
            <a:ext cx="1654175" cy="350837"/>
            <a:chOff x="1250" y="1863"/>
            <a:chExt cx="1042" cy="221"/>
          </a:xfrm>
        </p:grpSpPr>
        <p:sp>
          <p:nvSpPr>
            <p:cNvPr id="40982" name="Text Box 8"/>
            <p:cNvSpPr txBox="1">
              <a:spLocks noChangeArrowheads="1"/>
            </p:cNvSpPr>
            <p:nvPr/>
          </p:nvSpPr>
          <p:spPr bwMode="auto">
            <a:xfrm>
              <a:off x="1250" y="1863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0983" name="Text Box 9"/>
            <p:cNvSpPr txBox="1">
              <a:spLocks noChangeArrowheads="1"/>
            </p:cNvSpPr>
            <p:nvPr/>
          </p:nvSpPr>
          <p:spPr bwMode="auto">
            <a:xfrm>
              <a:off x="2112" y="1872"/>
              <a:ext cx="1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40965" name="Rectangle 10"/>
          <p:cNvSpPr>
            <a:spLocks noChangeArrowheads="1"/>
          </p:cNvSpPr>
          <p:nvPr/>
        </p:nvSpPr>
        <p:spPr bwMode="auto">
          <a:xfrm>
            <a:off x="2133600" y="2286000"/>
            <a:ext cx="13716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40966" name="Text Box 11"/>
          <p:cNvSpPr txBox="1">
            <a:spLocks noChangeArrowheads="1"/>
          </p:cNvSpPr>
          <p:nvPr/>
        </p:nvSpPr>
        <p:spPr bwMode="auto">
          <a:xfrm>
            <a:off x="4733925" y="2133600"/>
            <a:ext cx="911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latin typeface="Times New Roman" pitchFamily="18" charset="0"/>
              </a:rPr>
              <a:t>a </a:t>
            </a:r>
            <a:r>
              <a:rPr lang="pt-BR" altLang="pt-BR" sz="1600">
                <a:latin typeface="Times New Roman" pitchFamily="18" charset="0"/>
              </a:rPr>
              <a:t>≤</a:t>
            </a:r>
            <a:r>
              <a:rPr lang="pt-BR" altLang="pt-BR" sz="1600" i="1">
                <a:latin typeface="Times New Roman" pitchFamily="18" charset="0"/>
              </a:rPr>
              <a:t> x </a:t>
            </a:r>
            <a:r>
              <a:rPr lang="pt-BR" altLang="pt-BR" sz="1600">
                <a:latin typeface="Times New Roman" pitchFamily="18" charset="0"/>
              </a:rPr>
              <a:t>≤ </a:t>
            </a:r>
            <a:r>
              <a:rPr lang="pt-BR" altLang="pt-BR" sz="1600" i="1">
                <a:latin typeface="Times New Roman" pitchFamily="18" charset="0"/>
              </a:rPr>
              <a:t>b</a:t>
            </a:r>
          </a:p>
        </p:txBody>
      </p:sp>
      <p:graphicFrame>
        <p:nvGraphicFramePr>
          <p:cNvPr id="40967" name="Object 13"/>
          <p:cNvGraphicFramePr>
            <a:graphicFrameLocks noChangeAspect="1"/>
          </p:cNvGraphicFramePr>
          <p:nvPr/>
        </p:nvGraphicFramePr>
        <p:xfrm>
          <a:off x="1660525" y="3581400"/>
          <a:ext cx="1182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7" name="Equation" r:id="rId3" imgW="825500" imgH="393700" progId="Equation.DSMT4">
                  <p:embed/>
                </p:oleObj>
              </mc:Choice>
              <mc:Fallback>
                <p:oleObj name="Equation" r:id="rId3" imgW="8255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3581400"/>
                        <a:ext cx="1182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14"/>
          <p:cNvGraphicFramePr>
            <a:graphicFrameLocks noChangeAspect="1"/>
          </p:cNvGraphicFramePr>
          <p:nvPr/>
        </p:nvGraphicFramePr>
        <p:xfrm>
          <a:off x="4164013" y="3970338"/>
          <a:ext cx="25654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8" name="Equation" r:id="rId5" imgW="1790700" imgH="444500" progId="Equation.DSMT4">
                  <p:embed/>
                </p:oleObj>
              </mc:Choice>
              <mc:Fallback>
                <p:oleObj name="Equation" r:id="rId5" imgW="1790700" imgH="4445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970338"/>
                        <a:ext cx="256540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18"/>
          <p:cNvGraphicFramePr>
            <a:graphicFrameLocks noChangeAspect="1"/>
          </p:cNvGraphicFramePr>
          <p:nvPr/>
        </p:nvGraphicFramePr>
        <p:xfrm>
          <a:off x="1660525" y="4419600"/>
          <a:ext cx="125571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9" name="Equation" r:id="rId7" imgW="875920" imgH="393529" progId="Equation.DSMT4">
                  <p:embed/>
                </p:oleObj>
              </mc:Choice>
              <mc:Fallback>
                <p:oleObj name="Equation" r:id="rId7" imgW="875920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4419600"/>
                        <a:ext cx="125571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9"/>
          <p:cNvGraphicFramePr>
            <a:graphicFrameLocks noChangeAspect="1"/>
          </p:cNvGraphicFramePr>
          <p:nvPr/>
        </p:nvGraphicFramePr>
        <p:xfrm>
          <a:off x="4164013" y="3597275"/>
          <a:ext cx="24336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0" name="Equation" r:id="rId9" imgW="1701800" imgH="228600" progId="Equation.DSMT4">
                  <p:embed/>
                </p:oleObj>
              </mc:Choice>
              <mc:Fallback>
                <p:oleObj name="Equation" r:id="rId9" imgW="17018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3597275"/>
                        <a:ext cx="24336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6" name="Object 20"/>
          <p:cNvGraphicFramePr>
            <a:graphicFrameLocks noChangeAspect="1"/>
          </p:cNvGraphicFramePr>
          <p:nvPr/>
        </p:nvGraphicFramePr>
        <p:xfrm>
          <a:off x="4164013" y="4652963"/>
          <a:ext cx="340201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1" name="Equation" r:id="rId11" imgW="2374900" imgH="444500" progId="Equation.DSMT4">
                  <p:embed/>
                </p:oleObj>
              </mc:Choice>
              <mc:Fallback>
                <p:oleObj name="Equation" r:id="rId11" imgW="2374900" imgH="4445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4652963"/>
                        <a:ext cx="3402012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7" name="Object 21"/>
          <p:cNvGraphicFramePr>
            <a:graphicFrameLocks noChangeAspect="1"/>
          </p:cNvGraphicFramePr>
          <p:nvPr/>
        </p:nvGraphicFramePr>
        <p:xfrm>
          <a:off x="4164013" y="5335588"/>
          <a:ext cx="4003675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2" name="Equation" r:id="rId13" imgW="2794000" imgH="444500" progId="Equation.DSMT4">
                  <p:embed/>
                </p:oleObj>
              </mc:Choice>
              <mc:Fallback>
                <p:oleObj name="Equation" r:id="rId13" imgW="2794000" imgH="4445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5335588"/>
                        <a:ext cx="4003675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8" name="Object 22"/>
          <p:cNvGraphicFramePr>
            <a:graphicFrameLocks noChangeAspect="1"/>
          </p:cNvGraphicFramePr>
          <p:nvPr/>
        </p:nvGraphicFramePr>
        <p:xfrm>
          <a:off x="4164013" y="6019800"/>
          <a:ext cx="2784475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3" name="Equation" r:id="rId15" imgW="1943100" imgH="444500" progId="Equation.DSMT4">
                  <p:embed/>
                </p:oleObj>
              </mc:Choice>
              <mc:Fallback>
                <p:oleObj name="Equation" r:id="rId15" imgW="1943100" imgH="4445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6019800"/>
                        <a:ext cx="2784475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9" name="Object 23"/>
          <p:cNvGraphicFramePr>
            <a:graphicFrameLocks noChangeAspect="1"/>
          </p:cNvGraphicFramePr>
          <p:nvPr/>
        </p:nvGraphicFramePr>
        <p:xfrm>
          <a:off x="6934200" y="6019800"/>
          <a:ext cx="1055688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4" name="Equation" r:id="rId17" imgW="736280" imgH="444307" progId="Equation.DSMT4">
                  <p:embed/>
                </p:oleObj>
              </mc:Choice>
              <mc:Fallback>
                <p:oleObj name="Equation" r:id="rId17" imgW="736280" imgH="444307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6019800"/>
                        <a:ext cx="1055688" cy="63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400" name="Object 24"/>
          <p:cNvGraphicFramePr>
            <a:graphicFrameLocks noChangeAspect="1"/>
          </p:cNvGraphicFramePr>
          <p:nvPr/>
        </p:nvGraphicFramePr>
        <p:xfrm>
          <a:off x="7978775" y="6037263"/>
          <a:ext cx="9461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5" name="Equation" r:id="rId19" imgW="660400" imgH="419100" progId="Equation.DSMT4">
                  <p:embed/>
                </p:oleObj>
              </mc:Choice>
              <mc:Fallback>
                <p:oleObj name="Equation" r:id="rId19" imgW="660400" imgH="419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8775" y="6037263"/>
                        <a:ext cx="9461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01" name="Rectangle 25"/>
          <p:cNvSpPr>
            <a:spLocks noChangeArrowheads="1"/>
          </p:cNvSpPr>
          <p:nvPr/>
        </p:nvSpPr>
        <p:spPr bwMode="auto">
          <a:xfrm>
            <a:off x="8153400" y="5943600"/>
            <a:ext cx="762000" cy="76200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7391400" y="6088063"/>
            <a:ext cx="533400" cy="525462"/>
            <a:chOff x="4656" y="3835"/>
            <a:chExt cx="336" cy="331"/>
          </a:xfrm>
        </p:grpSpPr>
        <p:sp>
          <p:nvSpPr>
            <p:cNvPr id="40980" name="Line 28"/>
            <p:cNvSpPr>
              <a:spLocks noChangeShapeType="1"/>
            </p:cNvSpPr>
            <p:nvPr/>
          </p:nvSpPr>
          <p:spPr bwMode="auto">
            <a:xfrm flipH="1">
              <a:off x="4656" y="4022"/>
              <a:ext cx="336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981" name="Line 27"/>
            <p:cNvSpPr>
              <a:spLocks noChangeShapeType="1"/>
            </p:cNvSpPr>
            <p:nvPr/>
          </p:nvSpPr>
          <p:spPr bwMode="auto">
            <a:xfrm flipH="1">
              <a:off x="4896" y="3835"/>
              <a:ext cx="85" cy="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0BA49E-9B4D-4E14-B19C-8B2007D2450A}" type="slidenum">
              <a:rPr lang="pt-BR"/>
              <a:pPr>
                <a:defRPr/>
              </a:pPr>
              <a:t>38</a:t>
            </a:fld>
            <a:endParaRPr lang="pt-BR"/>
          </a:p>
        </p:txBody>
      </p:sp>
      <p:graphicFrame>
        <p:nvGraphicFramePr>
          <p:cNvPr id="40979" name="Objeto 2"/>
          <p:cNvGraphicFramePr>
            <a:graphicFrameLocks noChangeAspect="1"/>
          </p:cNvGraphicFramePr>
          <p:nvPr/>
        </p:nvGraphicFramePr>
        <p:xfrm>
          <a:off x="1660525" y="5226050"/>
          <a:ext cx="10382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6" name="Equation" r:id="rId21" imgW="723586" imgH="203112" progId="Equation.DSMT4">
                  <p:embed/>
                </p:oleObj>
              </mc:Choice>
              <mc:Fallback>
                <p:oleObj name="Equation" r:id="rId21" imgW="723586" imgH="203112" progId="Equation.DSMT4">
                  <p:embed/>
                  <p:pic>
                    <p:nvPicPr>
                      <p:cNvPr id="0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5226050"/>
                        <a:ext cx="10382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0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upo 13"/>
          <p:cNvGrpSpPr>
            <a:grpSpLocks/>
          </p:cNvGrpSpPr>
          <p:nvPr/>
        </p:nvGrpSpPr>
        <p:grpSpPr bwMode="auto">
          <a:xfrm>
            <a:off x="5689600" y="2414588"/>
            <a:ext cx="2787650" cy="1268412"/>
            <a:chOff x="5580959" y="5105449"/>
            <a:chExt cx="2787948" cy="1268214"/>
          </a:xfrm>
        </p:grpSpPr>
        <p:sp>
          <p:nvSpPr>
            <p:cNvPr id="8" name="Retângulo 7"/>
            <p:cNvSpPr/>
            <p:nvPr/>
          </p:nvSpPr>
          <p:spPr>
            <a:xfrm>
              <a:off x="5580959" y="5611782"/>
              <a:ext cx="1386036" cy="761881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graphicFrame>
          <p:nvGraphicFramePr>
            <p:cNvPr id="42032" name="Objeto 36"/>
            <p:cNvGraphicFramePr>
              <a:graphicFrameLocks noChangeAspect="1"/>
            </p:cNvGraphicFramePr>
            <p:nvPr/>
          </p:nvGraphicFramePr>
          <p:xfrm>
            <a:off x="6881420" y="5105449"/>
            <a:ext cx="1487487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4" name="Equation" r:id="rId3" imgW="1040948" imgH="203112" progId="Equation.DSMT4">
                    <p:embed/>
                  </p:oleObj>
                </mc:Choice>
                <mc:Fallback>
                  <p:oleObj name="Equation" r:id="rId3" imgW="1040948" imgH="203112" progId="Equation.DSMT4">
                    <p:embed/>
                    <p:pic>
                      <p:nvPicPr>
                        <p:cNvPr id="0" name="Objeto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1420" y="5105449"/>
                          <a:ext cx="1487487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Conector de seta reta 9"/>
            <p:cNvCxnSpPr/>
            <p:nvPr/>
          </p:nvCxnSpPr>
          <p:spPr>
            <a:xfrm flipV="1">
              <a:off x="6266832" y="5349886"/>
              <a:ext cx="647769" cy="6428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Uniforme (Contínua)</a:t>
            </a:r>
          </a:p>
        </p:txBody>
      </p:sp>
      <p:graphicFrame>
        <p:nvGraphicFramePr>
          <p:cNvPr id="41988" name="Object 15"/>
          <p:cNvGraphicFramePr>
            <a:graphicFrameLocks noChangeAspect="1"/>
          </p:cNvGraphicFramePr>
          <p:nvPr/>
        </p:nvGraphicFramePr>
        <p:xfrm>
          <a:off x="1116013" y="3860800"/>
          <a:ext cx="12557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5" name="Equation" r:id="rId5" imgW="875920" imgH="393529" progId="Equation.DSMT4">
                  <p:embed/>
                </p:oleObj>
              </mc:Choice>
              <mc:Fallback>
                <p:oleObj name="Equation" r:id="rId5" imgW="875920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860800"/>
                        <a:ext cx="12557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21"/>
          <p:cNvGraphicFramePr>
            <a:graphicFrameLocks noChangeAspect="1"/>
          </p:cNvGraphicFramePr>
          <p:nvPr/>
        </p:nvGraphicFramePr>
        <p:xfrm>
          <a:off x="1116013" y="4508500"/>
          <a:ext cx="165576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6" name="Equation" r:id="rId7" imgW="1155700" imgH="419100" progId="Equation.DSMT4">
                  <p:embed/>
                </p:oleObj>
              </mc:Choice>
              <mc:Fallback>
                <p:oleObj name="Equation" r:id="rId7" imgW="1155700" imgH="419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508500"/>
                        <a:ext cx="165576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5B798B-05FD-4DEB-82AD-CEDA4B07A4A6}" type="slidenum">
              <a:rPr lang="pt-BR"/>
              <a:pPr>
                <a:defRPr/>
              </a:pPr>
              <a:t>39</a:t>
            </a:fld>
            <a:endParaRPr lang="pt-BR"/>
          </a:p>
        </p:txBody>
      </p:sp>
      <p:sp>
        <p:nvSpPr>
          <p:cNvPr id="41991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Uma variável aleatória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/>
              <a:t> tem distribuição Uniforme no intervalo 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pt-BR" altLang="pt-BR" sz="1600"/>
              <a:t>  se sua função densidade de probabilidade for dada por:</a:t>
            </a:r>
          </a:p>
        </p:txBody>
      </p:sp>
      <p:grpSp>
        <p:nvGrpSpPr>
          <p:cNvPr id="41992" name="Grupo 5"/>
          <p:cNvGrpSpPr>
            <a:grpSpLocks/>
          </p:cNvGrpSpPr>
          <p:nvPr/>
        </p:nvGrpSpPr>
        <p:grpSpPr bwMode="auto">
          <a:xfrm>
            <a:off x="1052513" y="2314575"/>
            <a:ext cx="2927350" cy="944563"/>
            <a:chOff x="1052513" y="2314575"/>
            <a:chExt cx="2927305" cy="944563"/>
          </a:xfrm>
        </p:grpSpPr>
        <p:sp>
          <p:nvSpPr>
            <p:cNvPr id="18438" name="Text Box 12"/>
            <p:cNvSpPr txBox="1">
              <a:spLocks noChangeArrowheads="1"/>
            </p:cNvSpPr>
            <p:nvPr/>
          </p:nvSpPr>
          <p:spPr bwMode="auto">
            <a:xfrm>
              <a:off x="2411392" y="2462213"/>
              <a:ext cx="1227118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 smtClean="0">
                  <a:latin typeface="+mn-lt"/>
                </a:rPr>
                <a:t>se </a:t>
              </a:r>
              <a:r>
                <a:rPr lang="pt-BR" altLang="pt-BR" sz="1600" i="1" dirty="0" smtClean="0">
                  <a:latin typeface="Times New Roman" charset="0"/>
                </a:rPr>
                <a:t>a </a:t>
              </a:r>
              <a:r>
                <a:rPr lang="pt-BR" altLang="pt-BR" sz="1600" dirty="0" smtClean="0">
                  <a:latin typeface="Times New Roman" charset="0"/>
                </a:rPr>
                <a:t>≤</a:t>
              </a:r>
              <a:r>
                <a:rPr lang="pt-BR" altLang="pt-BR" sz="1600" i="1" dirty="0" smtClean="0">
                  <a:latin typeface="Times New Roman" charset="0"/>
                </a:rPr>
                <a:t> x </a:t>
              </a:r>
              <a:r>
                <a:rPr lang="pt-BR" altLang="pt-BR" sz="1600" dirty="0" smtClean="0">
                  <a:latin typeface="Times New Roman" charset="0"/>
                </a:rPr>
                <a:t>≤ </a:t>
              </a:r>
              <a:r>
                <a:rPr lang="pt-BR" altLang="pt-BR" sz="1600" i="1" dirty="0" smtClean="0">
                  <a:latin typeface="Times New Roman" charset="0"/>
                </a:rPr>
                <a:t>b</a:t>
              </a:r>
            </a:p>
          </p:txBody>
        </p:sp>
        <p:graphicFrame>
          <p:nvGraphicFramePr>
            <p:cNvPr id="42029" name="Object 13"/>
            <p:cNvGraphicFramePr>
              <a:graphicFrameLocks noChangeAspect="1"/>
            </p:cNvGraphicFramePr>
            <p:nvPr/>
          </p:nvGraphicFramePr>
          <p:xfrm>
            <a:off x="1052513" y="2314575"/>
            <a:ext cx="1309687" cy="944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7" name="Equation" r:id="rId9" imgW="914400" imgH="660400" progId="Equation.DSMT4">
                    <p:embed/>
                  </p:oleObj>
                </mc:Choice>
                <mc:Fallback>
                  <p:oleObj name="Equation" r:id="rId9" imgW="914400" imgH="6604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2513" y="2314575"/>
                          <a:ext cx="1309687" cy="944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2411392" y="2898775"/>
              <a:ext cx="1568426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1600" dirty="0" smtClean="0">
                  <a:latin typeface="+mn-lt"/>
                </a:rPr>
                <a:t>caso contrário</a:t>
              </a:r>
              <a:endParaRPr lang="pt-BR" altLang="pt-BR" sz="1600" i="1" dirty="0" smtClean="0">
                <a:latin typeface="Times New Roman" charset="0"/>
              </a:endParaRPr>
            </a:p>
          </p:txBody>
        </p:sp>
      </p:grp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1108075" y="5845175"/>
          <a:ext cx="15049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8" name="Equation" r:id="rId11" imgW="1054100" imgH="203200" progId="Equation.DSMT4">
                  <p:embed/>
                </p:oleObj>
              </mc:Choice>
              <mc:Fallback>
                <p:oleObj name="Equation" r:id="rId11" imgW="1054100" imgH="203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5845175"/>
                        <a:ext cx="15049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4" name="Group 44"/>
          <p:cNvGrpSpPr>
            <a:grpSpLocks/>
          </p:cNvGrpSpPr>
          <p:nvPr/>
        </p:nvGrpSpPr>
        <p:grpSpPr bwMode="auto">
          <a:xfrm>
            <a:off x="695325" y="5229225"/>
            <a:ext cx="2130425" cy="336550"/>
            <a:chOff x="566" y="2969"/>
            <a:chExt cx="1342" cy="212"/>
          </a:xfrm>
        </p:grpSpPr>
        <p:sp>
          <p:nvSpPr>
            <p:cNvPr id="42026" name="Text Box 24"/>
            <p:cNvSpPr txBox="1">
              <a:spLocks noChangeArrowheads="1"/>
            </p:cNvSpPr>
            <p:nvPr/>
          </p:nvSpPr>
          <p:spPr bwMode="auto">
            <a:xfrm>
              <a:off x="566" y="2969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Exemplo:</a:t>
              </a:r>
            </a:p>
          </p:txBody>
        </p:sp>
        <p:graphicFrame>
          <p:nvGraphicFramePr>
            <p:cNvPr id="42027" name="Object 25"/>
            <p:cNvGraphicFramePr>
              <a:graphicFrameLocks noChangeAspect="1"/>
            </p:cNvGraphicFramePr>
            <p:nvPr/>
          </p:nvGraphicFramePr>
          <p:xfrm>
            <a:off x="1176" y="2991"/>
            <a:ext cx="73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59" name="Equation" r:id="rId13" imgW="812447" imgH="203112" progId="Equation.DSMT4">
                    <p:embed/>
                  </p:oleObj>
                </mc:Choice>
                <mc:Fallback>
                  <p:oleObj name="Equation" r:id="rId13" imgW="812447" imgH="20311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2991"/>
                          <a:ext cx="73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2484438" y="5614988"/>
          <a:ext cx="8350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0" name="Equation" r:id="rId15" imgW="583947" imgH="482391" progId="Equation.DSMT4">
                  <p:embed/>
                </p:oleObj>
              </mc:Choice>
              <mc:Fallback>
                <p:oleObj name="Equation" r:id="rId15" imgW="583947" imgH="482391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614988"/>
                        <a:ext cx="835025" cy="6937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3200400" y="5245100"/>
          <a:ext cx="1160463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1" name="Equation" r:id="rId17" imgW="812447" imgH="177723" progId="Equation.DSMT4">
                  <p:embed/>
                </p:oleObj>
              </mc:Choice>
              <mc:Fallback>
                <p:oleObj name="Equation" r:id="rId17" imgW="812447" imgH="177723" progId="Equation.DSMT4">
                  <p:embed/>
                  <p:pic>
                    <p:nvPicPr>
                      <p:cNvPr id="0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245100"/>
                        <a:ext cx="1160463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upo 16"/>
          <p:cNvGrpSpPr>
            <a:grpSpLocks/>
          </p:cNvGrpSpPr>
          <p:nvPr/>
        </p:nvGrpSpPr>
        <p:grpSpPr bwMode="auto">
          <a:xfrm>
            <a:off x="4786313" y="5013325"/>
            <a:ext cx="2951162" cy="1682750"/>
            <a:chOff x="4674496" y="5013176"/>
            <a:chExt cx="2951163" cy="1682750"/>
          </a:xfrm>
        </p:grpSpPr>
        <p:grpSp>
          <p:nvGrpSpPr>
            <p:cNvPr id="42015" name="Grupo 26"/>
            <p:cNvGrpSpPr>
              <a:grpSpLocks/>
            </p:cNvGrpSpPr>
            <p:nvPr/>
          </p:nvGrpSpPr>
          <p:grpSpPr bwMode="auto">
            <a:xfrm>
              <a:off x="4674496" y="5013176"/>
              <a:ext cx="2951163" cy="1682750"/>
              <a:chOff x="5386198" y="2189346"/>
              <a:chExt cx="2951163" cy="1682750"/>
            </a:xfrm>
          </p:grpSpPr>
          <p:grpSp>
            <p:nvGrpSpPr>
              <p:cNvPr id="42018" name="Group 23"/>
              <p:cNvGrpSpPr>
                <a:grpSpLocks/>
              </p:cNvGrpSpPr>
              <p:nvPr/>
            </p:nvGrpSpPr>
            <p:grpSpPr bwMode="auto">
              <a:xfrm>
                <a:off x="5386198" y="2189346"/>
                <a:ext cx="2951163" cy="1682750"/>
                <a:chOff x="1830" y="1063"/>
                <a:chExt cx="1859" cy="1060"/>
              </a:xfrm>
            </p:grpSpPr>
            <p:sp>
              <p:nvSpPr>
                <p:cNvPr id="42023" name="Freeform 4"/>
                <p:cNvSpPr>
                  <a:spLocks/>
                </p:cNvSpPr>
                <p:nvPr/>
              </p:nvSpPr>
              <p:spPr bwMode="auto">
                <a:xfrm>
                  <a:off x="2113" y="1104"/>
                  <a:ext cx="1488" cy="816"/>
                </a:xfrm>
                <a:custGeom>
                  <a:avLst/>
                  <a:gdLst>
                    <a:gd name="T0" fmla="*/ 0 w 1488"/>
                    <a:gd name="T1" fmla="*/ 0 h 816"/>
                    <a:gd name="T2" fmla="*/ 0 w 1488"/>
                    <a:gd name="T3" fmla="*/ 816 h 816"/>
                    <a:gd name="T4" fmla="*/ 1488 w 1488"/>
                    <a:gd name="T5" fmla="*/ 816 h 816"/>
                    <a:gd name="T6" fmla="*/ 0 60000 65536"/>
                    <a:gd name="T7" fmla="*/ 0 60000 65536"/>
                    <a:gd name="T8" fmla="*/ 0 60000 65536"/>
                    <a:gd name="T9" fmla="*/ 0 w 1488"/>
                    <a:gd name="T10" fmla="*/ 0 h 816"/>
                    <a:gd name="T11" fmla="*/ 1488 w 1488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88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488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024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830" y="1063"/>
                  <a:ext cx="29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f</a:t>
                  </a:r>
                  <a:r>
                    <a:rPr lang="pt-BR" altLang="pt-BR" sz="1600">
                      <a:latin typeface="Times New Roman" pitchFamily="18" charset="0"/>
                    </a:rPr>
                    <a:t>(</a:t>
                  </a: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  <a:r>
                    <a:rPr lang="pt-BR" altLang="pt-BR" sz="1600">
                      <a:latin typeface="Times New Roman" pitchFamily="18" charset="0"/>
                    </a:rPr>
                    <a:t>)</a:t>
                  </a:r>
                </a:p>
              </p:txBody>
            </p:sp>
            <p:sp>
              <p:nvSpPr>
                <p:cNvPr id="42025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495" y="1911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</a:p>
              </p:txBody>
            </p:sp>
          </p:grpSp>
          <p:grpSp>
            <p:nvGrpSpPr>
              <p:cNvPr id="42019" name="Group 7"/>
              <p:cNvGrpSpPr>
                <a:grpSpLocks/>
              </p:cNvGrpSpPr>
              <p:nvPr/>
            </p:nvGrpSpPr>
            <p:grpSpPr bwMode="auto">
              <a:xfrm>
                <a:off x="6143435" y="3502209"/>
                <a:ext cx="1730375" cy="350837"/>
                <a:chOff x="1250" y="1890"/>
                <a:chExt cx="1090" cy="221"/>
              </a:xfrm>
            </p:grpSpPr>
            <p:sp>
              <p:nvSpPr>
                <p:cNvPr id="4202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50" y="1899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4202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094" y="1890"/>
                  <a:ext cx="246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10</a:t>
                  </a:r>
                </a:p>
              </p:txBody>
            </p:sp>
          </p:grpSp>
          <p:sp>
            <p:nvSpPr>
              <p:cNvPr id="42020" name="Rectangle 10"/>
              <p:cNvSpPr>
                <a:spLocks noChangeArrowheads="1"/>
              </p:cNvSpPr>
              <p:nvPr/>
            </p:nvSpPr>
            <p:spPr bwMode="auto">
              <a:xfrm>
                <a:off x="6292661" y="2787833"/>
                <a:ext cx="1371600" cy="76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/>
              </a:p>
            </p:txBody>
          </p:sp>
        </p:grpSp>
        <p:graphicFrame>
          <p:nvGraphicFramePr>
            <p:cNvPr id="42016" name="Objeto 49"/>
            <p:cNvGraphicFramePr>
              <a:graphicFrameLocks noChangeAspect="1"/>
            </p:cNvGraphicFramePr>
            <p:nvPr/>
          </p:nvGraphicFramePr>
          <p:xfrm>
            <a:off x="4957292" y="5414923"/>
            <a:ext cx="139680" cy="393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2" name="Equation" r:id="rId19" imgW="139639" imgH="393529" progId="Equation.DSMT4">
                    <p:embed/>
                  </p:oleObj>
                </mc:Choice>
                <mc:Fallback>
                  <p:oleObj name="Equation" r:id="rId19" imgW="139639" imgH="393529" progId="Equation.DSMT4">
                    <p:embed/>
                    <p:pic>
                      <p:nvPicPr>
                        <p:cNvPr id="0" name="Objeto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292" y="5414923"/>
                          <a:ext cx="139680" cy="393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Conector reto 15"/>
            <p:cNvCxnSpPr/>
            <p:nvPr/>
          </p:nvCxnSpPr>
          <p:spPr>
            <a:xfrm flipH="1">
              <a:off x="5123758" y="5611664"/>
              <a:ext cx="45085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998" name="Grupo 17"/>
          <p:cNvGrpSpPr>
            <a:grpSpLocks/>
          </p:cNvGrpSpPr>
          <p:nvPr/>
        </p:nvGrpSpPr>
        <p:grpSpPr bwMode="auto">
          <a:xfrm>
            <a:off x="4789488" y="2322513"/>
            <a:ext cx="2951162" cy="1682750"/>
            <a:chOff x="4789189" y="2322314"/>
            <a:chExt cx="2951163" cy="1682750"/>
          </a:xfrm>
        </p:grpSpPr>
        <p:grpSp>
          <p:nvGrpSpPr>
            <p:cNvPr id="42004" name="Grupo 4"/>
            <p:cNvGrpSpPr>
              <a:grpSpLocks/>
            </p:cNvGrpSpPr>
            <p:nvPr/>
          </p:nvGrpSpPr>
          <p:grpSpPr bwMode="auto">
            <a:xfrm>
              <a:off x="4789189" y="2322314"/>
              <a:ext cx="2951163" cy="1682750"/>
              <a:chOff x="5386198" y="2189346"/>
              <a:chExt cx="2951163" cy="1682750"/>
            </a:xfrm>
          </p:grpSpPr>
          <p:grpSp>
            <p:nvGrpSpPr>
              <p:cNvPr id="42007" name="Group 23"/>
              <p:cNvGrpSpPr>
                <a:grpSpLocks/>
              </p:cNvGrpSpPr>
              <p:nvPr/>
            </p:nvGrpSpPr>
            <p:grpSpPr bwMode="auto">
              <a:xfrm>
                <a:off x="5386198" y="2189346"/>
                <a:ext cx="2951163" cy="1682750"/>
                <a:chOff x="1830" y="1063"/>
                <a:chExt cx="1859" cy="1060"/>
              </a:xfrm>
            </p:grpSpPr>
            <p:sp>
              <p:nvSpPr>
                <p:cNvPr id="42012" name="Freeform 4"/>
                <p:cNvSpPr>
                  <a:spLocks/>
                </p:cNvSpPr>
                <p:nvPr/>
              </p:nvSpPr>
              <p:spPr bwMode="auto">
                <a:xfrm>
                  <a:off x="2113" y="1104"/>
                  <a:ext cx="1488" cy="816"/>
                </a:xfrm>
                <a:custGeom>
                  <a:avLst/>
                  <a:gdLst>
                    <a:gd name="T0" fmla="*/ 0 w 1488"/>
                    <a:gd name="T1" fmla="*/ 0 h 816"/>
                    <a:gd name="T2" fmla="*/ 0 w 1488"/>
                    <a:gd name="T3" fmla="*/ 816 h 816"/>
                    <a:gd name="T4" fmla="*/ 1488 w 1488"/>
                    <a:gd name="T5" fmla="*/ 816 h 816"/>
                    <a:gd name="T6" fmla="*/ 0 60000 65536"/>
                    <a:gd name="T7" fmla="*/ 0 60000 65536"/>
                    <a:gd name="T8" fmla="*/ 0 60000 65536"/>
                    <a:gd name="T9" fmla="*/ 0 w 1488"/>
                    <a:gd name="T10" fmla="*/ 0 h 816"/>
                    <a:gd name="T11" fmla="*/ 1488 w 1488"/>
                    <a:gd name="T12" fmla="*/ 816 h 81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88" h="816">
                      <a:moveTo>
                        <a:pt x="0" y="0"/>
                      </a:moveTo>
                      <a:lnTo>
                        <a:pt x="0" y="816"/>
                      </a:lnTo>
                      <a:lnTo>
                        <a:pt x="1488" y="816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2013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1830" y="1063"/>
                  <a:ext cx="295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f</a:t>
                  </a:r>
                  <a:r>
                    <a:rPr lang="pt-BR" altLang="pt-BR" sz="1600">
                      <a:latin typeface="Times New Roman" pitchFamily="18" charset="0"/>
                    </a:rPr>
                    <a:t>(</a:t>
                  </a: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  <a:r>
                    <a:rPr lang="pt-BR" altLang="pt-BR" sz="1600">
                      <a:latin typeface="Times New Roman" pitchFamily="18" charset="0"/>
                    </a:rPr>
                    <a:t>)</a:t>
                  </a:r>
                </a:p>
              </p:txBody>
            </p:sp>
            <p:sp>
              <p:nvSpPr>
                <p:cNvPr id="4201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495" y="1911"/>
                  <a:ext cx="19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X</a:t>
                  </a:r>
                </a:p>
              </p:txBody>
            </p:sp>
          </p:grpSp>
          <p:grpSp>
            <p:nvGrpSpPr>
              <p:cNvPr id="42008" name="Group 7"/>
              <p:cNvGrpSpPr>
                <a:grpSpLocks/>
              </p:cNvGrpSpPr>
              <p:nvPr/>
            </p:nvGrpSpPr>
            <p:grpSpPr bwMode="auto">
              <a:xfrm>
                <a:off x="6143436" y="3459346"/>
                <a:ext cx="1654175" cy="350837"/>
                <a:chOff x="1250" y="1863"/>
                <a:chExt cx="1042" cy="221"/>
              </a:xfrm>
            </p:grpSpPr>
            <p:sp>
              <p:nvSpPr>
                <p:cNvPr id="42010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50" y="1863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a</a:t>
                  </a:r>
                </a:p>
              </p:txBody>
            </p:sp>
            <p:sp>
              <p:nvSpPr>
                <p:cNvPr id="4201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112" y="1872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 i="1">
                      <a:latin typeface="Times New Roman" pitchFamily="18" charset="0"/>
                    </a:rPr>
                    <a:t>b</a:t>
                  </a:r>
                </a:p>
              </p:txBody>
            </p:sp>
          </p:grpSp>
          <p:sp>
            <p:nvSpPr>
              <p:cNvPr id="42009" name="Rectangle 10"/>
              <p:cNvSpPr>
                <a:spLocks noChangeArrowheads="1"/>
              </p:cNvSpPr>
              <p:nvPr/>
            </p:nvSpPr>
            <p:spPr bwMode="auto">
              <a:xfrm>
                <a:off x="6292661" y="2787833"/>
                <a:ext cx="1371600" cy="7620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/>
              </a:p>
            </p:txBody>
          </p:sp>
        </p:grpSp>
        <p:graphicFrame>
          <p:nvGraphicFramePr>
            <p:cNvPr id="42005" name="Objeto 53"/>
            <p:cNvGraphicFramePr>
              <a:graphicFrameLocks noChangeAspect="1"/>
            </p:cNvGraphicFramePr>
            <p:nvPr/>
          </p:nvGraphicFramePr>
          <p:xfrm>
            <a:off x="4851470" y="2724150"/>
            <a:ext cx="355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3" name="Equation" r:id="rId21" imgW="355292" imgH="393359" progId="Equation.DSMT4">
                    <p:embed/>
                  </p:oleObj>
                </mc:Choice>
                <mc:Fallback>
                  <p:oleObj name="Equation" r:id="rId21" imgW="355292" imgH="393359" progId="Equation.DSMT4">
                    <p:embed/>
                    <p:pic>
                      <p:nvPicPr>
                        <p:cNvPr id="0" name="Objeto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1470" y="2724150"/>
                          <a:ext cx="355600" cy="39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5" name="Conector reto 54"/>
            <p:cNvCxnSpPr/>
            <p:nvPr/>
          </p:nvCxnSpPr>
          <p:spPr>
            <a:xfrm flipH="1">
              <a:off x="5238451" y="2920801"/>
              <a:ext cx="45085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o 19"/>
          <p:cNvGrpSpPr>
            <a:grpSpLocks/>
          </p:cNvGrpSpPr>
          <p:nvPr/>
        </p:nvGrpSpPr>
        <p:grpSpPr bwMode="auto">
          <a:xfrm>
            <a:off x="6249988" y="4937125"/>
            <a:ext cx="2209800" cy="1436688"/>
            <a:chOff x="6139020" y="4937125"/>
            <a:chExt cx="2209643" cy="1436538"/>
          </a:xfrm>
        </p:grpSpPr>
        <p:sp>
          <p:nvSpPr>
            <p:cNvPr id="48" name="Retângulo 47"/>
            <p:cNvSpPr/>
            <p:nvPr/>
          </p:nvSpPr>
          <p:spPr>
            <a:xfrm flipH="1">
              <a:off x="6139020" y="5611743"/>
              <a:ext cx="550823" cy="76192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graphicFrame>
          <p:nvGraphicFramePr>
            <p:cNvPr id="42002" name="Objeto 57"/>
            <p:cNvGraphicFramePr>
              <a:graphicFrameLocks noChangeAspect="1"/>
            </p:cNvGraphicFramePr>
            <p:nvPr/>
          </p:nvGraphicFramePr>
          <p:xfrm>
            <a:off x="7151688" y="4937125"/>
            <a:ext cx="11969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64" name="Equation" r:id="rId23" imgW="837836" imgH="203112" progId="Equation.DSMT4">
                    <p:embed/>
                  </p:oleObj>
                </mc:Choice>
                <mc:Fallback>
                  <p:oleObj name="Equation" r:id="rId23" imgW="837836" imgH="203112" progId="Equation.DSMT4">
                    <p:embed/>
                    <p:pic>
                      <p:nvPicPr>
                        <p:cNvPr id="0" name="Objeto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1688" y="4937125"/>
                          <a:ext cx="1196975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9" name="Conector de seta reta 58"/>
            <p:cNvCxnSpPr/>
            <p:nvPr/>
          </p:nvCxnSpPr>
          <p:spPr>
            <a:xfrm flipV="1">
              <a:off x="6393002" y="5181574"/>
              <a:ext cx="647654" cy="64287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1" name="Object 26"/>
          <p:cNvGraphicFramePr>
            <a:graphicFrameLocks noChangeAspect="1"/>
          </p:cNvGraphicFramePr>
          <p:nvPr/>
        </p:nvGraphicFramePr>
        <p:xfrm>
          <a:off x="2274888" y="6248400"/>
          <a:ext cx="18700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5" name="Equation" r:id="rId25" imgW="1307532" imgH="393529" progId="Equation.DSMT4">
                  <p:embed/>
                </p:oleObj>
              </mc:Choice>
              <mc:Fallback>
                <p:oleObj name="Equation" r:id="rId25" imgW="1307532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6248400"/>
                        <a:ext cx="1870075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Normal ou Gaussiana</a:t>
            </a:r>
          </a:p>
        </p:txBody>
      </p:sp>
      <p:graphicFrame>
        <p:nvGraphicFramePr>
          <p:cNvPr id="18440" name="Object 15"/>
          <p:cNvGraphicFramePr>
            <a:graphicFrameLocks noChangeAspect="1"/>
          </p:cNvGraphicFramePr>
          <p:nvPr/>
        </p:nvGraphicFramePr>
        <p:xfrm>
          <a:off x="1116013" y="3997325"/>
          <a:ext cx="9271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7" name="Equation" r:id="rId3" imgW="647419" imgH="203112" progId="Equation.DSMT4">
                  <p:embed/>
                </p:oleObj>
              </mc:Choice>
              <mc:Fallback>
                <p:oleObj name="Equation" r:id="rId3" imgW="647419" imgH="20311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997325"/>
                        <a:ext cx="9271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21"/>
          <p:cNvGraphicFramePr>
            <a:graphicFrameLocks noChangeAspect="1"/>
          </p:cNvGraphicFramePr>
          <p:nvPr/>
        </p:nvGraphicFramePr>
        <p:xfrm>
          <a:off x="1116013" y="4645025"/>
          <a:ext cx="1165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8" name="Equation" r:id="rId5" imgW="812447" imgH="228501" progId="Equation.DSMT4">
                  <p:embed/>
                </p:oleObj>
              </mc:Choice>
              <mc:Fallback>
                <p:oleObj name="Equation" r:id="rId5" imgW="812447" imgH="22850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645025"/>
                        <a:ext cx="1165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AF8A7B-8B9A-424A-9222-5FB54F895A52}" type="slidenum">
              <a:rPr lang="pt-BR"/>
              <a:pPr>
                <a:defRPr/>
              </a:pPr>
              <a:t>40</a:t>
            </a:fld>
            <a:endParaRPr lang="pt-BR"/>
          </a:p>
        </p:txBody>
      </p:sp>
      <p:sp>
        <p:nvSpPr>
          <p:cNvPr id="43014" name="Retângulo 2"/>
          <p:cNvSpPr>
            <a:spLocks noChangeArrowheads="1"/>
          </p:cNvSpPr>
          <p:nvPr/>
        </p:nvSpPr>
        <p:spPr bwMode="auto">
          <a:xfrm>
            <a:off x="695325" y="1547813"/>
            <a:ext cx="77644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/>
              <a:t>Uma variável aleatória </a:t>
            </a:r>
            <a:r>
              <a:rPr lang="pt-BR" altLang="pt-BR" sz="1600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pt-BR" altLang="pt-BR" sz="1600"/>
              <a:t> tem distribuição Normal se sua função densidade de probabilidade for dada por:</a:t>
            </a:r>
          </a:p>
        </p:txBody>
      </p:sp>
      <p:grpSp>
        <p:nvGrpSpPr>
          <p:cNvPr id="6" name="Grupo 5"/>
          <p:cNvGrpSpPr>
            <a:grpSpLocks/>
          </p:cNvGrpSpPr>
          <p:nvPr/>
        </p:nvGrpSpPr>
        <p:grpSpPr bwMode="auto">
          <a:xfrm>
            <a:off x="1206500" y="2414588"/>
            <a:ext cx="3322638" cy="744537"/>
            <a:chOff x="373360" y="2414588"/>
            <a:chExt cx="3323098" cy="744537"/>
          </a:xfrm>
        </p:grpSpPr>
        <p:sp>
          <p:nvSpPr>
            <p:cNvPr id="43045" name="Text Box 12"/>
            <p:cNvSpPr txBox="1">
              <a:spLocks noChangeArrowheads="1"/>
            </p:cNvSpPr>
            <p:nvPr/>
          </p:nvSpPr>
          <p:spPr bwMode="auto">
            <a:xfrm>
              <a:off x="2514724" y="2617579"/>
              <a:ext cx="118173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r>
                <a:rPr lang="pt-BR" altLang="pt-BR" sz="1600" i="1">
                  <a:latin typeface="Times New Roman" pitchFamily="18" charset="0"/>
                </a:rPr>
                <a:t> </a:t>
              </a:r>
              <a:r>
                <a:rPr lang="pt-BR" altLang="pt-BR" sz="1600">
                  <a:latin typeface="Times New Roman" pitchFamily="18" charset="0"/>
                </a:rPr>
                <a:t>≤</a:t>
              </a:r>
              <a:r>
                <a:rPr lang="pt-BR" altLang="pt-BR" sz="1600" i="1">
                  <a:latin typeface="Times New Roman" pitchFamily="18" charset="0"/>
                </a:rPr>
                <a:t> x </a:t>
              </a:r>
              <a:r>
                <a:rPr lang="pt-BR" altLang="pt-BR" sz="1600">
                  <a:latin typeface="Times New Roman" pitchFamily="18" charset="0"/>
                </a:rPr>
                <a:t>≤ 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 i="1">
                <a:latin typeface="Times New Roman" pitchFamily="18" charset="0"/>
              </a:endParaRPr>
            </a:p>
          </p:txBody>
        </p:sp>
        <p:graphicFrame>
          <p:nvGraphicFramePr>
            <p:cNvPr id="43046" name="Object 13"/>
            <p:cNvGraphicFramePr>
              <a:graphicFrameLocks noChangeAspect="1"/>
            </p:cNvGraphicFramePr>
            <p:nvPr/>
          </p:nvGraphicFramePr>
          <p:xfrm>
            <a:off x="373360" y="2414588"/>
            <a:ext cx="2090738" cy="744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9" name="Equation" r:id="rId7" imgW="1459866" imgH="520474" progId="Equation.DSMT4">
                    <p:embed/>
                  </p:oleObj>
                </mc:Choice>
                <mc:Fallback>
                  <p:oleObj name="Equation" r:id="rId7" imgW="1459866" imgH="520474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60" y="2414588"/>
                          <a:ext cx="2090738" cy="744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2"/>
          <p:cNvGraphicFramePr>
            <a:graphicFrameLocks noChangeAspect="1"/>
          </p:cNvGraphicFramePr>
          <p:nvPr/>
        </p:nvGraphicFramePr>
        <p:xfrm>
          <a:off x="1081088" y="5845175"/>
          <a:ext cx="1558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0" name="Equation" r:id="rId9" imgW="1091726" imgH="203112" progId="Equation.DSMT4">
                  <p:embed/>
                </p:oleObj>
              </mc:Choice>
              <mc:Fallback>
                <p:oleObj name="Equation" r:id="rId9" imgW="1091726" imgH="20311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5845175"/>
                        <a:ext cx="1558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44"/>
          <p:cNvGrpSpPr>
            <a:grpSpLocks/>
          </p:cNvGrpSpPr>
          <p:nvPr/>
        </p:nvGrpSpPr>
        <p:grpSpPr bwMode="auto">
          <a:xfrm>
            <a:off x="695325" y="5229225"/>
            <a:ext cx="2149475" cy="336550"/>
            <a:chOff x="566" y="2969"/>
            <a:chExt cx="1354" cy="212"/>
          </a:xfrm>
        </p:grpSpPr>
        <p:sp>
          <p:nvSpPr>
            <p:cNvPr id="43043" name="Text Box 24"/>
            <p:cNvSpPr txBox="1">
              <a:spLocks noChangeArrowheads="1"/>
            </p:cNvSpPr>
            <p:nvPr/>
          </p:nvSpPr>
          <p:spPr bwMode="auto">
            <a:xfrm>
              <a:off x="566" y="2969"/>
              <a:ext cx="64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/>
                <a:t>Exemplo:</a:t>
              </a:r>
            </a:p>
          </p:txBody>
        </p:sp>
        <p:graphicFrame>
          <p:nvGraphicFramePr>
            <p:cNvPr id="43044" name="Object 25"/>
            <p:cNvGraphicFramePr>
              <a:graphicFrameLocks noChangeAspect="1"/>
            </p:cNvGraphicFramePr>
            <p:nvPr/>
          </p:nvGraphicFramePr>
          <p:xfrm>
            <a:off x="1165" y="2991"/>
            <a:ext cx="755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41" name="Equation" r:id="rId11" imgW="837836" imgH="203112" progId="Equation.DSMT4">
                    <p:embed/>
                  </p:oleObj>
                </mc:Choice>
                <mc:Fallback>
                  <p:oleObj name="Equation" r:id="rId11" imgW="837836" imgH="20311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5" y="2991"/>
                          <a:ext cx="755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6"/>
          <p:cNvGraphicFramePr>
            <a:graphicFrameLocks noChangeAspect="1"/>
          </p:cNvGraphicFramePr>
          <p:nvPr/>
        </p:nvGraphicFramePr>
        <p:xfrm>
          <a:off x="2484438" y="5614988"/>
          <a:ext cx="8350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2" name="Equation" r:id="rId13" imgW="583947" imgH="482391" progId="Equation.DSMT4">
                  <p:embed/>
                </p:oleObj>
              </mc:Choice>
              <mc:Fallback>
                <p:oleObj name="Equation" r:id="rId13" imgW="583947" imgH="482391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614988"/>
                        <a:ext cx="835025" cy="69373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/>
          <p:cNvGraphicFramePr>
            <a:graphicFrameLocks noChangeAspect="1"/>
          </p:cNvGraphicFramePr>
          <p:nvPr/>
        </p:nvGraphicFramePr>
        <p:xfrm>
          <a:off x="2974975" y="5208588"/>
          <a:ext cx="1612900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3" name="Equation" r:id="rId15" imgW="1130300" imgH="228600" progId="Equation.DSMT4">
                  <p:embed/>
                </p:oleObj>
              </mc:Choice>
              <mc:Fallback>
                <p:oleObj name="Equation" r:id="rId15" imgW="1130300" imgH="228600" progId="Equation.DSMT4">
                  <p:embed/>
                  <p:pic>
                    <p:nvPicPr>
                      <p:cNvPr id="0" name="Objeto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5208588"/>
                        <a:ext cx="1612900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16"/>
          <p:cNvGrpSpPr>
            <a:grpSpLocks/>
          </p:cNvGrpSpPr>
          <p:nvPr/>
        </p:nvGrpSpPr>
        <p:grpSpPr bwMode="auto">
          <a:xfrm>
            <a:off x="4876800" y="1974850"/>
            <a:ext cx="2960688" cy="1946275"/>
            <a:chOff x="3552" y="912"/>
            <a:chExt cx="1409" cy="1226"/>
          </a:xfrm>
        </p:grpSpPr>
        <p:pic>
          <p:nvPicPr>
            <p:cNvPr id="43040" name="Picture 17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3696" y="912"/>
              <a:ext cx="1200" cy="1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41" name="Text Box 18"/>
            <p:cNvSpPr txBox="1">
              <a:spLocks noChangeArrowheads="1"/>
            </p:cNvSpPr>
            <p:nvPr/>
          </p:nvSpPr>
          <p:spPr bwMode="auto">
            <a:xfrm>
              <a:off x="3552" y="1907"/>
              <a:ext cx="2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pitchFamily="18" charset="0"/>
                </a:rPr>
                <a:t>-</a:t>
              </a:r>
              <a:r>
                <a:rPr lang="pt-BR" altLang="pt-BR" sz="18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pitchFamily="18" charset="0"/>
              </a:endParaRPr>
            </a:p>
          </p:txBody>
        </p:sp>
        <p:sp>
          <p:nvSpPr>
            <p:cNvPr id="43042" name="Text Box 19"/>
            <p:cNvSpPr txBox="1">
              <a:spLocks noChangeArrowheads="1"/>
            </p:cNvSpPr>
            <p:nvPr/>
          </p:nvSpPr>
          <p:spPr bwMode="auto">
            <a:xfrm>
              <a:off x="4734" y="1907"/>
              <a:ext cx="22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latin typeface="Times New Roman" pitchFamily="18" charset="0"/>
                </a:rPr>
                <a:t>+</a:t>
              </a:r>
              <a:r>
                <a:rPr lang="pt-BR" altLang="pt-BR" sz="18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800">
                <a:latin typeface="Times New Roman" pitchFamily="18" charset="0"/>
              </a:endParaRPr>
            </a:p>
          </p:txBody>
        </p:sp>
      </p:grpSp>
      <p:sp>
        <p:nvSpPr>
          <p:cNvPr id="57" name="Text Box 27"/>
          <p:cNvSpPr txBox="1">
            <a:spLocks noChangeArrowheads="1"/>
          </p:cNvSpPr>
          <p:nvPr/>
        </p:nvSpPr>
        <p:spPr bwMode="auto">
          <a:xfrm>
            <a:off x="6299200" y="3611563"/>
            <a:ext cx="301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i="1">
                <a:sym typeface="Symbol" pitchFamily="18" charset="2"/>
              </a:rPr>
              <a:t></a:t>
            </a:r>
            <a:endParaRPr lang="pt-BR" altLang="pt-BR" sz="1600" i="1"/>
          </a:p>
        </p:txBody>
      </p:sp>
      <p:grpSp>
        <p:nvGrpSpPr>
          <p:cNvPr id="60" name="Group 39"/>
          <p:cNvGrpSpPr>
            <a:grpSpLocks/>
          </p:cNvGrpSpPr>
          <p:nvPr/>
        </p:nvGrpSpPr>
        <p:grpSpPr bwMode="auto">
          <a:xfrm>
            <a:off x="6457950" y="2859088"/>
            <a:ext cx="381000" cy="1433512"/>
            <a:chOff x="4068" y="1469"/>
            <a:chExt cx="240" cy="903"/>
          </a:xfrm>
        </p:grpSpPr>
        <p:sp>
          <p:nvSpPr>
            <p:cNvPr id="43034" name="Text Box 28"/>
            <p:cNvSpPr txBox="1">
              <a:spLocks noChangeArrowheads="1"/>
            </p:cNvSpPr>
            <p:nvPr/>
          </p:nvSpPr>
          <p:spPr bwMode="auto">
            <a:xfrm>
              <a:off x="4080" y="2160"/>
              <a:ext cx="1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ym typeface="Symbol" pitchFamily="18" charset="2"/>
                </a:rPr>
                <a:t></a:t>
              </a:r>
              <a:endParaRPr lang="pt-BR" altLang="pt-BR" sz="1600" baseline="30000">
                <a:latin typeface="Times New Roman" pitchFamily="18" charset="0"/>
              </a:endParaRPr>
            </a:p>
          </p:txBody>
        </p:sp>
        <p:sp>
          <p:nvSpPr>
            <p:cNvPr id="43035" name="Line 31"/>
            <p:cNvSpPr>
              <a:spLocks noChangeShapeType="1"/>
            </p:cNvSpPr>
            <p:nvPr/>
          </p:nvSpPr>
          <p:spPr bwMode="auto">
            <a:xfrm>
              <a:off x="4308" y="1469"/>
              <a:ext cx="0" cy="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3036" name="Group 37"/>
            <p:cNvGrpSpPr>
              <a:grpSpLocks/>
            </p:cNvGrpSpPr>
            <p:nvPr/>
          </p:nvGrpSpPr>
          <p:grpSpPr bwMode="auto">
            <a:xfrm>
              <a:off x="4068" y="2160"/>
              <a:ext cx="240" cy="48"/>
              <a:chOff x="4068" y="2208"/>
              <a:chExt cx="240" cy="48"/>
            </a:xfrm>
          </p:grpSpPr>
          <p:sp>
            <p:nvSpPr>
              <p:cNvPr id="43037" name="Line 34"/>
              <p:cNvSpPr>
                <a:spLocks noChangeShapeType="1"/>
              </p:cNvSpPr>
              <p:nvPr/>
            </p:nvSpPr>
            <p:spPr bwMode="auto">
              <a:xfrm>
                <a:off x="4068" y="223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38" name="Line 35"/>
              <p:cNvSpPr>
                <a:spLocks noChangeShapeType="1"/>
              </p:cNvSpPr>
              <p:nvPr/>
            </p:nvSpPr>
            <p:spPr bwMode="auto">
              <a:xfrm>
                <a:off x="4068" y="220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3039" name="Line 36"/>
              <p:cNvSpPr>
                <a:spLocks noChangeShapeType="1"/>
              </p:cNvSpPr>
              <p:nvPr/>
            </p:nvSpPr>
            <p:spPr bwMode="auto">
              <a:xfrm>
                <a:off x="4308" y="2208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7162800" y="1992313"/>
          <a:ext cx="11985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4" name="Equation" r:id="rId18" imgW="837836" imgH="482391" progId="Equation.DSMT4">
                  <p:embed/>
                </p:oleObj>
              </mc:Choice>
              <mc:Fallback>
                <p:oleObj name="Equation" r:id="rId18" imgW="837836" imgH="482391" progId="Equation.DSMT4">
                  <p:embed/>
                  <p:pic>
                    <p:nvPicPr>
                      <p:cNvPr id="0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1992313"/>
                        <a:ext cx="119856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upo 25"/>
          <p:cNvGrpSpPr>
            <a:grpSpLocks/>
          </p:cNvGrpSpPr>
          <p:nvPr/>
        </p:nvGrpSpPr>
        <p:grpSpPr bwMode="auto">
          <a:xfrm>
            <a:off x="4876800" y="4592638"/>
            <a:ext cx="2960688" cy="2000250"/>
            <a:chOff x="4876800" y="4592612"/>
            <a:chExt cx="2960688" cy="2000670"/>
          </a:xfrm>
        </p:grpSpPr>
        <p:grpSp>
          <p:nvGrpSpPr>
            <p:cNvPr id="43029" name="Group 16"/>
            <p:cNvGrpSpPr>
              <a:grpSpLocks/>
            </p:cNvGrpSpPr>
            <p:nvPr/>
          </p:nvGrpSpPr>
          <p:grpSpPr bwMode="auto">
            <a:xfrm>
              <a:off x="4876800" y="4592612"/>
              <a:ext cx="2960688" cy="1946275"/>
              <a:chOff x="3552" y="912"/>
              <a:chExt cx="1409" cy="1226"/>
            </a:xfrm>
          </p:grpSpPr>
          <p:pic>
            <p:nvPicPr>
              <p:cNvPr id="43031" name="Picture 17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96" y="912"/>
                <a:ext cx="1200" cy="1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032" name="Text Box 18"/>
              <p:cNvSpPr txBox="1">
                <a:spLocks noChangeArrowheads="1"/>
              </p:cNvSpPr>
              <p:nvPr/>
            </p:nvSpPr>
            <p:spPr bwMode="auto">
              <a:xfrm>
                <a:off x="3552" y="1907"/>
                <a:ext cx="20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pitchFamily="18" charset="0"/>
                  </a:rPr>
                  <a:t>-</a:t>
                </a:r>
                <a:r>
                  <a:rPr lang="pt-BR" altLang="pt-BR" sz="18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pitchFamily="18" charset="0"/>
                </a:endParaRPr>
              </a:p>
            </p:txBody>
          </p:sp>
          <p:sp>
            <p:nvSpPr>
              <p:cNvPr id="43033" name="Text Box 19"/>
              <p:cNvSpPr txBox="1">
                <a:spLocks noChangeArrowheads="1"/>
              </p:cNvSpPr>
              <p:nvPr/>
            </p:nvSpPr>
            <p:spPr bwMode="auto">
              <a:xfrm>
                <a:off x="4734" y="190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800">
                    <a:latin typeface="Times New Roman" pitchFamily="18" charset="0"/>
                  </a:rPr>
                  <a:t>+</a:t>
                </a:r>
                <a:r>
                  <a:rPr lang="pt-BR" altLang="pt-BR" sz="18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800">
                  <a:latin typeface="Times New Roman" pitchFamily="18" charset="0"/>
                </a:endParaRPr>
              </a:p>
            </p:txBody>
          </p:sp>
        </p:grpSp>
        <p:sp>
          <p:nvSpPr>
            <p:cNvPr id="43030" name="CaixaDeTexto 8"/>
            <p:cNvSpPr txBox="1">
              <a:spLocks noChangeArrowheads="1"/>
            </p:cNvSpPr>
            <p:nvPr/>
          </p:nvSpPr>
          <p:spPr bwMode="auto">
            <a:xfrm>
              <a:off x="6269128" y="6254728"/>
              <a:ext cx="40267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cs typeface="Times New Roman" pitchFamily="18" charset="0"/>
                </a:rPr>
                <a:t>10</a:t>
              </a:r>
            </a:p>
          </p:txBody>
        </p:sp>
      </p:grp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6038850" y="4629150"/>
            <a:ext cx="2360613" cy="1628775"/>
            <a:chOff x="6039500" y="4629324"/>
            <a:chExt cx="2359963" cy="1628740"/>
          </a:xfrm>
        </p:grpSpPr>
        <p:sp>
          <p:nvSpPr>
            <p:cNvPr id="13" name="Forma livre 12"/>
            <p:cNvSpPr/>
            <p:nvPr/>
          </p:nvSpPr>
          <p:spPr>
            <a:xfrm>
              <a:off x="6039500" y="4648374"/>
              <a:ext cx="579278" cy="1609690"/>
            </a:xfrm>
            <a:custGeom>
              <a:avLst/>
              <a:gdLst>
                <a:gd name="connsiteX0" fmla="*/ 0 w 579864"/>
                <a:gd name="connsiteY0" fmla="*/ 1610236 h 1610236"/>
                <a:gd name="connsiteX1" fmla="*/ 0 w 579864"/>
                <a:gd name="connsiteY1" fmla="*/ 936703 h 1610236"/>
                <a:gd name="connsiteX2" fmla="*/ 44605 w 579864"/>
                <a:gd name="connsiteY2" fmla="*/ 838572 h 1610236"/>
                <a:gd name="connsiteX3" fmla="*/ 98131 w 579864"/>
                <a:gd name="connsiteY3" fmla="*/ 660152 h 1610236"/>
                <a:gd name="connsiteX4" fmla="*/ 151657 w 579864"/>
                <a:gd name="connsiteY4" fmla="*/ 486193 h 1610236"/>
                <a:gd name="connsiteX5" fmla="*/ 209643 w 579864"/>
                <a:gd name="connsiteY5" fmla="*/ 338997 h 1610236"/>
                <a:gd name="connsiteX6" fmla="*/ 258709 w 579864"/>
                <a:gd name="connsiteY6" fmla="*/ 205183 h 1610236"/>
                <a:gd name="connsiteX7" fmla="*/ 312235 w 579864"/>
                <a:gd name="connsiteY7" fmla="*/ 93671 h 1610236"/>
                <a:gd name="connsiteX8" fmla="*/ 365760 w 579864"/>
                <a:gd name="connsiteY8" fmla="*/ 26763 h 1610236"/>
                <a:gd name="connsiteX9" fmla="*/ 423747 w 579864"/>
                <a:gd name="connsiteY9" fmla="*/ 0 h 1610236"/>
                <a:gd name="connsiteX10" fmla="*/ 486194 w 579864"/>
                <a:gd name="connsiteY10" fmla="*/ 31224 h 1610236"/>
                <a:gd name="connsiteX11" fmla="*/ 539720 w 579864"/>
                <a:gd name="connsiteY11" fmla="*/ 102592 h 1610236"/>
                <a:gd name="connsiteX12" fmla="*/ 579864 w 579864"/>
                <a:gd name="connsiteY12" fmla="*/ 205183 h 1610236"/>
                <a:gd name="connsiteX13" fmla="*/ 575403 w 579864"/>
                <a:gd name="connsiteY13" fmla="*/ 1610236 h 1610236"/>
                <a:gd name="connsiteX14" fmla="*/ 0 w 579864"/>
                <a:gd name="connsiteY14" fmla="*/ 1610236 h 161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9864" h="1610236">
                  <a:moveTo>
                    <a:pt x="0" y="1610236"/>
                  </a:moveTo>
                  <a:lnTo>
                    <a:pt x="0" y="936703"/>
                  </a:lnTo>
                  <a:lnTo>
                    <a:pt x="44605" y="838572"/>
                  </a:lnTo>
                  <a:lnTo>
                    <a:pt x="98131" y="660152"/>
                  </a:lnTo>
                  <a:lnTo>
                    <a:pt x="151657" y="486193"/>
                  </a:lnTo>
                  <a:lnTo>
                    <a:pt x="209643" y="338997"/>
                  </a:lnTo>
                  <a:lnTo>
                    <a:pt x="258709" y="205183"/>
                  </a:lnTo>
                  <a:lnTo>
                    <a:pt x="312235" y="93671"/>
                  </a:lnTo>
                  <a:lnTo>
                    <a:pt x="365760" y="26763"/>
                  </a:lnTo>
                  <a:lnTo>
                    <a:pt x="423747" y="0"/>
                  </a:lnTo>
                  <a:lnTo>
                    <a:pt x="486194" y="31224"/>
                  </a:lnTo>
                  <a:lnTo>
                    <a:pt x="539720" y="102592"/>
                  </a:lnTo>
                  <a:lnTo>
                    <a:pt x="579864" y="205183"/>
                  </a:lnTo>
                  <a:lnTo>
                    <a:pt x="575403" y="1610236"/>
                  </a:lnTo>
                  <a:lnTo>
                    <a:pt x="0" y="161023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graphicFrame>
          <p:nvGraphicFramePr>
            <p:cNvPr id="43027" name="Objeto 57"/>
            <p:cNvGraphicFramePr>
              <a:graphicFrameLocks noChangeAspect="1"/>
            </p:cNvGraphicFramePr>
            <p:nvPr/>
          </p:nvGraphicFramePr>
          <p:xfrm>
            <a:off x="7146925" y="4629324"/>
            <a:ext cx="1252538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45" name="Equation" r:id="rId20" imgW="876300" imgH="203200" progId="Equation.DSMT4">
                    <p:embed/>
                  </p:oleObj>
                </mc:Choice>
                <mc:Fallback>
                  <p:oleObj name="Equation" r:id="rId20" imgW="876300" imgH="203200" progId="Equation.DSMT4">
                    <p:embed/>
                    <p:pic>
                      <p:nvPicPr>
                        <p:cNvPr id="0" name="Objeto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46925" y="4629324"/>
                          <a:ext cx="1252538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9" name="Conector de seta reta 58"/>
            <p:cNvCxnSpPr/>
            <p:nvPr/>
          </p:nvCxnSpPr>
          <p:spPr>
            <a:xfrm flipV="1">
              <a:off x="6414047" y="4873794"/>
              <a:ext cx="649109" cy="64292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Distribuição Normal ou Gaussiana</a:t>
            </a:r>
          </a:p>
        </p:txBody>
      </p:sp>
      <p:graphicFrame>
        <p:nvGraphicFramePr>
          <p:cNvPr id="104463" name="Object 15"/>
          <p:cNvGraphicFramePr>
            <a:graphicFrameLocks noChangeAspect="1"/>
          </p:cNvGraphicFramePr>
          <p:nvPr/>
        </p:nvGraphicFramePr>
        <p:xfrm>
          <a:off x="1098550" y="2609850"/>
          <a:ext cx="1016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9" name="Equation" r:id="rId3" imgW="710891" imgH="393529" progId="Equation.DSMT4">
                  <p:embed/>
                </p:oleObj>
              </mc:Choice>
              <mc:Fallback>
                <p:oleObj name="Equation" r:id="rId3" imgW="710891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2609850"/>
                        <a:ext cx="1016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4" name="Object 16"/>
          <p:cNvGraphicFramePr>
            <a:graphicFrameLocks noChangeAspect="1"/>
          </p:cNvGraphicFramePr>
          <p:nvPr/>
        </p:nvGraphicFramePr>
        <p:xfrm>
          <a:off x="1098550" y="3657600"/>
          <a:ext cx="7080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0" name="Equation" r:id="rId5" imgW="494870" imgH="203024" progId="Equation.DSMT4">
                  <p:embed/>
                </p:oleObj>
              </mc:Choice>
              <mc:Fallback>
                <p:oleObj name="Equation" r:id="rId5" imgW="494870" imgH="203024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3657600"/>
                        <a:ext cx="7080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5" name="Object 17"/>
          <p:cNvGraphicFramePr>
            <a:graphicFrameLocks noChangeAspect="1"/>
          </p:cNvGraphicFramePr>
          <p:nvPr/>
        </p:nvGraphicFramePr>
        <p:xfrm>
          <a:off x="1822450" y="3494088"/>
          <a:ext cx="1216025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1" name="Equation" r:id="rId7" imgW="850531" imgH="431613" progId="Equation.DSMT4">
                  <p:embed/>
                </p:oleObj>
              </mc:Choice>
              <mc:Fallback>
                <p:oleObj name="Equation" r:id="rId7" imgW="850531" imgH="43161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3494088"/>
                        <a:ext cx="1216025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6" name="Object 18"/>
          <p:cNvGraphicFramePr>
            <a:graphicFrameLocks noChangeAspect="1"/>
          </p:cNvGraphicFramePr>
          <p:nvPr/>
        </p:nvGraphicFramePr>
        <p:xfrm>
          <a:off x="3054350" y="3521075"/>
          <a:ext cx="13430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2" name="Equation" r:id="rId9" imgW="939392" imgH="393529" progId="Equation.DSMT4">
                  <p:embed/>
                </p:oleObj>
              </mc:Choice>
              <mc:Fallback>
                <p:oleObj name="Equation" r:id="rId9" imgW="939392" imgH="39352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3521075"/>
                        <a:ext cx="13430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7" name="Object 19"/>
          <p:cNvGraphicFramePr>
            <a:graphicFrameLocks noChangeAspect="1"/>
          </p:cNvGraphicFramePr>
          <p:nvPr/>
        </p:nvGraphicFramePr>
        <p:xfrm>
          <a:off x="4413250" y="3521075"/>
          <a:ext cx="147002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3" name="Equation" r:id="rId11" imgW="1028254" imgH="393529" progId="Equation.DSMT4">
                  <p:embed/>
                </p:oleObj>
              </mc:Choice>
              <mc:Fallback>
                <p:oleObj name="Equation" r:id="rId11" imgW="1028254" imgH="39352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3521075"/>
                        <a:ext cx="147002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8" name="Object 20"/>
          <p:cNvGraphicFramePr>
            <a:graphicFrameLocks noChangeAspect="1"/>
          </p:cNvGraphicFramePr>
          <p:nvPr/>
        </p:nvGraphicFramePr>
        <p:xfrm>
          <a:off x="5899150" y="3521075"/>
          <a:ext cx="1270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4" name="Equation" r:id="rId13" imgW="888614" imgH="393529" progId="Equation.DSMT4">
                  <p:embed/>
                </p:oleObj>
              </mc:Choice>
              <mc:Fallback>
                <p:oleObj name="Equation" r:id="rId13" imgW="888614" imgH="393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9150" y="3521075"/>
                        <a:ext cx="1270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9" name="Object 21"/>
          <p:cNvGraphicFramePr>
            <a:graphicFrameLocks noChangeAspect="1"/>
          </p:cNvGraphicFramePr>
          <p:nvPr/>
        </p:nvGraphicFramePr>
        <p:xfrm>
          <a:off x="1098550" y="4710113"/>
          <a:ext cx="8540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5" name="Equation" r:id="rId15" imgW="596641" imgH="203112" progId="Equation.DSMT4">
                  <p:embed/>
                </p:oleObj>
              </mc:Choice>
              <mc:Fallback>
                <p:oleObj name="Equation" r:id="rId15" imgW="596641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8550" y="4710113"/>
                        <a:ext cx="8540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0" name="Object 22"/>
          <p:cNvGraphicFramePr>
            <a:graphicFrameLocks noChangeAspect="1"/>
          </p:cNvGraphicFramePr>
          <p:nvPr/>
        </p:nvGraphicFramePr>
        <p:xfrm>
          <a:off x="1985963" y="4545013"/>
          <a:ext cx="1363662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6" name="Equation" r:id="rId17" imgW="952087" imgH="431613" progId="Equation.DSMT4">
                  <p:embed/>
                </p:oleObj>
              </mc:Choice>
              <mc:Fallback>
                <p:oleObj name="Equation" r:id="rId17" imgW="952087" imgH="43161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4545013"/>
                        <a:ext cx="1363662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1" name="Object 23"/>
          <p:cNvGraphicFramePr>
            <a:graphicFrameLocks noChangeAspect="1"/>
          </p:cNvGraphicFramePr>
          <p:nvPr/>
        </p:nvGraphicFramePr>
        <p:xfrm>
          <a:off x="3382963" y="4572000"/>
          <a:ext cx="16002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7" name="Equation" r:id="rId19" imgW="1117115" imgH="393529" progId="Equation.DSMT4">
                  <p:embed/>
                </p:oleObj>
              </mc:Choice>
              <mc:Fallback>
                <p:oleObj name="Equation" r:id="rId19" imgW="1117115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963" y="4572000"/>
                        <a:ext cx="16002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2" name="Object 24"/>
          <p:cNvGraphicFramePr>
            <a:graphicFrameLocks noChangeAspect="1"/>
          </p:cNvGraphicFramePr>
          <p:nvPr/>
        </p:nvGraphicFramePr>
        <p:xfrm>
          <a:off x="5026025" y="4572000"/>
          <a:ext cx="10731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8" name="Equation" r:id="rId21" imgW="748975" imgH="393529" progId="Equation.DSMT4">
                  <p:embed/>
                </p:oleObj>
              </mc:Choice>
              <mc:Fallback>
                <p:oleObj name="Equation" r:id="rId21" imgW="748975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4572000"/>
                        <a:ext cx="10731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3" name="Text Box 25"/>
          <p:cNvSpPr txBox="1">
            <a:spLocks noChangeArrowheads="1"/>
          </p:cNvSpPr>
          <p:nvPr/>
        </p:nvSpPr>
        <p:spPr bwMode="auto">
          <a:xfrm>
            <a:off x="2393950" y="5670550"/>
            <a:ext cx="30702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ym typeface="Symbol" pitchFamily="18" charset="2"/>
              </a:rPr>
              <a:t> </a:t>
            </a:r>
            <a:r>
              <a:rPr lang="pt-BR" altLang="pt-BR" sz="1600">
                <a:solidFill>
                  <a:srgbClr val="FF0000"/>
                </a:solidFill>
                <a:sym typeface="Symbol" pitchFamily="18" charset="2"/>
              </a:rPr>
              <a:t>Distribuição Normal Padrão</a:t>
            </a:r>
            <a:endParaRPr lang="pt-BR" altLang="pt-BR" sz="1600">
              <a:solidFill>
                <a:srgbClr val="FF0000"/>
              </a:solidFill>
            </a:endParaRPr>
          </a:p>
        </p:txBody>
      </p:sp>
      <p:graphicFrame>
        <p:nvGraphicFramePr>
          <p:cNvPr id="104474" name="Object 26"/>
          <p:cNvGraphicFramePr>
            <a:graphicFrameLocks noChangeAspect="1"/>
          </p:cNvGraphicFramePr>
          <p:nvPr/>
        </p:nvGraphicFramePr>
        <p:xfrm>
          <a:off x="1114425" y="5715000"/>
          <a:ext cx="10366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29" name="Equation" r:id="rId23" imgW="723586" imgH="203112" progId="Equation.DSMT4">
                  <p:embed/>
                </p:oleObj>
              </mc:Choice>
              <mc:Fallback>
                <p:oleObj name="Equation" r:id="rId23" imgW="723586" imgH="203112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5715000"/>
                        <a:ext cx="10366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75" name="Rectangle 27"/>
          <p:cNvSpPr>
            <a:spLocks noChangeArrowheads="1"/>
          </p:cNvSpPr>
          <p:nvPr/>
        </p:nvSpPr>
        <p:spPr bwMode="auto">
          <a:xfrm>
            <a:off x="1022350" y="5594350"/>
            <a:ext cx="1219200" cy="533400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graphicFrame>
        <p:nvGraphicFramePr>
          <p:cNvPr id="104479" name="Object 31"/>
          <p:cNvGraphicFramePr>
            <a:graphicFrameLocks noChangeAspect="1"/>
          </p:cNvGraphicFramePr>
          <p:nvPr/>
        </p:nvGraphicFramePr>
        <p:xfrm>
          <a:off x="6156325" y="4545013"/>
          <a:ext cx="8001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0" name="Equation" r:id="rId25" imgW="558800" imgH="419100" progId="Equation.DSMT4">
                  <p:embed/>
                </p:oleObj>
              </mc:Choice>
              <mc:Fallback>
                <p:oleObj name="Equation" r:id="rId25" imgW="558800" imgH="4191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545013"/>
                        <a:ext cx="8001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23"/>
          <p:cNvGrpSpPr>
            <a:grpSpLocks/>
          </p:cNvGrpSpPr>
          <p:nvPr/>
        </p:nvGrpSpPr>
        <p:grpSpPr bwMode="auto">
          <a:xfrm>
            <a:off x="1028700" y="1857375"/>
            <a:ext cx="5875338" cy="338138"/>
            <a:chOff x="1071538" y="1857364"/>
            <a:chExt cx="5875372" cy="338554"/>
          </a:xfrm>
        </p:grpSpPr>
        <p:sp>
          <p:nvSpPr>
            <p:cNvPr id="44053" name="Text Box 25"/>
            <p:cNvSpPr txBox="1">
              <a:spLocks noChangeArrowheads="1"/>
            </p:cNvSpPr>
            <p:nvPr/>
          </p:nvSpPr>
          <p:spPr bwMode="auto">
            <a:xfrm>
              <a:off x="1071538" y="1857364"/>
              <a:ext cx="172996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ym typeface="Symbol" pitchFamily="18" charset="2"/>
                </a:rPr>
                <a:t>Propriedade: se </a:t>
              </a:r>
              <a:endParaRPr lang="pt-BR" altLang="pt-BR" sz="1600"/>
            </a:p>
          </p:txBody>
        </p:sp>
        <p:graphicFrame>
          <p:nvGraphicFramePr>
            <p:cNvPr id="44054" name="Object 30"/>
            <p:cNvGraphicFramePr>
              <a:graphicFrameLocks noChangeAspect="1"/>
            </p:cNvGraphicFramePr>
            <p:nvPr/>
          </p:nvGraphicFramePr>
          <p:xfrm>
            <a:off x="2675448" y="1857370"/>
            <a:ext cx="1271588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1" name="Equation" r:id="rId27" imgW="889000" imgH="228600" progId="Equation.DSMT4">
                    <p:embed/>
                  </p:oleObj>
                </mc:Choice>
                <mc:Fallback>
                  <p:oleObj name="Equation" r:id="rId27" imgW="889000" imgH="2286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5448" y="1857370"/>
                          <a:ext cx="1271588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5" name="Text Box 25"/>
            <p:cNvSpPr txBox="1">
              <a:spLocks noChangeArrowheads="1"/>
            </p:cNvSpPr>
            <p:nvPr/>
          </p:nvSpPr>
          <p:spPr bwMode="auto">
            <a:xfrm>
              <a:off x="3929058" y="1857364"/>
              <a:ext cx="2968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ym typeface="Symbol" pitchFamily="18" charset="2"/>
                </a:rPr>
                <a:t>e</a:t>
              </a:r>
              <a:endParaRPr lang="pt-BR" altLang="pt-BR" sz="1600"/>
            </a:p>
          </p:txBody>
        </p:sp>
        <p:graphicFrame>
          <p:nvGraphicFramePr>
            <p:cNvPr id="44056" name="Object 33"/>
            <p:cNvGraphicFramePr>
              <a:graphicFrameLocks noChangeAspect="1"/>
            </p:cNvGraphicFramePr>
            <p:nvPr/>
          </p:nvGraphicFramePr>
          <p:xfrm>
            <a:off x="4232458" y="1893883"/>
            <a:ext cx="1000125" cy="255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2" name="Equation" r:id="rId29" imgW="698197" imgH="177723" progId="Equation.DSMT4">
                    <p:embed/>
                  </p:oleObj>
                </mc:Choice>
                <mc:Fallback>
                  <p:oleObj name="Equation" r:id="rId29" imgW="698197" imgH="177723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2458" y="1893883"/>
                          <a:ext cx="1000125" cy="255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7" name="Text Box 25"/>
            <p:cNvSpPr txBox="1">
              <a:spLocks noChangeArrowheads="1"/>
            </p:cNvSpPr>
            <p:nvPr/>
          </p:nvSpPr>
          <p:spPr bwMode="auto">
            <a:xfrm>
              <a:off x="5214942" y="1857364"/>
              <a:ext cx="71365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ym typeface="Symbol" pitchFamily="18" charset="2"/>
                </a:rPr>
                <a:t>então</a:t>
              </a:r>
              <a:endParaRPr lang="pt-BR" altLang="pt-BR" sz="1600"/>
            </a:p>
          </p:txBody>
        </p:sp>
        <p:graphicFrame>
          <p:nvGraphicFramePr>
            <p:cNvPr id="44058" name="Object 34"/>
            <p:cNvGraphicFramePr>
              <a:graphicFrameLocks noChangeAspect="1"/>
            </p:cNvGraphicFramePr>
            <p:nvPr/>
          </p:nvGraphicFramePr>
          <p:xfrm>
            <a:off x="5929322" y="1896354"/>
            <a:ext cx="1017588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33" name="Equation" r:id="rId31" imgW="710891" imgH="203112" progId="Equation.DSMT4">
                    <p:embed/>
                  </p:oleObj>
                </mc:Choice>
                <mc:Fallback>
                  <p:oleObj name="Equation" r:id="rId31" imgW="710891" imgH="203112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9322" y="1896354"/>
                          <a:ext cx="1017588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35"/>
          <p:cNvGraphicFramePr>
            <a:graphicFrameLocks noChangeAspect="1"/>
          </p:cNvGraphicFramePr>
          <p:nvPr/>
        </p:nvGraphicFramePr>
        <p:xfrm>
          <a:off x="5886450" y="1857375"/>
          <a:ext cx="183515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4" name="Equation" r:id="rId33" imgW="1282700" imgH="228600" progId="Equation.DSMT4">
                  <p:embed/>
                </p:oleObj>
              </mc:Choice>
              <mc:Fallback>
                <p:oleObj name="Equation" r:id="rId33" imgW="1282700" imgH="2286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1857375"/>
                        <a:ext cx="1835150" cy="328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3571E-64C1-4B86-812A-557970FF6559}" type="slidenum">
              <a:rPr lang="pt-BR"/>
              <a:pPr>
                <a:defRPr/>
              </a:pPr>
              <a:t>41</a:t>
            </a:fld>
            <a:endParaRPr lang="pt-BR"/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3052763" y="6000750"/>
            <a:ext cx="4256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sym typeface="Symbol" pitchFamily="18" charset="2"/>
              </a:rPr>
              <a:t>(valores de probabilidade podem ser tabelados!)</a:t>
            </a:r>
            <a:endParaRPr lang="pt-BR" altLang="pt-BR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73" grpId="0" autoUpdateAnimBg="0"/>
      <p:bldP spid="104475" grpId="0" animBg="1"/>
      <p:bldP spid="2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1989138"/>
            <a:ext cx="4879975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</a:t>
            </a:r>
          </a:p>
        </p:txBody>
      </p:sp>
      <p:graphicFrame>
        <p:nvGraphicFramePr>
          <p:cNvPr id="105483" name="Object 11"/>
          <p:cNvGraphicFramePr>
            <a:graphicFrameLocks noChangeAspect="1"/>
          </p:cNvGraphicFramePr>
          <p:nvPr/>
        </p:nvGraphicFramePr>
        <p:xfrm>
          <a:off x="827088" y="3733800"/>
          <a:ext cx="1433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9" name="Equation" r:id="rId4" imgW="1002865" imgH="203112" progId="Equation.DSMT4">
                  <p:embed/>
                </p:oleObj>
              </mc:Choice>
              <mc:Fallback>
                <p:oleObj name="Equation" r:id="rId4" imgW="1002865" imgH="203112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733800"/>
                        <a:ext cx="14335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827088" y="4267200"/>
          <a:ext cx="19589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0" name="Equation" r:id="rId6" imgW="1371600" imgH="203200" progId="Equation.DSMT4">
                  <p:embed/>
                </p:oleObj>
              </mc:Choice>
              <mc:Fallback>
                <p:oleObj name="Equation" r:id="rId6" imgW="1371600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267200"/>
                        <a:ext cx="19589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5" name="AutoShape 13"/>
          <p:cNvSpPr>
            <a:spLocks noChangeArrowheads="1"/>
          </p:cNvSpPr>
          <p:nvPr/>
        </p:nvSpPr>
        <p:spPr bwMode="auto">
          <a:xfrm>
            <a:off x="3444875" y="511175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105486" name="AutoShape 14"/>
          <p:cNvSpPr>
            <a:spLocks noChangeArrowheads="1"/>
          </p:cNvSpPr>
          <p:nvPr/>
        </p:nvSpPr>
        <p:spPr bwMode="auto">
          <a:xfrm rot="5400000">
            <a:off x="7353300" y="1506538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sp>
        <p:nvSpPr>
          <p:cNvPr id="105487" name="Rectangle 15"/>
          <p:cNvSpPr>
            <a:spLocks noChangeArrowheads="1"/>
          </p:cNvSpPr>
          <p:nvPr/>
        </p:nvSpPr>
        <p:spPr bwMode="auto">
          <a:xfrm>
            <a:off x="7416800" y="5137150"/>
            <a:ext cx="411163" cy="179388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grpSp>
        <p:nvGrpSpPr>
          <p:cNvPr id="45065" name="Grupo 2"/>
          <p:cNvGrpSpPr>
            <a:grpSpLocks/>
          </p:cNvGrpSpPr>
          <p:nvPr/>
        </p:nvGrpSpPr>
        <p:grpSpPr bwMode="auto">
          <a:xfrm>
            <a:off x="684213" y="1600200"/>
            <a:ext cx="2698750" cy="1289050"/>
            <a:chOff x="684213" y="1600200"/>
            <a:chExt cx="2698751" cy="1289467"/>
          </a:xfrm>
        </p:grpSpPr>
        <p:pic>
          <p:nvPicPr>
            <p:cNvPr id="45073" name="Picture 1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771526" y="1600200"/>
              <a:ext cx="2506663" cy="1058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4" name="Text Box 19"/>
            <p:cNvSpPr txBox="1">
              <a:spLocks noChangeArrowheads="1"/>
            </p:cNvSpPr>
            <p:nvPr/>
          </p:nvSpPr>
          <p:spPr bwMode="auto">
            <a:xfrm>
              <a:off x="684213" y="2551113"/>
              <a:ext cx="3968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5075" name="Text Box 20"/>
            <p:cNvSpPr txBox="1">
              <a:spLocks noChangeArrowheads="1"/>
            </p:cNvSpPr>
            <p:nvPr/>
          </p:nvSpPr>
          <p:spPr bwMode="auto">
            <a:xfrm>
              <a:off x="2940051" y="2551113"/>
              <a:ext cx="442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5076" name="Text Box 25"/>
            <p:cNvSpPr txBox="1">
              <a:spLocks noChangeArrowheads="1"/>
            </p:cNvSpPr>
            <p:nvPr/>
          </p:nvSpPr>
          <p:spPr bwMode="auto">
            <a:xfrm>
              <a:off x="1900238" y="2551113"/>
              <a:ext cx="2857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45077" name="Text Box 26"/>
            <p:cNvSpPr txBox="1">
              <a:spLocks noChangeArrowheads="1"/>
            </p:cNvSpPr>
            <p:nvPr/>
          </p:nvSpPr>
          <p:spPr bwMode="auto">
            <a:xfrm>
              <a:off x="2385369" y="2551113"/>
              <a:ext cx="2648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z</a:t>
              </a:r>
              <a:endParaRPr lang="pt-BR" altLang="pt-BR" sz="1600" i="1" baseline="-25000">
                <a:latin typeface="Times New Roman" pitchFamily="18" charset="0"/>
              </a:endParaRPr>
            </a:p>
          </p:txBody>
        </p:sp>
        <p:sp>
          <p:nvSpPr>
            <p:cNvPr id="45078" name="Freeform 16" descr="Diagonal para cima clara"/>
            <p:cNvSpPr>
              <a:spLocks/>
            </p:cNvSpPr>
            <p:nvPr/>
          </p:nvSpPr>
          <p:spPr bwMode="auto">
            <a:xfrm>
              <a:off x="2517775" y="2304854"/>
              <a:ext cx="657225" cy="325224"/>
            </a:xfrm>
            <a:custGeom>
              <a:avLst/>
              <a:gdLst>
                <a:gd name="T0" fmla="*/ 2147483647 w 414"/>
                <a:gd name="T1" fmla="*/ 2147483647 h 368"/>
                <a:gd name="T2" fmla="*/ 0 w 414"/>
                <a:gd name="T3" fmla="*/ 0 h 368"/>
                <a:gd name="T4" fmla="*/ 2147483647 w 414"/>
                <a:gd name="T5" fmla="*/ 2147483647 h 368"/>
                <a:gd name="T6" fmla="*/ 2147483647 w 414"/>
                <a:gd name="T7" fmla="*/ 2147483647 h 368"/>
                <a:gd name="T8" fmla="*/ 2147483647 w 414"/>
                <a:gd name="T9" fmla="*/ 2147483647 h 368"/>
                <a:gd name="T10" fmla="*/ 2147483647 w 414"/>
                <a:gd name="T11" fmla="*/ 2147483647 h 368"/>
                <a:gd name="T12" fmla="*/ 2147483647 w 414"/>
                <a:gd name="T13" fmla="*/ 2147483647 h 368"/>
                <a:gd name="T14" fmla="*/ 2147483647 w 414"/>
                <a:gd name="T15" fmla="*/ 2147483647 h 368"/>
                <a:gd name="T16" fmla="*/ 2147483647 w 414"/>
                <a:gd name="T17" fmla="*/ 2147483647 h 368"/>
                <a:gd name="T18" fmla="*/ 2147483647 w 414"/>
                <a:gd name="T19" fmla="*/ 2147483647 h 368"/>
                <a:gd name="T20" fmla="*/ 2147483647 w 414"/>
                <a:gd name="T21" fmla="*/ 2147483647 h 368"/>
                <a:gd name="T22" fmla="*/ 2147483647 w 414"/>
                <a:gd name="T23" fmla="*/ 2147483647 h 368"/>
                <a:gd name="T24" fmla="*/ 2147483647 w 414"/>
                <a:gd name="T25" fmla="*/ 2147483647 h 368"/>
                <a:gd name="T26" fmla="*/ 2147483647 w 414"/>
                <a:gd name="T27" fmla="*/ 2147483647 h 368"/>
                <a:gd name="T28" fmla="*/ 2147483647 w 414"/>
                <a:gd name="T29" fmla="*/ 2147483647 h 368"/>
                <a:gd name="T30" fmla="*/ 2147483647 w 414"/>
                <a:gd name="T31" fmla="*/ 2147483647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1935163" y="2141538"/>
            <a:ext cx="6759575" cy="4402137"/>
            <a:chOff x="1219" y="1349"/>
            <a:chExt cx="4258" cy="2773"/>
          </a:xfrm>
        </p:grpSpPr>
        <p:graphicFrame>
          <p:nvGraphicFramePr>
            <p:cNvPr id="45068" name="Object 6"/>
            <p:cNvGraphicFramePr>
              <a:graphicFrameLocks noChangeAspect="1"/>
            </p:cNvGraphicFramePr>
            <p:nvPr/>
          </p:nvGraphicFramePr>
          <p:xfrm>
            <a:off x="1219" y="2016"/>
            <a:ext cx="52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11" name="Equation" r:id="rId9" imgW="583947" imgH="203112" progId="Equation.DSMT4">
                    <p:embed/>
                  </p:oleObj>
                </mc:Choice>
                <mc:Fallback>
                  <p:oleObj name="Equation" r:id="rId9" imgW="583947" imgH="203112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2016"/>
                          <a:ext cx="52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9" name="Rectangle 8"/>
            <p:cNvSpPr>
              <a:spLocks noChangeArrowheads="1"/>
            </p:cNvSpPr>
            <p:nvPr/>
          </p:nvSpPr>
          <p:spPr bwMode="auto">
            <a:xfrm>
              <a:off x="2691" y="1349"/>
              <a:ext cx="2786" cy="2773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grpSp>
          <p:nvGrpSpPr>
            <p:cNvPr id="45070" name="Group 28"/>
            <p:cNvGrpSpPr>
              <a:grpSpLocks/>
            </p:cNvGrpSpPr>
            <p:nvPr/>
          </p:nvGrpSpPr>
          <p:grpSpPr bwMode="auto">
            <a:xfrm>
              <a:off x="1519" y="1607"/>
              <a:ext cx="1274" cy="455"/>
              <a:chOff x="1628" y="1607"/>
              <a:chExt cx="1187" cy="455"/>
            </a:xfrm>
          </p:grpSpPr>
          <p:sp>
            <p:nvSpPr>
              <p:cNvPr id="45071" name="Line 9"/>
              <p:cNvSpPr>
                <a:spLocks noChangeShapeType="1"/>
              </p:cNvSpPr>
              <p:nvPr/>
            </p:nvSpPr>
            <p:spPr bwMode="auto">
              <a:xfrm flipH="1">
                <a:off x="1628" y="1607"/>
                <a:ext cx="141" cy="41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5072" name="Line 10"/>
              <p:cNvSpPr>
                <a:spLocks noChangeShapeType="1"/>
              </p:cNvSpPr>
              <p:nvPr/>
            </p:nvSpPr>
            <p:spPr bwMode="auto">
              <a:xfrm>
                <a:off x="1769" y="1607"/>
                <a:ext cx="1046" cy="45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5845F7-69E3-4B64-9195-DA89909C74A2}" type="slidenum">
              <a:rPr lang="pt-BR"/>
              <a:pPr>
                <a:defRPr/>
              </a:pPr>
              <a:t>42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5" grpId="0" animBg="1"/>
      <p:bldP spid="105486" grpId="0" animBg="1"/>
      <p:bldP spid="10548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349625" y="2514600"/>
            <a:ext cx="2698750" cy="1316038"/>
            <a:chOff x="432" y="1584"/>
            <a:chExt cx="1700" cy="829"/>
          </a:xfrm>
        </p:grpSpPr>
        <p:grpSp>
          <p:nvGrpSpPr>
            <p:cNvPr id="46100" name="Group 10"/>
            <p:cNvGrpSpPr>
              <a:grpSpLocks/>
            </p:cNvGrpSpPr>
            <p:nvPr/>
          </p:nvGrpSpPr>
          <p:grpSpPr bwMode="auto">
            <a:xfrm>
              <a:off x="432" y="1584"/>
              <a:ext cx="1700" cy="829"/>
              <a:chOff x="3561" y="941"/>
              <a:chExt cx="1700" cy="829"/>
            </a:xfrm>
          </p:grpSpPr>
          <p:pic>
            <p:nvPicPr>
              <p:cNvPr id="46103" name="Picture 1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104" name="Text Box 12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6105" name="Text Box 13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6106" name="Text Box 14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6101" name="Text Box 15"/>
            <p:cNvSpPr txBox="1">
              <a:spLocks noChangeArrowheads="1"/>
            </p:cNvSpPr>
            <p:nvPr/>
          </p:nvSpPr>
          <p:spPr bwMode="auto">
            <a:xfrm>
              <a:off x="1368" y="2199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1,5</a:t>
              </a:r>
            </a:p>
          </p:txBody>
        </p:sp>
        <p:sp>
          <p:nvSpPr>
            <p:cNvPr id="46102" name="Freeform 16" descr="Diagonal para cima clara"/>
            <p:cNvSpPr>
              <a:spLocks/>
            </p:cNvSpPr>
            <p:nvPr/>
          </p:nvSpPr>
          <p:spPr bwMode="auto">
            <a:xfrm>
              <a:off x="1492" y="1859"/>
              <a:ext cx="414" cy="368"/>
            </a:xfrm>
            <a:custGeom>
              <a:avLst/>
              <a:gdLst>
                <a:gd name="T0" fmla="*/ 1 w 414"/>
                <a:gd name="T1" fmla="*/ 366 h 368"/>
                <a:gd name="T2" fmla="*/ 0 w 414"/>
                <a:gd name="T3" fmla="*/ 0 h 368"/>
                <a:gd name="T4" fmla="*/ 24 w 414"/>
                <a:gd name="T5" fmla="*/ 45 h 368"/>
                <a:gd name="T6" fmla="*/ 48 w 414"/>
                <a:gd name="T7" fmla="*/ 86 h 368"/>
                <a:gd name="T8" fmla="*/ 68 w 414"/>
                <a:gd name="T9" fmla="*/ 129 h 368"/>
                <a:gd name="T10" fmla="*/ 92 w 414"/>
                <a:gd name="T11" fmla="*/ 163 h 368"/>
                <a:gd name="T12" fmla="*/ 128 w 414"/>
                <a:gd name="T13" fmla="*/ 217 h 368"/>
                <a:gd name="T14" fmla="*/ 164 w 414"/>
                <a:gd name="T15" fmla="*/ 265 h 368"/>
                <a:gd name="T16" fmla="*/ 205 w 414"/>
                <a:gd name="T17" fmla="*/ 301 h 368"/>
                <a:gd name="T18" fmla="*/ 234 w 414"/>
                <a:gd name="T19" fmla="*/ 320 h 368"/>
                <a:gd name="T20" fmla="*/ 270 w 414"/>
                <a:gd name="T21" fmla="*/ 335 h 368"/>
                <a:gd name="T22" fmla="*/ 301 w 414"/>
                <a:gd name="T23" fmla="*/ 351 h 368"/>
                <a:gd name="T24" fmla="*/ 354 w 414"/>
                <a:gd name="T25" fmla="*/ 361 h 368"/>
                <a:gd name="T26" fmla="*/ 414 w 414"/>
                <a:gd name="T27" fmla="*/ 368 h 368"/>
                <a:gd name="T28" fmla="*/ 92 w 414"/>
                <a:gd name="T29" fmla="*/ 366 h 368"/>
                <a:gd name="T30" fmla="*/ 1 w 414"/>
                <a:gd name="T31" fmla="*/ 366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5738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 (Exemplos)</a:t>
            </a:r>
          </a:p>
        </p:txBody>
      </p:sp>
      <p:graphicFrame>
        <p:nvGraphicFramePr>
          <p:cNvPr id="46084" name="Object 27"/>
          <p:cNvGraphicFramePr>
            <a:graphicFrameLocks noChangeAspect="1"/>
          </p:cNvGraphicFramePr>
          <p:nvPr/>
        </p:nvGraphicFramePr>
        <p:xfrm>
          <a:off x="684213" y="1676400"/>
          <a:ext cx="14319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7" name="Equation" r:id="rId4" imgW="1002865" imgH="203112" progId="Equation.DSMT4">
                  <p:embed/>
                </p:oleObj>
              </mc:Choice>
              <mc:Fallback>
                <p:oleObj name="Equation" r:id="rId4" imgW="1002865" imgH="203112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676400"/>
                        <a:ext cx="14319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0" name="Object 28"/>
          <p:cNvGraphicFramePr>
            <a:graphicFrameLocks noChangeAspect="1"/>
          </p:cNvGraphicFramePr>
          <p:nvPr/>
        </p:nvGraphicFramePr>
        <p:xfrm>
          <a:off x="684213" y="4343400"/>
          <a:ext cx="3086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8" name="Equation" r:id="rId6" imgW="2159000" imgH="203200" progId="Equation.DSMT4">
                  <p:embed/>
                </p:oleObj>
              </mc:Choice>
              <mc:Fallback>
                <p:oleObj name="Equation" r:id="rId6" imgW="2159000" imgH="203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43400"/>
                        <a:ext cx="3086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41" name="Text Box 29"/>
          <p:cNvSpPr txBox="1">
            <a:spLocks noChangeArrowheads="1"/>
          </p:cNvSpPr>
          <p:nvPr/>
        </p:nvSpPr>
        <p:spPr bwMode="auto">
          <a:xfrm>
            <a:off x="3217863" y="2860675"/>
            <a:ext cx="298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</a:t>
            </a:r>
          </a:p>
        </p:txBody>
      </p: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5140325" y="2827338"/>
            <a:ext cx="977900" cy="457200"/>
            <a:chOff x="4944" y="912"/>
            <a:chExt cx="616" cy="288"/>
          </a:xfrm>
        </p:grpSpPr>
        <p:sp>
          <p:nvSpPr>
            <p:cNvPr id="46098" name="Text Box 35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0,0668</a:t>
              </a:r>
            </a:p>
          </p:txBody>
        </p:sp>
        <p:sp>
          <p:nvSpPr>
            <p:cNvPr id="46099" name="Line 36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8A28FB-C838-42C5-B04F-9049501595DA}" type="slidenum">
              <a:rPr lang="pt-BR"/>
              <a:pPr>
                <a:defRPr/>
              </a:pPr>
              <a:t>43</a:t>
            </a:fld>
            <a:endParaRPr lang="pt-BR"/>
          </a:p>
        </p:txBody>
      </p: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698500" y="2497138"/>
            <a:ext cx="2698750" cy="1316037"/>
            <a:chOff x="698500" y="2496463"/>
            <a:chExt cx="2698750" cy="1316039"/>
          </a:xfrm>
        </p:grpSpPr>
        <p:grpSp>
          <p:nvGrpSpPr>
            <p:cNvPr id="46090" name="Group 18"/>
            <p:cNvGrpSpPr>
              <a:grpSpLocks/>
            </p:cNvGrpSpPr>
            <p:nvPr/>
          </p:nvGrpSpPr>
          <p:grpSpPr bwMode="auto">
            <a:xfrm>
              <a:off x="698500" y="2496463"/>
              <a:ext cx="2698750" cy="1316039"/>
              <a:chOff x="3417" y="2573"/>
              <a:chExt cx="1700" cy="829"/>
            </a:xfrm>
          </p:grpSpPr>
          <p:grpSp>
            <p:nvGrpSpPr>
              <p:cNvPr id="46092" name="Group 19"/>
              <p:cNvGrpSpPr>
                <a:grpSpLocks/>
              </p:cNvGrpSpPr>
              <p:nvPr/>
            </p:nvGrpSpPr>
            <p:grpSpPr bwMode="auto">
              <a:xfrm>
                <a:off x="3417" y="2573"/>
                <a:ext cx="1700" cy="829"/>
                <a:chOff x="3561" y="941"/>
                <a:chExt cx="1700" cy="829"/>
              </a:xfrm>
            </p:grpSpPr>
            <p:pic>
              <p:nvPicPr>
                <p:cNvPr id="46094" name="Picture 20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296" t="9618" r="18376" b="11877"/>
                <a:stretch>
                  <a:fillRect/>
                </a:stretch>
              </p:blipFill>
              <p:spPr bwMode="auto">
                <a:xfrm>
                  <a:off x="3616" y="941"/>
                  <a:ext cx="1579" cy="66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09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3561" y="1540"/>
                  <a:ext cx="25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-</a:t>
                  </a:r>
                  <a:r>
                    <a:rPr lang="pt-BR" altLang="pt-BR" sz="1600">
                      <a:latin typeface="Times New Roman" pitchFamily="18" charset="0"/>
                      <a:sym typeface="Symbol" pitchFamily="18" charset="2"/>
                    </a:rPr>
                    <a:t></a:t>
                  </a:r>
                  <a:endParaRPr lang="pt-BR" altLang="pt-BR" sz="1600">
                    <a:latin typeface="Times New Roman" pitchFamily="18" charset="0"/>
                  </a:endParaRPr>
                </a:p>
              </p:txBody>
            </p:sp>
            <p:sp>
              <p:nvSpPr>
                <p:cNvPr id="4609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4982" y="1540"/>
                  <a:ext cx="279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+</a:t>
                  </a:r>
                  <a:r>
                    <a:rPr lang="pt-BR" altLang="pt-BR" sz="1600">
                      <a:latin typeface="Times New Roman" pitchFamily="18" charset="0"/>
                      <a:sym typeface="Symbol" pitchFamily="18" charset="2"/>
                    </a:rPr>
                    <a:t></a:t>
                  </a:r>
                  <a:endParaRPr lang="pt-BR" altLang="pt-BR" sz="1600">
                    <a:latin typeface="Times New Roman" pitchFamily="18" charset="0"/>
                  </a:endParaRPr>
                </a:p>
              </p:txBody>
            </p:sp>
            <p:sp>
              <p:nvSpPr>
                <p:cNvPr id="4609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327" y="1558"/>
                  <a:ext cx="180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600">
                      <a:latin typeface="Times New Roman" pitchFamily="18" charset="0"/>
                    </a:rPr>
                    <a:t>0</a:t>
                  </a:r>
                </a:p>
              </p:txBody>
            </p:sp>
          </p:grpSp>
          <p:sp>
            <p:nvSpPr>
              <p:cNvPr id="46093" name="Text Box 25"/>
              <p:cNvSpPr txBox="1">
                <a:spLocks noChangeArrowheads="1"/>
              </p:cNvSpPr>
              <p:nvPr/>
            </p:nvSpPr>
            <p:spPr bwMode="auto">
              <a:xfrm>
                <a:off x="3920" y="3186"/>
                <a:ext cx="295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imes New Roman" pitchFamily="18" charset="0"/>
                  </a:rPr>
                  <a:t>-1,5</a:t>
                </a:r>
              </a:p>
            </p:txBody>
          </p:sp>
        </p:grpSp>
        <p:sp>
          <p:nvSpPr>
            <p:cNvPr id="46091" name="Freeform 16" descr="Diagonal para cima clara"/>
            <p:cNvSpPr>
              <a:spLocks/>
            </p:cNvSpPr>
            <p:nvPr/>
          </p:nvSpPr>
          <p:spPr bwMode="auto">
            <a:xfrm flipH="1">
              <a:off x="1073207" y="2941806"/>
              <a:ext cx="657225" cy="584201"/>
            </a:xfrm>
            <a:custGeom>
              <a:avLst/>
              <a:gdLst>
                <a:gd name="T0" fmla="*/ 2147483647 w 414"/>
                <a:gd name="T1" fmla="*/ 2147483647 h 368"/>
                <a:gd name="T2" fmla="*/ 0 w 414"/>
                <a:gd name="T3" fmla="*/ 0 h 368"/>
                <a:gd name="T4" fmla="*/ 2147483647 w 414"/>
                <a:gd name="T5" fmla="*/ 2147483647 h 368"/>
                <a:gd name="T6" fmla="*/ 2147483647 w 414"/>
                <a:gd name="T7" fmla="*/ 2147483647 h 368"/>
                <a:gd name="T8" fmla="*/ 2147483647 w 414"/>
                <a:gd name="T9" fmla="*/ 2147483647 h 368"/>
                <a:gd name="T10" fmla="*/ 2147483647 w 414"/>
                <a:gd name="T11" fmla="*/ 2147483647 h 368"/>
                <a:gd name="T12" fmla="*/ 2147483647 w 414"/>
                <a:gd name="T13" fmla="*/ 2147483647 h 368"/>
                <a:gd name="T14" fmla="*/ 2147483647 w 414"/>
                <a:gd name="T15" fmla="*/ 2147483647 h 368"/>
                <a:gd name="T16" fmla="*/ 2147483647 w 414"/>
                <a:gd name="T17" fmla="*/ 2147483647 h 368"/>
                <a:gd name="T18" fmla="*/ 2147483647 w 414"/>
                <a:gd name="T19" fmla="*/ 2147483647 h 368"/>
                <a:gd name="T20" fmla="*/ 2147483647 w 414"/>
                <a:gd name="T21" fmla="*/ 2147483647 h 368"/>
                <a:gd name="T22" fmla="*/ 2147483647 w 414"/>
                <a:gd name="T23" fmla="*/ 2147483647 h 368"/>
                <a:gd name="T24" fmla="*/ 2147483647 w 414"/>
                <a:gd name="T25" fmla="*/ 2147483647 h 368"/>
                <a:gd name="T26" fmla="*/ 2147483647 w 414"/>
                <a:gd name="T27" fmla="*/ 2147483647 h 368"/>
                <a:gd name="T28" fmla="*/ 2147483647 w 414"/>
                <a:gd name="T29" fmla="*/ 2147483647 h 368"/>
                <a:gd name="T30" fmla="*/ 2147483647 w 414"/>
                <a:gd name="T31" fmla="*/ 2147483647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011863" y="2514600"/>
            <a:ext cx="2698750" cy="1316038"/>
            <a:chOff x="432" y="1584"/>
            <a:chExt cx="1700" cy="829"/>
          </a:xfrm>
        </p:grpSpPr>
        <p:grpSp>
          <p:nvGrpSpPr>
            <p:cNvPr id="47134" name="Group 10"/>
            <p:cNvGrpSpPr>
              <a:grpSpLocks/>
            </p:cNvGrpSpPr>
            <p:nvPr/>
          </p:nvGrpSpPr>
          <p:grpSpPr bwMode="auto">
            <a:xfrm>
              <a:off x="432" y="1584"/>
              <a:ext cx="1700" cy="829"/>
              <a:chOff x="3561" y="941"/>
              <a:chExt cx="1700" cy="829"/>
            </a:xfrm>
          </p:grpSpPr>
          <p:pic>
            <p:nvPicPr>
              <p:cNvPr id="47137" name="Picture 11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38" name="Text Box 12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39" name="Text Box 13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40" name="Text Box 14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7135" name="Text Box 15"/>
            <p:cNvSpPr txBox="1">
              <a:spLocks noChangeArrowheads="1"/>
            </p:cNvSpPr>
            <p:nvPr/>
          </p:nvSpPr>
          <p:spPr bwMode="auto">
            <a:xfrm>
              <a:off x="1368" y="2199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1,5</a:t>
              </a:r>
            </a:p>
          </p:txBody>
        </p:sp>
        <p:sp>
          <p:nvSpPr>
            <p:cNvPr id="47136" name="Freeform 16" descr="Diagonal para cima clara"/>
            <p:cNvSpPr>
              <a:spLocks/>
            </p:cNvSpPr>
            <p:nvPr/>
          </p:nvSpPr>
          <p:spPr bwMode="auto">
            <a:xfrm>
              <a:off x="1492" y="1859"/>
              <a:ext cx="414" cy="368"/>
            </a:xfrm>
            <a:custGeom>
              <a:avLst/>
              <a:gdLst>
                <a:gd name="T0" fmla="*/ 1 w 414"/>
                <a:gd name="T1" fmla="*/ 366 h 368"/>
                <a:gd name="T2" fmla="*/ 0 w 414"/>
                <a:gd name="T3" fmla="*/ 0 h 368"/>
                <a:gd name="T4" fmla="*/ 24 w 414"/>
                <a:gd name="T5" fmla="*/ 45 h 368"/>
                <a:gd name="T6" fmla="*/ 48 w 414"/>
                <a:gd name="T7" fmla="*/ 86 h 368"/>
                <a:gd name="T8" fmla="*/ 68 w 414"/>
                <a:gd name="T9" fmla="*/ 129 h 368"/>
                <a:gd name="T10" fmla="*/ 92 w 414"/>
                <a:gd name="T11" fmla="*/ 163 h 368"/>
                <a:gd name="T12" fmla="*/ 128 w 414"/>
                <a:gd name="T13" fmla="*/ 217 h 368"/>
                <a:gd name="T14" fmla="*/ 164 w 414"/>
                <a:gd name="T15" fmla="*/ 265 h 368"/>
                <a:gd name="T16" fmla="*/ 205 w 414"/>
                <a:gd name="T17" fmla="*/ 301 h 368"/>
                <a:gd name="T18" fmla="*/ 234 w 414"/>
                <a:gd name="T19" fmla="*/ 320 h 368"/>
                <a:gd name="T20" fmla="*/ 270 w 414"/>
                <a:gd name="T21" fmla="*/ 335 h 368"/>
                <a:gd name="T22" fmla="*/ 301 w 414"/>
                <a:gd name="T23" fmla="*/ 351 h 368"/>
                <a:gd name="T24" fmla="*/ 354 w 414"/>
                <a:gd name="T25" fmla="*/ 361 h 368"/>
                <a:gd name="T26" fmla="*/ 414 w 414"/>
                <a:gd name="T27" fmla="*/ 368 h 368"/>
                <a:gd name="T28" fmla="*/ 92 w 414"/>
                <a:gd name="T29" fmla="*/ 366 h 368"/>
                <a:gd name="T30" fmla="*/ 1 w 414"/>
                <a:gd name="T31" fmla="*/ 366 h 3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14"/>
                <a:gd name="T49" fmla="*/ 0 h 368"/>
                <a:gd name="T50" fmla="*/ 414 w 414"/>
                <a:gd name="T51" fmla="*/ 368 h 36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14" h="368">
                  <a:moveTo>
                    <a:pt x="1" y="366"/>
                  </a:moveTo>
                  <a:lnTo>
                    <a:pt x="0" y="0"/>
                  </a:lnTo>
                  <a:lnTo>
                    <a:pt x="24" y="45"/>
                  </a:lnTo>
                  <a:lnTo>
                    <a:pt x="48" y="86"/>
                  </a:lnTo>
                  <a:lnTo>
                    <a:pt x="68" y="129"/>
                  </a:lnTo>
                  <a:lnTo>
                    <a:pt x="92" y="163"/>
                  </a:lnTo>
                  <a:lnTo>
                    <a:pt x="128" y="217"/>
                  </a:lnTo>
                  <a:lnTo>
                    <a:pt x="164" y="265"/>
                  </a:lnTo>
                  <a:lnTo>
                    <a:pt x="205" y="301"/>
                  </a:lnTo>
                  <a:lnTo>
                    <a:pt x="234" y="320"/>
                  </a:lnTo>
                  <a:lnTo>
                    <a:pt x="270" y="335"/>
                  </a:lnTo>
                  <a:lnTo>
                    <a:pt x="301" y="351"/>
                  </a:lnTo>
                  <a:lnTo>
                    <a:pt x="354" y="361"/>
                  </a:lnTo>
                  <a:lnTo>
                    <a:pt x="414" y="368"/>
                  </a:lnTo>
                  <a:lnTo>
                    <a:pt x="92" y="366"/>
                  </a:lnTo>
                  <a:lnTo>
                    <a:pt x="1" y="366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6" name="Group 18"/>
          <p:cNvGrpSpPr>
            <a:grpSpLocks/>
          </p:cNvGrpSpPr>
          <p:nvPr/>
        </p:nvGrpSpPr>
        <p:grpSpPr bwMode="auto">
          <a:xfrm>
            <a:off x="698500" y="2497138"/>
            <a:ext cx="2698750" cy="1316037"/>
            <a:chOff x="3417" y="2573"/>
            <a:chExt cx="1700" cy="829"/>
          </a:xfrm>
        </p:grpSpPr>
        <p:grpSp>
          <p:nvGrpSpPr>
            <p:cNvPr id="47127" name="Group 19"/>
            <p:cNvGrpSpPr>
              <a:grpSpLocks/>
            </p:cNvGrpSpPr>
            <p:nvPr/>
          </p:nvGrpSpPr>
          <p:grpSpPr bwMode="auto">
            <a:xfrm>
              <a:off x="3417" y="2573"/>
              <a:ext cx="1700" cy="829"/>
              <a:chOff x="3561" y="941"/>
              <a:chExt cx="1700" cy="829"/>
            </a:xfrm>
          </p:grpSpPr>
          <p:pic>
            <p:nvPicPr>
              <p:cNvPr id="47130" name="Picture 20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31" name="Text Box 21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32" name="Text Box 22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33" name="Text Box 23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7128" name="Freeform 24" descr="Diagonal para cima clara"/>
            <p:cNvSpPr>
              <a:spLocks/>
            </p:cNvSpPr>
            <p:nvPr/>
          </p:nvSpPr>
          <p:spPr bwMode="auto">
            <a:xfrm>
              <a:off x="4272" y="2592"/>
              <a:ext cx="205" cy="629"/>
            </a:xfrm>
            <a:custGeom>
              <a:avLst/>
              <a:gdLst>
                <a:gd name="T0" fmla="*/ 1 w 205"/>
                <a:gd name="T1" fmla="*/ 703 h 622"/>
                <a:gd name="T2" fmla="*/ 0 w 205"/>
                <a:gd name="T3" fmla="*/ 0 h 622"/>
                <a:gd name="T4" fmla="*/ 33 w 205"/>
                <a:gd name="T5" fmla="*/ 8 h 622"/>
                <a:gd name="T6" fmla="*/ 59 w 205"/>
                <a:gd name="T7" fmla="*/ 26 h 622"/>
                <a:gd name="T8" fmla="*/ 81 w 205"/>
                <a:gd name="T9" fmla="*/ 61 h 622"/>
                <a:gd name="T10" fmla="*/ 104 w 205"/>
                <a:gd name="T11" fmla="*/ 89 h 622"/>
                <a:gd name="T12" fmla="*/ 133 w 205"/>
                <a:gd name="T13" fmla="*/ 142 h 622"/>
                <a:gd name="T14" fmla="*/ 158 w 205"/>
                <a:gd name="T15" fmla="*/ 191 h 622"/>
                <a:gd name="T16" fmla="*/ 182 w 205"/>
                <a:gd name="T17" fmla="*/ 247 h 622"/>
                <a:gd name="T18" fmla="*/ 205 w 205"/>
                <a:gd name="T19" fmla="*/ 289 h 622"/>
                <a:gd name="T20" fmla="*/ 204 w 205"/>
                <a:gd name="T21" fmla="*/ 703 h 622"/>
                <a:gd name="T22" fmla="*/ 1 w 205"/>
                <a:gd name="T23" fmla="*/ 703 h 6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5"/>
                <a:gd name="T37" fmla="*/ 0 h 622"/>
                <a:gd name="T38" fmla="*/ 205 w 205"/>
                <a:gd name="T39" fmla="*/ 622 h 62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5" h="622">
                  <a:moveTo>
                    <a:pt x="1" y="622"/>
                  </a:moveTo>
                  <a:lnTo>
                    <a:pt x="0" y="0"/>
                  </a:lnTo>
                  <a:lnTo>
                    <a:pt x="33" y="8"/>
                  </a:lnTo>
                  <a:lnTo>
                    <a:pt x="59" y="26"/>
                  </a:lnTo>
                  <a:lnTo>
                    <a:pt x="81" y="50"/>
                  </a:lnTo>
                  <a:lnTo>
                    <a:pt x="104" y="78"/>
                  </a:lnTo>
                  <a:lnTo>
                    <a:pt x="133" y="127"/>
                  </a:lnTo>
                  <a:lnTo>
                    <a:pt x="158" y="169"/>
                  </a:lnTo>
                  <a:lnTo>
                    <a:pt x="182" y="217"/>
                  </a:lnTo>
                  <a:lnTo>
                    <a:pt x="205" y="256"/>
                  </a:lnTo>
                  <a:lnTo>
                    <a:pt x="204" y="622"/>
                  </a:lnTo>
                  <a:lnTo>
                    <a:pt x="1" y="622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129" name="Text Box 25"/>
            <p:cNvSpPr txBox="1">
              <a:spLocks noChangeArrowheads="1"/>
            </p:cNvSpPr>
            <p:nvPr/>
          </p:nvSpPr>
          <p:spPr bwMode="auto">
            <a:xfrm>
              <a:off x="4344" y="3186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1,5</a:t>
              </a:r>
            </a:p>
          </p:txBody>
        </p:sp>
      </p:grp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352800" y="2514600"/>
            <a:ext cx="2698750" cy="1316038"/>
            <a:chOff x="3849" y="3341"/>
            <a:chExt cx="1700" cy="829"/>
          </a:xfrm>
        </p:grpSpPr>
        <p:grpSp>
          <p:nvGrpSpPr>
            <p:cNvPr id="47121" name="Group 3"/>
            <p:cNvGrpSpPr>
              <a:grpSpLocks/>
            </p:cNvGrpSpPr>
            <p:nvPr/>
          </p:nvGrpSpPr>
          <p:grpSpPr bwMode="auto">
            <a:xfrm>
              <a:off x="3849" y="3341"/>
              <a:ext cx="1700" cy="829"/>
              <a:chOff x="3561" y="941"/>
              <a:chExt cx="1700" cy="829"/>
            </a:xfrm>
          </p:grpSpPr>
          <p:pic>
            <p:nvPicPr>
              <p:cNvPr id="47123" name="Picture 4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124" name="Text Box 5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25" name="Text Box 6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7126" name="Text Box 7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7122" name="Freeform 8" descr="Diagonal para cima clara"/>
            <p:cNvSpPr>
              <a:spLocks/>
            </p:cNvSpPr>
            <p:nvPr/>
          </p:nvSpPr>
          <p:spPr bwMode="auto">
            <a:xfrm>
              <a:off x="4704" y="3360"/>
              <a:ext cx="619" cy="627"/>
            </a:xfrm>
            <a:custGeom>
              <a:avLst/>
              <a:gdLst>
                <a:gd name="T0" fmla="*/ 1 w 619"/>
                <a:gd name="T1" fmla="*/ 655 h 624"/>
                <a:gd name="T2" fmla="*/ 0 w 619"/>
                <a:gd name="T3" fmla="*/ 0 h 624"/>
                <a:gd name="T4" fmla="*/ 33 w 619"/>
                <a:gd name="T5" fmla="*/ 8 h 624"/>
                <a:gd name="T6" fmla="*/ 59 w 619"/>
                <a:gd name="T7" fmla="*/ 26 h 624"/>
                <a:gd name="T8" fmla="*/ 81 w 619"/>
                <a:gd name="T9" fmla="*/ 50 h 624"/>
                <a:gd name="T10" fmla="*/ 104 w 619"/>
                <a:gd name="T11" fmla="*/ 78 h 624"/>
                <a:gd name="T12" fmla="*/ 133 w 619"/>
                <a:gd name="T13" fmla="*/ 138 h 624"/>
                <a:gd name="T14" fmla="*/ 158 w 619"/>
                <a:gd name="T15" fmla="*/ 180 h 624"/>
                <a:gd name="T16" fmla="*/ 182 w 619"/>
                <a:gd name="T17" fmla="*/ 228 h 624"/>
                <a:gd name="T18" fmla="*/ 205 w 619"/>
                <a:gd name="T19" fmla="*/ 267 h 624"/>
                <a:gd name="T20" fmla="*/ 229 w 619"/>
                <a:gd name="T21" fmla="*/ 312 h 624"/>
                <a:gd name="T22" fmla="*/ 253 w 619"/>
                <a:gd name="T23" fmla="*/ 364 h 624"/>
                <a:gd name="T24" fmla="*/ 273 w 619"/>
                <a:gd name="T25" fmla="*/ 407 h 624"/>
                <a:gd name="T26" fmla="*/ 297 w 619"/>
                <a:gd name="T27" fmla="*/ 441 h 624"/>
                <a:gd name="T28" fmla="*/ 333 w 619"/>
                <a:gd name="T29" fmla="*/ 495 h 624"/>
                <a:gd name="T30" fmla="*/ 369 w 619"/>
                <a:gd name="T31" fmla="*/ 554 h 624"/>
                <a:gd name="T32" fmla="*/ 410 w 619"/>
                <a:gd name="T33" fmla="*/ 590 h 624"/>
                <a:gd name="T34" fmla="*/ 439 w 619"/>
                <a:gd name="T35" fmla="*/ 609 h 624"/>
                <a:gd name="T36" fmla="*/ 475 w 619"/>
                <a:gd name="T37" fmla="*/ 624 h 624"/>
                <a:gd name="T38" fmla="*/ 506 w 619"/>
                <a:gd name="T39" fmla="*/ 640 h 624"/>
                <a:gd name="T40" fmla="*/ 559 w 619"/>
                <a:gd name="T41" fmla="*/ 650 h 624"/>
                <a:gd name="T42" fmla="*/ 619 w 619"/>
                <a:gd name="T43" fmla="*/ 657 h 624"/>
                <a:gd name="T44" fmla="*/ 297 w 619"/>
                <a:gd name="T45" fmla="*/ 655 h 624"/>
                <a:gd name="T46" fmla="*/ 1 w 619"/>
                <a:gd name="T47" fmla="*/ 655 h 62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619"/>
                <a:gd name="T73" fmla="*/ 0 h 624"/>
                <a:gd name="T74" fmla="*/ 619 w 619"/>
                <a:gd name="T75" fmla="*/ 624 h 624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619" h="624">
                  <a:moveTo>
                    <a:pt x="1" y="622"/>
                  </a:moveTo>
                  <a:lnTo>
                    <a:pt x="0" y="0"/>
                  </a:lnTo>
                  <a:lnTo>
                    <a:pt x="33" y="8"/>
                  </a:lnTo>
                  <a:lnTo>
                    <a:pt x="59" y="26"/>
                  </a:lnTo>
                  <a:lnTo>
                    <a:pt x="81" y="50"/>
                  </a:lnTo>
                  <a:lnTo>
                    <a:pt x="104" y="78"/>
                  </a:lnTo>
                  <a:lnTo>
                    <a:pt x="133" y="127"/>
                  </a:lnTo>
                  <a:lnTo>
                    <a:pt x="158" y="169"/>
                  </a:lnTo>
                  <a:lnTo>
                    <a:pt x="182" y="217"/>
                  </a:lnTo>
                  <a:lnTo>
                    <a:pt x="205" y="256"/>
                  </a:lnTo>
                  <a:lnTo>
                    <a:pt x="229" y="301"/>
                  </a:lnTo>
                  <a:lnTo>
                    <a:pt x="253" y="342"/>
                  </a:lnTo>
                  <a:lnTo>
                    <a:pt x="273" y="385"/>
                  </a:lnTo>
                  <a:lnTo>
                    <a:pt x="297" y="419"/>
                  </a:lnTo>
                  <a:lnTo>
                    <a:pt x="333" y="473"/>
                  </a:lnTo>
                  <a:lnTo>
                    <a:pt x="369" y="521"/>
                  </a:lnTo>
                  <a:lnTo>
                    <a:pt x="410" y="557"/>
                  </a:lnTo>
                  <a:lnTo>
                    <a:pt x="439" y="576"/>
                  </a:lnTo>
                  <a:lnTo>
                    <a:pt x="475" y="591"/>
                  </a:lnTo>
                  <a:lnTo>
                    <a:pt x="506" y="607"/>
                  </a:lnTo>
                  <a:lnTo>
                    <a:pt x="559" y="617"/>
                  </a:lnTo>
                  <a:lnTo>
                    <a:pt x="619" y="624"/>
                  </a:lnTo>
                  <a:lnTo>
                    <a:pt x="297" y="622"/>
                  </a:lnTo>
                  <a:lnTo>
                    <a:pt x="1" y="622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5738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 (Exemplos)</a:t>
            </a:r>
          </a:p>
        </p:txBody>
      </p:sp>
      <p:graphicFrame>
        <p:nvGraphicFramePr>
          <p:cNvPr id="47110" name="Object 27"/>
          <p:cNvGraphicFramePr>
            <a:graphicFrameLocks noChangeAspect="1"/>
          </p:cNvGraphicFramePr>
          <p:nvPr/>
        </p:nvGraphicFramePr>
        <p:xfrm>
          <a:off x="684213" y="1676400"/>
          <a:ext cx="161448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1" name="Equation" r:id="rId4" imgW="1129810" imgH="203112" progId="Equation.DSMT4">
                  <p:embed/>
                </p:oleObj>
              </mc:Choice>
              <mc:Fallback>
                <p:oleObj name="Equation" r:id="rId4" imgW="1129810" imgH="203112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676400"/>
                        <a:ext cx="1614487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40" name="Object 28"/>
          <p:cNvGraphicFramePr>
            <a:graphicFrameLocks noChangeAspect="1"/>
          </p:cNvGraphicFramePr>
          <p:nvPr/>
        </p:nvGraphicFramePr>
        <p:xfrm>
          <a:off x="674688" y="4343400"/>
          <a:ext cx="34480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2" name="Equation" r:id="rId6" imgW="2413000" imgH="203200" progId="Equation.DSMT4">
                  <p:embed/>
                </p:oleObj>
              </mc:Choice>
              <mc:Fallback>
                <p:oleObj name="Equation" r:id="rId6" imgW="2413000" imgH="203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8" y="4343400"/>
                        <a:ext cx="344805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41" name="Text Box 29"/>
          <p:cNvSpPr txBox="1">
            <a:spLocks noChangeArrowheads="1"/>
          </p:cNvSpPr>
          <p:nvPr/>
        </p:nvSpPr>
        <p:spPr bwMode="auto">
          <a:xfrm>
            <a:off x="3217863" y="2860675"/>
            <a:ext cx="298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</a:t>
            </a:r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4953000" y="2590800"/>
            <a:ext cx="666750" cy="457200"/>
            <a:chOff x="4944" y="912"/>
            <a:chExt cx="420" cy="288"/>
          </a:xfrm>
        </p:grpSpPr>
        <p:sp>
          <p:nvSpPr>
            <p:cNvPr id="47119" name="Text Box 31"/>
            <p:cNvSpPr txBox="1">
              <a:spLocks noChangeArrowheads="1"/>
            </p:cNvSpPr>
            <p:nvPr/>
          </p:nvSpPr>
          <p:spPr bwMode="auto">
            <a:xfrm>
              <a:off x="5088" y="912"/>
              <a:ext cx="2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0,5</a:t>
              </a:r>
            </a:p>
          </p:txBody>
        </p:sp>
        <p:sp>
          <p:nvSpPr>
            <p:cNvPr id="47120" name="Line 32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5745" name="Text Box 33"/>
          <p:cNvSpPr txBox="1">
            <a:spLocks noChangeArrowheads="1"/>
          </p:cNvSpPr>
          <p:nvPr/>
        </p:nvSpPr>
        <p:spPr bwMode="auto">
          <a:xfrm>
            <a:off x="5903913" y="2719388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_</a:t>
            </a:r>
          </a:p>
        </p:txBody>
      </p:sp>
      <p:grpSp>
        <p:nvGrpSpPr>
          <p:cNvPr id="9" name="Group 34"/>
          <p:cNvGrpSpPr>
            <a:grpSpLocks/>
          </p:cNvGrpSpPr>
          <p:nvPr/>
        </p:nvGrpSpPr>
        <p:grpSpPr bwMode="auto">
          <a:xfrm>
            <a:off x="7781925" y="2827338"/>
            <a:ext cx="977900" cy="457200"/>
            <a:chOff x="4944" y="912"/>
            <a:chExt cx="616" cy="288"/>
          </a:xfrm>
        </p:grpSpPr>
        <p:sp>
          <p:nvSpPr>
            <p:cNvPr id="47117" name="Text Box 35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0,0668</a:t>
              </a:r>
            </a:p>
          </p:txBody>
        </p:sp>
        <p:sp>
          <p:nvSpPr>
            <p:cNvPr id="47118" name="Line 36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C64DF7-A552-49B2-B195-D074BA9F8F38}" type="slidenum">
              <a:rPr lang="pt-BR"/>
              <a:pPr>
                <a:defRPr/>
              </a:pPr>
              <a:t>44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41" grpId="0"/>
      <p:bldP spid="11574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Padrão (Exemplos)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684213" y="1676400"/>
          <a:ext cx="14335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7" name="Equation" r:id="rId3" imgW="1002865" imgH="203112" progId="Equation.DSMT4">
                  <p:embed/>
                </p:oleObj>
              </mc:Choice>
              <mc:Fallback>
                <p:oleObj name="Equation" r:id="rId3" imgW="1002865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676400"/>
                        <a:ext cx="14335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4"/>
          <p:cNvGraphicFramePr>
            <a:graphicFrameLocks noChangeAspect="1"/>
          </p:cNvGraphicFramePr>
          <p:nvPr/>
        </p:nvGraphicFramePr>
        <p:xfrm>
          <a:off x="684213" y="4343400"/>
          <a:ext cx="35591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8" name="Equation" r:id="rId5" imgW="2489200" imgH="203200" progId="Equation.DSMT4">
                  <p:embed/>
                </p:oleObj>
              </mc:Choice>
              <mc:Fallback>
                <p:oleObj name="Equation" r:id="rId5" imgW="2489200" imgH="2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343400"/>
                        <a:ext cx="35591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86" name="Text Box 22"/>
          <p:cNvSpPr txBox="1">
            <a:spLocks noChangeArrowheads="1"/>
          </p:cNvSpPr>
          <p:nvPr/>
        </p:nvSpPr>
        <p:spPr bwMode="auto">
          <a:xfrm>
            <a:off x="3217863" y="2860675"/>
            <a:ext cx="298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=</a:t>
            </a:r>
          </a:p>
        </p:txBody>
      </p:sp>
      <p:grpSp>
        <p:nvGrpSpPr>
          <p:cNvPr id="2" name="Group 77"/>
          <p:cNvGrpSpPr>
            <a:grpSpLocks/>
          </p:cNvGrpSpPr>
          <p:nvPr/>
        </p:nvGrpSpPr>
        <p:grpSpPr bwMode="auto">
          <a:xfrm>
            <a:off x="685800" y="2514600"/>
            <a:ext cx="2698750" cy="1316038"/>
            <a:chOff x="432" y="1584"/>
            <a:chExt cx="1700" cy="829"/>
          </a:xfrm>
        </p:grpSpPr>
        <p:grpSp>
          <p:nvGrpSpPr>
            <p:cNvPr id="48159" name="Group 6"/>
            <p:cNvGrpSpPr>
              <a:grpSpLocks/>
            </p:cNvGrpSpPr>
            <p:nvPr/>
          </p:nvGrpSpPr>
          <p:grpSpPr bwMode="auto">
            <a:xfrm>
              <a:off x="432" y="1584"/>
              <a:ext cx="1700" cy="829"/>
              <a:chOff x="3561" y="941"/>
              <a:chExt cx="1700" cy="829"/>
            </a:xfrm>
          </p:grpSpPr>
          <p:pic>
            <p:nvPicPr>
              <p:cNvPr id="48163" name="Picture 7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64" name="Text Box 8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65" name="Text Box 9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66" name="Text Box 10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8160" name="Text Box 12"/>
            <p:cNvSpPr txBox="1">
              <a:spLocks noChangeArrowheads="1"/>
            </p:cNvSpPr>
            <p:nvPr/>
          </p:nvSpPr>
          <p:spPr bwMode="auto">
            <a:xfrm>
              <a:off x="1500" y="2199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161" name="Freeform 70" descr="Diagonal para cima clara"/>
            <p:cNvSpPr>
              <a:spLocks/>
            </p:cNvSpPr>
            <p:nvPr/>
          </p:nvSpPr>
          <p:spPr bwMode="auto">
            <a:xfrm>
              <a:off x="1420" y="1735"/>
              <a:ext cx="164" cy="495"/>
            </a:xfrm>
            <a:custGeom>
              <a:avLst/>
              <a:gdLst>
                <a:gd name="T0" fmla="*/ 0 w 8498"/>
                <a:gd name="T1" fmla="*/ 0 h 9110"/>
                <a:gd name="T2" fmla="*/ 0 w 8498"/>
                <a:gd name="T3" fmla="*/ 0 h 9110"/>
                <a:gd name="T4" fmla="*/ 0 w 8498"/>
                <a:gd name="T5" fmla="*/ 0 h 9110"/>
                <a:gd name="T6" fmla="*/ 0 w 8498"/>
                <a:gd name="T7" fmla="*/ 0 h 9110"/>
                <a:gd name="T8" fmla="*/ 0 w 8498"/>
                <a:gd name="T9" fmla="*/ 0 h 9110"/>
                <a:gd name="T10" fmla="*/ 0 w 8498"/>
                <a:gd name="T11" fmla="*/ 0 h 9110"/>
                <a:gd name="T12" fmla="*/ 0 w 8498"/>
                <a:gd name="T13" fmla="*/ 0 h 9110"/>
                <a:gd name="T14" fmla="*/ 0 w 8498"/>
                <a:gd name="T15" fmla="*/ 0 h 9110"/>
                <a:gd name="T16" fmla="*/ 0 w 8498"/>
                <a:gd name="T17" fmla="*/ 0 h 9110"/>
                <a:gd name="T18" fmla="*/ 0 w 8498"/>
                <a:gd name="T19" fmla="*/ 0 h 9110"/>
                <a:gd name="T20" fmla="*/ 0 w 8498"/>
                <a:gd name="T21" fmla="*/ 0 h 9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498" h="9110">
                  <a:moveTo>
                    <a:pt x="35" y="9110"/>
                  </a:moveTo>
                  <a:cubicBezTo>
                    <a:pt x="23" y="6073"/>
                    <a:pt x="12" y="3037"/>
                    <a:pt x="0" y="0"/>
                  </a:cubicBezTo>
                  <a:lnTo>
                    <a:pt x="1296" y="782"/>
                  </a:lnTo>
                  <a:lnTo>
                    <a:pt x="2539" y="1655"/>
                  </a:lnTo>
                  <a:lnTo>
                    <a:pt x="3730" y="2382"/>
                  </a:lnTo>
                  <a:lnTo>
                    <a:pt x="4975" y="3201"/>
                  </a:lnTo>
                  <a:lnTo>
                    <a:pt x="6219" y="3964"/>
                  </a:lnTo>
                  <a:lnTo>
                    <a:pt x="7255" y="4746"/>
                  </a:lnTo>
                  <a:lnTo>
                    <a:pt x="8498" y="5382"/>
                  </a:lnTo>
                  <a:lnTo>
                    <a:pt x="8498" y="9110"/>
                  </a:lnTo>
                  <a:lnTo>
                    <a:pt x="35" y="911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162" name="Text Box 71"/>
            <p:cNvSpPr txBox="1">
              <a:spLocks noChangeArrowheads="1"/>
            </p:cNvSpPr>
            <p:nvPr/>
          </p:nvSpPr>
          <p:spPr bwMode="auto">
            <a:xfrm>
              <a:off x="1347" y="2196"/>
              <a:ext cx="1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</a:t>
              </a:r>
            </a:p>
          </p:txBody>
        </p:sp>
      </p:grp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C7DD02-2C5F-46D4-945A-5A7C0C2E4435}" type="slidenum">
              <a:rPr lang="pt-BR"/>
              <a:pPr>
                <a:defRPr/>
              </a:pPr>
              <a:t>45</a:t>
            </a:fld>
            <a:endParaRPr lang="pt-BR"/>
          </a:p>
        </p:txBody>
      </p: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3352800" y="2514600"/>
            <a:ext cx="2698750" cy="1316038"/>
            <a:chOff x="3352800" y="2514602"/>
            <a:chExt cx="2698750" cy="1316039"/>
          </a:xfrm>
        </p:grpSpPr>
        <p:grpSp>
          <p:nvGrpSpPr>
            <p:cNvPr id="48152" name="Group 45"/>
            <p:cNvGrpSpPr>
              <a:grpSpLocks/>
            </p:cNvGrpSpPr>
            <p:nvPr/>
          </p:nvGrpSpPr>
          <p:grpSpPr bwMode="auto">
            <a:xfrm>
              <a:off x="3352800" y="2514602"/>
              <a:ext cx="2698750" cy="1316039"/>
              <a:chOff x="3561" y="941"/>
              <a:chExt cx="1700" cy="829"/>
            </a:xfrm>
          </p:grpSpPr>
          <p:pic>
            <p:nvPicPr>
              <p:cNvPr id="48155" name="Picture 46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56" name="Text Box 47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57" name="Text Box 48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58" name="Text Box 49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8153" name="Freeform 70" descr="Diagonal para cima clara"/>
            <p:cNvSpPr>
              <a:spLocks/>
            </p:cNvSpPr>
            <p:nvPr/>
          </p:nvSpPr>
          <p:spPr bwMode="auto">
            <a:xfrm>
              <a:off x="4920499" y="2753734"/>
              <a:ext cx="871938" cy="793357"/>
            </a:xfrm>
            <a:custGeom>
              <a:avLst/>
              <a:gdLst>
                <a:gd name="T0" fmla="*/ 2147483647 w 33491"/>
                <a:gd name="T1" fmla="*/ 2147483647 h 10096"/>
                <a:gd name="T2" fmla="*/ 0 w 33491"/>
                <a:gd name="T3" fmla="*/ 0 h 10096"/>
                <a:gd name="T4" fmla="*/ 2147483647 w 33491"/>
                <a:gd name="T5" fmla="*/ 2147483647 h 10096"/>
                <a:gd name="T6" fmla="*/ 2147483647 w 33491"/>
                <a:gd name="T7" fmla="*/ 2147483647 h 10096"/>
                <a:gd name="T8" fmla="*/ 2147483647 w 33491"/>
                <a:gd name="T9" fmla="*/ 2147483647 h 10096"/>
                <a:gd name="T10" fmla="*/ 2147483647 w 33491"/>
                <a:gd name="T11" fmla="*/ 2147483647 h 10096"/>
                <a:gd name="T12" fmla="*/ 2147483647 w 33491"/>
                <a:gd name="T13" fmla="*/ 2147483647 h 10096"/>
                <a:gd name="T14" fmla="*/ 2147483647 w 33491"/>
                <a:gd name="T15" fmla="*/ 2147483647 h 10096"/>
                <a:gd name="T16" fmla="*/ 2147483647 w 33491"/>
                <a:gd name="T17" fmla="*/ 2147483647 h 10096"/>
                <a:gd name="T18" fmla="*/ 2147483647 w 33491"/>
                <a:gd name="T19" fmla="*/ 2147483647 h 10096"/>
                <a:gd name="T20" fmla="*/ 2147483647 w 33491"/>
                <a:gd name="T21" fmla="*/ 2147483647 h 10096"/>
                <a:gd name="T22" fmla="*/ 2147483647 w 33491"/>
                <a:gd name="T23" fmla="*/ 2147483647 h 10096"/>
                <a:gd name="T24" fmla="*/ 2147483647 w 33491"/>
                <a:gd name="T25" fmla="*/ 2147483647 h 10096"/>
                <a:gd name="T26" fmla="*/ 2147483647 w 33491"/>
                <a:gd name="T27" fmla="*/ 2147483647 h 10096"/>
                <a:gd name="T28" fmla="*/ 2147483647 w 33491"/>
                <a:gd name="T29" fmla="*/ 2147483647 h 10096"/>
                <a:gd name="T30" fmla="*/ 2147483647 w 33491"/>
                <a:gd name="T31" fmla="*/ 2147483647 h 1009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3491" h="10096">
                  <a:moveTo>
                    <a:pt x="41" y="10000"/>
                  </a:moveTo>
                  <a:cubicBezTo>
                    <a:pt x="27" y="6666"/>
                    <a:pt x="14" y="3334"/>
                    <a:pt x="0" y="0"/>
                  </a:cubicBezTo>
                  <a:lnTo>
                    <a:pt x="1525" y="858"/>
                  </a:lnTo>
                  <a:lnTo>
                    <a:pt x="2988" y="1817"/>
                  </a:lnTo>
                  <a:lnTo>
                    <a:pt x="4389" y="2615"/>
                  </a:lnTo>
                  <a:lnTo>
                    <a:pt x="5854" y="3514"/>
                  </a:lnTo>
                  <a:lnTo>
                    <a:pt x="7318" y="4351"/>
                  </a:lnTo>
                  <a:lnTo>
                    <a:pt x="8537" y="5210"/>
                  </a:lnTo>
                  <a:lnTo>
                    <a:pt x="10000" y="5908"/>
                  </a:lnTo>
                  <a:lnTo>
                    <a:pt x="12583" y="7200"/>
                  </a:lnTo>
                  <a:lnTo>
                    <a:pt x="14499" y="7906"/>
                  </a:lnTo>
                  <a:lnTo>
                    <a:pt x="17266" y="8681"/>
                  </a:lnTo>
                  <a:lnTo>
                    <a:pt x="19820" y="9246"/>
                  </a:lnTo>
                  <a:lnTo>
                    <a:pt x="23439" y="9669"/>
                  </a:lnTo>
                  <a:lnTo>
                    <a:pt x="33491" y="10096"/>
                  </a:lnTo>
                  <a:lnTo>
                    <a:pt x="41" y="10000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154" name="Text Box 71"/>
            <p:cNvSpPr txBox="1">
              <a:spLocks noChangeArrowheads="1"/>
            </p:cNvSpPr>
            <p:nvPr/>
          </p:nvSpPr>
          <p:spPr bwMode="auto">
            <a:xfrm>
              <a:off x="4804612" y="3485571"/>
              <a:ext cx="27463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4989513" y="2525713"/>
            <a:ext cx="977900" cy="457200"/>
            <a:chOff x="4944" y="912"/>
            <a:chExt cx="616" cy="288"/>
          </a:xfrm>
        </p:grpSpPr>
        <p:sp>
          <p:nvSpPr>
            <p:cNvPr id="48150" name="Text Box 24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0,1587</a:t>
              </a:r>
            </a:p>
          </p:txBody>
        </p:sp>
        <p:sp>
          <p:nvSpPr>
            <p:cNvPr id="48151" name="Line 25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upo 6"/>
          <p:cNvGrpSpPr>
            <a:grpSpLocks/>
          </p:cNvGrpSpPr>
          <p:nvPr/>
        </p:nvGrpSpPr>
        <p:grpSpPr bwMode="auto">
          <a:xfrm>
            <a:off x="6019800" y="2514600"/>
            <a:ext cx="2698750" cy="1316038"/>
            <a:chOff x="6019800" y="2514602"/>
            <a:chExt cx="2698750" cy="1316039"/>
          </a:xfrm>
        </p:grpSpPr>
        <p:grpSp>
          <p:nvGrpSpPr>
            <p:cNvPr id="48143" name="Group 52"/>
            <p:cNvGrpSpPr>
              <a:grpSpLocks/>
            </p:cNvGrpSpPr>
            <p:nvPr/>
          </p:nvGrpSpPr>
          <p:grpSpPr bwMode="auto">
            <a:xfrm>
              <a:off x="6019800" y="2514602"/>
              <a:ext cx="2698750" cy="1316039"/>
              <a:chOff x="3561" y="941"/>
              <a:chExt cx="1700" cy="829"/>
            </a:xfrm>
          </p:grpSpPr>
          <p:pic>
            <p:nvPicPr>
              <p:cNvPr id="48146" name="Picture 53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147" name="Text Box 54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48" name="Text Box 55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8149" name="Text Box 56"/>
              <p:cNvSpPr txBox="1">
                <a:spLocks noChangeArrowheads="1"/>
              </p:cNvSpPr>
              <p:nvPr/>
            </p:nvSpPr>
            <p:spPr bwMode="auto">
              <a:xfrm>
                <a:off x="4327" y="155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8144" name="Text Box 12"/>
            <p:cNvSpPr txBox="1">
              <a:spLocks noChangeArrowheads="1"/>
            </p:cNvSpPr>
            <p:nvPr/>
          </p:nvSpPr>
          <p:spPr bwMode="auto">
            <a:xfrm>
              <a:off x="7722120" y="3495675"/>
              <a:ext cx="2730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145" name="Forma livre 4"/>
            <p:cNvSpPr>
              <a:spLocks/>
            </p:cNvSpPr>
            <p:nvPr/>
          </p:nvSpPr>
          <p:spPr bwMode="auto">
            <a:xfrm>
              <a:off x="7854043" y="3216729"/>
              <a:ext cx="600891" cy="326571"/>
            </a:xfrm>
            <a:custGeom>
              <a:avLst/>
              <a:gdLst>
                <a:gd name="T0" fmla="*/ 0 w 600891"/>
                <a:gd name="T1" fmla="*/ 326571 h 326571"/>
                <a:gd name="T2" fmla="*/ 0 w 600891"/>
                <a:gd name="T3" fmla="*/ 0 h 326571"/>
                <a:gd name="T4" fmla="*/ 52251 w 600891"/>
                <a:gd name="T5" fmla="*/ 78377 h 326571"/>
                <a:gd name="T6" fmla="*/ 101237 w 600891"/>
                <a:gd name="T7" fmla="*/ 140425 h 326571"/>
                <a:gd name="T8" fmla="*/ 140426 w 600891"/>
                <a:gd name="T9" fmla="*/ 179614 h 326571"/>
                <a:gd name="T10" fmla="*/ 205740 w 600891"/>
                <a:gd name="T11" fmla="*/ 235131 h 326571"/>
                <a:gd name="T12" fmla="*/ 264523 w 600891"/>
                <a:gd name="T13" fmla="*/ 261257 h 326571"/>
                <a:gd name="T14" fmla="*/ 333103 w 600891"/>
                <a:gd name="T15" fmla="*/ 287382 h 326571"/>
                <a:gd name="T16" fmla="*/ 408214 w 600891"/>
                <a:gd name="T17" fmla="*/ 310242 h 326571"/>
                <a:gd name="T18" fmla="*/ 476794 w 600891"/>
                <a:gd name="T19" fmla="*/ 316774 h 326571"/>
                <a:gd name="T20" fmla="*/ 600891 w 600891"/>
                <a:gd name="T21" fmla="*/ 323305 h 326571"/>
                <a:gd name="T22" fmla="*/ 587828 w 600891"/>
                <a:gd name="T23" fmla="*/ 323305 h 326571"/>
                <a:gd name="T24" fmla="*/ 0 w 600891"/>
                <a:gd name="T25" fmla="*/ 326571 h 3265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00891" h="326571">
                  <a:moveTo>
                    <a:pt x="0" y="326571"/>
                  </a:moveTo>
                  <a:lnTo>
                    <a:pt x="0" y="0"/>
                  </a:lnTo>
                  <a:lnTo>
                    <a:pt x="52251" y="78377"/>
                  </a:lnTo>
                  <a:lnTo>
                    <a:pt x="101237" y="140425"/>
                  </a:lnTo>
                  <a:lnTo>
                    <a:pt x="140426" y="179614"/>
                  </a:lnTo>
                  <a:lnTo>
                    <a:pt x="205740" y="235131"/>
                  </a:lnTo>
                  <a:lnTo>
                    <a:pt x="264523" y="261257"/>
                  </a:lnTo>
                  <a:lnTo>
                    <a:pt x="333103" y="287382"/>
                  </a:lnTo>
                  <a:lnTo>
                    <a:pt x="408214" y="310242"/>
                  </a:lnTo>
                  <a:lnTo>
                    <a:pt x="476794" y="316774"/>
                  </a:lnTo>
                  <a:lnTo>
                    <a:pt x="600891" y="323305"/>
                  </a:lnTo>
                  <a:lnTo>
                    <a:pt x="587828" y="323305"/>
                  </a:lnTo>
                  <a:lnTo>
                    <a:pt x="0" y="326571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7954963" y="2970213"/>
            <a:ext cx="977900" cy="457200"/>
            <a:chOff x="4944" y="912"/>
            <a:chExt cx="616" cy="288"/>
          </a:xfrm>
        </p:grpSpPr>
        <p:sp>
          <p:nvSpPr>
            <p:cNvPr id="48141" name="Text Box 43"/>
            <p:cNvSpPr txBox="1">
              <a:spLocks noChangeArrowheads="1"/>
            </p:cNvSpPr>
            <p:nvPr/>
          </p:nvSpPr>
          <p:spPr bwMode="auto">
            <a:xfrm>
              <a:off x="5088" y="912"/>
              <a:ext cx="4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0,0228</a:t>
              </a:r>
            </a:p>
          </p:txBody>
        </p:sp>
        <p:sp>
          <p:nvSpPr>
            <p:cNvPr id="48142" name="Line 44"/>
            <p:cNvSpPr>
              <a:spLocks noChangeShapeType="1"/>
            </p:cNvSpPr>
            <p:nvPr/>
          </p:nvSpPr>
          <p:spPr bwMode="auto">
            <a:xfrm flipV="1">
              <a:off x="4944" y="1056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0" name="Text Box 33"/>
          <p:cNvSpPr txBox="1">
            <a:spLocks noChangeArrowheads="1"/>
          </p:cNvSpPr>
          <p:nvPr/>
        </p:nvSpPr>
        <p:spPr bwMode="auto">
          <a:xfrm>
            <a:off x="5903913" y="2719388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86" grpId="0"/>
      <p:bldP spid="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14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Distribuição Normal (Exemplos)</a:t>
            </a:r>
          </a:p>
        </p:txBody>
      </p:sp>
      <p:graphicFrame>
        <p:nvGraphicFramePr>
          <p:cNvPr id="49155" name="Object 27"/>
          <p:cNvGraphicFramePr>
            <a:graphicFrameLocks noChangeAspect="1"/>
          </p:cNvGraphicFramePr>
          <p:nvPr/>
        </p:nvGraphicFramePr>
        <p:xfrm>
          <a:off x="762000" y="1676400"/>
          <a:ext cx="11969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6" name="Equation" r:id="rId3" imgW="837836" imgH="203112" progId="Equation.DSMT4">
                  <p:embed/>
                </p:oleObj>
              </mc:Choice>
              <mc:Fallback>
                <p:oleObj name="Equation" r:id="rId3" imgW="837836" imgH="203112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76400"/>
                        <a:ext cx="11969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5" name="Object 37"/>
          <p:cNvGraphicFramePr>
            <a:graphicFrameLocks noChangeAspect="1"/>
          </p:cNvGraphicFramePr>
          <p:nvPr/>
        </p:nvGraphicFramePr>
        <p:xfrm>
          <a:off x="762000" y="2300288"/>
          <a:ext cx="15954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7" name="Equation" r:id="rId5" imgW="1117115" imgH="203112" progId="Equation.DSMT4">
                  <p:embed/>
                </p:oleObj>
              </mc:Choice>
              <mc:Fallback>
                <p:oleObj name="Equation" r:id="rId5" imgW="1117115" imgH="203112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300288"/>
                        <a:ext cx="15954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6" name="Object 38"/>
          <p:cNvGraphicFramePr>
            <a:graphicFrameLocks noChangeAspect="1"/>
          </p:cNvGraphicFramePr>
          <p:nvPr/>
        </p:nvGraphicFramePr>
        <p:xfrm>
          <a:off x="762000" y="2924175"/>
          <a:ext cx="1016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8" name="Equation" r:id="rId7" imgW="710891" imgH="393529" progId="Equation.DSMT4">
                  <p:embed/>
                </p:oleObj>
              </mc:Choice>
              <mc:Fallback>
                <p:oleObj name="Equation" r:id="rId7" imgW="710891" imgH="393529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24175"/>
                        <a:ext cx="101600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7" name="Object 39"/>
          <p:cNvGraphicFramePr>
            <a:graphicFrameLocks noChangeAspect="1"/>
          </p:cNvGraphicFramePr>
          <p:nvPr/>
        </p:nvGraphicFramePr>
        <p:xfrm>
          <a:off x="1781175" y="3070225"/>
          <a:ext cx="8350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9" name="Equation" r:id="rId9" imgW="583947" imgH="203112" progId="Equation.DSMT4">
                  <p:embed/>
                </p:oleObj>
              </mc:Choice>
              <mc:Fallback>
                <p:oleObj name="Equation" r:id="rId9" imgW="583947" imgH="203112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3070225"/>
                        <a:ext cx="8350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8" name="Object 40"/>
          <p:cNvGraphicFramePr>
            <a:graphicFrameLocks noChangeAspect="1"/>
          </p:cNvGraphicFramePr>
          <p:nvPr/>
        </p:nvGraphicFramePr>
        <p:xfrm>
          <a:off x="762000" y="3822700"/>
          <a:ext cx="277653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0" name="Equation" r:id="rId11" imgW="1943100" imgH="203200" progId="Equation.DSMT4">
                  <p:embed/>
                </p:oleObj>
              </mc:Choice>
              <mc:Fallback>
                <p:oleObj name="Equation" r:id="rId11" imgW="1943100" imgH="2032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822700"/>
                        <a:ext cx="277653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29" name="Object 41"/>
          <p:cNvGraphicFramePr>
            <a:graphicFrameLocks noChangeAspect="1"/>
          </p:cNvGraphicFramePr>
          <p:nvPr/>
        </p:nvGraphicFramePr>
        <p:xfrm>
          <a:off x="762000" y="4446588"/>
          <a:ext cx="288448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1" name="Equation" r:id="rId13" imgW="2019300" imgH="393700" progId="Equation.DSMT4">
                  <p:embed/>
                </p:oleObj>
              </mc:Choice>
              <mc:Fallback>
                <p:oleObj name="Equation" r:id="rId13" imgW="2019300" imgH="3937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46588"/>
                        <a:ext cx="288448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30" name="Object 42"/>
          <p:cNvGraphicFramePr>
            <a:graphicFrameLocks noChangeAspect="1"/>
          </p:cNvGraphicFramePr>
          <p:nvPr/>
        </p:nvGraphicFramePr>
        <p:xfrm>
          <a:off x="762000" y="5345113"/>
          <a:ext cx="1760538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2" name="Equation" r:id="rId15" imgW="1231366" imgH="203112" progId="Equation.DSMT4">
                  <p:embed/>
                </p:oleObj>
              </mc:Choice>
              <mc:Fallback>
                <p:oleObj name="Equation" r:id="rId15" imgW="1231366" imgH="203112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345113"/>
                        <a:ext cx="1760538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1743075" y="4343400"/>
            <a:ext cx="814388" cy="914400"/>
            <a:chOff x="1104" y="2544"/>
            <a:chExt cx="513" cy="576"/>
          </a:xfrm>
        </p:grpSpPr>
        <p:sp>
          <p:nvSpPr>
            <p:cNvPr id="49194" name="Oval 43"/>
            <p:cNvSpPr>
              <a:spLocks noChangeArrowheads="1"/>
            </p:cNvSpPr>
            <p:nvPr/>
          </p:nvSpPr>
          <p:spPr bwMode="auto">
            <a:xfrm>
              <a:off x="1104" y="2544"/>
              <a:ext cx="432" cy="432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/>
            </a:p>
          </p:txBody>
        </p:sp>
        <p:sp>
          <p:nvSpPr>
            <p:cNvPr id="49195" name="Text Box 44"/>
            <p:cNvSpPr txBox="1">
              <a:spLocks noChangeArrowheads="1"/>
            </p:cNvSpPr>
            <p:nvPr/>
          </p:nvSpPr>
          <p:spPr bwMode="auto">
            <a:xfrm>
              <a:off x="1430" y="2908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pitchFamily="18" charset="0"/>
                </a:rPr>
                <a:t>Z</a:t>
              </a:r>
            </a:p>
          </p:txBody>
        </p:sp>
      </p:grpSp>
      <p:grpSp>
        <p:nvGrpSpPr>
          <p:cNvPr id="3" name="Group 89"/>
          <p:cNvGrpSpPr>
            <a:grpSpLocks/>
          </p:cNvGrpSpPr>
          <p:nvPr/>
        </p:nvGrpSpPr>
        <p:grpSpPr bwMode="auto">
          <a:xfrm>
            <a:off x="5465763" y="4648200"/>
            <a:ext cx="2698750" cy="1301750"/>
            <a:chOff x="3360" y="2871"/>
            <a:chExt cx="1700" cy="820"/>
          </a:xfrm>
        </p:grpSpPr>
        <p:grpSp>
          <p:nvGrpSpPr>
            <p:cNvPr id="49183" name="Group 57"/>
            <p:cNvGrpSpPr>
              <a:grpSpLocks/>
            </p:cNvGrpSpPr>
            <p:nvPr/>
          </p:nvGrpSpPr>
          <p:grpSpPr bwMode="auto">
            <a:xfrm>
              <a:off x="3360" y="2880"/>
              <a:ext cx="1700" cy="811"/>
              <a:chOff x="3561" y="941"/>
              <a:chExt cx="1700" cy="811"/>
            </a:xfrm>
          </p:grpSpPr>
          <p:pic>
            <p:nvPicPr>
              <p:cNvPr id="49190" name="Picture 58"/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96" t="9618" r="18376" b="11877"/>
              <a:stretch>
                <a:fillRect/>
              </a:stretch>
            </p:blipFill>
            <p:spPr bwMode="auto">
              <a:xfrm>
                <a:off x="3616" y="941"/>
                <a:ext cx="1579" cy="6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191" name="Text Box 59"/>
              <p:cNvSpPr txBox="1">
                <a:spLocks noChangeArrowheads="1"/>
              </p:cNvSpPr>
              <p:nvPr/>
            </p:nvSpPr>
            <p:spPr bwMode="auto">
              <a:xfrm>
                <a:off x="3561" y="1540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-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9192" name="Text Box 60"/>
              <p:cNvSpPr txBox="1">
                <a:spLocks noChangeArrowheads="1"/>
              </p:cNvSpPr>
              <p:nvPr/>
            </p:nvSpPr>
            <p:spPr bwMode="auto">
              <a:xfrm>
                <a:off x="4982" y="1540"/>
                <a:ext cx="279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+</a:t>
                </a:r>
                <a:r>
                  <a:rPr lang="pt-BR" altLang="pt-BR" sz="1600">
                    <a:latin typeface="Times New Roman" pitchFamily="18" charset="0"/>
                    <a:sym typeface="Symbol" pitchFamily="18" charset="2"/>
                  </a:rPr>
                  <a:t></a:t>
                </a:r>
                <a:endParaRPr lang="pt-BR" altLang="pt-BR" sz="1600">
                  <a:latin typeface="Times New Roman" pitchFamily="18" charset="0"/>
                </a:endParaRPr>
              </a:p>
            </p:txBody>
          </p:sp>
          <p:sp>
            <p:nvSpPr>
              <p:cNvPr id="49193" name="Text Box 61"/>
              <p:cNvSpPr txBox="1">
                <a:spLocks noChangeArrowheads="1"/>
              </p:cNvSpPr>
              <p:nvPr/>
            </p:nvSpPr>
            <p:spPr bwMode="auto">
              <a:xfrm>
                <a:off x="4327" y="154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>
                    <a:latin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9184" name="Text Box 62"/>
            <p:cNvSpPr txBox="1">
              <a:spLocks noChangeArrowheads="1"/>
            </p:cNvSpPr>
            <p:nvPr/>
          </p:nvSpPr>
          <p:spPr bwMode="auto">
            <a:xfrm>
              <a:off x="4272" y="3495"/>
              <a:ext cx="2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0,5</a:t>
              </a:r>
            </a:p>
          </p:txBody>
        </p:sp>
        <p:grpSp>
          <p:nvGrpSpPr>
            <p:cNvPr id="49185" name="Group 66"/>
            <p:cNvGrpSpPr>
              <a:grpSpLocks/>
            </p:cNvGrpSpPr>
            <p:nvPr/>
          </p:nvGrpSpPr>
          <p:grpSpPr bwMode="auto">
            <a:xfrm flipH="1">
              <a:off x="3924" y="2898"/>
              <a:ext cx="473" cy="623"/>
              <a:chOff x="4039" y="2898"/>
              <a:chExt cx="473" cy="623"/>
            </a:xfrm>
          </p:grpSpPr>
          <p:sp>
            <p:nvSpPr>
              <p:cNvPr id="49188" name="Freeform 63" descr="Diagonal para cima clara"/>
              <p:cNvSpPr>
                <a:spLocks/>
              </p:cNvSpPr>
              <p:nvPr/>
            </p:nvSpPr>
            <p:spPr bwMode="auto">
              <a:xfrm>
                <a:off x="4039" y="2898"/>
                <a:ext cx="183" cy="623"/>
              </a:xfrm>
              <a:custGeom>
                <a:avLst/>
                <a:gdLst>
                  <a:gd name="T0" fmla="*/ 182 w 183"/>
                  <a:gd name="T1" fmla="*/ 622 h 623"/>
                  <a:gd name="T2" fmla="*/ 183 w 183"/>
                  <a:gd name="T3" fmla="*/ 0 h 623"/>
                  <a:gd name="T4" fmla="*/ 150 w 183"/>
                  <a:gd name="T5" fmla="*/ 8 h 623"/>
                  <a:gd name="T6" fmla="*/ 124 w 183"/>
                  <a:gd name="T7" fmla="*/ 26 h 623"/>
                  <a:gd name="T8" fmla="*/ 102 w 183"/>
                  <a:gd name="T9" fmla="*/ 50 h 623"/>
                  <a:gd name="T10" fmla="*/ 79 w 183"/>
                  <a:gd name="T11" fmla="*/ 78 h 623"/>
                  <a:gd name="T12" fmla="*/ 50 w 183"/>
                  <a:gd name="T13" fmla="*/ 127 h 623"/>
                  <a:gd name="T14" fmla="*/ 25 w 183"/>
                  <a:gd name="T15" fmla="*/ 169 h 623"/>
                  <a:gd name="T16" fmla="*/ 1 w 183"/>
                  <a:gd name="T17" fmla="*/ 217 h 623"/>
                  <a:gd name="T18" fmla="*/ 0 w 183"/>
                  <a:gd name="T19" fmla="*/ 623 h 623"/>
                  <a:gd name="T20" fmla="*/ 182 w 183"/>
                  <a:gd name="T21" fmla="*/ 622 h 6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3"/>
                  <a:gd name="T34" fmla="*/ 0 h 623"/>
                  <a:gd name="T35" fmla="*/ 183 w 183"/>
                  <a:gd name="T36" fmla="*/ 623 h 6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3" h="623">
                    <a:moveTo>
                      <a:pt x="182" y="622"/>
                    </a:moveTo>
                    <a:lnTo>
                      <a:pt x="183" y="0"/>
                    </a:lnTo>
                    <a:lnTo>
                      <a:pt x="150" y="8"/>
                    </a:lnTo>
                    <a:lnTo>
                      <a:pt x="124" y="26"/>
                    </a:lnTo>
                    <a:lnTo>
                      <a:pt x="102" y="50"/>
                    </a:lnTo>
                    <a:lnTo>
                      <a:pt x="79" y="78"/>
                    </a:lnTo>
                    <a:lnTo>
                      <a:pt x="50" y="127"/>
                    </a:lnTo>
                    <a:lnTo>
                      <a:pt x="25" y="169"/>
                    </a:lnTo>
                    <a:lnTo>
                      <a:pt x="1" y="217"/>
                    </a:lnTo>
                    <a:lnTo>
                      <a:pt x="0" y="623"/>
                    </a:lnTo>
                    <a:lnTo>
                      <a:pt x="182" y="622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189" name="Freeform 64" descr="Diagonal para cima clara"/>
              <p:cNvSpPr>
                <a:spLocks/>
              </p:cNvSpPr>
              <p:nvPr/>
            </p:nvSpPr>
            <p:spPr bwMode="auto">
              <a:xfrm>
                <a:off x="4215" y="2898"/>
                <a:ext cx="297" cy="622"/>
              </a:xfrm>
              <a:custGeom>
                <a:avLst/>
                <a:gdLst>
                  <a:gd name="T0" fmla="*/ 1 w 297"/>
                  <a:gd name="T1" fmla="*/ 490 h 629"/>
                  <a:gd name="T2" fmla="*/ 0 w 297"/>
                  <a:gd name="T3" fmla="*/ 0 h 629"/>
                  <a:gd name="T4" fmla="*/ 33 w 297"/>
                  <a:gd name="T5" fmla="*/ 8 h 629"/>
                  <a:gd name="T6" fmla="*/ 59 w 297"/>
                  <a:gd name="T7" fmla="*/ 26 h 629"/>
                  <a:gd name="T8" fmla="*/ 81 w 297"/>
                  <a:gd name="T9" fmla="*/ 44 h 629"/>
                  <a:gd name="T10" fmla="*/ 104 w 297"/>
                  <a:gd name="T11" fmla="*/ 57 h 629"/>
                  <a:gd name="T12" fmla="*/ 133 w 297"/>
                  <a:gd name="T13" fmla="*/ 106 h 629"/>
                  <a:gd name="T14" fmla="*/ 158 w 297"/>
                  <a:gd name="T15" fmla="*/ 130 h 629"/>
                  <a:gd name="T16" fmla="*/ 182 w 297"/>
                  <a:gd name="T17" fmla="*/ 175 h 629"/>
                  <a:gd name="T18" fmla="*/ 205 w 297"/>
                  <a:gd name="T19" fmla="*/ 203 h 629"/>
                  <a:gd name="T20" fmla="*/ 229 w 297"/>
                  <a:gd name="T21" fmla="*/ 238 h 629"/>
                  <a:gd name="T22" fmla="*/ 253 w 297"/>
                  <a:gd name="T23" fmla="*/ 272 h 629"/>
                  <a:gd name="T24" fmla="*/ 273 w 297"/>
                  <a:gd name="T25" fmla="*/ 304 h 629"/>
                  <a:gd name="T26" fmla="*/ 297 w 297"/>
                  <a:gd name="T27" fmla="*/ 332 h 629"/>
                  <a:gd name="T28" fmla="*/ 297 w 297"/>
                  <a:gd name="T29" fmla="*/ 490 h 629"/>
                  <a:gd name="T30" fmla="*/ 1 w 297"/>
                  <a:gd name="T31" fmla="*/ 49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97"/>
                  <a:gd name="T49" fmla="*/ 0 h 629"/>
                  <a:gd name="T50" fmla="*/ 297 w 297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97" h="629">
                    <a:moveTo>
                      <a:pt x="1" y="629"/>
                    </a:moveTo>
                    <a:lnTo>
                      <a:pt x="0" y="0"/>
                    </a:lnTo>
                    <a:lnTo>
                      <a:pt x="33" y="8"/>
                    </a:lnTo>
                    <a:lnTo>
                      <a:pt x="59" y="26"/>
                    </a:lnTo>
                    <a:lnTo>
                      <a:pt x="81" y="51"/>
                    </a:lnTo>
                    <a:lnTo>
                      <a:pt x="104" y="79"/>
                    </a:lnTo>
                    <a:lnTo>
                      <a:pt x="133" y="128"/>
                    </a:lnTo>
                    <a:lnTo>
                      <a:pt x="158" y="171"/>
                    </a:lnTo>
                    <a:lnTo>
                      <a:pt x="182" y="219"/>
                    </a:lnTo>
                    <a:lnTo>
                      <a:pt x="205" y="259"/>
                    </a:lnTo>
                    <a:lnTo>
                      <a:pt x="229" y="304"/>
                    </a:lnTo>
                    <a:lnTo>
                      <a:pt x="253" y="346"/>
                    </a:lnTo>
                    <a:lnTo>
                      <a:pt x="273" y="389"/>
                    </a:lnTo>
                    <a:lnTo>
                      <a:pt x="297" y="424"/>
                    </a:lnTo>
                    <a:lnTo>
                      <a:pt x="297" y="629"/>
                    </a:lnTo>
                    <a:lnTo>
                      <a:pt x="1" y="629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9186" name="Text Box 65"/>
            <p:cNvSpPr txBox="1">
              <a:spLocks noChangeArrowheads="1"/>
            </p:cNvSpPr>
            <p:nvPr/>
          </p:nvSpPr>
          <p:spPr bwMode="auto">
            <a:xfrm>
              <a:off x="3816" y="3492"/>
              <a:ext cx="20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-1</a:t>
              </a:r>
            </a:p>
          </p:txBody>
        </p:sp>
        <p:sp>
          <p:nvSpPr>
            <p:cNvPr id="49187" name="Text Box 77"/>
            <p:cNvSpPr txBox="1">
              <a:spLocks noChangeArrowheads="1"/>
            </p:cNvSpPr>
            <p:nvPr/>
          </p:nvSpPr>
          <p:spPr bwMode="auto">
            <a:xfrm>
              <a:off x="4550" y="2871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Z</a:t>
              </a:r>
            </a:p>
          </p:txBody>
        </p: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5181600" y="1676400"/>
            <a:ext cx="3267075" cy="1138238"/>
            <a:chOff x="2918" y="1372"/>
            <a:chExt cx="2058" cy="717"/>
          </a:xfrm>
        </p:grpSpPr>
        <p:pic>
          <p:nvPicPr>
            <p:cNvPr id="49173" name="Picture 79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6" t="9618" r="18376" b="11877"/>
            <a:stretch>
              <a:fillRect/>
            </a:stretch>
          </p:blipFill>
          <p:spPr bwMode="auto">
            <a:xfrm>
              <a:off x="2976" y="1488"/>
              <a:ext cx="1934" cy="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74" name="Text Box 80"/>
            <p:cNvSpPr txBox="1">
              <a:spLocks noChangeArrowheads="1"/>
            </p:cNvSpPr>
            <p:nvPr/>
          </p:nvSpPr>
          <p:spPr bwMode="auto">
            <a:xfrm>
              <a:off x="2918" y="1877"/>
              <a:ext cx="25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-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9175" name="Text Box 81"/>
            <p:cNvSpPr txBox="1">
              <a:spLocks noChangeArrowheads="1"/>
            </p:cNvSpPr>
            <p:nvPr/>
          </p:nvSpPr>
          <p:spPr bwMode="auto">
            <a:xfrm>
              <a:off x="4697" y="1877"/>
              <a:ext cx="2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+</a:t>
              </a: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</a:t>
              </a:r>
              <a:endParaRPr lang="pt-BR" altLang="pt-BR" sz="1600">
                <a:latin typeface="Times New Roman" pitchFamily="18" charset="0"/>
              </a:endParaRPr>
            </a:p>
          </p:txBody>
        </p:sp>
        <p:sp>
          <p:nvSpPr>
            <p:cNvPr id="49176" name="Text Box 82"/>
            <p:cNvSpPr txBox="1">
              <a:spLocks noChangeArrowheads="1"/>
            </p:cNvSpPr>
            <p:nvPr/>
          </p:nvSpPr>
          <p:spPr bwMode="auto">
            <a:xfrm>
              <a:off x="3838" y="1877"/>
              <a:ext cx="24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49177" name="Text Box 83"/>
            <p:cNvSpPr txBox="1">
              <a:spLocks noChangeArrowheads="1"/>
            </p:cNvSpPr>
            <p:nvPr/>
          </p:nvSpPr>
          <p:spPr bwMode="auto">
            <a:xfrm>
              <a:off x="4064" y="1893"/>
              <a:ext cx="2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11</a:t>
              </a:r>
            </a:p>
          </p:txBody>
        </p:sp>
        <p:grpSp>
          <p:nvGrpSpPr>
            <p:cNvPr id="49178" name="Group 84"/>
            <p:cNvGrpSpPr>
              <a:grpSpLocks/>
            </p:cNvGrpSpPr>
            <p:nvPr/>
          </p:nvGrpSpPr>
          <p:grpSpPr bwMode="auto">
            <a:xfrm flipH="1">
              <a:off x="3606" y="1494"/>
              <a:ext cx="569" cy="431"/>
              <a:chOff x="4039" y="2898"/>
              <a:chExt cx="473" cy="623"/>
            </a:xfrm>
          </p:grpSpPr>
          <p:sp>
            <p:nvSpPr>
              <p:cNvPr id="49181" name="Freeform 85" descr="Diagonal para cima clara"/>
              <p:cNvSpPr>
                <a:spLocks/>
              </p:cNvSpPr>
              <p:nvPr/>
            </p:nvSpPr>
            <p:spPr bwMode="auto">
              <a:xfrm>
                <a:off x="4039" y="2898"/>
                <a:ext cx="183" cy="623"/>
              </a:xfrm>
              <a:custGeom>
                <a:avLst/>
                <a:gdLst>
                  <a:gd name="T0" fmla="*/ 182 w 183"/>
                  <a:gd name="T1" fmla="*/ 622 h 623"/>
                  <a:gd name="T2" fmla="*/ 183 w 183"/>
                  <a:gd name="T3" fmla="*/ 0 h 623"/>
                  <a:gd name="T4" fmla="*/ 150 w 183"/>
                  <a:gd name="T5" fmla="*/ 8 h 623"/>
                  <a:gd name="T6" fmla="*/ 124 w 183"/>
                  <a:gd name="T7" fmla="*/ 26 h 623"/>
                  <a:gd name="T8" fmla="*/ 102 w 183"/>
                  <a:gd name="T9" fmla="*/ 50 h 623"/>
                  <a:gd name="T10" fmla="*/ 79 w 183"/>
                  <a:gd name="T11" fmla="*/ 78 h 623"/>
                  <a:gd name="T12" fmla="*/ 50 w 183"/>
                  <a:gd name="T13" fmla="*/ 127 h 623"/>
                  <a:gd name="T14" fmla="*/ 25 w 183"/>
                  <a:gd name="T15" fmla="*/ 169 h 623"/>
                  <a:gd name="T16" fmla="*/ 1 w 183"/>
                  <a:gd name="T17" fmla="*/ 217 h 623"/>
                  <a:gd name="T18" fmla="*/ 0 w 183"/>
                  <a:gd name="T19" fmla="*/ 623 h 623"/>
                  <a:gd name="T20" fmla="*/ 182 w 183"/>
                  <a:gd name="T21" fmla="*/ 622 h 62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83"/>
                  <a:gd name="T34" fmla="*/ 0 h 623"/>
                  <a:gd name="T35" fmla="*/ 183 w 183"/>
                  <a:gd name="T36" fmla="*/ 623 h 623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83" h="623">
                    <a:moveTo>
                      <a:pt x="182" y="622"/>
                    </a:moveTo>
                    <a:lnTo>
                      <a:pt x="183" y="0"/>
                    </a:lnTo>
                    <a:lnTo>
                      <a:pt x="150" y="8"/>
                    </a:lnTo>
                    <a:lnTo>
                      <a:pt x="124" y="26"/>
                    </a:lnTo>
                    <a:lnTo>
                      <a:pt x="102" y="50"/>
                    </a:lnTo>
                    <a:lnTo>
                      <a:pt x="79" y="78"/>
                    </a:lnTo>
                    <a:lnTo>
                      <a:pt x="50" y="127"/>
                    </a:lnTo>
                    <a:lnTo>
                      <a:pt x="25" y="169"/>
                    </a:lnTo>
                    <a:lnTo>
                      <a:pt x="1" y="217"/>
                    </a:lnTo>
                    <a:lnTo>
                      <a:pt x="0" y="623"/>
                    </a:lnTo>
                    <a:lnTo>
                      <a:pt x="182" y="622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182" name="Freeform 86" descr="Diagonal para cima clara"/>
              <p:cNvSpPr>
                <a:spLocks/>
              </p:cNvSpPr>
              <p:nvPr/>
            </p:nvSpPr>
            <p:spPr bwMode="auto">
              <a:xfrm>
                <a:off x="4215" y="2898"/>
                <a:ext cx="297" cy="622"/>
              </a:xfrm>
              <a:custGeom>
                <a:avLst/>
                <a:gdLst>
                  <a:gd name="T0" fmla="*/ 1 w 297"/>
                  <a:gd name="T1" fmla="*/ 490 h 629"/>
                  <a:gd name="T2" fmla="*/ 0 w 297"/>
                  <a:gd name="T3" fmla="*/ 0 h 629"/>
                  <a:gd name="T4" fmla="*/ 33 w 297"/>
                  <a:gd name="T5" fmla="*/ 8 h 629"/>
                  <a:gd name="T6" fmla="*/ 59 w 297"/>
                  <a:gd name="T7" fmla="*/ 26 h 629"/>
                  <a:gd name="T8" fmla="*/ 81 w 297"/>
                  <a:gd name="T9" fmla="*/ 44 h 629"/>
                  <a:gd name="T10" fmla="*/ 104 w 297"/>
                  <a:gd name="T11" fmla="*/ 57 h 629"/>
                  <a:gd name="T12" fmla="*/ 133 w 297"/>
                  <a:gd name="T13" fmla="*/ 106 h 629"/>
                  <a:gd name="T14" fmla="*/ 158 w 297"/>
                  <a:gd name="T15" fmla="*/ 130 h 629"/>
                  <a:gd name="T16" fmla="*/ 182 w 297"/>
                  <a:gd name="T17" fmla="*/ 175 h 629"/>
                  <a:gd name="T18" fmla="*/ 205 w 297"/>
                  <a:gd name="T19" fmla="*/ 203 h 629"/>
                  <a:gd name="T20" fmla="*/ 229 w 297"/>
                  <a:gd name="T21" fmla="*/ 238 h 629"/>
                  <a:gd name="T22" fmla="*/ 253 w 297"/>
                  <a:gd name="T23" fmla="*/ 272 h 629"/>
                  <a:gd name="T24" fmla="*/ 273 w 297"/>
                  <a:gd name="T25" fmla="*/ 304 h 629"/>
                  <a:gd name="T26" fmla="*/ 297 w 297"/>
                  <a:gd name="T27" fmla="*/ 332 h 629"/>
                  <a:gd name="T28" fmla="*/ 297 w 297"/>
                  <a:gd name="T29" fmla="*/ 490 h 629"/>
                  <a:gd name="T30" fmla="*/ 1 w 297"/>
                  <a:gd name="T31" fmla="*/ 49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97"/>
                  <a:gd name="T49" fmla="*/ 0 h 629"/>
                  <a:gd name="T50" fmla="*/ 297 w 297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97" h="629">
                    <a:moveTo>
                      <a:pt x="1" y="629"/>
                    </a:moveTo>
                    <a:lnTo>
                      <a:pt x="0" y="0"/>
                    </a:lnTo>
                    <a:lnTo>
                      <a:pt x="33" y="8"/>
                    </a:lnTo>
                    <a:lnTo>
                      <a:pt x="59" y="26"/>
                    </a:lnTo>
                    <a:lnTo>
                      <a:pt x="81" y="51"/>
                    </a:lnTo>
                    <a:lnTo>
                      <a:pt x="104" y="79"/>
                    </a:lnTo>
                    <a:lnTo>
                      <a:pt x="133" y="128"/>
                    </a:lnTo>
                    <a:lnTo>
                      <a:pt x="158" y="171"/>
                    </a:lnTo>
                    <a:lnTo>
                      <a:pt x="182" y="219"/>
                    </a:lnTo>
                    <a:lnTo>
                      <a:pt x="205" y="259"/>
                    </a:lnTo>
                    <a:lnTo>
                      <a:pt x="229" y="304"/>
                    </a:lnTo>
                    <a:lnTo>
                      <a:pt x="253" y="346"/>
                    </a:lnTo>
                    <a:lnTo>
                      <a:pt x="273" y="389"/>
                    </a:lnTo>
                    <a:lnTo>
                      <a:pt x="297" y="424"/>
                    </a:lnTo>
                    <a:lnTo>
                      <a:pt x="297" y="629"/>
                    </a:lnTo>
                    <a:lnTo>
                      <a:pt x="1" y="629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9179" name="Text Box 87"/>
            <p:cNvSpPr txBox="1">
              <a:spLocks noChangeArrowheads="1"/>
            </p:cNvSpPr>
            <p:nvPr/>
          </p:nvSpPr>
          <p:spPr bwMode="auto">
            <a:xfrm>
              <a:off x="3516" y="1890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400"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49180" name="Text Box 88"/>
            <p:cNvSpPr txBox="1">
              <a:spLocks noChangeArrowheads="1"/>
            </p:cNvSpPr>
            <p:nvPr/>
          </p:nvSpPr>
          <p:spPr bwMode="auto">
            <a:xfrm>
              <a:off x="4320" y="1372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X</a:t>
              </a:r>
            </a:p>
          </p:txBody>
        </p:sp>
      </p:grpSp>
      <p:sp>
        <p:nvSpPr>
          <p:cNvPr id="114779" name="AutoShape 91"/>
          <p:cNvSpPr>
            <a:spLocks noChangeArrowheads="1"/>
          </p:cNvSpPr>
          <p:nvPr/>
        </p:nvSpPr>
        <p:spPr bwMode="auto">
          <a:xfrm>
            <a:off x="6648450" y="3276600"/>
            <a:ext cx="381000" cy="1066800"/>
          </a:xfrm>
          <a:prstGeom prst="upDownArrow">
            <a:avLst>
              <a:gd name="adj1" fmla="val 50000"/>
              <a:gd name="adj2" fmla="val 56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/>
          </a:p>
        </p:txBody>
      </p:sp>
      <p:grpSp>
        <p:nvGrpSpPr>
          <p:cNvPr id="8" name="Group 95"/>
          <p:cNvGrpSpPr>
            <a:grpSpLocks/>
          </p:cNvGrpSpPr>
          <p:nvPr/>
        </p:nvGrpSpPr>
        <p:grpSpPr bwMode="auto">
          <a:xfrm>
            <a:off x="5651500" y="4627563"/>
            <a:ext cx="949325" cy="457200"/>
            <a:chOff x="3923" y="2750"/>
            <a:chExt cx="598" cy="288"/>
          </a:xfrm>
        </p:grpSpPr>
        <p:sp>
          <p:nvSpPr>
            <p:cNvPr id="49171" name="Text Box 93"/>
            <p:cNvSpPr txBox="1">
              <a:spLocks noChangeArrowheads="1"/>
            </p:cNvSpPr>
            <p:nvPr/>
          </p:nvSpPr>
          <p:spPr bwMode="auto">
            <a:xfrm>
              <a:off x="3923" y="2750"/>
              <a:ext cx="4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0,5328</a:t>
              </a:r>
            </a:p>
          </p:txBody>
        </p:sp>
        <p:sp>
          <p:nvSpPr>
            <p:cNvPr id="49172" name="Line 94"/>
            <p:cNvSpPr>
              <a:spLocks noChangeShapeType="1"/>
            </p:cNvSpPr>
            <p:nvPr/>
          </p:nvSpPr>
          <p:spPr bwMode="auto">
            <a:xfrm flipH="1" flipV="1">
              <a:off x="4377" y="2894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6"/>
          <p:cNvGrpSpPr>
            <a:grpSpLocks/>
          </p:cNvGrpSpPr>
          <p:nvPr/>
        </p:nvGrpSpPr>
        <p:grpSpPr bwMode="auto">
          <a:xfrm>
            <a:off x="5637213" y="1685925"/>
            <a:ext cx="949325" cy="457200"/>
            <a:chOff x="3923" y="2750"/>
            <a:chExt cx="598" cy="288"/>
          </a:xfrm>
        </p:grpSpPr>
        <p:sp>
          <p:nvSpPr>
            <p:cNvPr id="49169" name="Text Box 97"/>
            <p:cNvSpPr txBox="1">
              <a:spLocks noChangeArrowheads="1"/>
            </p:cNvSpPr>
            <p:nvPr/>
          </p:nvSpPr>
          <p:spPr bwMode="auto">
            <a:xfrm>
              <a:off x="3923" y="2750"/>
              <a:ext cx="4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0,5328</a:t>
              </a:r>
            </a:p>
          </p:txBody>
        </p:sp>
        <p:sp>
          <p:nvSpPr>
            <p:cNvPr id="49170" name="Line 98"/>
            <p:cNvSpPr>
              <a:spLocks noChangeShapeType="1"/>
            </p:cNvSpPr>
            <p:nvPr/>
          </p:nvSpPr>
          <p:spPr bwMode="auto">
            <a:xfrm flipH="1" flipV="1">
              <a:off x="4377" y="2894"/>
              <a:ext cx="144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97772C-0BDB-44F0-BFB6-8875EB0B1E0E}" type="slidenum">
              <a:rPr lang="pt-BR"/>
              <a:pPr>
                <a:defRPr/>
              </a:pPr>
              <a:t>46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79" grpId="0" animBg="1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5163</TotalTime>
  <Words>3060</Words>
  <Application>Microsoft Office PowerPoint</Application>
  <PresentationFormat>Apresentação na tela (4:3)</PresentationFormat>
  <Paragraphs>434</Paragraphs>
  <Slides>46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Comic Sans MS</vt:lpstr>
      <vt:lpstr>Symbol</vt:lpstr>
      <vt:lpstr>Times New Roman</vt:lpstr>
      <vt:lpstr>Estrutura padrão</vt:lpstr>
      <vt:lpstr>Equation</vt:lpstr>
      <vt:lpstr>Estatística   Distribuições de Probabilidade 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Uniforme Discreta</vt:lpstr>
      <vt:lpstr>Distribuição Binomial</vt:lpstr>
      <vt:lpstr>Distribuição Binomial</vt:lpstr>
      <vt:lpstr>Distribuição Binomial</vt:lpstr>
      <vt:lpstr>Distribuição Bernoulli</vt:lpstr>
      <vt:lpstr>Distribuição Bernoulli</vt:lpstr>
      <vt:lpstr>Distribuição Bernoulli</vt:lpstr>
      <vt:lpstr>Distribuição Bernoulli</vt:lpstr>
      <vt:lpstr>Distribuição Bernoulli</vt:lpstr>
      <vt:lpstr>Distribuição Binomial</vt:lpstr>
      <vt:lpstr>Distribuição Binomial</vt:lpstr>
      <vt:lpstr>Distribuição Geométrica</vt:lpstr>
      <vt:lpstr>Distribuição Geométrica</vt:lpstr>
      <vt:lpstr>Distribuição Geométrica</vt:lpstr>
      <vt:lpstr>Distribuição Geométrica</vt:lpstr>
      <vt:lpstr>Distribuição Geométrica</vt:lpstr>
      <vt:lpstr>Distribuição Geométrica</vt:lpstr>
      <vt:lpstr>Distribuição Binomial Negativa</vt:lpstr>
      <vt:lpstr>Distribuição Binomial Negativa</vt:lpstr>
      <vt:lpstr>Distribuição Binomial Negativa</vt:lpstr>
      <vt:lpstr>Distribuição Binomial Negativa</vt:lpstr>
      <vt:lpstr>Distribuição Hipergeométrica</vt:lpstr>
      <vt:lpstr>Distribuição Hipergeométrica</vt:lpstr>
      <vt:lpstr>Distribuição Hipergeométrica</vt:lpstr>
      <vt:lpstr>Distribuição de Poisson</vt:lpstr>
      <vt:lpstr>Distribuição de Poisson</vt:lpstr>
      <vt:lpstr>Distribuição de Poisson</vt:lpstr>
      <vt:lpstr>Distribuição de Poisson</vt:lpstr>
      <vt:lpstr>Resumo Distribuições Discretas</vt:lpstr>
      <vt:lpstr>Distribuição Uniforme (Contínua)</vt:lpstr>
      <vt:lpstr>Distribuição Uniforme (Contínua)</vt:lpstr>
      <vt:lpstr>Distribuição Uniforme (Contínua)</vt:lpstr>
      <vt:lpstr>Distribuição Uniforme (Contínua)</vt:lpstr>
      <vt:lpstr>Distribuição Uniforme (Contínua)</vt:lpstr>
      <vt:lpstr>Distribuição Normal ou Gaussiana</vt:lpstr>
      <vt:lpstr>Distribuição Normal ou Gaussiana</vt:lpstr>
      <vt:lpstr>Distribuição Normal Padrão</vt:lpstr>
      <vt:lpstr>Distribuição Normal Padrão (Exemplos)</vt:lpstr>
      <vt:lpstr>Distribuição Normal Padrão (Exemplos)</vt:lpstr>
      <vt:lpstr>Distribuição Normal Padrão (Exemplos)</vt:lpstr>
      <vt:lpstr>Distribuição Normal (Exemplos)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Distribuição de Probabilidade</dc:title>
  <dc:creator>Camilo Daleles Rennó, DPI/INPE</dc:creator>
  <cp:lastModifiedBy>janainacer@outlook.com</cp:lastModifiedBy>
  <cp:revision>403</cp:revision>
  <dcterms:created xsi:type="dcterms:W3CDTF">2003-03-18T00:57:51Z</dcterms:created>
  <dcterms:modified xsi:type="dcterms:W3CDTF">2023-05-22T11:53:12Z</dcterms:modified>
</cp:coreProperties>
</file>