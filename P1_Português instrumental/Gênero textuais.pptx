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6"/>
  </p:notesMasterIdLst>
  <p:sldIdLst>
    <p:sldId id="267" r:id="rId2"/>
    <p:sldId id="311" r:id="rId3"/>
    <p:sldId id="284" r:id="rId4"/>
    <p:sldId id="285" r:id="rId5"/>
    <p:sldId id="268" r:id="rId6"/>
    <p:sldId id="272" r:id="rId7"/>
    <p:sldId id="273" r:id="rId8"/>
    <p:sldId id="274" r:id="rId9"/>
    <p:sldId id="276" r:id="rId10"/>
    <p:sldId id="277" r:id="rId11"/>
    <p:sldId id="283" r:id="rId12"/>
    <p:sldId id="300" r:id="rId13"/>
    <p:sldId id="305" r:id="rId14"/>
    <p:sldId id="307" r:id="rId15"/>
    <p:sldId id="308" r:id="rId16"/>
    <p:sldId id="286" r:id="rId17"/>
    <p:sldId id="299" r:id="rId18"/>
    <p:sldId id="287" r:id="rId19"/>
    <p:sldId id="288" r:id="rId20"/>
    <p:sldId id="289" r:id="rId21"/>
    <p:sldId id="290" r:id="rId22"/>
    <p:sldId id="291" r:id="rId23"/>
    <p:sldId id="292" r:id="rId24"/>
    <p:sldId id="294" r:id="rId25"/>
    <p:sldId id="295" r:id="rId26"/>
    <p:sldId id="296" r:id="rId27"/>
    <p:sldId id="297" r:id="rId28"/>
    <p:sldId id="298" r:id="rId29"/>
    <p:sldId id="256" r:id="rId30"/>
    <p:sldId id="257" r:id="rId31"/>
    <p:sldId id="258" r:id="rId32"/>
    <p:sldId id="259" r:id="rId33"/>
    <p:sldId id="260" r:id="rId34"/>
    <p:sldId id="261" r:id="rId35"/>
    <p:sldId id="262" r:id="rId36"/>
    <p:sldId id="263" r:id="rId37"/>
    <p:sldId id="264" r:id="rId38"/>
    <p:sldId id="265" r:id="rId39"/>
    <p:sldId id="280" r:id="rId40"/>
    <p:sldId id="266" r:id="rId41"/>
    <p:sldId id="302" r:id="rId42"/>
    <p:sldId id="304" r:id="rId43"/>
    <p:sldId id="309" r:id="rId44"/>
    <p:sldId id="310" r:id="rId4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221" autoAdjust="0"/>
    <p:restoredTop sz="94660"/>
  </p:normalViewPr>
  <p:slideViewPr>
    <p:cSldViewPr>
      <p:cViewPr>
        <p:scale>
          <a:sx n="89" d="100"/>
          <a:sy n="89" d="100"/>
        </p:scale>
        <p:origin x="-774" y="4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2F3159-5FE8-47F1-8566-909E265A55BD}" type="doc">
      <dgm:prSet loTypeId="urn:microsoft.com/office/officeart/2005/8/layout/bProcess3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ACC66CA4-D17A-43B9-90B1-56999EB04AF1}">
      <dgm:prSet phldrT="[Texto]"/>
      <dgm:spPr/>
      <dgm:t>
        <a:bodyPr/>
        <a:lstStyle/>
        <a:p>
          <a:r>
            <a:rPr lang="pt-BR" dirty="0" smtClean="0"/>
            <a:t>“(...) Introduzida aparente</a:t>
          </a:r>
          <a:r>
            <a:rPr lang="pt-BR" b="0" i="0" dirty="0" smtClean="0"/>
            <a:t>mente na Alemanha, em 1748, por </a:t>
          </a:r>
          <a:r>
            <a:rPr lang="pt-BR" b="0" i="0" dirty="0" err="1" smtClean="0"/>
            <a:t>Achenwall</a:t>
          </a:r>
          <a:r>
            <a:rPr lang="pt-BR" b="0" i="0" dirty="0" smtClean="0"/>
            <a:t>...encarada, atualmente, como uma ciência capaz de obter, sintetizar, prever e tirar inferências sobre dados.”</a:t>
          </a:r>
          <a:endParaRPr lang="pt-BR" dirty="0"/>
        </a:p>
      </dgm:t>
    </dgm:pt>
    <dgm:pt modelId="{3BF4263C-B076-486A-8652-1FAD73BFCF9E}" type="parTrans" cxnId="{9852E89A-5246-4044-8D5C-A5AF7EF3D035}">
      <dgm:prSet/>
      <dgm:spPr/>
      <dgm:t>
        <a:bodyPr/>
        <a:lstStyle/>
        <a:p>
          <a:endParaRPr lang="pt-BR"/>
        </a:p>
      </dgm:t>
    </dgm:pt>
    <dgm:pt modelId="{5820D39F-7235-4751-8A42-D0FFCE151634}" type="sibTrans" cxnId="{9852E89A-5246-4044-8D5C-A5AF7EF3D035}">
      <dgm:prSet/>
      <dgm:spPr/>
      <dgm:t>
        <a:bodyPr/>
        <a:lstStyle/>
        <a:p>
          <a:endParaRPr lang="pt-BR"/>
        </a:p>
      </dgm:t>
    </dgm:pt>
    <dgm:pt modelId="{D6D2C8AA-D9DF-48F6-99A1-68E05667058D}">
      <dgm:prSet phldrT="[Texto]"/>
      <dgm:spPr/>
      <dgm:t>
        <a:bodyPr/>
        <a:lstStyle/>
        <a:p>
          <a:r>
            <a:rPr lang="pt-BR" b="0" i="0" dirty="0" smtClean="0"/>
            <a:t>“(...) Ao longo da Idade Média e até ao século XVIII a estatística foi puramente descritiva, coexistindo duas escolas:  escola descritiva alemã...e a escola dos matemáticos sociais.”</a:t>
          </a:r>
          <a:endParaRPr lang="pt-BR" dirty="0"/>
        </a:p>
      </dgm:t>
    </dgm:pt>
    <dgm:pt modelId="{986FB17D-7554-4ABF-B7BA-B122F8C6F7E8}" type="parTrans" cxnId="{E6B02397-BBE8-4F83-ABC0-14E41C8A9A8A}">
      <dgm:prSet/>
      <dgm:spPr/>
      <dgm:t>
        <a:bodyPr/>
        <a:lstStyle/>
        <a:p>
          <a:endParaRPr lang="pt-BR"/>
        </a:p>
      </dgm:t>
    </dgm:pt>
    <dgm:pt modelId="{B887E055-F233-437F-9DAB-E1BE2B3C1D51}" type="sibTrans" cxnId="{E6B02397-BBE8-4F83-ABC0-14E41C8A9A8A}">
      <dgm:prSet/>
      <dgm:spPr/>
      <dgm:t>
        <a:bodyPr/>
        <a:lstStyle/>
        <a:p>
          <a:endParaRPr lang="pt-BR"/>
        </a:p>
      </dgm:t>
    </dgm:pt>
    <dgm:pt modelId="{A89DF892-D332-424D-BEB5-A0DAF8EB0EF0}">
      <dgm:prSet phldrT="[Texto]"/>
      <dgm:spPr/>
      <dgm:t>
        <a:bodyPr/>
        <a:lstStyle/>
        <a:p>
          <a:r>
            <a:rPr lang="pt-BR" b="0" i="0" dirty="0" smtClean="0"/>
            <a:t>“(...) John </a:t>
          </a:r>
          <a:r>
            <a:rPr lang="pt-BR" b="0" i="0" dirty="0" err="1" smtClean="0"/>
            <a:t>Graunt,William</a:t>
          </a:r>
          <a:r>
            <a:rPr lang="pt-BR" b="0" i="0" dirty="0" smtClean="0"/>
            <a:t> </a:t>
          </a:r>
          <a:r>
            <a:rPr lang="pt-BR" b="0" i="0" dirty="0" err="1" smtClean="0"/>
            <a:t>Petty</a:t>
          </a:r>
          <a:r>
            <a:rPr lang="pt-BR" b="0" i="0" dirty="0" smtClean="0"/>
            <a:t>, e o astrónomo Edmond Halley são os principais representantes da escola </a:t>
          </a:r>
          <a:r>
            <a:rPr lang="pt-BR" b="0" i="0" dirty="0" err="1" smtClean="0"/>
            <a:t>inglesa,dando</a:t>
          </a:r>
          <a:r>
            <a:rPr lang="pt-BR" b="0" i="0" dirty="0" smtClean="0"/>
            <a:t> um novo impulso à estatística.”</a:t>
          </a:r>
          <a:endParaRPr lang="pt-BR" dirty="0"/>
        </a:p>
      </dgm:t>
    </dgm:pt>
    <dgm:pt modelId="{A62DEE0C-B288-4DB1-BB62-0EC4FDF5953B}" type="parTrans" cxnId="{52F34219-2D38-4C2E-B5EB-719EC5359867}">
      <dgm:prSet/>
      <dgm:spPr/>
      <dgm:t>
        <a:bodyPr/>
        <a:lstStyle/>
        <a:p>
          <a:endParaRPr lang="pt-BR"/>
        </a:p>
      </dgm:t>
    </dgm:pt>
    <dgm:pt modelId="{3B0E2CDD-3521-4AE6-BFD9-8C0C24438DB0}" type="sibTrans" cxnId="{52F34219-2D38-4C2E-B5EB-719EC5359867}">
      <dgm:prSet/>
      <dgm:spPr/>
      <dgm:t>
        <a:bodyPr/>
        <a:lstStyle/>
        <a:p>
          <a:endParaRPr lang="pt-BR"/>
        </a:p>
      </dgm:t>
    </dgm:pt>
    <dgm:pt modelId="{EFC14E49-7D03-4B5D-8D3F-B67582348E06}">
      <dgm:prSet phldrT="[Texto]"/>
      <dgm:spPr/>
      <dgm:t>
        <a:bodyPr/>
        <a:lstStyle/>
        <a:p>
          <a:r>
            <a:rPr lang="pt-BR" b="0" i="0" dirty="0" smtClean="0"/>
            <a:t>“(...)  Espera pelo desenvolvimento do cálculo das probabilidades... permitindo a formulação de conclusões com base em regras indutivas.”</a:t>
          </a:r>
          <a:endParaRPr lang="pt-BR" dirty="0"/>
        </a:p>
      </dgm:t>
    </dgm:pt>
    <dgm:pt modelId="{1F1224B7-76EC-42CE-B0B9-75115806E62A}" type="parTrans" cxnId="{14E22EA3-4CD1-49AF-8559-1E86C10B972C}">
      <dgm:prSet/>
      <dgm:spPr/>
      <dgm:t>
        <a:bodyPr/>
        <a:lstStyle/>
        <a:p>
          <a:endParaRPr lang="pt-BR"/>
        </a:p>
      </dgm:t>
    </dgm:pt>
    <dgm:pt modelId="{87C64DA3-492C-4E4A-BE5D-1E6D15F3EB66}" type="sibTrans" cxnId="{14E22EA3-4CD1-49AF-8559-1E86C10B972C}">
      <dgm:prSet/>
      <dgm:spPr/>
      <dgm:t>
        <a:bodyPr/>
        <a:lstStyle/>
        <a:p>
          <a:endParaRPr lang="pt-BR"/>
        </a:p>
      </dgm:t>
    </dgm:pt>
    <dgm:pt modelId="{4C74F8A6-B0A0-420D-9ED4-64A3826CC166}">
      <dgm:prSet/>
      <dgm:spPr/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b="0" i="0" dirty="0" smtClean="0"/>
            <a:t>“(...) Pode datar-se dos fins do século XIX o desenvolvimento da estatística matemática e suas aplicações.”</a:t>
          </a:r>
          <a:endParaRPr lang="pt-BR" dirty="0"/>
        </a:p>
      </dgm:t>
    </dgm:pt>
    <dgm:pt modelId="{CDDAE588-33C1-4E6B-A7C7-386D3D5816A3}" type="parTrans" cxnId="{54D7FC92-BF3C-4532-8F47-45D237686A45}">
      <dgm:prSet/>
      <dgm:spPr/>
      <dgm:t>
        <a:bodyPr/>
        <a:lstStyle/>
        <a:p>
          <a:endParaRPr lang="pt-BR"/>
        </a:p>
      </dgm:t>
    </dgm:pt>
    <dgm:pt modelId="{9E3DF2D9-9195-4BB6-91BF-18D938777B0E}" type="sibTrans" cxnId="{54D7FC92-BF3C-4532-8F47-45D237686A45}">
      <dgm:prSet/>
      <dgm:spPr/>
      <dgm:t>
        <a:bodyPr/>
        <a:lstStyle/>
        <a:p>
          <a:endParaRPr lang="pt-BR"/>
        </a:p>
      </dgm:t>
    </dgm:pt>
    <dgm:pt modelId="{C8068DE2-DBEA-4C0C-A4C6-26554D2EC86F}" type="pres">
      <dgm:prSet presAssocID="{6C2F3159-5FE8-47F1-8566-909E265A55BD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62EBB7D5-45B7-4F03-93A4-EDF46F89EAE8}" type="pres">
      <dgm:prSet presAssocID="{ACC66CA4-D17A-43B9-90B1-56999EB04AF1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750DC4B-D5BB-4F07-AE3D-68699710822E}" type="pres">
      <dgm:prSet presAssocID="{5820D39F-7235-4751-8A42-D0FFCE151634}" presName="sibTrans" presStyleLbl="sibTrans1D1" presStyleIdx="0" presStyleCnt="4"/>
      <dgm:spPr/>
      <dgm:t>
        <a:bodyPr/>
        <a:lstStyle/>
        <a:p>
          <a:endParaRPr lang="pt-BR"/>
        </a:p>
      </dgm:t>
    </dgm:pt>
    <dgm:pt modelId="{50CE0837-B54B-47EA-9911-0B4FFEB90FC1}" type="pres">
      <dgm:prSet presAssocID="{5820D39F-7235-4751-8A42-D0FFCE151634}" presName="connectorText" presStyleLbl="sibTrans1D1" presStyleIdx="0" presStyleCnt="4"/>
      <dgm:spPr/>
      <dgm:t>
        <a:bodyPr/>
        <a:lstStyle/>
        <a:p>
          <a:endParaRPr lang="pt-BR"/>
        </a:p>
      </dgm:t>
    </dgm:pt>
    <dgm:pt modelId="{A639F6E8-59EA-445C-A81A-FC46B47C4072}" type="pres">
      <dgm:prSet presAssocID="{D6D2C8AA-D9DF-48F6-99A1-68E05667058D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1027FBD-BEA3-491F-87C2-5AFCB344D26B}" type="pres">
      <dgm:prSet presAssocID="{B887E055-F233-437F-9DAB-E1BE2B3C1D51}" presName="sibTrans" presStyleLbl="sibTrans1D1" presStyleIdx="1" presStyleCnt="4"/>
      <dgm:spPr/>
      <dgm:t>
        <a:bodyPr/>
        <a:lstStyle/>
        <a:p>
          <a:endParaRPr lang="pt-BR"/>
        </a:p>
      </dgm:t>
    </dgm:pt>
    <dgm:pt modelId="{9FFB8E63-E3A2-4480-A17F-63B3E9FAA81D}" type="pres">
      <dgm:prSet presAssocID="{B887E055-F233-437F-9DAB-E1BE2B3C1D51}" presName="connectorText" presStyleLbl="sibTrans1D1" presStyleIdx="1" presStyleCnt="4"/>
      <dgm:spPr/>
      <dgm:t>
        <a:bodyPr/>
        <a:lstStyle/>
        <a:p>
          <a:endParaRPr lang="pt-BR"/>
        </a:p>
      </dgm:t>
    </dgm:pt>
    <dgm:pt modelId="{33AEEF75-8060-483C-AE35-2F7E0A66567D}" type="pres">
      <dgm:prSet presAssocID="{A89DF892-D332-424D-BEB5-A0DAF8EB0EF0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17BE11-86DA-4618-85AF-4D35D0796546}" type="pres">
      <dgm:prSet presAssocID="{3B0E2CDD-3521-4AE6-BFD9-8C0C24438DB0}" presName="sibTrans" presStyleLbl="sibTrans1D1" presStyleIdx="2" presStyleCnt="4"/>
      <dgm:spPr/>
      <dgm:t>
        <a:bodyPr/>
        <a:lstStyle/>
        <a:p>
          <a:endParaRPr lang="pt-BR"/>
        </a:p>
      </dgm:t>
    </dgm:pt>
    <dgm:pt modelId="{3446CD70-61E0-42B0-9585-7A6E8657B878}" type="pres">
      <dgm:prSet presAssocID="{3B0E2CDD-3521-4AE6-BFD9-8C0C24438DB0}" presName="connectorText" presStyleLbl="sibTrans1D1" presStyleIdx="2" presStyleCnt="4"/>
      <dgm:spPr/>
      <dgm:t>
        <a:bodyPr/>
        <a:lstStyle/>
        <a:p>
          <a:endParaRPr lang="pt-BR"/>
        </a:p>
      </dgm:t>
    </dgm:pt>
    <dgm:pt modelId="{973D9BD1-D607-4451-BDEB-B3101625C59C}" type="pres">
      <dgm:prSet presAssocID="{EFC14E49-7D03-4B5D-8D3F-B67582348E06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480CBA6-4A29-4FE0-8D8B-E225FD55A453}" type="pres">
      <dgm:prSet presAssocID="{87C64DA3-492C-4E4A-BE5D-1E6D15F3EB66}" presName="sibTrans" presStyleLbl="sibTrans1D1" presStyleIdx="3" presStyleCnt="4"/>
      <dgm:spPr/>
      <dgm:t>
        <a:bodyPr/>
        <a:lstStyle/>
        <a:p>
          <a:endParaRPr lang="pt-BR"/>
        </a:p>
      </dgm:t>
    </dgm:pt>
    <dgm:pt modelId="{69BA7381-1D52-4E15-AB3A-A6AE13CC5BD5}" type="pres">
      <dgm:prSet presAssocID="{87C64DA3-492C-4E4A-BE5D-1E6D15F3EB66}" presName="connectorText" presStyleLbl="sibTrans1D1" presStyleIdx="3" presStyleCnt="4"/>
      <dgm:spPr/>
      <dgm:t>
        <a:bodyPr/>
        <a:lstStyle/>
        <a:p>
          <a:endParaRPr lang="pt-BR"/>
        </a:p>
      </dgm:t>
    </dgm:pt>
    <dgm:pt modelId="{BB52B315-BE5E-46A5-9138-F2902D62A2FD}" type="pres">
      <dgm:prSet presAssocID="{4C74F8A6-B0A0-420D-9ED4-64A3826CC166}" presName="node" presStyleLbl="node1" presStyleIdx="4" presStyleCnt="5" custLinFactNeighborX="-2595" custLinFactNeighborY="-347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C749EE87-D02A-441D-BBD7-13A26A7FFBC3}" type="presOf" srcId="{5820D39F-7235-4751-8A42-D0FFCE151634}" destId="{E750DC4B-D5BB-4F07-AE3D-68699710822E}" srcOrd="0" destOrd="0" presId="urn:microsoft.com/office/officeart/2005/8/layout/bProcess3"/>
    <dgm:cxn modelId="{C2CADFDA-B573-4F1A-8C50-65A6CD7ED6CE}" type="presOf" srcId="{3B0E2CDD-3521-4AE6-BFD9-8C0C24438DB0}" destId="{D917BE11-86DA-4618-85AF-4D35D0796546}" srcOrd="0" destOrd="0" presId="urn:microsoft.com/office/officeart/2005/8/layout/bProcess3"/>
    <dgm:cxn modelId="{9871078F-6417-4073-A3FE-516AC4AC4087}" type="presOf" srcId="{87C64DA3-492C-4E4A-BE5D-1E6D15F3EB66}" destId="{4480CBA6-4A29-4FE0-8D8B-E225FD55A453}" srcOrd="0" destOrd="0" presId="urn:microsoft.com/office/officeart/2005/8/layout/bProcess3"/>
    <dgm:cxn modelId="{54D7FC92-BF3C-4532-8F47-45D237686A45}" srcId="{6C2F3159-5FE8-47F1-8566-909E265A55BD}" destId="{4C74F8A6-B0A0-420D-9ED4-64A3826CC166}" srcOrd="4" destOrd="0" parTransId="{CDDAE588-33C1-4E6B-A7C7-386D3D5816A3}" sibTransId="{9E3DF2D9-9195-4BB6-91BF-18D938777B0E}"/>
    <dgm:cxn modelId="{14E22EA3-4CD1-49AF-8559-1E86C10B972C}" srcId="{6C2F3159-5FE8-47F1-8566-909E265A55BD}" destId="{EFC14E49-7D03-4B5D-8D3F-B67582348E06}" srcOrd="3" destOrd="0" parTransId="{1F1224B7-76EC-42CE-B0B9-75115806E62A}" sibTransId="{87C64DA3-492C-4E4A-BE5D-1E6D15F3EB66}"/>
    <dgm:cxn modelId="{12F3B50F-8560-487B-89D5-096A231D4212}" type="presOf" srcId="{6C2F3159-5FE8-47F1-8566-909E265A55BD}" destId="{C8068DE2-DBEA-4C0C-A4C6-26554D2EC86F}" srcOrd="0" destOrd="0" presId="urn:microsoft.com/office/officeart/2005/8/layout/bProcess3"/>
    <dgm:cxn modelId="{E6B02397-BBE8-4F83-ABC0-14E41C8A9A8A}" srcId="{6C2F3159-5FE8-47F1-8566-909E265A55BD}" destId="{D6D2C8AA-D9DF-48F6-99A1-68E05667058D}" srcOrd="1" destOrd="0" parTransId="{986FB17D-7554-4ABF-B7BA-B122F8C6F7E8}" sibTransId="{B887E055-F233-437F-9DAB-E1BE2B3C1D51}"/>
    <dgm:cxn modelId="{06375315-8A5C-48E0-BADD-D22ED1D67369}" type="presOf" srcId="{D6D2C8AA-D9DF-48F6-99A1-68E05667058D}" destId="{A639F6E8-59EA-445C-A81A-FC46B47C4072}" srcOrd="0" destOrd="0" presId="urn:microsoft.com/office/officeart/2005/8/layout/bProcess3"/>
    <dgm:cxn modelId="{BFC8C45A-5254-4BD7-B05C-A0C9A38E461C}" type="presOf" srcId="{EFC14E49-7D03-4B5D-8D3F-B67582348E06}" destId="{973D9BD1-D607-4451-BDEB-B3101625C59C}" srcOrd="0" destOrd="0" presId="urn:microsoft.com/office/officeart/2005/8/layout/bProcess3"/>
    <dgm:cxn modelId="{52F34219-2D38-4C2E-B5EB-719EC5359867}" srcId="{6C2F3159-5FE8-47F1-8566-909E265A55BD}" destId="{A89DF892-D332-424D-BEB5-A0DAF8EB0EF0}" srcOrd="2" destOrd="0" parTransId="{A62DEE0C-B288-4DB1-BB62-0EC4FDF5953B}" sibTransId="{3B0E2CDD-3521-4AE6-BFD9-8C0C24438DB0}"/>
    <dgm:cxn modelId="{AC4A3FB5-DEA0-4297-BDF3-051DCB00CBB4}" type="presOf" srcId="{3B0E2CDD-3521-4AE6-BFD9-8C0C24438DB0}" destId="{3446CD70-61E0-42B0-9585-7A6E8657B878}" srcOrd="1" destOrd="0" presId="urn:microsoft.com/office/officeart/2005/8/layout/bProcess3"/>
    <dgm:cxn modelId="{EECE7425-D0A5-4B77-A00A-EF8FF98E1E1C}" type="presOf" srcId="{87C64DA3-492C-4E4A-BE5D-1E6D15F3EB66}" destId="{69BA7381-1D52-4E15-AB3A-A6AE13CC5BD5}" srcOrd="1" destOrd="0" presId="urn:microsoft.com/office/officeart/2005/8/layout/bProcess3"/>
    <dgm:cxn modelId="{9852E89A-5246-4044-8D5C-A5AF7EF3D035}" srcId="{6C2F3159-5FE8-47F1-8566-909E265A55BD}" destId="{ACC66CA4-D17A-43B9-90B1-56999EB04AF1}" srcOrd="0" destOrd="0" parTransId="{3BF4263C-B076-486A-8652-1FAD73BFCF9E}" sibTransId="{5820D39F-7235-4751-8A42-D0FFCE151634}"/>
    <dgm:cxn modelId="{73FDFF45-7D48-4CCE-B94F-854EFA948744}" type="presOf" srcId="{4C74F8A6-B0A0-420D-9ED4-64A3826CC166}" destId="{BB52B315-BE5E-46A5-9138-F2902D62A2FD}" srcOrd="0" destOrd="0" presId="urn:microsoft.com/office/officeart/2005/8/layout/bProcess3"/>
    <dgm:cxn modelId="{86D011D0-4661-4A37-B1F9-0FC2027089CE}" type="presOf" srcId="{A89DF892-D332-424D-BEB5-A0DAF8EB0EF0}" destId="{33AEEF75-8060-483C-AE35-2F7E0A66567D}" srcOrd="0" destOrd="0" presId="urn:microsoft.com/office/officeart/2005/8/layout/bProcess3"/>
    <dgm:cxn modelId="{25542C75-315E-4AAE-A4DE-ADD306FAAA86}" type="presOf" srcId="{B887E055-F233-437F-9DAB-E1BE2B3C1D51}" destId="{E1027FBD-BEA3-491F-87C2-5AFCB344D26B}" srcOrd="0" destOrd="0" presId="urn:microsoft.com/office/officeart/2005/8/layout/bProcess3"/>
    <dgm:cxn modelId="{49A44355-44AD-4414-BD44-7867D004EA2C}" type="presOf" srcId="{B887E055-F233-437F-9DAB-E1BE2B3C1D51}" destId="{9FFB8E63-E3A2-4480-A17F-63B3E9FAA81D}" srcOrd="1" destOrd="0" presId="urn:microsoft.com/office/officeart/2005/8/layout/bProcess3"/>
    <dgm:cxn modelId="{46094856-FC10-4A55-91AB-9FEA4CC4E624}" type="presOf" srcId="{ACC66CA4-D17A-43B9-90B1-56999EB04AF1}" destId="{62EBB7D5-45B7-4F03-93A4-EDF46F89EAE8}" srcOrd="0" destOrd="0" presId="urn:microsoft.com/office/officeart/2005/8/layout/bProcess3"/>
    <dgm:cxn modelId="{5FF5C9AF-F496-4A7B-9103-AA9085096993}" type="presOf" srcId="{5820D39F-7235-4751-8A42-D0FFCE151634}" destId="{50CE0837-B54B-47EA-9911-0B4FFEB90FC1}" srcOrd="1" destOrd="0" presId="urn:microsoft.com/office/officeart/2005/8/layout/bProcess3"/>
    <dgm:cxn modelId="{697EC274-FF0A-431F-9EF6-B5255B91CA1C}" type="presParOf" srcId="{C8068DE2-DBEA-4C0C-A4C6-26554D2EC86F}" destId="{62EBB7D5-45B7-4F03-93A4-EDF46F89EAE8}" srcOrd="0" destOrd="0" presId="urn:microsoft.com/office/officeart/2005/8/layout/bProcess3"/>
    <dgm:cxn modelId="{82DD98D1-4ABD-4A76-8570-847D41C26E2D}" type="presParOf" srcId="{C8068DE2-DBEA-4C0C-A4C6-26554D2EC86F}" destId="{E750DC4B-D5BB-4F07-AE3D-68699710822E}" srcOrd="1" destOrd="0" presId="urn:microsoft.com/office/officeart/2005/8/layout/bProcess3"/>
    <dgm:cxn modelId="{8B29A97F-9737-4F97-B6CB-19ED88B9CA71}" type="presParOf" srcId="{E750DC4B-D5BB-4F07-AE3D-68699710822E}" destId="{50CE0837-B54B-47EA-9911-0B4FFEB90FC1}" srcOrd="0" destOrd="0" presId="urn:microsoft.com/office/officeart/2005/8/layout/bProcess3"/>
    <dgm:cxn modelId="{3BB75188-BD47-40F0-8143-E08852D7FB7F}" type="presParOf" srcId="{C8068DE2-DBEA-4C0C-A4C6-26554D2EC86F}" destId="{A639F6E8-59EA-445C-A81A-FC46B47C4072}" srcOrd="2" destOrd="0" presId="urn:microsoft.com/office/officeart/2005/8/layout/bProcess3"/>
    <dgm:cxn modelId="{6CCFDC8D-0A20-4EE2-B061-89E3A285DA02}" type="presParOf" srcId="{C8068DE2-DBEA-4C0C-A4C6-26554D2EC86F}" destId="{E1027FBD-BEA3-491F-87C2-5AFCB344D26B}" srcOrd="3" destOrd="0" presId="urn:microsoft.com/office/officeart/2005/8/layout/bProcess3"/>
    <dgm:cxn modelId="{A4D54C0E-F6C4-4C33-8AC6-3FCFF492948A}" type="presParOf" srcId="{E1027FBD-BEA3-491F-87C2-5AFCB344D26B}" destId="{9FFB8E63-E3A2-4480-A17F-63B3E9FAA81D}" srcOrd="0" destOrd="0" presId="urn:microsoft.com/office/officeart/2005/8/layout/bProcess3"/>
    <dgm:cxn modelId="{1772C698-684B-4B34-91B3-C528896230E4}" type="presParOf" srcId="{C8068DE2-DBEA-4C0C-A4C6-26554D2EC86F}" destId="{33AEEF75-8060-483C-AE35-2F7E0A66567D}" srcOrd="4" destOrd="0" presId="urn:microsoft.com/office/officeart/2005/8/layout/bProcess3"/>
    <dgm:cxn modelId="{B3245FB5-8672-472B-AA0E-B911FE0085A8}" type="presParOf" srcId="{C8068DE2-DBEA-4C0C-A4C6-26554D2EC86F}" destId="{D917BE11-86DA-4618-85AF-4D35D0796546}" srcOrd="5" destOrd="0" presId="urn:microsoft.com/office/officeart/2005/8/layout/bProcess3"/>
    <dgm:cxn modelId="{7BE0AB9E-86EC-465B-9B06-87D2869DA412}" type="presParOf" srcId="{D917BE11-86DA-4618-85AF-4D35D0796546}" destId="{3446CD70-61E0-42B0-9585-7A6E8657B878}" srcOrd="0" destOrd="0" presId="urn:microsoft.com/office/officeart/2005/8/layout/bProcess3"/>
    <dgm:cxn modelId="{A4CFB395-FD9C-43D3-BCB8-7A69684D02C9}" type="presParOf" srcId="{C8068DE2-DBEA-4C0C-A4C6-26554D2EC86F}" destId="{973D9BD1-D607-4451-BDEB-B3101625C59C}" srcOrd="6" destOrd="0" presId="urn:microsoft.com/office/officeart/2005/8/layout/bProcess3"/>
    <dgm:cxn modelId="{0EBC984A-6B28-43EF-A593-C09EF4485133}" type="presParOf" srcId="{C8068DE2-DBEA-4C0C-A4C6-26554D2EC86F}" destId="{4480CBA6-4A29-4FE0-8D8B-E225FD55A453}" srcOrd="7" destOrd="0" presId="urn:microsoft.com/office/officeart/2005/8/layout/bProcess3"/>
    <dgm:cxn modelId="{C00EC206-1925-4349-914B-8C2BD26E3193}" type="presParOf" srcId="{4480CBA6-4A29-4FE0-8D8B-E225FD55A453}" destId="{69BA7381-1D52-4E15-AB3A-A6AE13CC5BD5}" srcOrd="0" destOrd="0" presId="urn:microsoft.com/office/officeart/2005/8/layout/bProcess3"/>
    <dgm:cxn modelId="{02D5A6E9-7B68-442D-8CB4-0A5C27D32FE4}" type="presParOf" srcId="{C8068DE2-DBEA-4C0C-A4C6-26554D2EC86F}" destId="{BB52B315-BE5E-46A5-9138-F2902D62A2FD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621E14-2C84-4582-A5F6-C63F696D65F6}" type="doc">
      <dgm:prSet loTypeId="urn:microsoft.com/office/officeart/2005/8/layout/bProcess4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pt-BR"/>
        </a:p>
      </dgm:t>
    </dgm:pt>
    <dgm:pt modelId="{2C259140-9587-44A5-864A-7AEDA915999A}">
      <dgm:prSet phldrT="[Texto]" custT="1"/>
      <dgm:spPr/>
      <dgm:t>
        <a:bodyPr/>
        <a:lstStyle/>
        <a:p>
          <a:r>
            <a:rPr lang="pt-BR" sz="1600" dirty="0">
              <a:solidFill>
                <a:schemeClr val="accent6">
                  <a:lumMod val="50000"/>
                </a:schemeClr>
              </a:solidFill>
              <a:latin typeface="Arial Black" pitchFamily="34" charset="0"/>
              <a:cs typeface="Arial" pitchFamily="34" charset="0"/>
            </a:rPr>
            <a:t>ASSOCIAÇÃO BRASILEIRA PARA ESTUDO DA OBESIDADE E DA SÍNDROME METABÓLICA </a:t>
          </a:r>
        </a:p>
      </dgm:t>
    </dgm:pt>
    <dgm:pt modelId="{986DAA3D-0A52-4B7E-B12F-BAC7690CDE9B}" type="parTrans" cxnId="{A80161D3-207E-4523-928B-949454F6B67A}">
      <dgm:prSet/>
      <dgm:spPr/>
      <dgm:t>
        <a:bodyPr/>
        <a:lstStyle/>
        <a:p>
          <a:endParaRPr lang="pt-BR"/>
        </a:p>
      </dgm:t>
    </dgm:pt>
    <dgm:pt modelId="{86086428-1287-4016-81E0-DF30E5F17970}" type="sibTrans" cxnId="{A80161D3-207E-4523-928B-949454F6B67A}">
      <dgm:prSet/>
      <dgm:spPr/>
      <dgm:t>
        <a:bodyPr/>
        <a:lstStyle/>
        <a:p>
          <a:endParaRPr lang="pt-BR"/>
        </a:p>
      </dgm:t>
    </dgm:pt>
    <dgm:pt modelId="{B8DA68B2-6BF0-4B25-8107-9B9A71E2C7FD}">
      <dgm:prSet phldrT="[Texto]" custT="1"/>
      <dgm:spPr/>
      <dgm:t>
        <a:bodyPr/>
        <a:lstStyle/>
        <a:p>
          <a:r>
            <a:rPr lang="pt-BR" sz="2000" dirty="0">
              <a:latin typeface="Arial" pitchFamily="34" charset="0"/>
              <a:cs typeface="Arial" pitchFamily="34" charset="0"/>
            </a:rPr>
            <a:t>Quase 60% dos brasileiros estão acima do peso.</a:t>
          </a:r>
        </a:p>
      </dgm:t>
    </dgm:pt>
    <dgm:pt modelId="{6AAEDCDF-D0BC-4C2A-A338-59F549BC1656}" type="parTrans" cxnId="{CBD7B0C2-6867-412F-9240-7FE1E5DE1514}">
      <dgm:prSet/>
      <dgm:spPr/>
      <dgm:t>
        <a:bodyPr/>
        <a:lstStyle/>
        <a:p>
          <a:endParaRPr lang="pt-BR"/>
        </a:p>
      </dgm:t>
    </dgm:pt>
    <dgm:pt modelId="{579F615E-34FB-4BC6-A65D-8413D103DF82}" type="sibTrans" cxnId="{CBD7B0C2-6867-412F-9240-7FE1E5DE1514}">
      <dgm:prSet/>
      <dgm:spPr/>
      <dgm:t>
        <a:bodyPr/>
        <a:lstStyle/>
        <a:p>
          <a:endParaRPr lang="pt-BR"/>
        </a:p>
      </dgm:t>
    </dgm:pt>
    <dgm:pt modelId="{302C119A-5B66-4134-87F3-0071C79BAE61}">
      <dgm:prSet phldrT="[Texto]" custT="1"/>
      <dgm:spPr/>
      <dgm:t>
        <a:bodyPr/>
        <a:lstStyle/>
        <a:p>
          <a:r>
            <a:rPr lang="pt-BR" sz="1600" dirty="0">
              <a:latin typeface="Arial" pitchFamily="34" charset="0"/>
              <a:cs typeface="Arial" pitchFamily="34" charset="0"/>
            </a:rPr>
            <a:t>Cerca de 82 milhões de pessoas apresentam o IMC igual ou maior do que 25 (sobrepeso ou obesidade</a:t>
          </a:r>
          <a:r>
            <a:rPr lang="pt-BR" sz="1000" dirty="0">
              <a:latin typeface="Arial" pitchFamily="34" charset="0"/>
              <a:cs typeface="Arial" pitchFamily="34" charset="0"/>
            </a:rPr>
            <a:t>).</a:t>
          </a:r>
        </a:p>
      </dgm:t>
    </dgm:pt>
    <dgm:pt modelId="{2EE65DAA-DD95-4D1A-84BD-76E659B362BA}" type="parTrans" cxnId="{36ED85CE-1091-456F-9C04-3C970020AA00}">
      <dgm:prSet/>
      <dgm:spPr/>
      <dgm:t>
        <a:bodyPr/>
        <a:lstStyle/>
        <a:p>
          <a:endParaRPr lang="pt-BR"/>
        </a:p>
      </dgm:t>
    </dgm:pt>
    <dgm:pt modelId="{4EF75512-960A-451D-9139-3D899D72FB76}" type="sibTrans" cxnId="{36ED85CE-1091-456F-9C04-3C970020AA00}">
      <dgm:prSet/>
      <dgm:spPr/>
      <dgm:t>
        <a:bodyPr/>
        <a:lstStyle/>
        <a:p>
          <a:endParaRPr lang="pt-BR"/>
        </a:p>
      </dgm:t>
    </dgm:pt>
    <dgm:pt modelId="{01AA5859-7B0F-4FE9-BDCF-46E113287B2C}">
      <dgm:prSet phldrT="[Texto]" custT="1"/>
      <dgm:spPr/>
      <dgm:t>
        <a:bodyPr/>
        <a:lstStyle/>
        <a:p>
          <a:r>
            <a:rPr lang="pt-BR" sz="1800" dirty="0">
              <a:latin typeface="Arial" pitchFamily="34" charset="0"/>
              <a:cs typeface="Arial" pitchFamily="34" charset="0"/>
            </a:rPr>
            <a:t>Prevalência maior de excesso de peso no sexo feminino do que no sexo masculino.</a:t>
          </a:r>
        </a:p>
      </dgm:t>
    </dgm:pt>
    <dgm:pt modelId="{1D1E33C7-569E-4285-8D3C-A0FADC61966C}" type="parTrans" cxnId="{41D68432-B27F-4303-BE7F-42648137EFC1}">
      <dgm:prSet/>
      <dgm:spPr/>
      <dgm:t>
        <a:bodyPr/>
        <a:lstStyle/>
        <a:p>
          <a:endParaRPr lang="pt-BR"/>
        </a:p>
      </dgm:t>
    </dgm:pt>
    <dgm:pt modelId="{4C0A109D-071F-49FC-A067-FCA3E0DC7C21}" type="sibTrans" cxnId="{41D68432-B27F-4303-BE7F-42648137EFC1}">
      <dgm:prSet/>
      <dgm:spPr/>
      <dgm:t>
        <a:bodyPr/>
        <a:lstStyle/>
        <a:p>
          <a:endParaRPr lang="pt-BR"/>
        </a:p>
      </dgm:t>
    </dgm:pt>
    <dgm:pt modelId="{2B657E98-36EC-4A5B-8EED-D0A8150E2312}">
      <dgm:prSet phldrT="[Texto]" custT="1"/>
      <dgm:spPr/>
      <dgm:t>
        <a:bodyPr/>
        <a:lstStyle/>
        <a:p>
          <a:r>
            <a:rPr lang="pt-BR" sz="1600" dirty="0">
              <a:latin typeface="Arial" pitchFamily="34" charset="0"/>
              <a:cs typeface="Arial" pitchFamily="34" charset="0"/>
            </a:rPr>
            <a:t>Os dados mostram que a obesidade acomete um em cada cinco brasileiros de 18 anos ou mais. </a:t>
          </a:r>
        </a:p>
      </dgm:t>
    </dgm:pt>
    <dgm:pt modelId="{63D183E6-E9D7-4F70-B9B5-632C08EE2DFF}" type="parTrans" cxnId="{CC62B3DF-73E4-46CE-BB8D-E39AA7649383}">
      <dgm:prSet/>
      <dgm:spPr/>
      <dgm:t>
        <a:bodyPr/>
        <a:lstStyle/>
        <a:p>
          <a:endParaRPr lang="pt-BR"/>
        </a:p>
      </dgm:t>
    </dgm:pt>
    <dgm:pt modelId="{54EC1C70-2E8B-46CA-8609-35A4A46E0FE3}" type="sibTrans" cxnId="{CC62B3DF-73E4-46CE-BB8D-E39AA7649383}">
      <dgm:prSet/>
      <dgm:spPr/>
      <dgm:t>
        <a:bodyPr/>
        <a:lstStyle/>
        <a:p>
          <a:endParaRPr lang="pt-BR"/>
        </a:p>
      </dgm:t>
    </dgm:pt>
    <dgm:pt modelId="{563D11F4-0BDA-47E8-8CB1-F1E78F2FBAC5}">
      <dgm:prSet phldrT="[Texto]" custT="1"/>
      <dgm:spPr/>
      <dgm:t>
        <a:bodyPr/>
        <a:lstStyle/>
        <a:p>
          <a:r>
            <a:rPr lang="pt-BR" sz="1800" dirty="0">
              <a:latin typeface="Arial" pitchFamily="34" charset="0"/>
              <a:cs typeface="Arial" pitchFamily="34" charset="0"/>
            </a:rPr>
            <a:t>O acumulo de gordura abdominal foi mais frequente no sexo feminino.</a:t>
          </a:r>
        </a:p>
      </dgm:t>
    </dgm:pt>
    <dgm:pt modelId="{2A425B46-C876-497C-B930-77A33AE80DA5}" type="parTrans" cxnId="{0C42A751-3FD8-456C-83F3-331D8C1C9C6A}">
      <dgm:prSet/>
      <dgm:spPr/>
      <dgm:t>
        <a:bodyPr/>
        <a:lstStyle/>
        <a:p>
          <a:endParaRPr lang="pt-BR"/>
        </a:p>
      </dgm:t>
    </dgm:pt>
    <dgm:pt modelId="{7CCDFCB7-54C8-49EF-9909-00D32ABEA5BB}" type="sibTrans" cxnId="{0C42A751-3FD8-456C-83F3-331D8C1C9C6A}">
      <dgm:prSet/>
      <dgm:spPr/>
      <dgm:t>
        <a:bodyPr/>
        <a:lstStyle/>
        <a:p>
          <a:endParaRPr lang="pt-BR"/>
        </a:p>
      </dgm:t>
    </dgm:pt>
    <dgm:pt modelId="{FC23CA78-5F9D-404A-821D-0DB0FD885F9A}">
      <dgm:prSet phldrT="[Texto]" custT="1"/>
      <dgm:spPr/>
      <dgm:t>
        <a:bodyPr/>
        <a:lstStyle/>
        <a:p>
          <a:r>
            <a:rPr lang="pt-BR" sz="1800" dirty="0">
              <a:latin typeface="Arial" pitchFamily="34" charset="0"/>
              <a:cs typeface="Arial" pitchFamily="34" charset="0"/>
            </a:rPr>
            <a:t>Os homens tiveram elevação em seus dados em relação a pressão arterial.</a:t>
          </a:r>
        </a:p>
      </dgm:t>
    </dgm:pt>
    <dgm:pt modelId="{0C8F7985-668D-4638-A0A2-4F760B4E9E70}" type="parTrans" cxnId="{CFA5B188-693F-4E82-9197-E2A5920703A0}">
      <dgm:prSet/>
      <dgm:spPr/>
      <dgm:t>
        <a:bodyPr/>
        <a:lstStyle/>
        <a:p>
          <a:endParaRPr lang="pt-BR"/>
        </a:p>
      </dgm:t>
    </dgm:pt>
    <dgm:pt modelId="{CCED6481-312F-4133-8D34-212FE5A8F917}" type="sibTrans" cxnId="{CFA5B188-693F-4E82-9197-E2A5920703A0}">
      <dgm:prSet/>
      <dgm:spPr/>
      <dgm:t>
        <a:bodyPr/>
        <a:lstStyle/>
        <a:p>
          <a:endParaRPr lang="pt-BR"/>
        </a:p>
      </dgm:t>
    </dgm:pt>
    <dgm:pt modelId="{2169C588-E8E7-4620-B570-ECBF1FE02D99}">
      <dgm:prSet phldrT="[Texto]" custT="1"/>
      <dgm:spPr/>
      <dgm:t>
        <a:bodyPr/>
        <a:lstStyle/>
        <a:p>
          <a:r>
            <a:rPr lang="pt-BR" sz="1600" dirty="0">
              <a:latin typeface="Arial" pitchFamily="34" charset="0"/>
              <a:cs typeface="Arial" pitchFamily="34" charset="0"/>
            </a:rPr>
            <a:t>O excesso de gordura abdominal está associado ao risco de doenças </a:t>
          </a:r>
          <a:r>
            <a:rPr lang="pt-BR" sz="1600" smtClean="0">
              <a:latin typeface="Arial" pitchFamily="34" charset="0"/>
              <a:cs typeface="Arial" pitchFamily="34" charset="0"/>
            </a:rPr>
            <a:t>cardiometabólicas</a:t>
          </a:r>
          <a:endParaRPr lang="pt-BR" sz="1100" dirty="0">
            <a:latin typeface="Arial" pitchFamily="34" charset="0"/>
            <a:cs typeface="Arial" pitchFamily="34" charset="0"/>
          </a:endParaRPr>
        </a:p>
      </dgm:t>
    </dgm:pt>
    <dgm:pt modelId="{7C6E5881-E13D-4BC1-902F-02A362DA16FD}" type="parTrans" cxnId="{9BECDF3B-4223-4AC8-B421-75F617FD37A1}">
      <dgm:prSet/>
      <dgm:spPr/>
      <dgm:t>
        <a:bodyPr/>
        <a:lstStyle/>
        <a:p>
          <a:endParaRPr lang="pt-BR"/>
        </a:p>
      </dgm:t>
    </dgm:pt>
    <dgm:pt modelId="{DC4F380A-54BF-4E75-BFE0-736E7E4AC1A3}" type="sibTrans" cxnId="{9BECDF3B-4223-4AC8-B421-75F617FD37A1}">
      <dgm:prSet/>
      <dgm:spPr/>
      <dgm:t>
        <a:bodyPr/>
        <a:lstStyle/>
        <a:p>
          <a:endParaRPr lang="pt-BR"/>
        </a:p>
      </dgm:t>
    </dgm:pt>
    <dgm:pt modelId="{38232AD4-28F0-45F7-9800-BC7C4D58485B}" type="pres">
      <dgm:prSet presAssocID="{77621E14-2C84-4582-A5F6-C63F696D65F6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pt-BR"/>
        </a:p>
      </dgm:t>
    </dgm:pt>
    <dgm:pt modelId="{155D14B3-E233-4870-97B8-9282D7E82CA5}" type="pres">
      <dgm:prSet presAssocID="{2C259140-9587-44A5-864A-7AEDA915999A}" presName="compNode" presStyleCnt="0"/>
      <dgm:spPr/>
    </dgm:pt>
    <dgm:pt modelId="{36ED41ED-EECB-40E4-A16B-588F26053318}" type="pres">
      <dgm:prSet presAssocID="{2C259140-9587-44A5-864A-7AEDA915999A}" presName="dummyConnPt" presStyleCnt="0"/>
      <dgm:spPr/>
    </dgm:pt>
    <dgm:pt modelId="{1E110DF9-D4EA-4458-ACF7-45011733AAFB}" type="pres">
      <dgm:prSet presAssocID="{2C259140-9587-44A5-864A-7AEDA915999A}" presName="node" presStyleLbl="node1" presStyleIdx="0" presStyleCnt="8" custScaleX="110277" custScaleY="14147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CAE334B-61DD-4D0E-8082-012BE4F70873}" type="pres">
      <dgm:prSet presAssocID="{86086428-1287-4016-81E0-DF30E5F17970}" presName="sibTrans" presStyleLbl="bgSibTrans2D1" presStyleIdx="0" presStyleCnt="7"/>
      <dgm:spPr/>
      <dgm:t>
        <a:bodyPr/>
        <a:lstStyle/>
        <a:p>
          <a:endParaRPr lang="pt-BR"/>
        </a:p>
      </dgm:t>
    </dgm:pt>
    <dgm:pt modelId="{E8D1DF75-3513-48A4-A4EB-DC1C6F576228}" type="pres">
      <dgm:prSet presAssocID="{B8DA68B2-6BF0-4B25-8107-9B9A71E2C7FD}" presName="compNode" presStyleCnt="0"/>
      <dgm:spPr/>
    </dgm:pt>
    <dgm:pt modelId="{DA876BB6-5003-4E9C-AD89-375EE56F3E7B}" type="pres">
      <dgm:prSet presAssocID="{B8DA68B2-6BF0-4B25-8107-9B9A71E2C7FD}" presName="dummyConnPt" presStyleCnt="0"/>
      <dgm:spPr/>
    </dgm:pt>
    <dgm:pt modelId="{9AD41C45-F177-428B-B0B8-2A4CA64BCB6A}" type="pres">
      <dgm:prSet presAssocID="{B8DA68B2-6BF0-4B25-8107-9B9A71E2C7FD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0CBB3ED-A5B3-4122-B567-C6C93E66732C}" type="pres">
      <dgm:prSet presAssocID="{579F615E-34FB-4BC6-A65D-8413D103DF82}" presName="sibTrans" presStyleLbl="bgSibTrans2D1" presStyleIdx="1" presStyleCnt="7"/>
      <dgm:spPr/>
      <dgm:t>
        <a:bodyPr/>
        <a:lstStyle/>
        <a:p>
          <a:endParaRPr lang="pt-BR"/>
        </a:p>
      </dgm:t>
    </dgm:pt>
    <dgm:pt modelId="{98E889F8-67D9-4081-AC6A-F10B55567AF9}" type="pres">
      <dgm:prSet presAssocID="{302C119A-5B66-4134-87F3-0071C79BAE61}" presName="compNode" presStyleCnt="0"/>
      <dgm:spPr/>
    </dgm:pt>
    <dgm:pt modelId="{2E3779EA-D0CB-4367-A590-204FDA60E6F5}" type="pres">
      <dgm:prSet presAssocID="{302C119A-5B66-4134-87F3-0071C79BAE61}" presName="dummyConnPt" presStyleCnt="0"/>
      <dgm:spPr/>
    </dgm:pt>
    <dgm:pt modelId="{0916578E-1C18-43B9-911C-E2C60D319D03}" type="pres">
      <dgm:prSet presAssocID="{302C119A-5B66-4134-87F3-0071C79BAE61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D5D3F4D-8A6A-4C91-BCA2-F9372EAAB3D9}" type="pres">
      <dgm:prSet presAssocID="{4EF75512-960A-451D-9139-3D899D72FB76}" presName="sibTrans" presStyleLbl="bgSibTrans2D1" presStyleIdx="2" presStyleCnt="7"/>
      <dgm:spPr/>
      <dgm:t>
        <a:bodyPr/>
        <a:lstStyle/>
        <a:p>
          <a:endParaRPr lang="pt-BR"/>
        </a:p>
      </dgm:t>
    </dgm:pt>
    <dgm:pt modelId="{E004EC61-C7AA-4F19-A24F-50E0C8F41FC2}" type="pres">
      <dgm:prSet presAssocID="{01AA5859-7B0F-4FE9-BDCF-46E113287B2C}" presName="compNode" presStyleCnt="0"/>
      <dgm:spPr/>
    </dgm:pt>
    <dgm:pt modelId="{4663EF2D-65F3-4059-B102-4B7A29317E48}" type="pres">
      <dgm:prSet presAssocID="{01AA5859-7B0F-4FE9-BDCF-46E113287B2C}" presName="dummyConnPt" presStyleCnt="0"/>
      <dgm:spPr/>
    </dgm:pt>
    <dgm:pt modelId="{9F5319F2-A736-4A44-A657-3BE753638974}" type="pres">
      <dgm:prSet presAssocID="{01AA5859-7B0F-4FE9-BDCF-46E113287B2C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A549A38-75BD-4C13-90BC-FD155D3F1502}" type="pres">
      <dgm:prSet presAssocID="{4C0A109D-071F-49FC-A067-FCA3E0DC7C21}" presName="sibTrans" presStyleLbl="bgSibTrans2D1" presStyleIdx="3" presStyleCnt="7"/>
      <dgm:spPr/>
      <dgm:t>
        <a:bodyPr/>
        <a:lstStyle/>
        <a:p>
          <a:endParaRPr lang="pt-BR"/>
        </a:p>
      </dgm:t>
    </dgm:pt>
    <dgm:pt modelId="{70BB55B2-544C-445C-87EF-79DE7AAC2DB4}" type="pres">
      <dgm:prSet presAssocID="{2B657E98-36EC-4A5B-8EED-D0A8150E2312}" presName="compNode" presStyleCnt="0"/>
      <dgm:spPr/>
    </dgm:pt>
    <dgm:pt modelId="{6A2B3D96-83CB-4B2A-A386-90B57E38040C}" type="pres">
      <dgm:prSet presAssocID="{2B657E98-36EC-4A5B-8EED-D0A8150E2312}" presName="dummyConnPt" presStyleCnt="0"/>
      <dgm:spPr/>
    </dgm:pt>
    <dgm:pt modelId="{933D2715-C924-4516-AC1D-4F66EB5CC2CF}" type="pres">
      <dgm:prSet presAssocID="{2B657E98-36EC-4A5B-8EED-D0A8150E2312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7395619-5576-46E2-A1F6-C998079D3B6B}" type="pres">
      <dgm:prSet presAssocID="{54EC1C70-2E8B-46CA-8609-35A4A46E0FE3}" presName="sibTrans" presStyleLbl="bgSibTrans2D1" presStyleIdx="4" presStyleCnt="7"/>
      <dgm:spPr/>
      <dgm:t>
        <a:bodyPr/>
        <a:lstStyle/>
        <a:p>
          <a:endParaRPr lang="pt-BR"/>
        </a:p>
      </dgm:t>
    </dgm:pt>
    <dgm:pt modelId="{1F33B7EA-92CD-4FC5-B966-20C4C270463E}" type="pres">
      <dgm:prSet presAssocID="{563D11F4-0BDA-47E8-8CB1-F1E78F2FBAC5}" presName="compNode" presStyleCnt="0"/>
      <dgm:spPr/>
    </dgm:pt>
    <dgm:pt modelId="{6DFF6A1C-868C-4664-9857-3414DFD80786}" type="pres">
      <dgm:prSet presAssocID="{563D11F4-0BDA-47E8-8CB1-F1E78F2FBAC5}" presName="dummyConnPt" presStyleCnt="0"/>
      <dgm:spPr/>
    </dgm:pt>
    <dgm:pt modelId="{8C1C7D0C-5F10-49E5-8698-AC1132DC57DB}" type="pres">
      <dgm:prSet presAssocID="{563D11F4-0BDA-47E8-8CB1-F1E78F2FBAC5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0C3C2EB-F0F5-4C0F-A0C0-329DE828BD31}" type="pres">
      <dgm:prSet presAssocID="{7CCDFCB7-54C8-49EF-9909-00D32ABEA5BB}" presName="sibTrans" presStyleLbl="bgSibTrans2D1" presStyleIdx="5" presStyleCnt="7"/>
      <dgm:spPr/>
      <dgm:t>
        <a:bodyPr/>
        <a:lstStyle/>
        <a:p>
          <a:endParaRPr lang="pt-BR"/>
        </a:p>
      </dgm:t>
    </dgm:pt>
    <dgm:pt modelId="{02D860FD-0AAC-4746-9A3A-14237FDB6875}" type="pres">
      <dgm:prSet presAssocID="{FC23CA78-5F9D-404A-821D-0DB0FD885F9A}" presName="compNode" presStyleCnt="0"/>
      <dgm:spPr/>
    </dgm:pt>
    <dgm:pt modelId="{FA32236B-277C-421B-95A6-7F95F13F3631}" type="pres">
      <dgm:prSet presAssocID="{FC23CA78-5F9D-404A-821D-0DB0FD885F9A}" presName="dummyConnPt" presStyleCnt="0"/>
      <dgm:spPr/>
    </dgm:pt>
    <dgm:pt modelId="{EFF06F41-0A20-43A1-BE8D-BDF1ABAD288F}" type="pres">
      <dgm:prSet presAssocID="{FC23CA78-5F9D-404A-821D-0DB0FD885F9A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6DD3110-E9B0-4D29-9A8B-06E882BAB206}" type="pres">
      <dgm:prSet presAssocID="{CCED6481-312F-4133-8D34-212FE5A8F917}" presName="sibTrans" presStyleLbl="bgSibTrans2D1" presStyleIdx="6" presStyleCnt="7"/>
      <dgm:spPr/>
      <dgm:t>
        <a:bodyPr/>
        <a:lstStyle/>
        <a:p>
          <a:endParaRPr lang="pt-BR"/>
        </a:p>
      </dgm:t>
    </dgm:pt>
    <dgm:pt modelId="{FCC2F475-FFBC-4277-B6A8-9EAF0D01F551}" type="pres">
      <dgm:prSet presAssocID="{2169C588-E8E7-4620-B570-ECBF1FE02D99}" presName="compNode" presStyleCnt="0"/>
      <dgm:spPr/>
    </dgm:pt>
    <dgm:pt modelId="{C22DC653-EB33-4B1F-9822-C9BAE9AC1E80}" type="pres">
      <dgm:prSet presAssocID="{2169C588-E8E7-4620-B570-ECBF1FE02D99}" presName="dummyConnPt" presStyleCnt="0"/>
      <dgm:spPr/>
    </dgm:pt>
    <dgm:pt modelId="{765A4832-F42F-477A-AE3C-6B50B9586BFA}" type="pres">
      <dgm:prSet presAssocID="{2169C588-E8E7-4620-B570-ECBF1FE02D99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CBD7B0C2-6867-412F-9240-7FE1E5DE1514}" srcId="{77621E14-2C84-4582-A5F6-C63F696D65F6}" destId="{B8DA68B2-6BF0-4B25-8107-9B9A71E2C7FD}" srcOrd="1" destOrd="0" parTransId="{6AAEDCDF-D0BC-4C2A-A338-59F549BC1656}" sibTransId="{579F615E-34FB-4BC6-A65D-8413D103DF82}"/>
    <dgm:cxn modelId="{41D68432-B27F-4303-BE7F-42648137EFC1}" srcId="{77621E14-2C84-4582-A5F6-C63F696D65F6}" destId="{01AA5859-7B0F-4FE9-BDCF-46E113287B2C}" srcOrd="3" destOrd="0" parTransId="{1D1E33C7-569E-4285-8D3C-A0FADC61966C}" sibTransId="{4C0A109D-071F-49FC-A067-FCA3E0DC7C21}"/>
    <dgm:cxn modelId="{1F6D039A-6684-499F-847B-3807683F0BD2}" type="presOf" srcId="{54EC1C70-2E8B-46CA-8609-35A4A46E0FE3}" destId="{17395619-5576-46E2-A1F6-C998079D3B6B}" srcOrd="0" destOrd="0" presId="urn:microsoft.com/office/officeart/2005/8/layout/bProcess4"/>
    <dgm:cxn modelId="{7F47C1E9-ECEA-44A0-B105-8DAF8BA41751}" type="presOf" srcId="{563D11F4-0BDA-47E8-8CB1-F1E78F2FBAC5}" destId="{8C1C7D0C-5F10-49E5-8698-AC1132DC57DB}" srcOrd="0" destOrd="0" presId="urn:microsoft.com/office/officeart/2005/8/layout/bProcess4"/>
    <dgm:cxn modelId="{0B0E9E06-A75A-462F-85F4-9ED48ACFBDFF}" type="presOf" srcId="{2B657E98-36EC-4A5B-8EED-D0A8150E2312}" destId="{933D2715-C924-4516-AC1D-4F66EB5CC2CF}" srcOrd="0" destOrd="0" presId="urn:microsoft.com/office/officeart/2005/8/layout/bProcess4"/>
    <dgm:cxn modelId="{4599BDE1-3053-4019-A57E-537C2AE872C5}" type="presOf" srcId="{77621E14-2C84-4582-A5F6-C63F696D65F6}" destId="{38232AD4-28F0-45F7-9800-BC7C4D58485B}" srcOrd="0" destOrd="0" presId="urn:microsoft.com/office/officeart/2005/8/layout/bProcess4"/>
    <dgm:cxn modelId="{6FD0A7D2-7809-4821-AC52-6E45AF7AEBCC}" type="presOf" srcId="{CCED6481-312F-4133-8D34-212FE5A8F917}" destId="{86DD3110-E9B0-4D29-9A8B-06E882BAB206}" srcOrd="0" destOrd="0" presId="urn:microsoft.com/office/officeart/2005/8/layout/bProcess4"/>
    <dgm:cxn modelId="{50673DA4-0DA1-4E63-944A-2C60E4DB827F}" type="presOf" srcId="{FC23CA78-5F9D-404A-821D-0DB0FD885F9A}" destId="{EFF06F41-0A20-43A1-BE8D-BDF1ABAD288F}" srcOrd="0" destOrd="0" presId="urn:microsoft.com/office/officeart/2005/8/layout/bProcess4"/>
    <dgm:cxn modelId="{7A749622-E517-4C20-9B4A-D0A82AB3F07A}" type="presOf" srcId="{4EF75512-960A-451D-9139-3D899D72FB76}" destId="{BD5D3F4D-8A6A-4C91-BCA2-F9372EAAB3D9}" srcOrd="0" destOrd="0" presId="urn:microsoft.com/office/officeart/2005/8/layout/bProcess4"/>
    <dgm:cxn modelId="{EF49F4E4-807D-4CFB-8E0F-296C48453E7F}" type="presOf" srcId="{4C0A109D-071F-49FC-A067-FCA3E0DC7C21}" destId="{9A549A38-75BD-4C13-90BC-FD155D3F1502}" srcOrd="0" destOrd="0" presId="urn:microsoft.com/office/officeart/2005/8/layout/bProcess4"/>
    <dgm:cxn modelId="{36ED85CE-1091-456F-9C04-3C970020AA00}" srcId="{77621E14-2C84-4582-A5F6-C63F696D65F6}" destId="{302C119A-5B66-4134-87F3-0071C79BAE61}" srcOrd="2" destOrd="0" parTransId="{2EE65DAA-DD95-4D1A-84BD-76E659B362BA}" sibTransId="{4EF75512-960A-451D-9139-3D899D72FB76}"/>
    <dgm:cxn modelId="{4203F7C2-5A13-4E37-A356-B8DFE003A7FF}" type="presOf" srcId="{2C259140-9587-44A5-864A-7AEDA915999A}" destId="{1E110DF9-D4EA-4458-ACF7-45011733AAFB}" srcOrd="0" destOrd="0" presId="urn:microsoft.com/office/officeart/2005/8/layout/bProcess4"/>
    <dgm:cxn modelId="{240EA514-3F43-48F0-B124-A33A75EBB93F}" type="presOf" srcId="{2169C588-E8E7-4620-B570-ECBF1FE02D99}" destId="{765A4832-F42F-477A-AE3C-6B50B9586BFA}" srcOrd="0" destOrd="0" presId="urn:microsoft.com/office/officeart/2005/8/layout/bProcess4"/>
    <dgm:cxn modelId="{9BECDF3B-4223-4AC8-B421-75F617FD37A1}" srcId="{77621E14-2C84-4582-A5F6-C63F696D65F6}" destId="{2169C588-E8E7-4620-B570-ECBF1FE02D99}" srcOrd="7" destOrd="0" parTransId="{7C6E5881-E13D-4BC1-902F-02A362DA16FD}" sibTransId="{DC4F380A-54BF-4E75-BFE0-736E7E4AC1A3}"/>
    <dgm:cxn modelId="{0C42A751-3FD8-456C-83F3-331D8C1C9C6A}" srcId="{77621E14-2C84-4582-A5F6-C63F696D65F6}" destId="{563D11F4-0BDA-47E8-8CB1-F1E78F2FBAC5}" srcOrd="5" destOrd="0" parTransId="{2A425B46-C876-497C-B930-77A33AE80DA5}" sibTransId="{7CCDFCB7-54C8-49EF-9909-00D32ABEA5BB}"/>
    <dgm:cxn modelId="{333CC707-FB60-40B4-B66B-43A4F20DAB98}" type="presOf" srcId="{01AA5859-7B0F-4FE9-BDCF-46E113287B2C}" destId="{9F5319F2-A736-4A44-A657-3BE753638974}" srcOrd="0" destOrd="0" presId="urn:microsoft.com/office/officeart/2005/8/layout/bProcess4"/>
    <dgm:cxn modelId="{C73E6490-DF9C-499A-AE20-52AC826826ED}" type="presOf" srcId="{7CCDFCB7-54C8-49EF-9909-00D32ABEA5BB}" destId="{40C3C2EB-F0F5-4C0F-A0C0-329DE828BD31}" srcOrd="0" destOrd="0" presId="urn:microsoft.com/office/officeart/2005/8/layout/bProcess4"/>
    <dgm:cxn modelId="{CFA5B188-693F-4E82-9197-E2A5920703A0}" srcId="{77621E14-2C84-4582-A5F6-C63F696D65F6}" destId="{FC23CA78-5F9D-404A-821D-0DB0FD885F9A}" srcOrd="6" destOrd="0" parTransId="{0C8F7985-668D-4638-A0A2-4F760B4E9E70}" sibTransId="{CCED6481-312F-4133-8D34-212FE5A8F917}"/>
    <dgm:cxn modelId="{BD95F606-F13E-4C61-976D-7F1AB7FBBDB7}" type="presOf" srcId="{302C119A-5B66-4134-87F3-0071C79BAE61}" destId="{0916578E-1C18-43B9-911C-E2C60D319D03}" srcOrd="0" destOrd="0" presId="urn:microsoft.com/office/officeart/2005/8/layout/bProcess4"/>
    <dgm:cxn modelId="{C2E48EE1-D0EB-4B4F-995D-957674472116}" type="presOf" srcId="{86086428-1287-4016-81E0-DF30E5F17970}" destId="{0CAE334B-61DD-4D0E-8082-012BE4F70873}" srcOrd="0" destOrd="0" presId="urn:microsoft.com/office/officeart/2005/8/layout/bProcess4"/>
    <dgm:cxn modelId="{DBD91910-777B-40CC-A542-36A51F2EEAAC}" type="presOf" srcId="{B8DA68B2-6BF0-4B25-8107-9B9A71E2C7FD}" destId="{9AD41C45-F177-428B-B0B8-2A4CA64BCB6A}" srcOrd="0" destOrd="0" presId="urn:microsoft.com/office/officeart/2005/8/layout/bProcess4"/>
    <dgm:cxn modelId="{7D1DE21C-D017-4EE1-8D1A-22B3613F5CAC}" type="presOf" srcId="{579F615E-34FB-4BC6-A65D-8413D103DF82}" destId="{60CBB3ED-A5B3-4122-B567-C6C93E66732C}" srcOrd="0" destOrd="0" presId="urn:microsoft.com/office/officeart/2005/8/layout/bProcess4"/>
    <dgm:cxn modelId="{CC62B3DF-73E4-46CE-BB8D-E39AA7649383}" srcId="{77621E14-2C84-4582-A5F6-C63F696D65F6}" destId="{2B657E98-36EC-4A5B-8EED-D0A8150E2312}" srcOrd="4" destOrd="0" parTransId="{63D183E6-E9D7-4F70-B9B5-632C08EE2DFF}" sibTransId="{54EC1C70-2E8B-46CA-8609-35A4A46E0FE3}"/>
    <dgm:cxn modelId="{A80161D3-207E-4523-928B-949454F6B67A}" srcId="{77621E14-2C84-4582-A5F6-C63F696D65F6}" destId="{2C259140-9587-44A5-864A-7AEDA915999A}" srcOrd="0" destOrd="0" parTransId="{986DAA3D-0A52-4B7E-B12F-BAC7690CDE9B}" sibTransId="{86086428-1287-4016-81E0-DF30E5F17970}"/>
    <dgm:cxn modelId="{124DD083-D0E2-44E8-BDB3-01554AE38B80}" type="presParOf" srcId="{38232AD4-28F0-45F7-9800-BC7C4D58485B}" destId="{155D14B3-E233-4870-97B8-9282D7E82CA5}" srcOrd="0" destOrd="0" presId="urn:microsoft.com/office/officeart/2005/8/layout/bProcess4"/>
    <dgm:cxn modelId="{571CF0E2-DC16-4A82-AA58-2658C2B0421A}" type="presParOf" srcId="{155D14B3-E233-4870-97B8-9282D7E82CA5}" destId="{36ED41ED-EECB-40E4-A16B-588F26053318}" srcOrd="0" destOrd="0" presId="urn:microsoft.com/office/officeart/2005/8/layout/bProcess4"/>
    <dgm:cxn modelId="{92DB6577-A24B-451B-9908-71E7B8E02B21}" type="presParOf" srcId="{155D14B3-E233-4870-97B8-9282D7E82CA5}" destId="{1E110DF9-D4EA-4458-ACF7-45011733AAFB}" srcOrd="1" destOrd="0" presId="urn:microsoft.com/office/officeart/2005/8/layout/bProcess4"/>
    <dgm:cxn modelId="{9170E3C2-057B-4457-808E-CF86F5325492}" type="presParOf" srcId="{38232AD4-28F0-45F7-9800-BC7C4D58485B}" destId="{0CAE334B-61DD-4D0E-8082-012BE4F70873}" srcOrd="1" destOrd="0" presId="urn:microsoft.com/office/officeart/2005/8/layout/bProcess4"/>
    <dgm:cxn modelId="{1AE6F604-D3BA-44B7-884F-4190DE57739C}" type="presParOf" srcId="{38232AD4-28F0-45F7-9800-BC7C4D58485B}" destId="{E8D1DF75-3513-48A4-A4EB-DC1C6F576228}" srcOrd="2" destOrd="0" presId="urn:microsoft.com/office/officeart/2005/8/layout/bProcess4"/>
    <dgm:cxn modelId="{38AE3331-5C78-4B07-ADFD-A52B19951854}" type="presParOf" srcId="{E8D1DF75-3513-48A4-A4EB-DC1C6F576228}" destId="{DA876BB6-5003-4E9C-AD89-375EE56F3E7B}" srcOrd="0" destOrd="0" presId="urn:microsoft.com/office/officeart/2005/8/layout/bProcess4"/>
    <dgm:cxn modelId="{6493611E-F0D4-4C5E-A748-4F8CCDB27C95}" type="presParOf" srcId="{E8D1DF75-3513-48A4-A4EB-DC1C6F576228}" destId="{9AD41C45-F177-428B-B0B8-2A4CA64BCB6A}" srcOrd="1" destOrd="0" presId="urn:microsoft.com/office/officeart/2005/8/layout/bProcess4"/>
    <dgm:cxn modelId="{8B335CCF-AC56-4766-8636-85ACC59307FF}" type="presParOf" srcId="{38232AD4-28F0-45F7-9800-BC7C4D58485B}" destId="{60CBB3ED-A5B3-4122-B567-C6C93E66732C}" srcOrd="3" destOrd="0" presId="urn:microsoft.com/office/officeart/2005/8/layout/bProcess4"/>
    <dgm:cxn modelId="{348722EA-5FB8-4440-B5FC-1EB190AAA533}" type="presParOf" srcId="{38232AD4-28F0-45F7-9800-BC7C4D58485B}" destId="{98E889F8-67D9-4081-AC6A-F10B55567AF9}" srcOrd="4" destOrd="0" presId="urn:microsoft.com/office/officeart/2005/8/layout/bProcess4"/>
    <dgm:cxn modelId="{AB83BD44-B463-4905-A843-EBA56C447848}" type="presParOf" srcId="{98E889F8-67D9-4081-AC6A-F10B55567AF9}" destId="{2E3779EA-D0CB-4367-A590-204FDA60E6F5}" srcOrd="0" destOrd="0" presId="urn:microsoft.com/office/officeart/2005/8/layout/bProcess4"/>
    <dgm:cxn modelId="{3D3ECFF9-1735-470C-A76E-924B07EBC28E}" type="presParOf" srcId="{98E889F8-67D9-4081-AC6A-F10B55567AF9}" destId="{0916578E-1C18-43B9-911C-E2C60D319D03}" srcOrd="1" destOrd="0" presId="urn:microsoft.com/office/officeart/2005/8/layout/bProcess4"/>
    <dgm:cxn modelId="{B1723CF5-DDB4-40D3-9291-16174A109C5B}" type="presParOf" srcId="{38232AD4-28F0-45F7-9800-BC7C4D58485B}" destId="{BD5D3F4D-8A6A-4C91-BCA2-F9372EAAB3D9}" srcOrd="5" destOrd="0" presId="urn:microsoft.com/office/officeart/2005/8/layout/bProcess4"/>
    <dgm:cxn modelId="{1D0756D2-A959-4D51-A152-D10FAEC1535B}" type="presParOf" srcId="{38232AD4-28F0-45F7-9800-BC7C4D58485B}" destId="{E004EC61-C7AA-4F19-A24F-50E0C8F41FC2}" srcOrd="6" destOrd="0" presId="urn:microsoft.com/office/officeart/2005/8/layout/bProcess4"/>
    <dgm:cxn modelId="{63CB2293-0FD3-4A72-B864-F52189C14EB2}" type="presParOf" srcId="{E004EC61-C7AA-4F19-A24F-50E0C8F41FC2}" destId="{4663EF2D-65F3-4059-B102-4B7A29317E48}" srcOrd="0" destOrd="0" presId="urn:microsoft.com/office/officeart/2005/8/layout/bProcess4"/>
    <dgm:cxn modelId="{24534212-8B83-4867-ADD5-8223FA037276}" type="presParOf" srcId="{E004EC61-C7AA-4F19-A24F-50E0C8F41FC2}" destId="{9F5319F2-A736-4A44-A657-3BE753638974}" srcOrd="1" destOrd="0" presId="urn:microsoft.com/office/officeart/2005/8/layout/bProcess4"/>
    <dgm:cxn modelId="{76F55044-A4F1-43A8-A1B8-8EBDDA07D159}" type="presParOf" srcId="{38232AD4-28F0-45F7-9800-BC7C4D58485B}" destId="{9A549A38-75BD-4C13-90BC-FD155D3F1502}" srcOrd="7" destOrd="0" presId="urn:microsoft.com/office/officeart/2005/8/layout/bProcess4"/>
    <dgm:cxn modelId="{D78A4F12-AC1A-4A78-A603-491805798D81}" type="presParOf" srcId="{38232AD4-28F0-45F7-9800-BC7C4D58485B}" destId="{70BB55B2-544C-445C-87EF-79DE7AAC2DB4}" srcOrd="8" destOrd="0" presId="urn:microsoft.com/office/officeart/2005/8/layout/bProcess4"/>
    <dgm:cxn modelId="{59BC4C5F-711D-45BC-AB3D-D3B792BFE319}" type="presParOf" srcId="{70BB55B2-544C-445C-87EF-79DE7AAC2DB4}" destId="{6A2B3D96-83CB-4B2A-A386-90B57E38040C}" srcOrd="0" destOrd="0" presId="urn:microsoft.com/office/officeart/2005/8/layout/bProcess4"/>
    <dgm:cxn modelId="{5102562F-203F-4482-B688-8300FEE119FE}" type="presParOf" srcId="{70BB55B2-544C-445C-87EF-79DE7AAC2DB4}" destId="{933D2715-C924-4516-AC1D-4F66EB5CC2CF}" srcOrd="1" destOrd="0" presId="urn:microsoft.com/office/officeart/2005/8/layout/bProcess4"/>
    <dgm:cxn modelId="{FADCAE1F-53F3-42BF-BA43-C0DFD5D16E61}" type="presParOf" srcId="{38232AD4-28F0-45F7-9800-BC7C4D58485B}" destId="{17395619-5576-46E2-A1F6-C998079D3B6B}" srcOrd="9" destOrd="0" presId="urn:microsoft.com/office/officeart/2005/8/layout/bProcess4"/>
    <dgm:cxn modelId="{2C2A07C9-3817-4677-BF8C-EF943A7386F7}" type="presParOf" srcId="{38232AD4-28F0-45F7-9800-BC7C4D58485B}" destId="{1F33B7EA-92CD-4FC5-B966-20C4C270463E}" srcOrd="10" destOrd="0" presId="urn:microsoft.com/office/officeart/2005/8/layout/bProcess4"/>
    <dgm:cxn modelId="{0F92135F-A24A-447E-B962-3616D026729A}" type="presParOf" srcId="{1F33B7EA-92CD-4FC5-B966-20C4C270463E}" destId="{6DFF6A1C-868C-4664-9857-3414DFD80786}" srcOrd="0" destOrd="0" presId="urn:microsoft.com/office/officeart/2005/8/layout/bProcess4"/>
    <dgm:cxn modelId="{DE4D26FA-929D-473E-ABBE-AF8D65589A95}" type="presParOf" srcId="{1F33B7EA-92CD-4FC5-B966-20C4C270463E}" destId="{8C1C7D0C-5F10-49E5-8698-AC1132DC57DB}" srcOrd="1" destOrd="0" presId="urn:microsoft.com/office/officeart/2005/8/layout/bProcess4"/>
    <dgm:cxn modelId="{C89F3B4C-12BC-4D19-AEFE-388361C9BCBD}" type="presParOf" srcId="{38232AD4-28F0-45F7-9800-BC7C4D58485B}" destId="{40C3C2EB-F0F5-4C0F-A0C0-329DE828BD31}" srcOrd="11" destOrd="0" presId="urn:microsoft.com/office/officeart/2005/8/layout/bProcess4"/>
    <dgm:cxn modelId="{164DA83A-DDF1-4758-BEC8-6390284B11CF}" type="presParOf" srcId="{38232AD4-28F0-45F7-9800-BC7C4D58485B}" destId="{02D860FD-0AAC-4746-9A3A-14237FDB6875}" srcOrd="12" destOrd="0" presId="urn:microsoft.com/office/officeart/2005/8/layout/bProcess4"/>
    <dgm:cxn modelId="{B2C11122-CBD6-41DD-A322-BA3AA6045CB9}" type="presParOf" srcId="{02D860FD-0AAC-4746-9A3A-14237FDB6875}" destId="{FA32236B-277C-421B-95A6-7F95F13F3631}" srcOrd="0" destOrd="0" presId="urn:microsoft.com/office/officeart/2005/8/layout/bProcess4"/>
    <dgm:cxn modelId="{5EBC9F18-A8C1-4913-8FB3-4FBAF4F5EF2D}" type="presParOf" srcId="{02D860FD-0AAC-4746-9A3A-14237FDB6875}" destId="{EFF06F41-0A20-43A1-BE8D-BDF1ABAD288F}" srcOrd="1" destOrd="0" presId="urn:microsoft.com/office/officeart/2005/8/layout/bProcess4"/>
    <dgm:cxn modelId="{C8E99993-4A36-4B47-8C66-6713629754D8}" type="presParOf" srcId="{38232AD4-28F0-45F7-9800-BC7C4D58485B}" destId="{86DD3110-E9B0-4D29-9A8B-06E882BAB206}" srcOrd="13" destOrd="0" presId="urn:microsoft.com/office/officeart/2005/8/layout/bProcess4"/>
    <dgm:cxn modelId="{5298E7A0-A29E-4108-8464-7CFE651872FB}" type="presParOf" srcId="{38232AD4-28F0-45F7-9800-BC7C4D58485B}" destId="{FCC2F475-FFBC-4277-B6A8-9EAF0D01F551}" srcOrd="14" destOrd="0" presId="urn:microsoft.com/office/officeart/2005/8/layout/bProcess4"/>
    <dgm:cxn modelId="{51A9B698-1650-4686-A6D5-DE00E62DE9B3}" type="presParOf" srcId="{FCC2F475-FFBC-4277-B6A8-9EAF0D01F551}" destId="{C22DC653-EB33-4B1F-9822-C9BAE9AC1E80}" srcOrd="0" destOrd="0" presId="urn:microsoft.com/office/officeart/2005/8/layout/bProcess4"/>
    <dgm:cxn modelId="{F17E9571-16AF-4646-A71C-B0C810336394}" type="presParOf" srcId="{FCC2F475-FFBC-4277-B6A8-9EAF0D01F551}" destId="{765A4832-F42F-477A-AE3C-6B50B9586BFA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0DC4B-D5BB-4F07-AE3D-68699710822E}">
      <dsp:nvSpPr>
        <dsp:cNvPr id="0" name=""/>
        <dsp:cNvSpPr/>
      </dsp:nvSpPr>
      <dsp:spPr>
        <a:xfrm>
          <a:off x="3639290" y="791496"/>
          <a:ext cx="6080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809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927372" y="834022"/>
        <a:ext cx="31934" cy="6386"/>
      </dsp:txXfrm>
    </dsp:sp>
    <dsp:sp modelId="{62EBB7D5-45B7-4F03-93A4-EDF46F89EAE8}">
      <dsp:nvSpPr>
        <dsp:cNvPr id="0" name=""/>
        <dsp:cNvSpPr/>
      </dsp:nvSpPr>
      <dsp:spPr>
        <a:xfrm>
          <a:off x="864141" y="4131"/>
          <a:ext cx="2776949" cy="16661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/>
            <a:t>“(...) Introduzida aparente</a:t>
          </a:r>
          <a:r>
            <a:rPr lang="pt-BR" sz="1500" b="0" i="0" kern="1200" dirty="0" smtClean="0"/>
            <a:t>mente na Alemanha, em 1748, por </a:t>
          </a:r>
          <a:r>
            <a:rPr lang="pt-BR" sz="1500" b="0" i="0" kern="1200" dirty="0" err="1" smtClean="0"/>
            <a:t>Achenwall</a:t>
          </a:r>
          <a:r>
            <a:rPr lang="pt-BR" sz="1500" b="0" i="0" kern="1200" dirty="0" smtClean="0"/>
            <a:t>...encarada, atualmente, como uma ciência capaz de obter, sintetizar, prever e tirar inferências sobre dados.”</a:t>
          </a:r>
          <a:endParaRPr lang="pt-BR" sz="1500" kern="1200" dirty="0"/>
        </a:p>
      </dsp:txBody>
      <dsp:txXfrm>
        <a:off x="864141" y="4131"/>
        <a:ext cx="2776949" cy="1666169"/>
      </dsp:txXfrm>
    </dsp:sp>
    <dsp:sp modelId="{E1027FBD-BEA3-491F-87C2-5AFCB344D26B}">
      <dsp:nvSpPr>
        <dsp:cNvPr id="0" name=""/>
        <dsp:cNvSpPr/>
      </dsp:nvSpPr>
      <dsp:spPr>
        <a:xfrm>
          <a:off x="2252616" y="1668500"/>
          <a:ext cx="3415647" cy="608098"/>
        </a:xfrm>
        <a:custGeom>
          <a:avLst/>
          <a:gdLst/>
          <a:ahLst/>
          <a:cxnLst/>
          <a:rect l="0" t="0" r="0" b="0"/>
          <a:pathLst>
            <a:path>
              <a:moveTo>
                <a:pt x="3415647" y="0"/>
              </a:moveTo>
              <a:lnTo>
                <a:pt x="3415647" y="321149"/>
              </a:lnTo>
              <a:lnTo>
                <a:pt x="0" y="321149"/>
              </a:lnTo>
              <a:lnTo>
                <a:pt x="0" y="608098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873568" y="1969356"/>
        <a:ext cx="173742" cy="6386"/>
      </dsp:txXfrm>
    </dsp:sp>
    <dsp:sp modelId="{A639F6E8-59EA-445C-A81A-FC46B47C4072}">
      <dsp:nvSpPr>
        <dsp:cNvPr id="0" name=""/>
        <dsp:cNvSpPr/>
      </dsp:nvSpPr>
      <dsp:spPr>
        <a:xfrm>
          <a:off x="4279789" y="4131"/>
          <a:ext cx="2776949" cy="16661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b="0" i="0" kern="1200" dirty="0" smtClean="0"/>
            <a:t>“(...) Ao longo da Idade Média e até ao século XVIII a estatística foi puramente descritiva, coexistindo duas escolas:  escola descritiva alemã...e a escola dos matemáticos sociais.”</a:t>
          </a:r>
          <a:endParaRPr lang="pt-BR" sz="1500" kern="1200" dirty="0"/>
        </a:p>
      </dsp:txBody>
      <dsp:txXfrm>
        <a:off x="4279789" y="4131"/>
        <a:ext cx="2776949" cy="1666169"/>
      </dsp:txXfrm>
    </dsp:sp>
    <dsp:sp modelId="{D917BE11-86DA-4618-85AF-4D35D0796546}">
      <dsp:nvSpPr>
        <dsp:cNvPr id="0" name=""/>
        <dsp:cNvSpPr/>
      </dsp:nvSpPr>
      <dsp:spPr>
        <a:xfrm>
          <a:off x="3639290" y="3096363"/>
          <a:ext cx="6080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809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927372" y="3138890"/>
        <a:ext cx="31934" cy="6386"/>
      </dsp:txXfrm>
    </dsp:sp>
    <dsp:sp modelId="{33AEEF75-8060-483C-AE35-2F7E0A66567D}">
      <dsp:nvSpPr>
        <dsp:cNvPr id="0" name=""/>
        <dsp:cNvSpPr/>
      </dsp:nvSpPr>
      <dsp:spPr>
        <a:xfrm>
          <a:off x="864141" y="2308999"/>
          <a:ext cx="2776949" cy="16661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b="0" i="0" kern="1200" dirty="0" smtClean="0"/>
            <a:t>“(...) John </a:t>
          </a:r>
          <a:r>
            <a:rPr lang="pt-BR" sz="1500" b="0" i="0" kern="1200" dirty="0" err="1" smtClean="0"/>
            <a:t>Graunt,William</a:t>
          </a:r>
          <a:r>
            <a:rPr lang="pt-BR" sz="1500" b="0" i="0" kern="1200" dirty="0" smtClean="0"/>
            <a:t> </a:t>
          </a:r>
          <a:r>
            <a:rPr lang="pt-BR" sz="1500" b="0" i="0" kern="1200" dirty="0" err="1" smtClean="0"/>
            <a:t>Petty</a:t>
          </a:r>
          <a:r>
            <a:rPr lang="pt-BR" sz="1500" b="0" i="0" kern="1200" dirty="0" smtClean="0"/>
            <a:t>, e o astrónomo Edmond Halley são os principais representantes da escola </a:t>
          </a:r>
          <a:r>
            <a:rPr lang="pt-BR" sz="1500" b="0" i="0" kern="1200" dirty="0" err="1" smtClean="0"/>
            <a:t>inglesa,dando</a:t>
          </a:r>
          <a:r>
            <a:rPr lang="pt-BR" sz="1500" b="0" i="0" kern="1200" dirty="0" smtClean="0"/>
            <a:t> um novo impulso à estatística.”</a:t>
          </a:r>
          <a:endParaRPr lang="pt-BR" sz="1500" kern="1200" dirty="0"/>
        </a:p>
      </dsp:txBody>
      <dsp:txXfrm>
        <a:off x="864141" y="2308999"/>
        <a:ext cx="2776949" cy="1666169"/>
      </dsp:txXfrm>
    </dsp:sp>
    <dsp:sp modelId="{4480CBA6-4A29-4FE0-8D8B-E225FD55A453}">
      <dsp:nvSpPr>
        <dsp:cNvPr id="0" name=""/>
        <dsp:cNvSpPr/>
      </dsp:nvSpPr>
      <dsp:spPr>
        <a:xfrm>
          <a:off x="2180554" y="3973368"/>
          <a:ext cx="3487709" cy="550215"/>
        </a:xfrm>
        <a:custGeom>
          <a:avLst/>
          <a:gdLst/>
          <a:ahLst/>
          <a:cxnLst/>
          <a:rect l="0" t="0" r="0" b="0"/>
          <a:pathLst>
            <a:path>
              <a:moveTo>
                <a:pt x="3487709" y="0"/>
              </a:moveTo>
              <a:lnTo>
                <a:pt x="3487709" y="292207"/>
              </a:lnTo>
              <a:lnTo>
                <a:pt x="0" y="292207"/>
              </a:lnTo>
              <a:lnTo>
                <a:pt x="0" y="550215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836015" y="4245283"/>
        <a:ext cx="176787" cy="6386"/>
      </dsp:txXfrm>
    </dsp:sp>
    <dsp:sp modelId="{973D9BD1-D607-4451-BDEB-B3101625C59C}">
      <dsp:nvSpPr>
        <dsp:cNvPr id="0" name=""/>
        <dsp:cNvSpPr/>
      </dsp:nvSpPr>
      <dsp:spPr>
        <a:xfrm>
          <a:off x="4279789" y="2308999"/>
          <a:ext cx="2776949" cy="16661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b="0" i="0" kern="1200" dirty="0" smtClean="0"/>
            <a:t>“(...)  Espera pelo desenvolvimento do cálculo das probabilidades... permitindo a formulação de conclusões com base em regras indutivas.”</a:t>
          </a:r>
          <a:endParaRPr lang="pt-BR" sz="1500" kern="1200" dirty="0"/>
        </a:p>
      </dsp:txBody>
      <dsp:txXfrm>
        <a:off x="4279789" y="2308999"/>
        <a:ext cx="2776949" cy="1666169"/>
      </dsp:txXfrm>
    </dsp:sp>
    <dsp:sp modelId="{BB52B315-BE5E-46A5-9138-F2902D62A2FD}">
      <dsp:nvSpPr>
        <dsp:cNvPr id="0" name=""/>
        <dsp:cNvSpPr/>
      </dsp:nvSpPr>
      <dsp:spPr>
        <a:xfrm>
          <a:off x="792079" y="4555984"/>
          <a:ext cx="2776949" cy="16661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500" b="0" i="0" kern="1200" dirty="0" smtClean="0"/>
            <a:t>“(...) Pode datar-se dos fins do século XIX o desenvolvimento da estatística matemática e suas aplicações.”</a:t>
          </a:r>
          <a:endParaRPr lang="pt-BR" sz="1500" kern="1200" dirty="0"/>
        </a:p>
      </dsp:txBody>
      <dsp:txXfrm>
        <a:off x="792079" y="4555984"/>
        <a:ext cx="2776949" cy="16661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AE334B-61DD-4D0E-8082-012BE4F70873}">
      <dsp:nvSpPr>
        <dsp:cNvPr id="0" name=""/>
        <dsp:cNvSpPr/>
      </dsp:nvSpPr>
      <dsp:spPr>
        <a:xfrm rot="5400000">
          <a:off x="-420820" y="1797513"/>
          <a:ext cx="2028940" cy="210015"/>
        </a:xfrm>
        <a:prstGeom prst="rect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110DF9-D4EA-4458-ACF7-45011733AAFB}">
      <dsp:nvSpPr>
        <dsp:cNvPr id="0" name=""/>
        <dsp:cNvSpPr/>
      </dsp:nvSpPr>
      <dsp:spPr>
        <a:xfrm>
          <a:off x="2258" y="247793"/>
          <a:ext cx="2573323" cy="198081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>
              <a:solidFill>
                <a:schemeClr val="accent6">
                  <a:lumMod val="50000"/>
                </a:schemeClr>
              </a:solidFill>
              <a:latin typeface="Arial Black" pitchFamily="34" charset="0"/>
              <a:cs typeface="Arial" pitchFamily="34" charset="0"/>
            </a:rPr>
            <a:t>ASSOCIAÇÃO BRASILEIRA PARA ESTUDO DA OBESIDADE E DA SÍNDROME METABÓLICA </a:t>
          </a:r>
        </a:p>
      </dsp:txBody>
      <dsp:txXfrm>
        <a:off x="60274" y="305809"/>
        <a:ext cx="2457291" cy="1864781"/>
      </dsp:txXfrm>
    </dsp:sp>
    <dsp:sp modelId="{60CBB3ED-A5B3-4122-B567-C6C93E66732C}">
      <dsp:nvSpPr>
        <dsp:cNvPr id="0" name=""/>
        <dsp:cNvSpPr/>
      </dsp:nvSpPr>
      <dsp:spPr>
        <a:xfrm rot="5400000">
          <a:off x="-276635" y="3691831"/>
          <a:ext cx="1740569" cy="210015"/>
        </a:xfrm>
        <a:prstGeom prst="rect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D41C45-F177-428B-B0B8-2A4CA64BCB6A}">
      <dsp:nvSpPr>
        <dsp:cNvPr id="0" name=""/>
        <dsp:cNvSpPr/>
      </dsp:nvSpPr>
      <dsp:spPr>
        <a:xfrm>
          <a:off x="122166" y="2578633"/>
          <a:ext cx="2333509" cy="14001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kern="1200" dirty="0">
              <a:latin typeface="Arial" pitchFamily="34" charset="0"/>
              <a:cs typeface="Arial" pitchFamily="34" charset="0"/>
            </a:rPr>
            <a:t>Quase 60% dos brasileiros estão acima do peso.</a:t>
          </a:r>
        </a:p>
      </dsp:txBody>
      <dsp:txXfrm>
        <a:off x="163174" y="2619641"/>
        <a:ext cx="2251493" cy="1318089"/>
      </dsp:txXfrm>
    </dsp:sp>
    <dsp:sp modelId="{BD5D3F4D-8A6A-4C91-BCA2-F9372EAAB3D9}">
      <dsp:nvSpPr>
        <dsp:cNvPr id="0" name=""/>
        <dsp:cNvSpPr/>
      </dsp:nvSpPr>
      <dsp:spPr>
        <a:xfrm>
          <a:off x="598430" y="4566897"/>
          <a:ext cx="3213912" cy="210015"/>
        </a:xfrm>
        <a:prstGeom prst="rect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6578E-1C18-43B9-911C-E2C60D319D03}">
      <dsp:nvSpPr>
        <dsp:cNvPr id="0" name=""/>
        <dsp:cNvSpPr/>
      </dsp:nvSpPr>
      <dsp:spPr>
        <a:xfrm>
          <a:off x="122166" y="4328765"/>
          <a:ext cx="2333509" cy="14001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>
              <a:latin typeface="Arial" pitchFamily="34" charset="0"/>
              <a:cs typeface="Arial" pitchFamily="34" charset="0"/>
            </a:rPr>
            <a:t>Cerca de 82 milhões de pessoas apresentam o IMC igual ou maior do que 25 (sobrepeso ou obesidade</a:t>
          </a:r>
          <a:r>
            <a:rPr lang="pt-BR" sz="1000" kern="1200" dirty="0">
              <a:latin typeface="Arial" pitchFamily="34" charset="0"/>
              <a:cs typeface="Arial" pitchFamily="34" charset="0"/>
            </a:rPr>
            <a:t>).</a:t>
          </a:r>
        </a:p>
      </dsp:txBody>
      <dsp:txXfrm>
        <a:off x="163174" y="4369773"/>
        <a:ext cx="2251493" cy="1318089"/>
      </dsp:txXfrm>
    </dsp:sp>
    <dsp:sp modelId="{9A549A38-75BD-4C13-90BC-FD155D3F1502}">
      <dsp:nvSpPr>
        <dsp:cNvPr id="0" name=""/>
        <dsp:cNvSpPr/>
      </dsp:nvSpPr>
      <dsp:spPr>
        <a:xfrm rot="16200000">
          <a:off x="2946839" y="3691831"/>
          <a:ext cx="1740569" cy="210015"/>
        </a:xfrm>
        <a:prstGeom prst="rect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319F2-A736-4A44-A657-3BE753638974}">
      <dsp:nvSpPr>
        <dsp:cNvPr id="0" name=""/>
        <dsp:cNvSpPr/>
      </dsp:nvSpPr>
      <dsp:spPr>
        <a:xfrm>
          <a:off x="3345640" y="4328765"/>
          <a:ext cx="2333509" cy="14001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>
              <a:latin typeface="Arial" pitchFamily="34" charset="0"/>
              <a:cs typeface="Arial" pitchFamily="34" charset="0"/>
            </a:rPr>
            <a:t>Prevalência maior de excesso de peso no sexo feminino do que no sexo masculino.</a:t>
          </a:r>
        </a:p>
      </dsp:txBody>
      <dsp:txXfrm>
        <a:off x="3386648" y="4369773"/>
        <a:ext cx="2251493" cy="1318089"/>
      </dsp:txXfrm>
    </dsp:sp>
    <dsp:sp modelId="{17395619-5576-46E2-A1F6-C998079D3B6B}">
      <dsp:nvSpPr>
        <dsp:cNvPr id="0" name=""/>
        <dsp:cNvSpPr/>
      </dsp:nvSpPr>
      <dsp:spPr>
        <a:xfrm rot="16200000">
          <a:off x="2946839" y="1941699"/>
          <a:ext cx="1740569" cy="210015"/>
        </a:xfrm>
        <a:prstGeom prst="rect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3D2715-C924-4516-AC1D-4F66EB5CC2CF}">
      <dsp:nvSpPr>
        <dsp:cNvPr id="0" name=""/>
        <dsp:cNvSpPr/>
      </dsp:nvSpPr>
      <dsp:spPr>
        <a:xfrm>
          <a:off x="3345640" y="2578633"/>
          <a:ext cx="2333509" cy="14001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>
              <a:latin typeface="Arial" pitchFamily="34" charset="0"/>
              <a:cs typeface="Arial" pitchFamily="34" charset="0"/>
            </a:rPr>
            <a:t>Os dados mostram que a obesidade acomete um em cada cinco brasileiros de 18 anos ou mais. </a:t>
          </a:r>
        </a:p>
      </dsp:txBody>
      <dsp:txXfrm>
        <a:off x="3386648" y="2619641"/>
        <a:ext cx="2251493" cy="1318089"/>
      </dsp:txXfrm>
    </dsp:sp>
    <dsp:sp modelId="{40C3C2EB-F0F5-4C0F-A0C0-329DE828BD31}">
      <dsp:nvSpPr>
        <dsp:cNvPr id="0" name=""/>
        <dsp:cNvSpPr/>
      </dsp:nvSpPr>
      <dsp:spPr>
        <a:xfrm>
          <a:off x="3821905" y="1066633"/>
          <a:ext cx="3094004" cy="210015"/>
        </a:xfrm>
        <a:prstGeom prst="rect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C7D0C-5F10-49E5-8698-AC1132DC57DB}">
      <dsp:nvSpPr>
        <dsp:cNvPr id="0" name=""/>
        <dsp:cNvSpPr/>
      </dsp:nvSpPr>
      <dsp:spPr>
        <a:xfrm>
          <a:off x="3345640" y="828501"/>
          <a:ext cx="2333509" cy="14001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>
              <a:latin typeface="Arial" pitchFamily="34" charset="0"/>
              <a:cs typeface="Arial" pitchFamily="34" charset="0"/>
            </a:rPr>
            <a:t>O acumulo de gordura abdominal foi mais frequente no sexo feminino.</a:t>
          </a:r>
        </a:p>
      </dsp:txBody>
      <dsp:txXfrm>
        <a:off x="3386648" y="869509"/>
        <a:ext cx="2251493" cy="1318089"/>
      </dsp:txXfrm>
    </dsp:sp>
    <dsp:sp modelId="{86DD3110-E9B0-4D29-9A8B-06E882BAB206}">
      <dsp:nvSpPr>
        <dsp:cNvPr id="0" name=""/>
        <dsp:cNvSpPr/>
      </dsp:nvSpPr>
      <dsp:spPr>
        <a:xfrm rot="5400000">
          <a:off x="6050406" y="1941699"/>
          <a:ext cx="1740569" cy="210015"/>
        </a:xfrm>
        <a:prstGeom prst="rect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06F41-0A20-43A1-BE8D-BDF1ABAD288F}">
      <dsp:nvSpPr>
        <dsp:cNvPr id="0" name=""/>
        <dsp:cNvSpPr/>
      </dsp:nvSpPr>
      <dsp:spPr>
        <a:xfrm>
          <a:off x="6449208" y="828501"/>
          <a:ext cx="2333509" cy="14001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>
              <a:latin typeface="Arial" pitchFamily="34" charset="0"/>
              <a:cs typeface="Arial" pitchFamily="34" charset="0"/>
            </a:rPr>
            <a:t>Os homens tiveram elevação em seus dados em relação a pressão arterial.</a:t>
          </a:r>
        </a:p>
      </dsp:txBody>
      <dsp:txXfrm>
        <a:off x="6490216" y="869509"/>
        <a:ext cx="2251493" cy="1318089"/>
      </dsp:txXfrm>
    </dsp:sp>
    <dsp:sp modelId="{765A4832-F42F-477A-AE3C-6B50B9586BFA}">
      <dsp:nvSpPr>
        <dsp:cNvPr id="0" name=""/>
        <dsp:cNvSpPr/>
      </dsp:nvSpPr>
      <dsp:spPr>
        <a:xfrm>
          <a:off x="6449208" y="2578633"/>
          <a:ext cx="2333509" cy="14001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>
              <a:latin typeface="Arial" pitchFamily="34" charset="0"/>
              <a:cs typeface="Arial" pitchFamily="34" charset="0"/>
            </a:rPr>
            <a:t>O excesso de gordura abdominal está associado ao risco de doenças </a:t>
          </a:r>
          <a:r>
            <a:rPr lang="pt-BR" sz="1600" kern="1200" smtClean="0">
              <a:latin typeface="Arial" pitchFamily="34" charset="0"/>
              <a:cs typeface="Arial" pitchFamily="34" charset="0"/>
            </a:rPr>
            <a:t>cardiometabólicas</a:t>
          </a:r>
          <a:endParaRPr lang="pt-BR" sz="1100" kern="1200" dirty="0">
            <a:latin typeface="Arial" pitchFamily="34" charset="0"/>
            <a:cs typeface="Arial" pitchFamily="34" charset="0"/>
          </a:endParaRPr>
        </a:p>
      </dsp:txBody>
      <dsp:txXfrm>
        <a:off x="6490216" y="2619641"/>
        <a:ext cx="2251493" cy="1318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4CCF5-E50A-47D5-B837-E26B8163A27A}" type="datetimeFigureOut">
              <a:rPr lang="pt-BR" smtClean="0"/>
              <a:pPr/>
              <a:t>11/08/2021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3CFB8-C36F-43D4-8E14-4CB12536F20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058887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B3CFB8-C36F-43D4-8E14-4CB12536F201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849969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3115F-F428-458C-9607-58FB4BE4514E}" type="slidenum">
              <a:rPr lang="pt-BR" smtClean="0"/>
              <a:pPr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933286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82B6-F00D-4D72-9C68-FA646E1D3C79}" type="datetimeFigureOut">
              <a:rPr lang="pt-BR" smtClean="0"/>
              <a:pPr/>
              <a:t>11/08/2021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95350-56CE-431A-B021-C892719FD72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606965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82B6-F00D-4D72-9C68-FA646E1D3C79}" type="datetimeFigureOut">
              <a:rPr lang="pt-BR" smtClean="0"/>
              <a:pPr/>
              <a:t>11/08/2021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95350-56CE-431A-B021-C892719FD72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267524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82B6-F00D-4D72-9C68-FA646E1D3C79}" type="datetimeFigureOut">
              <a:rPr lang="pt-BR" smtClean="0"/>
              <a:pPr/>
              <a:t>11/08/2021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95350-56CE-431A-B021-C892719FD72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025155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82B6-F00D-4D72-9C68-FA646E1D3C79}" type="datetimeFigureOut">
              <a:rPr lang="pt-BR" smtClean="0"/>
              <a:pPr/>
              <a:t>11/08/2021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95350-56CE-431A-B021-C892719FD72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2305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82B6-F00D-4D72-9C68-FA646E1D3C79}" type="datetimeFigureOut">
              <a:rPr lang="pt-BR" smtClean="0"/>
              <a:pPr/>
              <a:t>11/08/2021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95350-56CE-431A-B021-C892719FD72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26446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82B6-F00D-4D72-9C68-FA646E1D3C79}" type="datetimeFigureOut">
              <a:rPr lang="pt-BR" smtClean="0"/>
              <a:pPr/>
              <a:t>11/08/2021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95350-56CE-431A-B021-C892719FD72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32836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82B6-F00D-4D72-9C68-FA646E1D3C79}" type="datetimeFigureOut">
              <a:rPr lang="pt-BR" smtClean="0"/>
              <a:pPr/>
              <a:t>11/08/2021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95350-56CE-431A-B021-C892719FD72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906454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82B6-F00D-4D72-9C68-FA646E1D3C79}" type="datetimeFigureOut">
              <a:rPr lang="pt-BR" smtClean="0"/>
              <a:pPr/>
              <a:t>11/08/2021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95350-56CE-431A-B021-C892719FD72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19445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82B6-F00D-4D72-9C68-FA646E1D3C79}" type="datetimeFigureOut">
              <a:rPr lang="pt-BR" smtClean="0"/>
              <a:pPr/>
              <a:t>11/08/2021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95350-56CE-431A-B021-C892719FD72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31056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82B6-F00D-4D72-9C68-FA646E1D3C79}" type="datetimeFigureOut">
              <a:rPr lang="pt-BR" smtClean="0"/>
              <a:pPr/>
              <a:t>11/08/2021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95350-56CE-431A-B021-C892719FD72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620195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82B6-F00D-4D72-9C68-FA646E1D3C79}" type="datetimeFigureOut">
              <a:rPr lang="pt-BR" smtClean="0"/>
              <a:pPr/>
              <a:t>11/08/2021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95350-56CE-431A-B021-C892719FD72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0413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F82B6-F00D-4D72-9C68-FA646E1D3C79}" type="datetimeFigureOut">
              <a:rPr lang="pt-BR" smtClean="0"/>
              <a:pPr/>
              <a:t>11/08/2021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95350-56CE-431A-B021-C892719FD72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449170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abeso.org.br/" TargetMode="External"/><Relationship Id="rId7" Type="http://schemas.openxmlformats.org/officeDocument/2006/relationships/hyperlink" Target="http://portugues.uol.com.br/redacao/o-esquema-resumo---fortes-aliados-diante-compreensao-textual-.html" TargetMode="External"/><Relationship Id="rId2" Type="http://schemas.openxmlformats.org/officeDocument/2006/relationships/hyperlink" Target="http://revistapesquisa.fapesp.br/2016/03/18/incertezas-sobre-a-microcefalia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ezi.com/wyzisbo9duw8/fichamento-regras-abnt/" TargetMode="External"/><Relationship Id="rId5" Type="http://schemas.openxmlformats.org/officeDocument/2006/relationships/hyperlink" Target="http://monografias.brasilescola.uol.com.br/regras-abnt/tipos-trabalhos-academicos-fichamento.htm" TargetMode="External"/><Relationship Id="rId4" Type="http://schemas.openxmlformats.org/officeDocument/2006/relationships/hyperlink" Target="http://www.icguedes.pro.br/fichamento-de-textos-e-artigos-como-fazer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portugues.uol.com.br/redacao/o-esquema-resumo---fortes-aliados-diante-compreensao-textual-.html" TargetMode="External"/><Relationship Id="rId2" Type="http://schemas.openxmlformats.org/officeDocument/2006/relationships/hyperlink" Target="http://www.ead.uepb.edu.br/ava/arquivos/cursos/geografia/metodologia_cientifica/Met_Cie_A07_M_WEB_310708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71376" y="260649"/>
            <a:ext cx="2315934" cy="1008112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1438623" y="1268761"/>
            <a:ext cx="5292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 smtClean="0"/>
              <a:t>                 UNIVERSIDADE ESTADUAL DA PARAÍBA</a:t>
            </a:r>
          </a:p>
          <a:p>
            <a:r>
              <a:rPr lang="pt-BR" sz="2000" b="1" dirty="0" smtClean="0"/>
              <a:t>                          PROFESSOR: RANIERI MELLO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2699792" y="6272051"/>
            <a:ext cx="3943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/>
              <a:t>Campina Grande – PB</a:t>
            </a:r>
          </a:p>
          <a:p>
            <a:pPr algn="ctr"/>
            <a:r>
              <a:rPr lang="pt-BR" b="1" dirty="0" smtClean="0"/>
              <a:t>Agosto de 2020</a:t>
            </a:r>
            <a:endParaRPr lang="pt-BR" b="1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2555776" y="3228535"/>
            <a:ext cx="44571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smtClean="0"/>
              <a:t>  GÊNEROS TEXTUAIS ACADÊMICOS ESCRITOS</a:t>
            </a:r>
          </a:p>
          <a:p>
            <a:r>
              <a:rPr lang="pt-BR" sz="2400" b="1" dirty="0" smtClean="0"/>
              <a:t>(</a:t>
            </a:r>
            <a:r>
              <a:rPr lang="pt-BR" sz="2400" b="1" i="1" dirty="0" smtClean="0"/>
              <a:t>Esquema, Fichamento e Resumo</a:t>
            </a:r>
            <a:r>
              <a:rPr lang="pt-BR" sz="2400" b="1" dirty="0" smtClean="0"/>
              <a:t>)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xmlns="" val="1244447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OBJETIVO GERAL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736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dirty="0" smtClean="0"/>
              <a:t> Apresentar os gêneros textuais escritos, focando única e exclusivamente em Esquema, Fichamento e Resumo: O que é, qual(ais) estrutura(s) e função(</a:t>
            </a:r>
            <a:r>
              <a:rPr lang="pt-BR" dirty="0" err="1" smtClean="0"/>
              <a:t>ões</a:t>
            </a:r>
            <a:r>
              <a:rPr lang="pt-BR" dirty="0" smtClean="0"/>
              <a:t>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779378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OBJETIVOS ESPECÍFICOS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 	Informar ao público, de uma maneira didática, os meios para o entendimento de gêneros textuais acadêmicos escritos e escrever gêneros acadêmicos tendo em vista que cada um dos gêneros apresentados aqui, o acompanharão ao longo de sua vida acadêmica.</a:t>
            </a:r>
          </a:p>
          <a:p>
            <a:pPr algn="just"/>
            <a:r>
              <a:rPr lang="pt-BR" dirty="0" smtClean="0"/>
              <a:t>Favorecer a  leitura e escrita dos gêneros textuais acadêmicos escritos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3293559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GÊNEROS TEXTUAIS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tx1"/>
                </a:solidFill>
              </a:rPr>
              <a:t>“ESQUEMA”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00333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CONCEITUAÇÃO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sz="2800" dirty="0" smtClean="0"/>
              <a:t>Esquema é a apresentação visual por meio de elementos gráficos como setas, quadros , fluxograma, organograma, </a:t>
            </a:r>
            <a:r>
              <a:rPr lang="pt-BR" sz="2800" dirty="0" err="1" smtClean="0"/>
              <a:t>asterístiscos</a:t>
            </a:r>
            <a:r>
              <a:rPr lang="pt-BR" sz="2800" dirty="0" smtClean="0"/>
              <a:t>, numerações... Obedecendo a ordem linear do texto. Início – meio – fim.</a:t>
            </a:r>
          </a:p>
          <a:p>
            <a:pPr algn="just"/>
            <a:r>
              <a:rPr lang="pt-BR" sz="2800" dirty="0" smtClean="0"/>
              <a:t>O gênero esquema funciona, portanto como uma estratégia de seleção de ideias centrais de um texto, seja oral, seja escrito. (PEREIRA &amp; SILVA, s/d)</a:t>
            </a:r>
          </a:p>
          <a:p>
            <a:pPr algn="just"/>
            <a:r>
              <a:rPr lang="pt-BR" sz="2800" dirty="0"/>
              <a:t>“ [...] corresponde, grosso modo, a uma radiografia </a:t>
            </a:r>
            <a:r>
              <a:rPr lang="pt-BR" sz="2800" dirty="0" smtClean="0"/>
              <a:t>do texto</a:t>
            </a:r>
            <a:r>
              <a:rPr lang="pt-BR" sz="2800" dirty="0"/>
              <a:t>, pois nele aparece apenas o ‘esqueleto’, ou seja, as palavras-chave, sem </a:t>
            </a:r>
            <a:r>
              <a:rPr lang="pt-BR" sz="2800" dirty="0" smtClean="0"/>
              <a:t>necessidade de </a:t>
            </a:r>
            <a:r>
              <a:rPr lang="pt-BR" sz="2800" dirty="0"/>
              <a:t>se apresentar frases redigidas” (ANDRADE, 2006, p. 26, grifo do autor).</a:t>
            </a:r>
          </a:p>
        </p:txBody>
      </p:sp>
    </p:spTree>
    <p:extLst>
      <p:ext uri="{BB962C8B-B14F-4D97-AF65-F5344CB8AC3E}">
        <p14:creationId xmlns:p14="http://schemas.microsoft.com/office/powerpoint/2010/main" xmlns="" val="3772122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7620000" cy="1143000"/>
          </a:xfrm>
        </p:spPr>
        <p:txBody>
          <a:bodyPr/>
          <a:lstStyle/>
          <a:p>
            <a:r>
              <a:rPr lang="pt-BR" dirty="0" smtClean="0"/>
              <a:t>UTILIDADE DE UM ESQUEMA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844824"/>
            <a:ext cx="7620000" cy="3052936"/>
          </a:xfrm>
        </p:spPr>
        <p:txBody>
          <a:bodyPr>
            <a:normAutofit/>
          </a:bodyPr>
          <a:lstStyle/>
          <a:p>
            <a:pPr marL="685800" indent="-571500" algn="just">
              <a:buNone/>
            </a:pPr>
            <a:r>
              <a:rPr lang="pt-BR" sz="4000" dirty="0" smtClean="0"/>
              <a:t>	</a:t>
            </a:r>
            <a:r>
              <a:rPr lang="pt-BR" sz="2800" dirty="0" smtClean="0"/>
              <a:t>Sintetizar textos longos, para que qualquer pessoa entenda um texto sem que seja necessário lê-lo completamente outra vez.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xmlns="" val="425700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000" dirty="0" smtClean="0"/>
              <a:t>CUIDADOS A SEREM TOMADOS AO SE ELABORAR UM ESQUEMA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/>
            <a:r>
              <a:rPr lang="pt-BR" dirty="0"/>
              <a:t>Em primeiro lugar, um esquema deve conter a ideia principal de um texto ( ou de cada parágrafo). Com frases ou palavras que revelem </a:t>
            </a:r>
            <a:r>
              <a:rPr lang="pt-BR" dirty="0" smtClean="0"/>
              <a:t>o essencial.</a:t>
            </a:r>
            <a:r>
              <a:rPr lang="pt-BR" dirty="0"/>
              <a:t/>
            </a:r>
            <a:br>
              <a:rPr lang="pt-BR" dirty="0"/>
            </a:br>
            <a:endParaRPr lang="pt-BR" dirty="0" smtClean="0"/>
          </a:p>
          <a:p>
            <a:pPr marL="114300" indent="0" algn="just">
              <a:buNone/>
            </a:pPr>
            <a:endParaRPr lang="pt-BR" dirty="0"/>
          </a:p>
          <a:p>
            <a:pPr algn="just"/>
            <a:r>
              <a:rPr lang="pt-BR" dirty="0" smtClean="0"/>
              <a:t> </a:t>
            </a:r>
            <a:r>
              <a:rPr lang="pt-BR" dirty="0"/>
              <a:t>Nunca modifique ou deturpe QUALQUER informação, nem dê sua </a:t>
            </a:r>
            <a:r>
              <a:rPr lang="pt-BR" dirty="0" smtClean="0"/>
              <a:t>  opinião </a:t>
            </a:r>
            <a:r>
              <a:rPr lang="pt-BR" dirty="0"/>
              <a:t>crítica. O esquema deve retratar fielmente o texto</a:t>
            </a:r>
            <a:r>
              <a:rPr lang="pt-BR" dirty="0" smtClean="0"/>
              <a:t>.</a:t>
            </a:r>
            <a:r>
              <a:rPr lang="pt-BR" dirty="0"/>
              <a:t/>
            </a:r>
            <a:br>
              <a:rPr lang="pt-BR" dirty="0"/>
            </a:br>
            <a:endParaRPr lang="pt-BR" dirty="0" smtClean="0"/>
          </a:p>
          <a:p>
            <a:pPr algn="just"/>
            <a:endParaRPr lang="pt-BR" dirty="0"/>
          </a:p>
          <a:p>
            <a:pPr algn="just"/>
            <a:r>
              <a:rPr lang="pt-BR" dirty="0" smtClean="0"/>
              <a:t>Divida </a:t>
            </a:r>
            <a:r>
              <a:rPr lang="pt-BR" dirty="0"/>
              <a:t>o </a:t>
            </a:r>
            <a:r>
              <a:rPr lang="pt-BR" dirty="0" smtClean="0"/>
              <a:t>esquema em tópicos, itens e subitens, </a:t>
            </a:r>
            <a:r>
              <a:rPr lang="pt-BR" dirty="0"/>
              <a:t>tal qual o texto original</a:t>
            </a:r>
            <a:r>
              <a:rPr lang="pt-BR" dirty="0" smtClean="0"/>
              <a:t>.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pPr algn="just"/>
            <a:r>
              <a:rPr lang="pt-BR" dirty="0"/>
              <a:t> Colocar os títulos mais gerais numa margem e os subtítulos e divisões nas colunas </a:t>
            </a:r>
            <a:r>
              <a:rPr lang="pt-BR" dirty="0" smtClean="0"/>
              <a:t>subseqüentes e,assim, </a:t>
            </a:r>
            <a:r>
              <a:rPr lang="pt-BR" dirty="0"/>
              <a:t>sucessivamente, caminhando da esquerda para a direita.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 smtClean="0"/>
          </a:p>
          <a:p>
            <a:pPr algn="just"/>
            <a:r>
              <a:rPr lang="pt-BR" dirty="0" smtClean="0"/>
              <a:t>Utilizar </a:t>
            </a:r>
            <a:r>
              <a:rPr lang="pt-BR" dirty="0"/>
              <a:t>o sistema de numeração progressiva (1, </a:t>
            </a:r>
            <a:r>
              <a:rPr lang="pt-BR" dirty="0" smtClean="0"/>
              <a:t>1.1</a:t>
            </a:r>
            <a:r>
              <a:rPr lang="pt-BR" dirty="0"/>
              <a:t>, </a:t>
            </a:r>
            <a:r>
              <a:rPr lang="pt-BR" dirty="0" smtClean="0"/>
              <a:t>1.2</a:t>
            </a:r>
            <a:r>
              <a:rPr lang="pt-BR" dirty="0"/>
              <a:t>, 1.2.1, 2 etc.) ou convencionar o uso de algarismos romanos, letras maiúsculas, minúsculas, números, etc., para indicar </a:t>
            </a:r>
            <a:r>
              <a:rPr lang="pt-BR" b="1" dirty="0"/>
              <a:t>as divisões e subdivisões </a:t>
            </a:r>
            <a:r>
              <a:rPr lang="pt-BR" dirty="0"/>
              <a:t>sucessivas.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1303197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CARACTERÍSTICAS DE UM ESQUEMA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/>
            <a:r>
              <a:rPr lang="pt-BR" b="1" i="1" dirty="0"/>
              <a:t>1-</a:t>
            </a:r>
            <a:r>
              <a:rPr lang="pt-BR" dirty="0"/>
              <a:t> Síntese das ideias principais de um texto organizada através de palavras-chaves, em torno das quais é possível adquirir grandes quantidades de conhecimentos</a:t>
            </a:r>
            <a:r>
              <a:rPr lang="pt-BR" dirty="0" smtClean="0"/>
              <a:t>.</a:t>
            </a:r>
          </a:p>
          <a:p>
            <a:pPr algn="just"/>
            <a:r>
              <a:rPr lang="pt-BR" b="1" i="1" dirty="0"/>
              <a:t>2-</a:t>
            </a:r>
            <a:r>
              <a:rPr lang="pt-BR" dirty="0"/>
              <a:t> A visualização de um esquema deve remeter o leitor aos principais </a:t>
            </a:r>
            <a:r>
              <a:rPr lang="pt-BR" dirty="0" smtClean="0"/>
              <a:t>pontos </a:t>
            </a:r>
            <a:r>
              <a:rPr lang="pt-BR" dirty="0"/>
              <a:t>tidos como mais importantes</a:t>
            </a:r>
            <a:r>
              <a:rPr lang="pt-BR" dirty="0" smtClean="0"/>
              <a:t>.</a:t>
            </a:r>
          </a:p>
          <a:p>
            <a:pPr algn="just"/>
            <a:r>
              <a:rPr lang="pt-BR" b="1" i="1" dirty="0"/>
              <a:t>3-</a:t>
            </a:r>
            <a:r>
              <a:rPr lang="pt-BR" dirty="0"/>
              <a:t> O esquema assemelha-se a um esqueleto, não apresentando assim maiores preocupações com os elementos inerentes à construção textual</a:t>
            </a:r>
            <a:r>
              <a:rPr lang="pt-BR" dirty="0" smtClean="0"/>
              <a:t>.</a:t>
            </a:r>
          </a:p>
          <a:p>
            <a:pPr algn="just"/>
            <a:r>
              <a:rPr lang="pt-BR" b="1" i="1" dirty="0"/>
              <a:t>4-</a:t>
            </a:r>
            <a:r>
              <a:rPr lang="pt-BR" dirty="0"/>
              <a:t> O esqueleto permite ao leitor visualizar e destacar aquilo que é essencial</a:t>
            </a:r>
            <a:r>
              <a:rPr lang="pt-BR" dirty="0" smtClean="0"/>
              <a:t>.</a:t>
            </a:r>
          </a:p>
          <a:p>
            <a:pPr algn="just"/>
            <a:r>
              <a:rPr lang="pt-BR" b="1" i="1" dirty="0"/>
              <a:t>5-</a:t>
            </a:r>
            <a:r>
              <a:rPr lang="pt-BR" dirty="0"/>
              <a:t> No esquema podem ser utilizados diversos símbolos, como letras, números, setas, círculos etc</a:t>
            </a:r>
            <a:r>
              <a:rPr lang="pt-BR" dirty="0" smtClean="0"/>
              <a:t>.</a:t>
            </a:r>
          </a:p>
          <a:p>
            <a:pPr algn="just"/>
            <a:r>
              <a:rPr lang="pt-BR" b="1" i="1" dirty="0"/>
              <a:t>6- </a:t>
            </a:r>
            <a:r>
              <a:rPr lang="pt-BR" dirty="0"/>
              <a:t>Pode ser do tipo linear, quando apresenta a informação na horizontal e na vertical; piramidal, quando a informação está disposta em forma de pirâmide; e sistemático, quando as informações estão organizadas em forma de um quadro.</a:t>
            </a:r>
          </a:p>
        </p:txBody>
      </p:sp>
    </p:spTree>
    <p:extLst>
      <p:ext uri="{BB962C8B-B14F-4D97-AF65-F5344CB8AC3E}">
        <p14:creationId xmlns:p14="http://schemas.microsoft.com/office/powerpoint/2010/main" xmlns="" val="365921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Síntese do que foi tido anteriormente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28737"/>
            <a:ext cx="8229600" cy="3571900"/>
          </a:xfrm>
        </p:spPr>
        <p:txBody>
          <a:bodyPr/>
          <a:lstStyle/>
          <a:p>
            <a:pPr algn="just"/>
            <a:r>
              <a:rPr lang="pt-BR" dirty="0" smtClean="0"/>
              <a:t>Leia </a:t>
            </a:r>
            <a:r>
              <a:rPr lang="pt-BR" dirty="0"/>
              <a:t>o </a:t>
            </a:r>
            <a:r>
              <a:rPr lang="pt-BR" sz="2800" dirty="0"/>
              <a:t>texto mais </a:t>
            </a:r>
            <a:r>
              <a:rPr lang="pt-BR" dirty="0"/>
              <a:t>de uma vez</a:t>
            </a:r>
            <a:r>
              <a:rPr lang="pt-BR" dirty="0" smtClean="0"/>
              <a:t>;</a:t>
            </a:r>
          </a:p>
          <a:p>
            <a:pPr algn="just"/>
            <a:r>
              <a:rPr lang="pt-BR" dirty="0" smtClean="0"/>
              <a:t>Organize as </a:t>
            </a:r>
            <a:r>
              <a:rPr lang="pt-BR" dirty="0" err="1" smtClean="0"/>
              <a:t>ideias</a:t>
            </a:r>
            <a:r>
              <a:rPr lang="pt-BR" dirty="0" smtClean="0"/>
              <a:t> separando-as as principais das </a:t>
            </a:r>
            <a:r>
              <a:rPr lang="pt-BR" dirty="0" err="1" smtClean="0"/>
              <a:t>ideias</a:t>
            </a:r>
            <a:r>
              <a:rPr lang="pt-BR" dirty="0" smtClean="0"/>
              <a:t> secundárias. Estruture o esquema utilizando uma determinada forma.</a:t>
            </a:r>
            <a:endParaRPr lang="pt-BR" dirty="0"/>
          </a:p>
          <a:p>
            <a:pPr algn="just"/>
            <a:r>
              <a:rPr lang="pt-BR" dirty="0" smtClean="0"/>
              <a:t>Parta </a:t>
            </a:r>
            <a:r>
              <a:rPr lang="pt-BR" dirty="0"/>
              <a:t>sempre da ideia principal, só após para seus detalhes ( se estes forem importantes</a:t>
            </a:r>
            <a:r>
              <a:rPr lang="pt-BR" dirty="0" smtClean="0"/>
              <a:t>).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3170951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1700808"/>
            <a:ext cx="7772400" cy="1470025"/>
          </a:xfrm>
        </p:spPr>
        <p:txBody>
          <a:bodyPr>
            <a:normAutofit/>
          </a:bodyPr>
          <a:lstStyle/>
          <a:p>
            <a:r>
              <a:rPr lang="pt-BR" dirty="0" smtClean="0"/>
              <a:t>EXEMPLO DE ESQUEMA</a:t>
            </a:r>
            <a:endParaRPr lang="pt-BR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2699792" y="3501008"/>
            <a:ext cx="3704456" cy="1752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pt-BR" sz="2000" dirty="0" smtClean="0">
                <a:solidFill>
                  <a:schemeClr val="bg1"/>
                </a:solidFill>
              </a:rPr>
              <a:t>A História da Estatística</a:t>
            </a:r>
            <a:endParaRPr lang="pt-B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87917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36957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xmlns="" val="1553200587"/>
              </p:ext>
            </p:extLst>
          </p:nvPr>
        </p:nvGraphicFramePr>
        <p:xfrm>
          <a:off x="611560" y="457200"/>
          <a:ext cx="7920880" cy="6284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704475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1700808"/>
            <a:ext cx="7772400" cy="1470025"/>
          </a:xfrm>
        </p:spPr>
        <p:txBody>
          <a:bodyPr>
            <a:normAutofit/>
          </a:bodyPr>
          <a:lstStyle/>
          <a:p>
            <a:r>
              <a:rPr lang="pt-BR" dirty="0" smtClean="0"/>
              <a:t>EXEMPLO DE ESQUEMA</a:t>
            </a:r>
            <a:endParaRPr lang="pt-BR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2699792" y="3501008"/>
            <a:ext cx="3704456" cy="1752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pt-BR" sz="2000" dirty="0" smtClean="0">
                <a:solidFill>
                  <a:schemeClr val="bg1"/>
                </a:solidFill>
              </a:rPr>
              <a:t>Índices de obesidade no Brasil</a:t>
            </a:r>
            <a:endParaRPr lang="pt-B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93226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xmlns="" val="591899861"/>
              </p:ext>
            </p:extLst>
          </p:nvPr>
        </p:nvGraphicFramePr>
        <p:xfrm>
          <a:off x="251520" y="332656"/>
          <a:ext cx="8784976" cy="5976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006500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467544" y="188640"/>
            <a:ext cx="8280920" cy="6232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pt-BR" sz="1900" dirty="0" smtClean="0">
                <a:latin typeface="Arial" pitchFamily="34" charset="0"/>
                <a:cs typeface="Arial" pitchFamily="34" charset="0"/>
              </a:rPr>
              <a:t>Associação Brasileira para estudo da obesidade e da Síndrome Metabólica </a:t>
            </a:r>
          </a:p>
          <a:p>
            <a:endParaRPr lang="pt-BR" sz="19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1900" dirty="0" smtClean="0">
                <a:latin typeface="Arial" pitchFamily="34" charset="0"/>
                <a:cs typeface="Arial" pitchFamily="34" charset="0"/>
              </a:rPr>
              <a:t>1.1 Quase 60% dos brasileiros estão acima do peso.</a:t>
            </a:r>
          </a:p>
          <a:p>
            <a:endParaRPr lang="pt-BR" sz="19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1900" dirty="0" smtClean="0">
                <a:latin typeface="Arial" pitchFamily="34" charset="0"/>
                <a:cs typeface="Arial" pitchFamily="34" charset="0"/>
              </a:rPr>
              <a:t>1.2 Cerca de 82 milhões de pessoas apresentam o IMC igual ou maior do que 25 (sobrepeso ou obesidade).</a:t>
            </a:r>
          </a:p>
          <a:p>
            <a:endParaRPr lang="pt-BR" sz="19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1900" dirty="0" smtClean="0">
                <a:latin typeface="Arial" pitchFamily="34" charset="0"/>
                <a:cs typeface="Arial" pitchFamily="34" charset="0"/>
              </a:rPr>
              <a:t>1.3 Prevalência maior de excesso de peso no sexo feminino do que no sexo masculino.</a:t>
            </a:r>
          </a:p>
          <a:p>
            <a:endParaRPr lang="pt-BR" sz="19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1900" dirty="0" smtClean="0">
                <a:latin typeface="Arial" pitchFamily="34" charset="0"/>
                <a:cs typeface="Arial" pitchFamily="34" charset="0"/>
              </a:rPr>
              <a:t>1.4 Os dados mostram que a obesidade acomete um em cada cinco brasileiros de 18 anos ou mais. </a:t>
            </a:r>
          </a:p>
          <a:p>
            <a:endParaRPr lang="pt-BR" sz="19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1900" dirty="0" smtClean="0">
                <a:latin typeface="Arial" pitchFamily="34" charset="0"/>
                <a:cs typeface="Arial" pitchFamily="34" charset="0"/>
              </a:rPr>
              <a:t>1.5 O acumulo de gordura abdominal foi mais frequente no sexo feminino.</a:t>
            </a:r>
          </a:p>
          <a:p>
            <a:endParaRPr lang="pt-BR" sz="19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1900" dirty="0" smtClean="0">
                <a:latin typeface="Arial" pitchFamily="34" charset="0"/>
                <a:cs typeface="Arial" pitchFamily="34" charset="0"/>
              </a:rPr>
              <a:t>1.6 Os homens tiveram elevação em seus dados em relação a pressão arterial.</a:t>
            </a:r>
          </a:p>
          <a:p>
            <a:endParaRPr lang="pt-BR" sz="19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1900" dirty="0" smtClean="0">
                <a:latin typeface="Arial" pitchFamily="34" charset="0"/>
                <a:cs typeface="Arial" pitchFamily="34" charset="0"/>
              </a:rPr>
              <a:t>1.7 O excesso de gordura abdominal está associado ao risco de doenças </a:t>
            </a:r>
            <a:r>
              <a:rPr lang="pt-BR" sz="1900" dirty="0" err="1" smtClean="0">
                <a:latin typeface="Arial" pitchFamily="34" charset="0"/>
                <a:cs typeface="Arial" pitchFamily="34" charset="0"/>
              </a:rPr>
              <a:t>cardiometabólicas</a:t>
            </a:r>
            <a:r>
              <a:rPr lang="pt-BR" sz="1900" dirty="0" smtClean="0">
                <a:latin typeface="Arial" pitchFamily="34" charset="0"/>
                <a:cs typeface="Arial" pitchFamily="34" charset="0"/>
              </a:rPr>
              <a:t>.</a:t>
            </a:r>
            <a:endParaRPr lang="pt-BR" sz="19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775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GÊNEROS TEXTUAIS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828684"/>
          </a:xfrm>
        </p:spPr>
        <p:txBody>
          <a:bodyPr/>
          <a:lstStyle/>
          <a:p>
            <a:r>
              <a:rPr lang="pt-BR" dirty="0" err="1" smtClean="0">
                <a:solidFill>
                  <a:schemeClr val="tx1"/>
                </a:solidFill>
              </a:rPr>
              <a:t>Fichamento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2900" y="2971800"/>
            <a:ext cx="845661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733804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REGRAS ABNT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493096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7000" dirty="0" smtClean="0"/>
              <a:t>“(...)Um </a:t>
            </a:r>
            <a:r>
              <a:rPr lang="pt-BR" sz="7000" dirty="0"/>
              <a:t>fichamento assim como qualquer trabalho acadêmico deve cumprir as normas da ABNT( Associação Brasileira de Normas Técnicas) agregados a uma </a:t>
            </a:r>
            <a:r>
              <a:rPr lang="pt-BR" sz="7000" b="1" dirty="0"/>
              <a:t>linguagem formal </a:t>
            </a:r>
            <a:r>
              <a:rPr lang="pt-BR" sz="7000" dirty="0"/>
              <a:t>e </a:t>
            </a:r>
            <a:r>
              <a:rPr lang="pt-BR" sz="7000" b="1" dirty="0"/>
              <a:t>argumentos </a:t>
            </a:r>
            <a:r>
              <a:rPr lang="pt-BR" sz="7000" b="1" dirty="0" smtClean="0"/>
              <a:t>relevantes </a:t>
            </a:r>
            <a:r>
              <a:rPr lang="pt-BR" sz="7000" dirty="0"/>
              <a:t>ao artigo ou texto </a:t>
            </a:r>
            <a:r>
              <a:rPr lang="pt-BR" sz="7000" dirty="0" smtClean="0"/>
              <a:t>analisado.” :</a:t>
            </a:r>
            <a:endParaRPr lang="pt-BR" sz="7000" dirty="0"/>
          </a:p>
          <a:p>
            <a:r>
              <a:rPr lang="pt-BR" sz="7000" dirty="0" smtClean="0"/>
              <a:t>Destacar principais </a:t>
            </a:r>
            <a:r>
              <a:rPr lang="pt-BR" sz="7000" dirty="0" err="1" smtClean="0"/>
              <a:t>ideias</a:t>
            </a:r>
            <a:r>
              <a:rPr lang="pt-BR" sz="7000" dirty="0" smtClean="0"/>
              <a:t> centrais.</a:t>
            </a:r>
          </a:p>
          <a:p>
            <a:r>
              <a:rPr lang="pt-BR" sz="7000" dirty="0" smtClean="0"/>
              <a:t>Citação comprovando o que realmente esta escrito – </a:t>
            </a:r>
            <a:r>
              <a:rPr lang="pt-BR" sz="7000" dirty="0" err="1" smtClean="0"/>
              <a:t>fichamento</a:t>
            </a:r>
            <a:r>
              <a:rPr lang="pt-BR" sz="7000" dirty="0" smtClean="0"/>
              <a:t> de citação.</a:t>
            </a:r>
          </a:p>
          <a:p>
            <a:r>
              <a:rPr lang="pt-BR" sz="7000" dirty="0" smtClean="0"/>
              <a:t>Apresentado de acordo com texto original: Introdução, Desenvolvimento, Conclusão.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436978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CONCEITUAÇÃO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0034" y="164305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pt-BR" dirty="0" smtClean="0"/>
              <a:t>Não é resumo, embora possa conter síntese do texto.</a:t>
            </a:r>
          </a:p>
          <a:p>
            <a:pPr algn="just"/>
            <a:r>
              <a:rPr lang="pt-BR" dirty="0" smtClean="0"/>
              <a:t>Não é Paráfrase, embora possa conter uma. Paráfrase: Manter a </a:t>
            </a:r>
            <a:r>
              <a:rPr lang="pt-BR" dirty="0" err="1" smtClean="0"/>
              <a:t>ideia</a:t>
            </a:r>
            <a:r>
              <a:rPr lang="pt-BR" dirty="0" smtClean="0"/>
              <a:t> original do texto, escrever segundo as regras gramaticais ou texto formal – usando um vocabulário próprio.</a:t>
            </a:r>
          </a:p>
          <a:p>
            <a:pPr algn="just"/>
            <a:r>
              <a:rPr lang="pt-BR" dirty="0" smtClean="0"/>
              <a:t>  </a:t>
            </a:r>
            <a:r>
              <a:rPr lang="pt-BR" dirty="0" smtClean="0">
                <a:solidFill>
                  <a:srgbClr val="C00000"/>
                </a:solidFill>
              </a:rPr>
              <a:t>O </a:t>
            </a:r>
            <a:r>
              <a:rPr lang="pt-BR" dirty="0" err="1" smtClean="0">
                <a:solidFill>
                  <a:srgbClr val="C00000"/>
                </a:solidFill>
              </a:rPr>
              <a:t>fichamento</a:t>
            </a:r>
            <a:r>
              <a:rPr lang="pt-BR" dirty="0" smtClean="0">
                <a:solidFill>
                  <a:srgbClr val="C00000"/>
                </a:solidFill>
              </a:rPr>
              <a:t> é uma </a:t>
            </a:r>
            <a:r>
              <a:rPr lang="pt-BR" dirty="0">
                <a:solidFill>
                  <a:srgbClr val="C00000"/>
                </a:solidFill>
              </a:rPr>
              <a:t>forma organizada de registrar as informações obtidas na leitura de um texto. É a elaboração de fichas de leitura com o intuito de registrar informações sobre </a:t>
            </a:r>
            <a:r>
              <a:rPr lang="pt-BR" dirty="0" smtClean="0">
                <a:solidFill>
                  <a:srgbClr val="C00000"/>
                </a:solidFill>
              </a:rPr>
              <a:t>livros, textos, artigos etc.</a:t>
            </a:r>
            <a:endParaRPr lang="pt-B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85248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FICHAMENTO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/>
              <a:t> </a:t>
            </a:r>
            <a:r>
              <a:rPr lang="pt-BR" dirty="0" smtClean="0"/>
              <a:t>Pode ser utilizado para: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800" dirty="0" smtClean="0"/>
              <a:t>Identificar as obras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800" dirty="0" smtClean="0"/>
              <a:t>Conhecer seu conteúdo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800" dirty="0" smtClean="0"/>
              <a:t>Fazer citações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800" dirty="0" smtClean="0"/>
              <a:t>Analisar o material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800" dirty="0" smtClean="0"/>
              <a:t>Auxiliar e embasar a produção de texto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xmlns="" val="3540161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TIPOS DE FICHAMENTO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pt-BR" b="1" u="sng" dirty="0" smtClean="0"/>
              <a:t>Fichamento textual</a:t>
            </a:r>
            <a:r>
              <a:rPr lang="pt-BR" dirty="0" smtClean="0"/>
              <a:t>: é </a:t>
            </a:r>
            <a:r>
              <a:rPr lang="pt-BR" dirty="0"/>
              <a:t>o que capta a estrutura do texto, percorrendo a </a:t>
            </a:r>
            <a:r>
              <a:rPr lang="pt-BR" dirty="0" smtClean="0"/>
              <a:t>sequência </a:t>
            </a:r>
            <a:r>
              <a:rPr lang="pt-BR" dirty="0"/>
              <a:t>do pensamento do autor </a:t>
            </a:r>
            <a:r>
              <a:rPr lang="pt-BR" dirty="0" smtClean="0"/>
              <a:t>, destacando </a:t>
            </a:r>
            <a:r>
              <a:rPr lang="pt-BR" dirty="0" err="1" smtClean="0"/>
              <a:t>ideias</a:t>
            </a:r>
            <a:r>
              <a:rPr lang="pt-BR" dirty="0" smtClean="0"/>
              <a:t> principais e organizando-o em uma estrutura de </a:t>
            </a:r>
            <a:r>
              <a:rPr lang="pt-BR" dirty="0" err="1" smtClean="0"/>
              <a:t>fichamento</a:t>
            </a:r>
            <a:r>
              <a:rPr lang="pt-BR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u="sng" dirty="0" smtClean="0"/>
              <a:t>Fichamento temático</a:t>
            </a:r>
            <a:r>
              <a:rPr lang="pt-BR" dirty="0" smtClean="0"/>
              <a:t>: reúne </a:t>
            </a:r>
            <a:r>
              <a:rPr lang="pt-BR" dirty="0"/>
              <a:t>elementos relevantes (conceitos, fatos, </a:t>
            </a:r>
            <a:r>
              <a:rPr lang="pt-BR" dirty="0" smtClean="0"/>
              <a:t>ideias, </a:t>
            </a:r>
            <a:r>
              <a:rPr lang="pt-BR" dirty="0"/>
              <a:t>informações) do conteúdo de um tema ou de uma área de </a:t>
            </a:r>
            <a:r>
              <a:rPr lang="pt-BR" dirty="0" smtClean="0"/>
              <a:t>estudo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u="sng" dirty="0" err="1" smtClean="0"/>
              <a:t>Fichamento</a:t>
            </a:r>
            <a:r>
              <a:rPr lang="pt-BR" b="1" u="sng" dirty="0" smtClean="0"/>
              <a:t> de comentário</a:t>
            </a:r>
            <a:r>
              <a:rPr lang="pt-BR" dirty="0" smtClean="0"/>
              <a:t>:  </a:t>
            </a:r>
            <a:r>
              <a:rPr lang="pt-BR" dirty="0"/>
              <a:t>consiste </a:t>
            </a:r>
            <a:r>
              <a:rPr lang="pt-BR" dirty="0" smtClean="0"/>
              <a:t>em apresentar as </a:t>
            </a:r>
            <a:r>
              <a:rPr lang="pt-BR" dirty="0" err="1" smtClean="0"/>
              <a:t>ideias</a:t>
            </a:r>
            <a:r>
              <a:rPr lang="pt-BR" dirty="0" smtClean="0"/>
              <a:t> centrais através de comentários acerca do que   </a:t>
            </a:r>
            <a:r>
              <a:rPr lang="pt-BR" dirty="0"/>
              <a:t>trata a </a:t>
            </a:r>
            <a:r>
              <a:rPr lang="pt-BR" dirty="0" smtClean="0"/>
              <a:t>obra.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dirty="0" err="1" smtClean="0"/>
              <a:t>Fichamento</a:t>
            </a:r>
            <a:r>
              <a:rPr lang="pt-BR" b="1" dirty="0" smtClean="0"/>
              <a:t>  de citação</a:t>
            </a:r>
            <a:r>
              <a:rPr lang="pt-BR" dirty="0" smtClean="0"/>
              <a:t>: Segue a ordem linear do texto, faz uso das aspas e parênteses. Ex. “ ... </a:t>
            </a:r>
            <a:r>
              <a:rPr lang="pt-BR" dirty="0" err="1" smtClean="0"/>
              <a:t>Oihsaoihgfiohfgoihf</a:t>
            </a:r>
            <a:r>
              <a:rPr lang="pt-BR" dirty="0" smtClean="0"/>
              <a:t>” AUTOR, p., ano ou (...) </a:t>
            </a:r>
            <a:r>
              <a:rPr lang="pt-BR" dirty="0" err="1" smtClean="0"/>
              <a:t>ioifhobdifsghdvfvhvo</a:t>
            </a:r>
            <a:r>
              <a:rPr lang="pt-BR" dirty="0" smtClean="0"/>
              <a:t>, AUTOR, p. ano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xmlns="" val="2403474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FICHAS DE LEITURA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São fichas resultantes das leituras do pesquisador.</a:t>
            </a:r>
          </a:p>
          <a:p>
            <a:pPr marL="0" indent="0" algn="just">
              <a:buNone/>
            </a:pPr>
            <a:r>
              <a:rPr lang="pt-BR" sz="2800" dirty="0" smtClean="0"/>
              <a:t>Objetivos:</a:t>
            </a:r>
          </a:p>
          <a:p>
            <a:pPr marL="514350" indent="-514350" algn="just">
              <a:buFont typeface="+mj-lt"/>
              <a:buAutoNum type="alphaUcPeriod"/>
            </a:pPr>
            <a:r>
              <a:rPr lang="pt-BR" sz="2800" dirty="0" smtClean="0"/>
              <a:t>Analisar material colhido na pesquisa (ficha analítica ou de comentário);</a:t>
            </a:r>
          </a:p>
          <a:p>
            <a:pPr marL="514350" indent="-514350" algn="just">
              <a:buFont typeface="+mj-lt"/>
              <a:buAutoNum type="alphaUcPeriod"/>
            </a:pPr>
            <a:r>
              <a:rPr lang="pt-BR" sz="2800" dirty="0" smtClean="0"/>
              <a:t>Fazer citação (ficha de transcrição);</a:t>
            </a:r>
          </a:p>
          <a:p>
            <a:pPr marL="514350" indent="-514350" algn="just">
              <a:buFont typeface="+mj-lt"/>
              <a:buAutoNum type="alphaUcPeriod"/>
            </a:pPr>
            <a:r>
              <a:rPr lang="pt-BR" sz="2800" dirty="0" smtClean="0"/>
              <a:t>Resumir uma obra ou parte dela (ficha de resumo).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xmlns="" val="493596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Material utilizado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pt-BR" dirty="0" smtClean="0"/>
              <a:t>Podemos utilizar folhas de papel A4 dobradas ao meio ou em quatro partes iguais.</a:t>
            </a:r>
          </a:p>
          <a:p>
            <a:pPr algn="just">
              <a:buFont typeface="Wingdings" pitchFamily="2" charset="2"/>
              <a:buChar char="§"/>
            </a:pPr>
            <a:r>
              <a:rPr lang="pt-BR" dirty="0" smtClean="0"/>
              <a:t>Também podemos comprar nas papelarias já padronizadas.</a:t>
            </a:r>
          </a:p>
          <a:p>
            <a:pPr algn="just">
              <a:buFont typeface="Wingdings" pitchFamily="2" charset="2"/>
              <a:buChar char="§"/>
            </a:pPr>
            <a:r>
              <a:rPr lang="pt-BR" dirty="0" smtClean="0"/>
              <a:t>Cadernos A/Z</a:t>
            </a:r>
          </a:p>
          <a:p>
            <a:pPr algn="just">
              <a:buFont typeface="Wingdings" pitchFamily="2" charset="2"/>
              <a:buChar char="§"/>
            </a:pPr>
            <a:r>
              <a:rPr lang="pt-BR" dirty="0" smtClean="0"/>
              <a:t>Arquivos de computadores.</a:t>
            </a:r>
          </a:p>
        </p:txBody>
      </p:sp>
    </p:spTree>
    <p:extLst>
      <p:ext uri="{BB962C8B-B14F-4D97-AF65-F5344CB8AC3E}">
        <p14:creationId xmlns:p14="http://schemas.microsoft.com/office/powerpoint/2010/main" xmlns="" val="676694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Modelo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52525" y="1710531"/>
            <a:ext cx="6076950" cy="4305300"/>
          </a:xfrm>
        </p:spPr>
      </p:pic>
    </p:spTree>
    <p:extLst>
      <p:ext uri="{BB962C8B-B14F-4D97-AF65-F5344CB8AC3E}">
        <p14:creationId xmlns:p14="http://schemas.microsoft.com/office/powerpoint/2010/main" xmlns="" val="3373375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dirty="0" smtClean="0"/>
              <a:t>FICHAMENTO DE RESUMO (1ª Exemplo)</a:t>
            </a:r>
            <a:endParaRPr lang="pt-BR" sz="2800" b="1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447531728"/>
              </p:ext>
            </p:extLst>
          </p:nvPr>
        </p:nvGraphicFramePr>
        <p:xfrm>
          <a:off x="500034" y="1643050"/>
          <a:ext cx="7467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7600"/>
              </a:tblGrid>
              <a:tr h="31147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Obesidade:</a:t>
                      </a:r>
                      <a:r>
                        <a:rPr kumimoji="0" lang="pt-BR" sz="1800" b="1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Quase 60 % dos brasileiros estão acima do peso, revela IBGE.</a:t>
                      </a:r>
                    </a:p>
                    <a:p>
                      <a:pPr algn="just"/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OBESO – Associação brasileira para estudo da obesidade e a síndrome metabólica, ( IBGE, 21 de agosto de 2015)</a:t>
                      </a:r>
                    </a:p>
                    <a:p>
                      <a:pPr algn="just"/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vl="0" algn="just"/>
                      <a:r>
                        <a:rPr kumimoji="0" lang="pt-BR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trabalho do site  baseia-se em análise de dados coletados em relação a obesidade, em comparações de institutos ( IBGE E VIIGITTAL).</a:t>
                      </a:r>
                      <a:r>
                        <a:rPr kumimoji="0" lang="pt-BR" sz="18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Dados coletados</a:t>
                      </a:r>
                      <a:r>
                        <a:rPr kumimoji="0" lang="pt-BR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entre 2013 e 2015.</a:t>
                      </a:r>
                    </a:p>
                    <a:p>
                      <a:pPr algn="just"/>
                      <a:r>
                        <a:rPr kumimoji="0" lang="pt-BR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informação contida no texto tem como objetivo</a:t>
                      </a:r>
                      <a:r>
                        <a:rPr kumimoji="0" lang="pt-BR" sz="18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alertar a população sobre</a:t>
                      </a:r>
                      <a:r>
                        <a:rPr kumimoji="0" lang="pt-BR" sz="18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 grande número de pessoas com</a:t>
                      </a:r>
                      <a:r>
                        <a:rPr kumimoji="0" lang="pt-BR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excesso de peso, através de um</a:t>
                      </a:r>
                      <a:r>
                        <a:rPr kumimoji="0" lang="pt-BR" sz="18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estudo envolvendo</a:t>
                      </a:r>
                      <a:r>
                        <a:rPr kumimoji="0" lang="pt-BR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faixa etária e sexo.</a:t>
                      </a:r>
                    </a:p>
                    <a:p>
                      <a:pPr algn="just"/>
                      <a:r>
                        <a:rPr kumimoji="0" lang="pt-BR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Trabalhando com porcentagem, os autores mostram a verdadeira situação da saúde em relação a obesidade.</a:t>
                      </a:r>
                    </a:p>
                    <a:p>
                      <a:pPr algn="just"/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472560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dirty="0" smtClean="0"/>
              <a:t>2ª exemplo</a:t>
            </a:r>
            <a:endParaRPr lang="pt-BR" sz="2800" b="1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931219607"/>
              </p:ext>
            </p:extLst>
          </p:nvPr>
        </p:nvGraphicFramePr>
        <p:xfrm>
          <a:off x="457200" y="1600200"/>
          <a:ext cx="7467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76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Estatística:  Historia da estatística (site, portal educação)</a:t>
                      </a:r>
                    </a:p>
                    <a:p>
                      <a:pPr algn="just"/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Artigo de administração e gestão. Portal educação, artigo por colunista portal - educação – terça - feira, 29 de janeiro de 2013.</a:t>
                      </a:r>
                    </a:p>
                    <a:p>
                      <a:pPr algn="just"/>
                      <a:endParaRPr lang="pt-BR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vl="0" algn="just"/>
                      <a:r>
                        <a:rPr kumimoji="0" lang="pt-BR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texto em forma de artigo mostra a historia da estatística e seus significados desde o séc. XVIII.</a:t>
                      </a:r>
                    </a:p>
                    <a:p>
                      <a:pPr algn="just"/>
                      <a:r>
                        <a:rPr kumimoji="0" lang="pt-BR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 estrutura, o texto cita suas classificações e objetivos  durante os anos citados em séculos ,especificando seu  conteúdo de analise. O texto se preocupa em mostrar a historia e surgimento especificando principais responsáveis pelo desenvolvimento da estatística. </a:t>
                      </a:r>
                    </a:p>
                    <a:p>
                      <a:pPr algn="just"/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489338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dirty="0" smtClean="0"/>
              <a:t>3º Exemplo</a:t>
            </a:r>
            <a:endParaRPr lang="pt-BR" sz="2800" b="1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833473500"/>
              </p:ext>
            </p:extLst>
          </p:nvPr>
        </p:nvGraphicFramePr>
        <p:xfrm>
          <a:off x="357158" y="1571612"/>
          <a:ext cx="7467600" cy="3325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7600"/>
              </a:tblGrid>
              <a:tr h="481876">
                <a:tc>
                  <a:txBody>
                    <a:bodyPr/>
                    <a:lstStyle/>
                    <a:p>
                      <a:r>
                        <a:rPr lang="pt-BR" dirty="0" smtClean="0"/>
                        <a:t>                                              Incertezas sobre a Microcefalia                           01</a:t>
                      </a:r>
                      <a:endParaRPr lang="pt-BR" dirty="0"/>
                    </a:p>
                  </a:txBody>
                  <a:tcPr/>
                </a:tc>
              </a:tr>
              <a:tr h="831732">
                <a:tc>
                  <a:txBody>
                    <a:bodyPr/>
                    <a:lstStyle/>
                    <a:p>
                      <a:r>
                        <a:rPr lang="pt-BR" dirty="0" smtClean="0"/>
                        <a:t>ZORZETTO,</a:t>
                      </a:r>
                      <a:r>
                        <a:rPr lang="pt-BR" baseline="0" dirty="0" smtClean="0"/>
                        <a:t> Ricardo</a:t>
                      </a:r>
                      <a:r>
                        <a:rPr lang="pt-BR" b="1" baseline="0" dirty="0" smtClean="0"/>
                        <a:t>. Incertezas sobre a microcefalia</a:t>
                      </a:r>
                      <a:r>
                        <a:rPr lang="pt-BR" baseline="0" dirty="0" smtClean="0"/>
                        <a:t>. Pesquisa Fapesp.  ANO,Pag. 15 a 19.</a:t>
                      </a:r>
                      <a:endParaRPr lang="pt-BR" dirty="0"/>
                    </a:p>
                  </a:txBody>
                  <a:tcPr/>
                </a:tc>
              </a:tr>
              <a:tr h="1901102">
                <a:tc>
                  <a:txBody>
                    <a:bodyPr/>
                    <a:lstStyle/>
                    <a:p>
                      <a:r>
                        <a:rPr lang="pt-BR" dirty="0" smtClean="0"/>
                        <a:t>O autor</a:t>
                      </a:r>
                      <a:r>
                        <a:rPr lang="pt-BR" baseline="0" dirty="0" smtClean="0"/>
                        <a:t> e</a:t>
                      </a:r>
                      <a:r>
                        <a:rPr lang="pt-BR" dirty="0" smtClean="0"/>
                        <a:t>sclarece que o aumento dos casos de microcefalia pode não se</a:t>
                      </a:r>
                      <a:r>
                        <a:rPr lang="pt-BR" baseline="0" dirty="0" smtClean="0"/>
                        <a:t> dever ao aumento do </a:t>
                      </a:r>
                      <a:r>
                        <a:rPr lang="pt-BR" baseline="0" dirty="0" err="1" smtClean="0"/>
                        <a:t>zika</a:t>
                      </a:r>
                      <a:r>
                        <a:rPr lang="pt-BR" baseline="0" dirty="0" smtClean="0"/>
                        <a:t> vírus, mas sim a falta de dados anteriores ao seu aparecimento. </a:t>
                      </a:r>
                      <a:r>
                        <a:rPr lang="pt-BR" baseline="0" dirty="0" smtClean="0">
                          <a:solidFill>
                            <a:srgbClr val="C00000"/>
                          </a:solidFill>
                        </a:rPr>
                        <a:t>Então</a:t>
                      </a:r>
                      <a:r>
                        <a:rPr lang="pt-BR" baseline="0" dirty="0" smtClean="0"/>
                        <a:t>, não há como saber a  porcentagem dos casos de microcefalia que são relacionadas ao </a:t>
                      </a:r>
                      <a:r>
                        <a:rPr lang="pt-BR" baseline="0" dirty="0" err="1" smtClean="0"/>
                        <a:t>zika</a:t>
                      </a:r>
                      <a:r>
                        <a:rPr lang="pt-BR" baseline="0" dirty="0" smtClean="0"/>
                        <a:t> vírus, ou </a:t>
                      </a:r>
                      <a:r>
                        <a:rPr lang="pt-BR" baseline="0" dirty="0" smtClean="0">
                          <a:solidFill>
                            <a:srgbClr val="C00000"/>
                          </a:solidFill>
                        </a:rPr>
                        <a:t>a desnutrição, a ingestão de álcool, o fumo durante a gravidez, entre outros.</a:t>
                      </a:r>
                    </a:p>
                    <a:p>
                      <a:r>
                        <a:rPr lang="pt-BR" baseline="0" dirty="0" smtClean="0">
                          <a:solidFill>
                            <a:srgbClr val="C00000"/>
                          </a:solidFill>
                        </a:rPr>
                        <a:t>Tipo de </a:t>
                      </a:r>
                      <a:r>
                        <a:rPr lang="pt-BR" baseline="0" dirty="0" err="1" smtClean="0">
                          <a:solidFill>
                            <a:srgbClr val="C00000"/>
                          </a:solidFill>
                        </a:rPr>
                        <a:t>Fichamento</a:t>
                      </a:r>
                      <a:r>
                        <a:rPr lang="pt-BR" baseline="0" dirty="0" smtClean="0">
                          <a:solidFill>
                            <a:srgbClr val="C00000"/>
                          </a:solidFill>
                        </a:rPr>
                        <a:t>:  Comentário.</a:t>
                      </a:r>
                    </a:p>
                    <a:p>
                      <a:r>
                        <a:rPr lang="pt-BR" baseline="0" dirty="0" smtClean="0">
                          <a:solidFill>
                            <a:srgbClr val="C00000"/>
                          </a:solidFill>
                        </a:rPr>
                        <a:t>Local onde se encontra a obra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231507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dirty="0" smtClean="0"/>
              <a:t>4º Exemplo</a:t>
            </a:r>
            <a:endParaRPr lang="pt-BR" sz="2800" b="1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770977078"/>
              </p:ext>
            </p:extLst>
          </p:nvPr>
        </p:nvGraphicFramePr>
        <p:xfrm>
          <a:off x="428596" y="2428868"/>
          <a:ext cx="7467600" cy="3308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7600"/>
              </a:tblGrid>
              <a:tr h="405899">
                <a:tc>
                  <a:txBody>
                    <a:bodyPr/>
                    <a:lstStyle/>
                    <a:p>
                      <a:r>
                        <a:rPr lang="pt-BR" dirty="0" smtClean="0"/>
                        <a:t>Transcrição:                                                               </a:t>
                      </a:r>
                      <a:r>
                        <a:rPr lang="pt-BR" baseline="0" dirty="0" smtClean="0"/>
                        <a:t> Aumento Atípico </a:t>
                      </a:r>
                      <a:endParaRPr lang="pt-BR" dirty="0"/>
                    </a:p>
                  </a:txBody>
                  <a:tcPr/>
                </a:tc>
              </a:tr>
              <a:tr h="7005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ZORZETTO,</a:t>
                      </a:r>
                      <a:r>
                        <a:rPr lang="pt-BR" baseline="0" dirty="0" smtClean="0"/>
                        <a:t> Ricardo</a:t>
                      </a:r>
                      <a:r>
                        <a:rPr lang="pt-BR" b="1" baseline="0" dirty="0" smtClean="0"/>
                        <a:t>. Incertezas sobre a microcefalia</a:t>
                      </a:r>
                      <a:r>
                        <a:rPr lang="pt-BR" baseline="0" dirty="0" smtClean="0"/>
                        <a:t>. Pesquisa Fapesp. Pag. 15 a 19. </a:t>
                      </a:r>
                      <a:r>
                        <a:rPr lang="pt-BR" b="1" baseline="0" dirty="0" smtClean="0"/>
                        <a:t>ANO</a:t>
                      </a:r>
                      <a:endParaRPr lang="pt-BR" b="1" dirty="0" smtClean="0"/>
                    </a:p>
                  </a:txBody>
                  <a:tcPr/>
                </a:tc>
              </a:tr>
              <a:tr h="2201861">
                <a:tc>
                  <a:txBody>
                    <a:bodyPr/>
                    <a:lstStyle/>
                    <a:p>
                      <a:r>
                        <a:rPr lang="pt-BR" dirty="0" smtClean="0"/>
                        <a:t>‘‘Microcefalia é um termo</a:t>
                      </a:r>
                      <a:r>
                        <a:rPr lang="pt-BR" baseline="0" dirty="0" smtClean="0"/>
                        <a:t> de origem grega usado pelos médicos para designar uma condição em que as crianças nascem com a cabeça pequena demais para o seu tempo de gestação. </a:t>
                      </a:r>
                    </a:p>
                    <a:p>
                      <a:r>
                        <a:rPr lang="pt-BR" baseline="0" dirty="0" smtClean="0"/>
                        <a:t>(...)</a:t>
                      </a:r>
                    </a:p>
                    <a:p>
                      <a:r>
                        <a:rPr lang="pt-BR" baseline="0" dirty="0" smtClean="0"/>
                        <a:t>No caso do tamanho do crânio, os 32 centímetros adotados pelo ministério representam o ponto de corte (...) a cabeça dos bebês considerados saudáveis costuma medir algo em torno de 34,5 cm, segundo os dados da OMS.’’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216991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dirty="0" smtClean="0"/>
              <a:t>5º Exemplo</a:t>
            </a:r>
            <a:endParaRPr lang="pt-BR" sz="2800" b="1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126753722"/>
              </p:ext>
            </p:extLst>
          </p:nvPr>
        </p:nvGraphicFramePr>
        <p:xfrm>
          <a:off x="457200" y="1600200"/>
          <a:ext cx="7467600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7600"/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Comentário:      </a:t>
                      </a:r>
                      <a:r>
                        <a:rPr lang="pt-BR" baseline="0" dirty="0" smtClean="0"/>
                        <a:t>                                                           Criação do texto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ZORZETTO,</a:t>
                      </a:r>
                      <a:r>
                        <a:rPr lang="pt-BR" baseline="0" dirty="0" smtClean="0"/>
                        <a:t> Ricardo</a:t>
                      </a:r>
                      <a:r>
                        <a:rPr lang="pt-BR" i="1" u="none" baseline="0" dirty="0" smtClean="0"/>
                        <a:t>. </a:t>
                      </a:r>
                      <a:r>
                        <a:rPr lang="pt-BR" b="0" i="1" u="none" baseline="0" dirty="0" smtClean="0"/>
                        <a:t>Certezas sobre a </a:t>
                      </a:r>
                      <a:r>
                        <a:rPr lang="pt-BR" b="0" i="1" u="none" baseline="0" dirty="0" err="1" smtClean="0"/>
                        <a:t>miIncrocefalia</a:t>
                      </a:r>
                      <a:r>
                        <a:rPr lang="pt-BR" i="1" baseline="0" dirty="0" smtClean="0"/>
                        <a:t>. </a:t>
                      </a:r>
                      <a:r>
                        <a:rPr lang="pt-BR" baseline="0" dirty="0" smtClean="0"/>
                        <a:t>Pesquisa Fapesp. Pag. 15 a 19.</a:t>
                      </a:r>
                      <a:r>
                        <a:rPr lang="pt-BR" b="1" baseline="0" dirty="0" smtClean="0"/>
                        <a:t> ANO.</a:t>
                      </a:r>
                      <a:endParaRPr lang="pt-BR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O texto é cansativo, se repete muito a mesma informação, como</a:t>
                      </a:r>
                      <a:r>
                        <a:rPr lang="pt-BR" baseline="0" dirty="0" smtClean="0"/>
                        <a:t> exemplo o ponto de corte de quando será considerado casos de microcefalia. O autor argumenta bem a falta de dados estatísticos que há sobre os casos, tentando mostrar que também podem ser, em alguns casos, apenas erros de relatório.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132407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GÊNEROS TEXTUAIS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tx1"/>
                </a:solidFill>
              </a:rPr>
              <a:t>Resumo: O que é, qual estrutura, qual a função e tipos de resumo.</a:t>
            </a:r>
            <a:endParaRPr lang="pt-B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CONCEITUAÇÃO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 smtClean="0"/>
              <a:t> 	O resumo, de acordo com a ABNT, é a “(...)  apresentação </a:t>
            </a:r>
            <a:r>
              <a:rPr lang="pt-BR" dirty="0" smtClean="0">
                <a:solidFill>
                  <a:srgbClr val="C00000"/>
                </a:solidFill>
              </a:rPr>
              <a:t>concisa</a:t>
            </a:r>
            <a:r>
              <a:rPr lang="pt-BR" dirty="0" smtClean="0"/>
              <a:t> dos </a:t>
            </a:r>
            <a:r>
              <a:rPr lang="pt-BR" dirty="0" smtClean="0">
                <a:solidFill>
                  <a:srgbClr val="C00000"/>
                </a:solidFill>
              </a:rPr>
              <a:t>pontos relevantes </a:t>
            </a:r>
            <a:r>
              <a:rPr lang="pt-BR" dirty="0" smtClean="0"/>
              <a:t>de um </a:t>
            </a:r>
            <a:r>
              <a:rPr lang="pt-BR" dirty="0" smtClean="0">
                <a:solidFill>
                  <a:srgbClr val="FF0000"/>
                </a:solidFill>
              </a:rPr>
              <a:t>texto</a:t>
            </a:r>
            <a:r>
              <a:rPr lang="pt-BR" dirty="0" smtClean="0"/>
              <a:t>, fornecendo uma visão rápida e clara do conteúdo e das conclusões do trabalho”.</a:t>
            </a:r>
            <a:r>
              <a:rPr lang="pt-BR" dirty="0" smtClean="0">
                <a:solidFill>
                  <a:srgbClr val="C00000"/>
                </a:solidFill>
              </a:rPr>
              <a:t> Autor, Ano, p.</a:t>
            </a:r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FINALIDADE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 algn="just">
              <a:defRPr/>
            </a:pPr>
            <a:r>
              <a:rPr lang="pt-BR" dirty="0" smtClean="0"/>
              <a:t> 	O resumo tem por fim/por finalidade/objetivo difundir as principais informações contidas em artigos, livros, revistas, teses e textos diversos.</a:t>
            </a:r>
          </a:p>
          <a:p>
            <a:pPr marL="274320" indent="-274320" algn="just">
              <a:buFont typeface="Wingdings 3"/>
              <a:buChar char=""/>
              <a:defRPr/>
            </a:pP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PROCEDIMENTOS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 smtClean="0"/>
              <a:t> 	O autor, ao começar o resumo deve responder basicamente a duas perguntas: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pt-BR" dirty="0" smtClean="0"/>
              <a:t>Qual é o tema do texto?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pt-BR" dirty="0" smtClean="0"/>
              <a:t>O que o autor pretende demonstrar?</a:t>
            </a:r>
          </a:p>
          <a:p>
            <a:pPr marL="514350" indent="-514350" algn="just"/>
            <a:r>
              <a:rPr lang="pt-BR" dirty="0" smtClean="0"/>
              <a:t> 	E deve-se ater as </a:t>
            </a:r>
            <a:r>
              <a:rPr lang="pt-BR" dirty="0" smtClean="0">
                <a:solidFill>
                  <a:srgbClr val="C00000"/>
                </a:solidFill>
              </a:rPr>
              <a:t>ideias principais </a:t>
            </a:r>
            <a:r>
              <a:rPr lang="pt-BR" dirty="0" smtClean="0"/>
              <a:t>do texto e </a:t>
            </a:r>
            <a:r>
              <a:rPr lang="pt-BR" dirty="0" smtClean="0">
                <a:solidFill>
                  <a:srgbClr val="C00000"/>
                </a:solidFill>
              </a:rPr>
              <a:t>sua articulação.</a:t>
            </a:r>
            <a:endParaRPr lang="pt-BR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VANTAGENS DO RESUMO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Reduz o texto sem destruir-lhe o conteúdo essencial</a:t>
            </a:r>
            <a:r>
              <a:rPr lang="pt-BR" dirty="0" smtClean="0"/>
              <a:t>. </a:t>
            </a:r>
            <a:r>
              <a:rPr lang="pt-BR" dirty="0" smtClean="0">
                <a:solidFill>
                  <a:srgbClr val="C00000"/>
                </a:solidFill>
              </a:rPr>
              <a:t>Fidelidade ao texto fonte</a:t>
            </a:r>
            <a:r>
              <a:rPr lang="pt-BR" dirty="0" smtClean="0"/>
              <a:t>!</a:t>
            </a:r>
            <a:endParaRPr lang="pt-BR" dirty="0" smtClean="0"/>
          </a:p>
          <a:p>
            <a:pPr algn="just"/>
            <a:r>
              <a:rPr lang="pt-BR" dirty="0" smtClean="0"/>
              <a:t>Favorece a retenção de informações essenciais.</a:t>
            </a:r>
          </a:p>
          <a:p>
            <a:pPr algn="just"/>
            <a:r>
              <a:rPr lang="pt-BR" dirty="0" smtClean="0"/>
              <a:t>Possibilita a participação ativa na aprendizagem.</a:t>
            </a:r>
          </a:p>
          <a:p>
            <a:pPr algn="just"/>
            <a:r>
              <a:rPr lang="pt-BR" dirty="0" smtClean="0"/>
              <a:t>Economiza o tempo de pesquisa.</a:t>
            </a:r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NORMAS DE ELABORAÇÃO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70000" lnSpcReduction="20000"/>
          </a:bodyPr>
          <a:lstStyle/>
          <a:p>
            <a:pPr marL="274320" indent="-274320" algn="just">
              <a:defRPr/>
            </a:pPr>
            <a:r>
              <a:rPr lang="pt-BR" dirty="0" smtClean="0"/>
              <a:t>Primeiramente, </a:t>
            </a:r>
            <a:r>
              <a:rPr lang="pt-BR" dirty="0" smtClean="0">
                <a:solidFill>
                  <a:srgbClr val="FF0000"/>
                </a:solidFill>
              </a:rPr>
              <a:t>ler todo o texto</a:t>
            </a:r>
            <a:r>
              <a:rPr lang="pt-BR" dirty="0" smtClean="0"/>
              <a:t>, esclarecer dúvidas sobre o mesmo, sublinhar e anotar observações à sua margem direita.</a:t>
            </a:r>
          </a:p>
          <a:p>
            <a:pPr marL="274320" indent="-274320" algn="just">
              <a:defRPr/>
            </a:pPr>
            <a:r>
              <a:rPr lang="pt-BR" dirty="0" smtClean="0"/>
              <a:t>Ser </a:t>
            </a:r>
            <a:r>
              <a:rPr lang="pt-BR" dirty="0" smtClean="0">
                <a:solidFill>
                  <a:srgbClr val="FF0000"/>
                </a:solidFill>
              </a:rPr>
              <a:t>breve,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C00000"/>
                </a:solidFill>
              </a:rPr>
              <a:t>objetivo </a:t>
            </a:r>
            <a:r>
              <a:rPr lang="pt-BR" dirty="0" smtClean="0"/>
              <a:t>e </a:t>
            </a:r>
            <a:r>
              <a:rPr lang="pt-BR" dirty="0" smtClean="0">
                <a:solidFill>
                  <a:srgbClr val="C00000"/>
                </a:solidFill>
              </a:rPr>
              <a:t>claro</a:t>
            </a:r>
            <a:r>
              <a:rPr lang="pt-BR" dirty="0" smtClean="0"/>
              <a:t>, ou seja, buscar relatar apenas a essência do texto.</a:t>
            </a:r>
          </a:p>
          <a:p>
            <a:pPr marL="274320" indent="-274320" algn="just">
              <a:defRPr/>
            </a:pPr>
            <a:r>
              <a:rPr lang="pt-BR" dirty="0" smtClean="0"/>
              <a:t>Destacar as ideias principais e palavras-chaves do texto, objetivando uni-las de modo </a:t>
            </a:r>
            <a:r>
              <a:rPr lang="pt-BR" dirty="0" smtClean="0">
                <a:solidFill>
                  <a:srgbClr val="FF0000"/>
                </a:solidFill>
              </a:rPr>
              <a:t>lógico</a:t>
            </a:r>
            <a:r>
              <a:rPr lang="pt-BR" dirty="0" smtClean="0"/>
              <a:t>, como se compusessem um telegrama.</a:t>
            </a:r>
          </a:p>
          <a:p>
            <a:pPr marL="274320" indent="-274320" algn="just">
              <a:defRPr/>
            </a:pPr>
            <a:r>
              <a:rPr lang="pt-BR" dirty="0" smtClean="0">
                <a:solidFill>
                  <a:srgbClr val="FF0000"/>
                </a:solidFill>
              </a:rPr>
              <a:t>Usar aspas </a:t>
            </a:r>
            <a:r>
              <a:rPr lang="pt-BR" dirty="0" smtClean="0"/>
              <a:t>e fazer referências completas quando transcrever literalmente as expressões do texto</a:t>
            </a:r>
            <a:r>
              <a:rPr lang="pt-BR" dirty="0" smtClean="0">
                <a:solidFill>
                  <a:srgbClr val="FF0000"/>
                </a:solidFill>
              </a:rPr>
              <a:t>. AUTOR, Ano, PG</a:t>
            </a:r>
            <a:endParaRPr lang="pt-BR" dirty="0" smtClean="0">
              <a:solidFill>
                <a:srgbClr val="FF0000"/>
              </a:solidFill>
            </a:endParaRPr>
          </a:p>
          <a:p>
            <a:pPr marL="274320" indent="-274320" algn="just">
              <a:defRPr/>
            </a:pPr>
            <a:r>
              <a:rPr lang="pt-BR" dirty="0" smtClean="0"/>
              <a:t>Ao final desse trabalho, juntar as informações mais importantes e os destaques do texto, procedendo ao resumo, em bloco único de ideias, o mais objetivamente possível</a:t>
            </a:r>
            <a:r>
              <a:rPr lang="pt-BR" dirty="0" smtClean="0"/>
              <a:t>.</a:t>
            </a:r>
          </a:p>
          <a:p>
            <a:pPr marL="274320" indent="-274320" algn="just">
              <a:defRPr/>
            </a:pPr>
            <a:r>
              <a:rPr lang="pt-BR" dirty="0" smtClean="0"/>
              <a:t>Lembrar da coerência e coesão.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RESUMO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 algn="just">
              <a:defRPr/>
            </a:pPr>
            <a:r>
              <a:rPr lang="pt-BR" u="sng" dirty="0" smtClean="0"/>
              <a:t>Resumo</a:t>
            </a:r>
            <a:r>
              <a:rPr lang="pt-BR" b="1" u="sng" dirty="0" smtClean="0"/>
              <a:t> </a:t>
            </a:r>
            <a:r>
              <a:rPr lang="pt-BR" u="sng" dirty="0" smtClean="0"/>
              <a:t>indicativo</a:t>
            </a:r>
            <a:r>
              <a:rPr lang="pt-BR" b="1" dirty="0" smtClean="0"/>
              <a:t>:</a:t>
            </a:r>
            <a:r>
              <a:rPr lang="pt-BR" dirty="0" smtClean="0"/>
              <a:t> expõe uma visão geral do conteúdo do texto.</a:t>
            </a:r>
          </a:p>
          <a:p>
            <a:pPr marL="274320" indent="-274320" algn="just">
              <a:defRPr/>
            </a:pPr>
            <a:r>
              <a:rPr lang="pt-BR" u="sng" dirty="0" smtClean="0"/>
              <a:t>Resumo informativo</a:t>
            </a:r>
            <a:r>
              <a:rPr lang="pt-BR" dirty="0" smtClean="0"/>
              <a:t>: esse resumo expõe finalidade, metodologia, resultados e conclusões do texto resumido. Informa dados qualitativos e quantitativos da pesquisa.</a:t>
            </a:r>
          </a:p>
          <a:p>
            <a:pPr marL="274320" indent="-274320" algn="just">
              <a:defRPr/>
            </a:pPr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>
                <a:solidFill>
                  <a:srgbClr val="C00000"/>
                </a:solidFill>
              </a:rPr>
              <a:t>Assunto</a:t>
            </a:r>
            <a:r>
              <a:rPr lang="pt-BR" dirty="0" smtClean="0"/>
              <a:t>: tratado pelo autor.</a:t>
            </a:r>
          </a:p>
          <a:p>
            <a:pPr algn="just"/>
            <a:r>
              <a:rPr lang="pt-BR" dirty="0" smtClean="0"/>
              <a:t>Qual o </a:t>
            </a:r>
            <a:r>
              <a:rPr lang="pt-BR" dirty="0" smtClean="0">
                <a:solidFill>
                  <a:srgbClr val="C00000"/>
                </a:solidFill>
              </a:rPr>
              <a:t>objetivo </a:t>
            </a:r>
            <a:r>
              <a:rPr lang="pt-BR" dirty="0" smtClean="0"/>
              <a:t>que o autor do texto quer alcançar</a:t>
            </a:r>
          </a:p>
          <a:p>
            <a:pPr algn="just"/>
            <a:r>
              <a:rPr lang="pt-BR" dirty="0" smtClean="0">
                <a:solidFill>
                  <a:srgbClr val="C00000"/>
                </a:solidFill>
              </a:rPr>
              <a:t>Metodologia</a:t>
            </a:r>
            <a:r>
              <a:rPr lang="pt-BR" dirty="0" smtClean="0"/>
              <a:t>: esclarecer os métodos, técnicas utilizados pelo autor do texto.</a:t>
            </a:r>
          </a:p>
          <a:p>
            <a:pPr algn="just"/>
            <a:r>
              <a:rPr lang="pt-BR" dirty="0" smtClean="0">
                <a:solidFill>
                  <a:srgbClr val="C00000"/>
                </a:solidFill>
              </a:rPr>
              <a:t>Conclusões</a:t>
            </a:r>
            <a:r>
              <a:rPr lang="pt-BR" dirty="0" smtClean="0"/>
              <a:t>: expor os resultados alcançados.</a:t>
            </a:r>
          </a:p>
          <a:p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628800"/>
            <a:ext cx="8229600" cy="1143000"/>
          </a:xfrm>
        </p:spPr>
        <p:txBody>
          <a:bodyPr/>
          <a:lstStyle/>
          <a:p>
            <a:r>
              <a:rPr lang="pt-BR" dirty="0" smtClean="0"/>
              <a:t>EXEMPLO DE RESUMO</a:t>
            </a:r>
            <a:endParaRPr lang="pt-BR" dirty="0"/>
          </a:p>
        </p:txBody>
      </p:sp>
      <p:sp>
        <p:nvSpPr>
          <p:cNvPr id="3" name="Seta para a direita 2"/>
          <p:cNvSpPr/>
          <p:nvPr/>
        </p:nvSpPr>
        <p:spPr>
          <a:xfrm>
            <a:off x="2771800" y="3501008"/>
            <a:ext cx="3600400" cy="19442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/>
              <a:t>TEXTO ORIGINAL</a:t>
            </a:r>
            <a:endParaRPr lang="pt-BR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C\Desktop\ORIGINA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09771" y="332656"/>
            <a:ext cx="9253771" cy="590465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628800"/>
            <a:ext cx="8229600" cy="1143000"/>
          </a:xfrm>
        </p:spPr>
        <p:txBody>
          <a:bodyPr/>
          <a:lstStyle/>
          <a:p>
            <a:r>
              <a:rPr lang="pt-BR" dirty="0" smtClean="0"/>
              <a:t>EXEMPLO DE RESUMO</a:t>
            </a:r>
            <a:endParaRPr lang="pt-BR" dirty="0"/>
          </a:p>
        </p:txBody>
      </p:sp>
      <p:sp>
        <p:nvSpPr>
          <p:cNvPr id="3" name="Seta para a direita 2"/>
          <p:cNvSpPr/>
          <p:nvPr/>
        </p:nvSpPr>
        <p:spPr>
          <a:xfrm>
            <a:off x="2843808" y="3717032"/>
            <a:ext cx="3600400" cy="19442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TEXTO RESUMIDO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1848567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PC\Desktop\ESS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60648"/>
            <a:ext cx="9240688" cy="612068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08926686"/>
              </p:ext>
            </p:extLst>
          </p:nvPr>
        </p:nvGraphicFramePr>
        <p:xfrm>
          <a:off x="395536" y="188639"/>
          <a:ext cx="8496944" cy="6518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4"/>
                <a:gridCol w="4320480"/>
              </a:tblGrid>
              <a:tr h="779008">
                <a:tc>
                  <a:txBody>
                    <a:bodyPr/>
                    <a:lstStyle/>
                    <a:p>
                      <a:pPr algn="ctr"/>
                      <a:r>
                        <a:rPr lang="pt-BR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Características do Resumo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Características do Esquema</a:t>
                      </a:r>
                      <a:endParaRPr lang="pt-BR" dirty="0"/>
                    </a:p>
                  </a:txBody>
                  <a:tcPr/>
                </a:tc>
              </a:tr>
              <a:tr h="798692">
                <a:tc>
                  <a:txBody>
                    <a:bodyPr/>
                    <a:lstStyle/>
                    <a:p>
                      <a:r>
                        <a:rPr lang="pt-BR" sz="12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</a:t>
                      </a:r>
                      <a:r>
                        <a:rPr lang="pt-B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Sintetiza o texto preservando integralmente suas ideias.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</a:t>
                      </a:r>
                      <a:r>
                        <a:rPr lang="pt-B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Síntese das ideias principais de um texto organizada através de palavras-chaves, em torno das quais é possível adquirir grandes quantidades de conhecimentos.</a:t>
                      </a:r>
                      <a:endParaRPr lang="pt-BR" sz="1400" dirty="0"/>
                    </a:p>
                  </a:txBody>
                  <a:tcPr/>
                </a:tc>
              </a:tr>
              <a:tr h="765913">
                <a:tc>
                  <a:txBody>
                    <a:bodyPr/>
                    <a:lstStyle/>
                    <a:p>
                      <a:r>
                        <a:rPr lang="pt-BR" sz="1400" b="1" i="1" dirty="0" smtClean="0"/>
                        <a:t>2</a:t>
                      </a:r>
                      <a:r>
                        <a:rPr lang="pt-BR" sz="1400" dirty="0" smtClean="0"/>
                        <a:t>- Preocupação com os </a:t>
                      </a:r>
                      <a:r>
                        <a:rPr lang="pt-BR" sz="1400" dirty="0" smtClean="0">
                          <a:solidFill>
                            <a:srgbClr val="C00000"/>
                          </a:solidFill>
                        </a:rPr>
                        <a:t>elementos da textualidade </a:t>
                      </a:r>
                      <a:r>
                        <a:rPr lang="pt-BR" sz="1400" dirty="0" smtClean="0"/>
                        <a:t>inerentes à construção textual, como </a:t>
                      </a:r>
                      <a:r>
                        <a:rPr lang="pt-BR" sz="1400" dirty="0" smtClean="0">
                          <a:solidFill>
                            <a:srgbClr val="C00000"/>
                          </a:solidFill>
                        </a:rPr>
                        <a:t>coerência</a:t>
                      </a:r>
                      <a:r>
                        <a:rPr lang="pt-BR" sz="1400" dirty="0" smtClean="0"/>
                        <a:t> e </a:t>
                      </a:r>
                      <a:r>
                        <a:rPr lang="pt-BR" sz="1400" dirty="0" smtClean="0">
                          <a:solidFill>
                            <a:srgbClr val="C00000"/>
                          </a:solidFill>
                        </a:rPr>
                        <a:t>coesão</a:t>
                      </a:r>
                      <a:r>
                        <a:rPr lang="pt-BR" sz="1400" dirty="0" smtClean="0"/>
                        <a:t> e hierarquização das ideias do autor.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2-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 visualização de um esquema deve remeter o leitor aos principais pontos tidos como mais importantes.</a:t>
                      </a:r>
                      <a:endParaRPr lang="pt-BR" sz="1400" dirty="0"/>
                    </a:p>
                  </a:txBody>
                  <a:tcPr/>
                </a:tc>
              </a:tr>
              <a:tr h="686962">
                <a:tc>
                  <a:txBody>
                    <a:bodyPr/>
                    <a:lstStyle/>
                    <a:p>
                      <a:r>
                        <a:rPr lang="pt-BR" sz="1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Não é permitido, em um resumo, emitir comentários pessoais sobre o texto resumido.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 esquema assemelha-se a um esqueleto, não apresentando assim maiores preocupações com os elementos inerentes à construção textual.</a:t>
                      </a:r>
                      <a:endParaRPr lang="pt-BR" sz="1400" dirty="0"/>
                    </a:p>
                  </a:txBody>
                  <a:tcPr/>
                </a:tc>
              </a:tr>
              <a:tr h="617911">
                <a:tc>
                  <a:txBody>
                    <a:bodyPr/>
                    <a:lstStyle/>
                    <a:p>
                      <a:r>
                        <a:rPr lang="pt-BR" sz="1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4-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Variantes na estrutura do texto são permitidas quando não há a exigência de um resumo formal.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4-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 esqueleto permite ao leitor visualizar e destacar aquilo que é essencial.</a:t>
                      </a:r>
                      <a:endParaRPr lang="pt-BR" sz="1400" dirty="0"/>
                    </a:p>
                  </a:txBody>
                  <a:tcPr/>
                </a:tc>
              </a:tr>
              <a:tr h="872345">
                <a:tc>
                  <a:txBody>
                    <a:bodyPr/>
                    <a:lstStyle/>
                    <a:p>
                      <a:r>
                        <a:rPr lang="pt-BR" sz="1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5-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Colar as ideias do autor não é permitido. Quando for necessário, que seja feito em forma de citação com os devidos créditos (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autor, ano 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 página).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5-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No esquema podem ser utilizados diversos símbolos, como letras, números, setas, círculos etc.</a:t>
                      </a:r>
                      <a:endParaRPr lang="pt-BR" sz="1400" dirty="0"/>
                    </a:p>
                  </a:txBody>
                  <a:tcPr/>
                </a:tc>
              </a:tr>
              <a:tr h="763302">
                <a:tc>
                  <a:txBody>
                    <a:bodyPr/>
                    <a:lstStyle/>
                    <a:p>
                      <a:r>
                        <a:rPr lang="pt-BR" sz="1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6- 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Diferentemente do que acontece com o esquema, o resumo é formado por 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frases, orações, períodos 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 apresentam sentido completo, e não apenas tópicos.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6- 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Pode ser do tipo linear, quando apresenta a informação na horizontal e na vertical; piramidal, quando a informação está disposta em forma de pirâmide; e sistemático, quando as informações estão organizadas em forma de um quadro.</a:t>
                      </a:r>
                      <a:endParaRPr lang="pt-BR" sz="1400" dirty="0"/>
                    </a:p>
                  </a:txBody>
                  <a:tcPr/>
                </a:tc>
              </a:tr>
              <a:tr h="617911">
                <a:tc>
                  <a:txBody>
                    <a:bodyPr/>
                    <a:lstStyle/>
                    <a:p>
                      <a:r>
                        <a:rPr lang="pt-BR" sz="1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7- 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É classificado em indicativo / descritivo, informativo  </a:t>
                      </a:r>
                      <a:r>
                        <a:rPr lang="pt-BR" sz="14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analítico e “crítico.”</a:t>
                      </a:r>
                      <a:endParaRPr lang="pt-BR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pt-BR" sz="1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Deve ter linguagem clara, concisa e objetiva.</a:t>
                      </a:r>
                      <a:endParaRPr lang="pt-BR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91327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332656"/>
            <a:ext cx="7772400" cy="1470025"/>
          </a:xfrm>
        </p:spPr>
        <p:txBody>
          <a:bodyPr/>
          <a:lstStyle/>
          <a:p>
            <a:r>
              <a:rPr lang="pt-BR" dirty="0" smtClean="0"/>
              <a:t>CONCLUSÃO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-684584" y="1556792"/>
            <a:ext cx="9649072" cy="4082008"/>
          </a:xfrm>
        </p:spPr>
        <p:txBody>
          <a:bodyPr>
            <a:normAutofit fontScale="92500"/>
          </a:bodyPr>
          <a:lstStyle/>
          <a:p>
            <a:pPr marL="1371600" lvl="2" indent="-457200" algn="just">
              <a:buFont typeface="Arial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   Quando se trata de </a:t>
            </a:r>
            <a:r>
              <a:rPr lang="pt-BR" sz="2800" dirty="0" smtClean="0">
                <a:solidFill>
                  <a:srgbClr val="FF0000"/>
                </a:solidFill>
              </a:rPr>
              <a:t>gêneros textuais escritos </a:t>
            </a:r>
            <a:r>
              <a:rPr lang="pt-BR" sz="2800" dirty="0" smtClean="0">
                <a:solidFill>
                  <a:schemeClr val="tx1"/>
                </a:solidFill>
              </a:rPr>
              <a:t>(</a:t>
            </a:r>
            <a:r>
              <a:rPr lang="pt-BR" sz="2800" b="1" i="1" dirty="0" smtClean="0">
                <a:solidFill>
                  <a:schemeClr val="tx1"/>
                </a:solidFill>
              </a:rPr>
              <a:t>Esquema, Fichamento, Resumo, Resenha.) </a:t>
            </a:r>
            <a:r>
              <a:rPr lang="pt-BR" sz="2800" dirty="0" smtClean="0">
                <a:solidFill>
                  <a:schemeClr val="tx1"/>
                </a:solidFill>
              </a:rPr>
              <a:t>se faz necessário entender que cada um deles tem uma finalidade específica, em que buscamos aqui, apresentar de forma clara e concisa quais funções e objetivos, que cada uma venha a ter respectivamente. Propondo assim, para fora do âmbito estudantil/acadêmico, o conhecimento de todos eles, tendo em vista que, assim como já foi citado, os gêneros citados  anteriormente estarão presentes no transcorrer de nossas vidas acadêmicas.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54735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pt-BR" sz="4000" smtClean="0"/>
              <a:t>REFERÊNCIAS BIBLIOGRÁFICAS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88632"/>
          </a:xfrm>
        </p:spPr>
        <p:txBody>
          <a:bodyPr>
            <a:normAutofit lnSpcReduction="10000"/>
          </a:bodyPr>
          <a:lstStyle/>
          <a:p>
            <a:r>
              <a:rPr lang="pt-BR" sz="2400" dirty="0">
                <a:hlinkClick r:id="rId2"/>
              </a:rPr>
              <a:t>http://revistapesquisa.fapesp.br/2016/03/18/incertezas-sobre-a-microcefalia/</a:t>
            </a:r>
            <a:r>
              <a:rPr lang="pt-BR" sz="2400" dirty="0"/>
              <a:t> , acessado em 15/08/2016</a:t>
            </a:r>
            <a:r>
              <a:rPr lang="pt-BR" sz="2400" dirty="0" smtClean="0"/>
              <a:t>.</a:t>
            </a:r>
            <a:endParaRPr lang="pt-BR" sz="2400" dirty="0" smtClean="0">
              <a:hlinkClick r:id="rId3"/>
            </a:endParaRPr>
          </a:p>
          <a:p>
            <a:r>
              <a:rPr lang="pt-BR" sz="2400" dirty="0" smtClean="0">
                <a:hlinkClick r:id="rId3"/>
              </a:rPr>
              <a:t>http</a:t>
            </a:r>
            <a:r>
              <a:rPr lang="pt-BR" sz="2400" dirty="0">
                <a:hlinkClick r:id="rId3"/>
              </a:rPr>
              <a:t>://</a:t>
            </a:r>
            <a:r>
              <a:rPr lang="pt-BR" sz="2400" dirty="0" smtClean="0">
                <a:hlinkClick r:id="rId3"/>
              </a:rPr>
              <a:t>www.portaleducacao.com.br/administracao/artigos/30519/historia-da-estatistica. </a:t>
            </a:r>
            <a:r>
              <a:rPr lang="pt-BR" sz="2400" dirty="0"/>
              <a:t>, acessado em </a:t>
            </a:r>
            <a:r>
              <a:rPr lang="pt-BR" sz="2400" dirty="0" smtClean="0"/>
              <a:t>21/08/2016.</a:t>
            </a:r>
            <a:endParaRPr lang="pt-BR" sz="2400" dirty="0">
              <a:hlinkClick r:id="rId3"/>
            </a:endParaRPr>
          </a:p>
          <a:p>
            <a:r>
              <a:rPr lang="pt-BR" sz="2400" dirty="0" smtClean="0">
                <a:hlinkClick r:id="rId3"/>
              </a:rPr>
              <a:t>http</a:t>
            </a:r>
            <a:r>
              <a:rPr lang="pt-BR" sz="2400" dirty="0">
                <a:hlinkClick r:id="rId3"/>
              </a:rPr>
              <a:t>://abeso.org.br/</a:t>
            </a:r>
            <a:r>
              <a:rPr lang="pt-BR" sz="2400" dirty="0"/>
              <a:t> , acessado em 28/08/2016</a:t>
            </a:r>
            <a:r>
              <a:rPr lang="pt-BR" sz="2400" dirty="0" smtClean="0"/>
              <a:t>.</a:t>
            </a:r>
          </a:p>
          <a:p>
            <a:r>
              <a:rPr lang="pt-BR" sz="2400" dirty="0" smtClean="0">
                <a:hlinkClick r:id="rId4"/>
              </a:rPr>
              <a:t>http</a:t>
            </a:r>
            <a:r>
              <a:rPr lang="pt-BR" sz="2400" dirty="0">
                <a:hlinkClick r:id="rId4"/>
              </a:rPr>
              <a:t>://www.icguedes.pro.br/fichamento-de-textos-e-artigos-como-fazer/</a:t>
            </a:r>
            <a:r>
              <a:rPr lang="pt-BR" sz="2400" dirty="0"/>
              <a:t> , acessado em 28/08/2016</a:t>
            </a:r>
            <a:r>
              <a:rPr lang="pt-BR" sz="2400" dirty="0" smtClean="0"/>
              <a:t>. </a:t>
            </a:r>
            <a:endParaRPr lang="pt-BR" sz="2400" dirty="0"/>
          </a:p>
          <a:p>
            <a:r>
              <a:rPr lang="pt-BR" sz="2400" dirty="0">
                <a:hlinkClick r:id="rId5"/>
              </a:rPr>
              <a:t>http://monografias.brasilescola.uol.com.br/regras-abnt/tipos-trabalhos-academicos-fichamento.htm</a:t>
            </a:r>
            <a:r>
              <a:rPr lang="pt-BR" sz="2400" dirty="0"/>
              <a:t> , acessado em 28/08/2016.</a:t>
            </a:r>
          </a:p>
          <a:p>
            <a:r>
              <a:rPr lang="pt-BR" sz="2400" dirty="0">
                <a:hlinkClick r:id="rId6"/>
              </a:rPr>
              <a:t>https://prezi.com/wyzisbo9duw8/fichamento-regras-abnt/</a:t>
            </a:r>
            <a:r>
              <a:rPr lang="pt-BR" sz="2400" dirty="0"/>
              <a:t> , acessado em 28/08/2016</a:t>
            </a:r>
            <a:r>
              <a:rPr lang="pt-BR" sz="2400" dirty="0" smtClean="0"/>
              <a:t>.</a:t>
            </a:r>
            <a:r>
              <a:rPr lang="pt-BR" sz="2400" dirty="0">
                <a:hlinkClick r:id="rId7"/>
              </a:rPr>
              <a:t> http://portugues.uol.com.br/redacao/o-esquema-resumo---fortes-aliados-diante-compreensao-textual-.html</a:t>
            </a:r>
            <a:r>
              <a:rPr lang="pt-BR" sz="2400" dirty="0"/>
              <a:t>, acessado em 29/08/2016.</a:t>
            </a:r>
          </a:p>
          <a:p>
            <a:endParaRPr lang="pt-BR" sz="2400" dirty="0" smtClean="0"/>
          </a:p>
          <a:p>
            <a:endParaRPr lang="pt-BR" sz="2400" dirty="0" smtClean="0">
              <a:hlinkClick r:id="rId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77819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BIBLIOGRAFICAS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>
                <a:hlinkClick r:id="rId2"/>
              </a:rPr>
              <a:t>http://www.ead.uepb.edu.br/ava/arquivos/cursos/geografia/metodologia_cientifica/Met_Cie_A07_M_WEB_310708.pdf</a:t>
            </a:r>
            <a:r>
              <a:rPr lang="pt-BR" dirty="0"/>
              <a:t>, acessado em 29/08/2016.</a:t>
            </a:r>
          </a:p>
          <a:p>
            <a:r>
              <a:rPr lang="pt-BR" dirty="0">
                <a:hlinkClick r:id="rId3"/>
              </a:rPr>
              <a:t>http://portugues.uol.com.br/redacao/o-esquema-resumo---fortes-aliados-diante-compreensao-textual-.html</a:t>
            </a:r>
            <a:r>
              <a:rPr lang="pt-BR" dirty="0"/>
              <a:t> , acessado em 03/09/2016.</a:t>
            </a:r>
          </a:p>
          <a:p>
            <a:r>
              <a:rPr lang="pt-BR" dirty="0">
                <a:hlinkClick r:id="rId3"/>
              </a:rPr>
              <a:t>http://portugues.uol.com.br/redacao/o-esquema-resumo---fortes-aliados-diante-compreensao-textual-.html</a:t>
            </a:r>
            <a:r>
              <a:rPr lang="pt-BR" dirty="0"/>
              <a:t> , acessado em 03/09/2016.</a:t>
            </a:r>
          </a:p>
          <a:p>
            <a:r>
              <a:rPr lang="pt-BR" dirty="0"/>
              <a:t>SILVA, Elizabeth Maria (</a:t>
            </a:r>
            <a:r>
              <a:rPr lang="pt-BR" dirty="0" err="1"/>
              <a:t>Org</a:t>
            </a:r>
            <a:r>
              <a:rPr lang="pt-BR" dirty="0"/>
              <a:t>). – </a:t>
            </a:r>
            <a:r>
              <a:rPr lang="pt-BR" b="1" dirty="0"/>
              <a:t>Professora, como é que se faz? </a:t>
            </a:r>
            <a:r>
              <a:rPr lang="pt-BR" dirty="0"/>
              <a:t>-</a:t>
            </a:r>
            <a:r>
              <a:rPr lang="pt-BR" b="1" dirty="0"/>
              <a:t>  </a:t>
            </a:r>
            <a:r>
              <a:rPr lang="pt-BR" dirty="0"/>
              <a:t>Campina Grande: Bagagem, 2012.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1860390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3236</TotalTime>
  <Words>2063</Words>
  <Application>Microsoft Office PowerPoint</Application>
  <PresentationFormat>Apresentação na tela (4:3)</PresentationFormat>
  <Paragraphs>199</Paragraphs>
  <Slides>44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45" baseType="lpstr">
      <vt:lpstr>Tema do Office</vt:lpstr>
      <vt:lpstr>Slide 1</vt:lpstr>
      <vt:lpstr>Slide 2</vt:lpstr>
      <vt:lpstr>OBJETIVO GERAL</vt:lpstr>
      <vt:lpstr>OBJETIVOS ESPECÍFICOS</vt:lpstr>
      <vt:lpstr>GÊNEROS TEXTUAIS</vt:lpstr>
      <vt:lpstr>CONCEITUAÇÃO</vt:lpstr>
      <vt:lpstr>UTILIDADE DE UM ESQUEMA</vt:lpstr>
      <vt:lpstr>CUIDADOS A SEREM TOMADOS AO SE ELABORAR UM ESQUEMA</vt:lpstr>
      <vt:lpstr>CARACTERÍSTICAS DE UM ESQUEMA</vt:lpstr>
      <vt:lpstr>Síntese do que foi tido anteriormente</vt:lpstr>
      <vt:lpstr>EXEMPLO DE ESQUEMA</vt:lpstr>
      <vt:lpstr>Slide 12</vt:lpstr>
      <vt:lpstr>EXEMPLO DE ESQUEMA</vt:lpstr>
      <vt:lpstr>Slide 14</vt:lpstr>
      <vt:lpstr>Slide 15</vt:lpstr>
      <vt:lpstr>GÊNEROS TEXTUAIS</vt:lpstr>
      <vt:lpstr>REGRAS ABNT</vt:lpstr>
      <vt:lpstr>CONCEITUAÇÃO</vt:lpstr>
      <vt:lpstr>FICHAMENTO</vt:lpstr>
      <vt:lpstr>TIPOS DE FICHAMENTO</vt:lpstr>
      <vt:lpstr>FICHAS DE LEITURA</vt:lpstr>
      <vt:lpstr>Material utilizado</vt:lpstr>
      <vt:lpstr>Modelo</vt:lpstr>
      <vt:lpstr>FICHAMENTO DE RESUMO (1ª Exemplo)</vt:lpstr>
      <vt:lpstr>2ª exemplo</vt:lpstr>
      <vt:lpstr>3º Exemplo</vt:lpstr>
      <vt:lpstr>4º Exemplo</vt:lpstr>
      <vt:lpstr>5º Exemplo</vt:lpstr>
      <vt:lpstr>GÊNEROS TEXTUAIS</vt:lpstr>
      <vt:lpstr>CONCEITUAÇÃO</vt:lpstr>
      <vt:lpstr>FINALIDADE</vt:lpstr>
      <vt:lpstr>PROCEDIMENTOS</vt:lpstr>
      <vt:lpstr>VANTAGENS DO RESUMO</vt:lpstr>
      <vt:lpstr>NORMAS DE ELABORAÇÃO</vt:lpstr>
      <vt:lpstr>TIPOS DE RESUMO</vt:lpstr>
      <vt:lpstr>ESTRUTURA</vt:lpstr>
      <vt:lpstr>EXEMPLO DE RESUMO</vt:lpstr>
      <vt:lpstr>Slide 38</vt:lpstr>
      <vt:lpstr>EXEMPLO DE RESUMO</vt:lpstr>
      <vt:lpstr>Slide 40</vt:lpstr>
      <vt:lpstr>Slide 41</vt:lpstr>
      <vt:lpstr>CONCLUSÃO</vt:lpstr>
      <vt:lpstr>REFERÊNCIAS BIBLIOGRÁFICAS</vt:lpstr>
      <vt:lpstr>REFERÊNCIAS BIBLIOGRAFICAS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GÊNEROS TEXTUAIS</dc:title>
  <dc:creator>Vitor Rodrigues</dc:creator>
  <cp:lastModifiedBy>Ranieri</cp:lastModifiedBy>
  <cp:revision>129</cp:revision>
  <dcterms:created xsi:type="dcterms:W3CDTF">2016-08-29T14:33:38Z</dcterms:created>
  <dcterms:modified xsi:type="dcterms:W3CDTF">2021-08-11T21:42:12Z</dcterms:modified>
</cp:coreProperties>
</file>