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72" y="-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Escrita da pesquisa científica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Métodos de Estudo</a:t>
            </a:r>
          </a:p>
          <a:p>
            <a:r>
              <a:rPr lang="pt-BR" sz="2800" dirty="0"/>
              <a:t>FICHAMENTO</a:t>
            </a:r>
          </a:p>
        </p:txBody>
      </p:sp>
    </p:spTree>
    <p:extLst>
      <p:ext uri="{BB962C8B-B14F-4D97-AF65-F5344CB8AC3E}">
        <p14:creationId xmlns:p14="http://schemas.microsoft.com/office/powerpoint/2010/main" val="80644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326571"/>
            <a:ext cx="7729728" cy="1826841"/>
          </a:xfrm>
        </p:spPr>
        <p:txBody>
          <a:bodyPr>
            <a:normAutofit fontScale="90000"/>
          </a:bodyPr>
          <a:lstStyle/>
          <a:p>
            <a:r>
              <a:rPr lang="pt-BR" dirty="0"/>
              <a:t>Lembre-se sempre de que você,</a:t>
            </a:r>
            <a:br>
              <a:rPr lang="pt-BR" dirty="0"/>
            </a:br>
            <a:r>
              <a:rPr lang="pt-BR" dirty="0"/>
              <a:t>quando escreve, não o faz para você e sim para o outro. </a:t>
            </a:r>
            <a:br>
              <a:rPr lang="pt-BR" dirty="0"/>
            </a:b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10" y="2638425"/>
            <a:ext cx="4654780" cy="3101975"/>
          </a:xfrm>
        </p:spPr>
      </p:pic>
    </p:spTree>
    <p:extLst>
      <p:ext uri="{BB962C8B-B14F-4D97-AF65-F5344CB8AC3E}">
        <p14:creationId xmlns:p14="http://schemas.microsoft.com/office/powerpoint/2010/main" val="159312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FORMAS DE ESCREVER OU TIPOS DE CORRESPODÊNCIA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ESTILO DE REDAÇÃO TÉCNICO-CIENTÍFICA: PRINCÍPIOS BÁSICOS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OBJETIVIDADE e COERÊNCIA – o assunto precisa ser tratado de maneira direta e simples, obedecendo a uma sequência lógica e ordenada de ideias, evitando desvio do assunto tratado.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 CLAREZA  e PRECISÃO:  As ideias devem ser apresentadas de forma clara, coerente, evitando comentários irrelevantes e redundantes, e linguagem rebuscada e prolixa.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 IMPARCIALIDADE – o autor deve evitar prevalecer o seu ponto de vista.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UNIFORMIDADE – o texto precisa ser uniforme na forma de tratamento, pessoa gramatical, utilização de números, símbolos, unidades de medida, datas, horas, siglas e etc.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CONJUGAÇÃO VERBAL –é aconselhável a utilização da forma impessoal do verbo.</a:t>
            </a:r>
          </a:p>
          <a:p>
            <a:pPr algn="just"/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2560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Fichamento: oque é?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Coleta de informações de obras pesquisadas através de apontamentos, anotações que serão utilizados na futura elaboração do texto;</a:t>
            </a:r>
          </a:p>
          <a:p>
            <a:r>
              <a:rPr lang="pt-BR" dirty="0"/>
              <a:t>Elaborar transcrições em fichas;</a:t>
            </a:r>
          </a:p>
          <a:p>
            <a:r>
              <a:rPr lang="pt-BR" dirty="0"/>
              <a:t>Criar pasta para cada componente; </a:t>
            </a:r>
          </a:p>
          <a:p>
            <a:r>
              <a:rPr lang="pt-BR" dirty="0"/>
              <a:t>Leitura exploratória: De que trata o texto e o que dizem seus parágrafos?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488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Fichamento: conteúdo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Quanto ao conteúdo as </a:t>
            </a:r>
            <a:r>
              <a:rPr lang="pt-BR" b="1" dirty="0"/>
              <a:t>FICHAS</a:t>
            </a:r>
            <a:r>
              <a:rPr lang="pt-BR" dirty="0"/>
              <a:t> se prestam a vários tipos de anotações:</a:t>
            </a:r>
          </a:p>
          <a:p>
            <a:pPr marL="342900" indent="-342900">
              <a:buAutoNum type="arabicPeriod"/>
            </a:pPr>
            <a:r>
              <a:rPr lang="pt-BR" dirty="0"/>
              <a:t>Fichas de indicações bibliográficas (obra, autor e assunto);</a:t>
            </a:r>
          </a:p>
          <a:p>
            <a:pPr marL="342900" indent="-342900">
              <a:buAutoNum type="arabicPeriod"/>
            </a:pPr>
            <a:r>
              <a:rPr lang="pt-BR" dirty="0"/>
              <a:t>de transcrições, para citações;</a:t>
            </a:r>
          </a:p>
          <a:p>
            <a:pPr marL="342900" indent="-342900">
              <a:buAutoNum type="arabicPeriod"/>
            </a:pPr>
            <a:r>
              <a:rPr lang="pt-BR" dirty="0"/>
              <a:t>de apreciação;</a:t>
            </a:r>
          </a:p>
          <a:p>
            <a:pPr marL="342900" indent="-342900">
              <a:buAutoNum type="arabicPeriod"/>
            </a:pPr>
            <a:r>
              <a:rPr lang="pt-BR" dirty="0"/>
              <a:t>de esquemas;</a:t>
            </a:r>
          </a:p>
          <a:p>
            <a:pPr marL="342900" indent="-342900">
              <a:buAutoNum type="arabicPeriod"/>
            </a:pPr>
            <a:r>
              <a:rPr lang="pt-BR" dirty="0"/>
              <a:t>de resumo;</a:t>
            </a:r>
          </a:p>
          <a:p>
            <a:pPr marL="342900" indent="-342900">
              <a:buAutoNum type="arabicPeriod"/>
            </a:pPr>
            <a:r>
              <a:rPr lang="pt-BR" dirty="0"/>
              <a:t>de ideias sugeridas pelas leituras.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922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Fichas de indicações 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Visa dar informações básicas sobre um livro ( ou qualquer publicação). </a:t>
            </a:r>
          </a:p>
          <a:p>
            <a:r>
              <a:rPr lang="pt-BR" dirty="0"/>
              <a:t>Há duas variedades: por assunto e por autor.</a:t>
            </a:r>
          </a:p>
          <a:p>
            <a:r>
              <a:rPr lang="pt-BR" dirty="0"/>
              <a:t>Deve ser o mais breve possível.</a:t>
            </a:r>
          </a:p>
          <a:p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84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Fichamento bibliográfico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EXEMPLO</a:t>
            </a:r>
          </a:p>
          <a:p>
            <a:r>
              <a:rPr lang="pt-BR" dirty="0"/>
              <a:t>INFORMAÇÕES PRINCIPAIS:</a:t>
            </a:r>
          </a:p>
          <a:p>
            <a:r>
              <a:rPr lang="pt-BR" dirty="0"/>
              <a:t>Título Genérico</a:t>
            </a:r>
          </a:p>
          <a:p>
            <a:r>
              <a:rPr lang="pt-BR" dirty="0"/>
              <a:t>Título Específico</a:t>
            </a:r>
          </a:p>
          <a:p>
            <a:r>
              <a:rPr lang="pt-BR" dirty="0"/>
              <a:t>Referência bibliográfica ( sobrenome grifado, nome.  Editora, local, data, número da edição, número da página)</a:t>
            </a:r>
            <a:br>
              <a:rPr lang="pt-BR" dirty="0"/>
            </a:br>
            <a:endParaRPr lang="pt-BR" dirty="0"/>
          </a:p>
          <a:p>
            <a:r>
              <a:rPr lang="pt-BR" dirty="0"/>
              <a:t>Texto comentários</a:t>
            </a:r>
          </a:p>
          <a:p>
            <a:r>
              <a:rPr lang="pt-BR" dirty="0"/>
              <a:t>Local onde está a obra</a:t>
            </a:r>
          </a:p>
        </p:txBody>
      </p:sp>
      <p:sp>
        <p:nvSpPr>
          <p:cNvPr id="10" name="AutoShape 2" descr="O que é Fichamento? Fichas de leitura - ppt carreg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pic>
        <p:nvPicPr>
          <p:cNvPr id="18" name="Espaço Reservado para Conteúdo 1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1" y="1418735"/>
            <a:ext cx="5678921" cy="3933179"/>
          </a:xfrm>
          <a:ln w="5715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613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fichA</a:t>
            </a:r>
            <a:r>
              <a:rPr lang="pt-BR" dirty="0"/>
              <a:t> DE TRANSCRIÇÃO OU CITAÇÃO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Consiste na reprodução fiel de textos do autor citado.</a:t>
            </a:r>
          </a:p>
          <a:p>
            <a:r>
              <a:rPr lang="pt-BR" dirty="0"/>
              <a:t>Toda e qualquer citação deve vir entre aspas. Se já houver no texto transcrito expressão </a:t>
            </a:r>
            <a:r>
              <a:rPr lang="pt-BR" dirty="0" err="1"/>
              <a:t>aspeada</a:t>
            </a:r>
            <a:r>
              <a:rPr lang="pt-BR" dirty="0"/>
              <a:t>, tais aspas devem ser transformadas em aspas simples (‘). </a:t>
            </a:r>
          </a:p>
          <a:p>
            <a:r>
              <a:rPr lang="pt-BR" dirty="0"/>
              <a:t>Os erros de grafia devem permanecer e o pesquisador deve evidenciá-lo colocando o termo ‘ sic” entre parênteses. </a:t>
            </a:r>
          </a:p>
          <a:p>
            <a:r>
              <a:rPr lang="pt-BR" dirty="0"/>
              <a:t>Para suprimir palavras em uma citação usam-se colchetes.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514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 de citação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984" y="1642189"/>
            <a:ext cx="5737406" cy="3486271"/>
          </a:xfrm>
        </p:spPr>
      </p:pic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96844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EXEMPLO</a:t>
            </a:r>
          </a:p>
          <a:p>
            <a:r>
              <a:rPr lang="pt-BR" dirty="0"/>
              <a:t>INFORMAÇÕES PRINCIPAIS:</a:t>
            </a:r>
          </a:p>
          <a:p>
            <a:r>
              <a:rPr lang="pt-BR" dirty="0"/>
              <a:t>Cabeçalho</a:t>
            </a:r>
          </a:p>
          <a:p>
            <a:r>
              <a:rPr lang="pt-BR" dirty="0"/>
              <a:t>Título genérico</a:t>
            </a:r>
            <a:br>
              <a:rPr lang="pt-BR" dirty="0"/>
            </a:br>
            <a:r>
              <a:rPr lang="pt-BR" dirty="0"/>
              <a:t>Título Específico</a:t>
            </a:r>
            <a:br>
              <a:rPr lang="pt-BR" dirty="0"/>
            </a:br>
            <a:r>
              <a:rPr lang="pt-BR" dirty="0"/>
              <a:t> Referência bibliográfica </a:t>
            </a:r>
          </a:p>
          <a:p>
            <a:r>
              <a:rPr lang="pt-BR" dirty="0"/>
              <a:t>( sobrenome grifado, nome.  Editora, local, data, número da edição, número da página) </a:t>
            </a:r>
          </a:p>
          <a:p>
            <a:r>
              <a:rPr lang="pt-BR" dirty="0"/>
              <a:t>Citações </a:t>
            </a:r>
          </a:p>
          <a:p>
            <a:r>
              <a:rPr lang="pt-BR" dirty="0"/>
              <a:t>Local onde está a obra</a:t>
            </a: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730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Ficha de apreciação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anotações realizadas durante a pesquisa bibliográfica onde o pesquisador estabelece comparações com outras obras da mesma área. </a:t>
            </a:r>
          </a:p>
          <a:p>
            <a:r>
              <a:rPr lang="pt-BR" dirty="0"/>
              <a:t>Anota-se críticas, comentários e opiniões sobre o que se leu. </a:t>
            </a:r>
          </a:p>
          <a:p>
            <a:r>
              <a:rPr lang="pt-BR" dirty="0"/>
              <a:t>Auxilia no tempo que se gastaria para reexaminar as fontes bibliográficas.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56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 de apreciação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dirty="0"/>
              <a:t>Elementos </a:t>
            </a:r>
          </a:p>
          <a:p>
            <a:pPr marL="457200" indent="-457200" algn="just">
              <a:buAutoNum type="arabicPeriod"/>
            </a:pPr>
            <a:r>
              <a:rPr lang="pt-BR" dirty="0"/>
              <a:t>Cabeçalho</a:t>
            </a:r>
          </a:p>
          <a:p>
            <a:pPr marL="0" indent="0" algn="just">
              <a:buNone/>
            </a:pPr>
            <a:r>
              <a:rPr lang="pt-BR" dirty="0"/>
              <a:t>1.1 </a:t>
            </a:r>
            <a:r>
              <a:rPr lang="pt-BR" b="1" dirty="0"/>
              <a:t>Título genérico</a:t>
            </a:r>
            <a:r>
              <a:rPr lang="pt-BR" dirty="0"/>
              <a:t>: Teoria da Contabilidade </a:t>
            </a:r>
          </a:p>
          <a:p>
            <a:pPr marL="0" indent="0" algn="just">
              <a:buNone/>
            </a:pPr>
            <a:r>
              <a:rPr lang="pt-BR" dirty="0"/>
              <a:t>1.2 </a:t>
            </a:r>
            <a:r>
              <a:rPr lang="pt-BR" b="1" dirty="0"/>
              <a:t>Título específico</a:t>
            </a:r>
            <a:r>
              <a:rPr lang="pt-BR" dirty="0"/>
              <a:t>: Teoria da Contabilidade </a:t>
            </a:r>
          </a:p>
          <a:p>
            <a:pPr marL="0" indent="0" algn="just">
              <a:buNone/>
            </a:pPr>
            <a:r>
              <a:rPr lang="pt-BR" dirty="0"/>
              <a:t>2. </a:t>
            </a:r>
            <a:r>
              <a:rPr lang="pt-BR" b="1" dirty="0"/>
              <a:t>Referências bibliográficas</a:t>
            </a:r>
            <a:r>
              <a:rPr lang="pt-BR" dirty="0"/>
              <a:t>: IUDICÍBUS, Sérgio de. Teoria da Contabilidade. 3. Ed. São Paulo: atlas, 1996</a:t>
            </a:r>
          </a:p>
          <a:p>
            <a:pPr marL="0" indent="0" algn="just">
              <a:buNone/>
            </a:pPr>
            <a:r>
              <a:rPr lang="pt-BR" dirty="0"/>
              <a:t>3.  Texto </a:t>
            </a:r>
            <a:r>
              <a:rPr lang="pt-BR" b="1" dirty="0"/>
              <a:t>Apreciação: </a:t>
            </a:r>
          </a:p>
          <a:p>
            <a:pPr marL="0" indent="0" algn="just">
              <a:buNone/>
            </a:pPr>
            <a:r>
              <a:rPr lang="pt-BR" dirty="0"/>
              <a:t>O livro aborda temas sobre teoria da contabilidade discutindo cada ponto do patrimônio, resgata a evolução da contabilidade e aborda o núcleo fundamental da teoria contábil. Discute a influência das variações do poder aquisitivo da moeda; custos correntes e avalia as principais disposições contábeis contidas na lei 6.404/ 76.</a:t>
            </a:r>
          </a:p>
          <a:p>
            <a:pPr marL="0" indent="0" algn="just">
              <a:buNone/>
            </a:pPr>
            <a:br>
              <a:rPr lang="pt-BR" dirty="0"/>
            </a:br>
            <a:r>
              <a:rPr lang="pt-BR" dirty="0"/>
              <a:t>Os temas abordados seguem as ideias americanas, o que podemos perceber nas afirmativas realizadas de conceitos, o que diverge das ideias do prof. Antônio Lopes de Sá que</a:t>
            </a:r>
            <a:br>
              <a:rPr lang="pt-BR" dirty="0"/>
            </a:br>
            <a:r>
              <a:rPr lang="pt-BR" dirty="0"/>
              <a:t>trabalho a teoria da Contabilidade numa linha Europeia onde busca a cientificidade da Contabilidade o que diverge do pragmatismo americano. </a:t>
            </a:r>
          </a:p>
          <a:p>
            <a:pPr marL="0" indent="0">
              <a:buNone/>
            </a:pPr>
            <a:r>
              <a:rPr lang="pt-BR" dirty="0"/>
              <a:t>4. </a:t>
            </a:r>
            <a:r>
              <a:rPr lang="pt-BR" b="1" dirty="0"/>
              <a:t>Local da obra: </a:t>
            </a:r>
            <a:r>
              <a:rPr lang="pt-BR" dirty="0"/>
              <a:t> Acervo Digital (ilustrativo)</a:t>
            </a:r>
            <a:br>
              <a:rPr lang="pt-BR" dirty="0"/>
            </a:br>
            <a:endParaRPr lang="pt-BR" b="1" dirty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/>
          </a:p>
          <a:p>
            <a:pPr marL="457200" indent="-457200" algn="just">
              <a:buAutoNum type="arabicPeriod"/>
            </a:pP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Exemplo aplicado a Contabilidade</a:t>
            </a:r>
          </a:p>
        </p:txBody>
      </p:sp>
    </p:spTree>
    <p:extLst>
      <p:ext uri="{BB962C8B-B14F-4D97-AF65-F5344CB8AC3E}">
        <p14:creationId xmlns:p14="http://schemas.microsoft.com/office/powerpoint/2010/main" val="220308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 de resumo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resumo, deve-se captar a ideia maior do texto, o ponto central e que é fundamental para o pesquisador.</a:t>
            </a:r>
          </a:p>
          <a:p>
            <a:r>
              <a:rPr lang="pt-BR" dirty="0"/>
              <a:t> A ideia central deverá ser apreciada pelo pesquisador, evitando exposições subjetivas.  As palavras são do pesquisador, porém a ideia do autor do texto.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450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Ficha de resumo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pt-BR" dirty="0"/>
              <a:t>Elementos </a:t>
            </a:r>
          </a:p>
          <a:p>
            <a:pPr marL="0" indent="0" algn="ctr">
              <a:buNone/>
            </a:pPr>
            <a:endParaRPr lang="pt-BR" dirty="0"/>
          </a:p>
          <a:p>
            <a:pPr marL="457200" indent="-457200" algn="just">
              <a:buAutoNum type="arabicPeriod"/>
            </a:pPr>
            <a:r>
              <a:rPr lang="pt-BR" dirty="0"/>
              <a:t>Cabeçalho</a:t>
            </a:r>
          </a:p>
          <a:p>
            <a:pPr marL="0" indent="0" algn="just">
              <a:buNone/>
            </a:pPr>
            <a:r>
              <a:rPr lang="pt-BR" b="1" dirty="0"/>
              <a:t>1.1 T. G: </a:t>
            </a:r>
            <a:r>
              <a:rPr lang="pt-BR" dirty="0"/>
              <a:t>A Evolução do Ensino da Contabilidade e da Profissão Contábil no Brasil</a:t>
            </a:r>
          </a:p>
          <a:p>
            <a:pPr marL="0" indent="0" algn="just">
              <a:buNone/>
            </a:pPr>
            <a:r>
              <a:rPr lang="pt-BR" b="1" dirty="0"/>
              <a:t>1.2 T.E: </a:t>
            </a:r>
            <a:r>
              <a:rPr lang="pt-BR" dirty="0"/>
              <a:t>A Evolução do Ensino da Contabilidade e da Profissão Contábil no</a:t>
            </a:r>
            <a:br>
              <a:rPr lang="pt-BR" dirty="0"/>
            </a:br>
            <a:r>
              <a:rPr lang="pt-BR" dirty="0"/>
              <a:t>Brasil: um enfoque sobre o atual estágio do Ensino da Contabilidade no Estado da Bahia </a:t>
            </a:r>
            <a:br>
              <a:rPr lang="pt-BR" dirty="0"/>
            </a:br>
            <a:endParaRPr lang="pt-BR" b="1" dirty="0"/>
          </a:p>
          <a:p>
            <a:pPr marL="0" indent="0" algn="just">
              <a:buNone/>
            </a:pPr>
            <a:r>
              <a:rPr lang="pt-BR" dirty="0"/>
              <a:t>2. </a:t>
            </a:r>
            <a:r>
              <a:rPr lang="pt-BR" b="1" dirty="0"/>
              <a:t>Referência Bibliográfica:</a:t>
            </a:r>
          </a:p>
          <a:p>
            <a:pPr marL="0" indent="0" algn="just">
              <a:buNone/>
            </a:pPr>
            <a:r>
              <a:rPr lang="pt-BR" dirty="0"/>
              <a:t>SILVA, Antônio Carlos Ribeiro da. A Evolução do Ensino da Contabilidade e da Profissão Contábil no Brasil. Salvador: FVC, </a:t>
            </a:r>
            <a:r>
              <a:rPr lang="pt-BR" i="1" dirty="0"/>
              <a:t>Dissertação</a:t>
            </a:r>
            <a:r>
              <a:rPr lang="pt-BR" dirty="0"/>
              <a:t> </a:t>
            </a:r>
            <a:r>
              <a:rPr lang="pt-BR" i="1" dirty="0"/>
              <a:t>de Mestrado</a:t>
            </a:r>
            <a:r>
              <a:rPr lang="pt-BR" dirty="0"/>
              <a:t>, 2001. </a:t>
            </a:r>
          </a:p>
          <a:p>
            <a:pPr marL="0" indent="0" algn="just">
              <a:buNone/>
            </a:pPr>
            <a:r>
              <a:rPr lang="pt-BR" dirty="0"/>
              <a:t>3.Texto </a:t>
            </a:r>
            <a:r>
              <a:rPr lang="pt-BR" b="1" dirty="0"/>
              <a:t>(Resumo)</a:t>
            </a:r>
          </a:p>
          <a:p>
            <a:pPr marL="0" indent="0" algn="just">
              <a:buNone/>
            </a:pPr>
            <a:br>
              <a:rPr lang="pt-BR" dirty="0"/>
            </a:br>
            <a:r>
              <a:rPr lang="pt-BR" dirty="0"/>
              <a:t>Já há algum tempo que questões relacionadas ao Ensino Superior de Ciências Contábeis</a:t>
            </a:r>
            <a:br>
              <a:rPr lang="pt-BR" dirty="0"/>
            </a:br>
            <a:r>
              <a:rPr lang="pt-BR" dirty="0"/>
              <a:t>têm sido alvo de discussões e estudos por órgãos de classe, empresários, profissionais,</a:t>
            </a:r>
            <a:br>
              <a:rPr lang="pt-BR" dirty="0"/>
            </a:br>
            <a:r>
              <a:rPr lang="pt-BR" dirty="0"/>
              <a:t>professores, estudantes e instituições governamentais. Pesquisas têm sido realizadas no</a:t>
            </a:r>
            <a:br>
              <a:rPr lang="pt-BR" dirty="0"/>
            </a:br>
            <a:r>
              <a:rPr lang="pt-BR" dirty="0"/>
              <a:t>sentido de avaliar os esforços educacionais das instituições de ensino superior com vistas</a:t>
            </a:r>
            <a:br>
              <a:rPr lang="pt-BR" dirty="0"/>
            </a:br>
            <a:r>
              <a:rPr lang="pt-BR" dirty="0"/>
              <a:t>a contribuir para a discussão sobre o rumo mais adequado para transformações reais para o ensino. A presente Dissertação de Mestrado limita seu âmbito de atuação ao Estado da Bahia, que com a criação das Instituições de Ensino Superior de Ciências Contábeis no Estado, torna-se preocupante esses acréscimo de Cursos. semestre, além de entrevistas com os coordenadores das 11 instituições pesquisadas. Procurou-se, com a revisão de literatura resgatar a evolução histórica do ensino e da profissão contábil no Brasil e com a análise dos dados obter e detectar questões não percebidas anteriormente que servirá de alerta para o enriquecimento dos Cursos de Ciências Contábeis no Estado da Bahia. [...] Por fim, além das conclusões importantes sobre a situação do Ensino Superior de Ciências Contábeis no Estado da Bahia, são feitas afinal sugestões sobre medidas necessárias à melhoria do ensino e para futuras pesquisas. </a:t>
            </a:r>
          </a:p>
          <a:p>
            <a:pPr marL="0" indent="0" algn="just">
              <a:buNone/>
            </a:pPr>
            <a:r>
              <a:rPr lang="pt-BR" dirty="0"/>
              <a:t>4. </a:t>
            </a:r>
            <a:r>
              <a:rPr lang="pt-BR" b="1" dirty="0"/>
              <a:t>Local da obra: </a:t>
            </a:r>
            <a:r>
              <a:rPr lang="pt-BR" dirty="0"/>
              <a:t>Acervo digital (Ilustrativo)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Exemplo aplicado à Contabilidade</a:t>
            </a:r>
          </a:p>
        </p:txBody>
      </p:sp>
    </p:spTree>
    <p:extLst>
      <p:ext uri="{BB962C8B-B14F-4D97-AF65-F5344CB8AC3E}">
        <p14:creationId xmlns:p14="http://schemas.microsoft.com/office/powerpoint/2010/main" val="2196074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de um resumo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31136" y="2272937"/>
            <a:ext cx="7729728" cy="4376057"/>
          </a:xfrm>
        </p:spPr>
        <p:txBody>
          <a:bodyPr>
            <a:normAutofit fontScale="62500" lnSpcReduction="20000"/>
          </a:bodyPr>
          <a:lstStyle/>
          <a:p>
            <a:pPr marL="114300" indent="0" algn="just">
              <a:lnSpc>
                <a:spcPct val="20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Contextualização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pesquisa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relevância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lnSpc>
                <a:spcPct val="20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2. 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Lacuna: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Nessa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seção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o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autor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deixará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claro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o que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ainda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entendido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o que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o que é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controverso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assim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diante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grande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 É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lacuna da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grande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seu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estará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inserido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lnSpc>
                <a:spcPct val="20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Explicar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o que o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autor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fez, o que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sendo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reportado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desse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artigo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científico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deve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estar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ligado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com a lacuna.</a:t>
            </a:r>
            <a:endParaRPr lang="pt-BR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lnSpc>
                <a:spcPct val="20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Referência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rápida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métodos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utilizados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neste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trabalho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" indent="0" algn="just">
              <a:lnSpc>
                <a:spcPct val="200000"/>
              </a:lnSpc>
              <a:buNone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Resultados: 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Extremamente importante! Cabe ao autor identificar seu principal achado identificando no resumo.</a:t>
            </a:r>
          </a:p>
          <a:p>
            <a:pPr marL="114300" indent="0" algn="just">
              <a:lnSpc>
                <a:spcPct val="200000"/>
              </a:lnSpc>
              <a:buNone/>
            </a:pP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pt-BR" sz="1900" b="1" dirty="0">
                <a:latin typeface="Arial" panose="020B0604020202020204" pitchFamily="34" charset="0"/>
                <a:cs typeface="Arial" panose="020B0604020202020204" pitchFamily="34" charset="0"/>
              </a:rPr>
              <a:t>Conclusões: </a:t>
            </a:r>
            <a:r>
              <a:rPr lang="pt-BR" sz="1900" dirty="0">
                <a:latin typeface="Arial" panose="020B0604020202020204" pitchFamily="34" charset="0"/>
                <a:cs typeface="Arial" panose="020B0604020202020204" pitchFamily="34" charset="0"/>
              </a:rPr>
              <a:t>o autor deve expor de que maneira seus achados podem contribuir para o avanço dessa grande área.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4098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Categorização do resumo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342900" algn="just">
              <a:buAutoNum type="arabicPeriod"/>
            </a:pPr>
            <a:r>
              <a:rPr lang="pt-BR" sz="1400" dirty="0"/>
              <a:t>Cabeçalho</a:t>
            </a:r>
          </a:p>
          <a:p>
            <a:pPr marL="114300" indent="0" algn="just">
              <a:buNone/>
            </a:pPr>
            <a:r>
              <a:rPr lang="pt-BR" sz="1400" dirty="0"/>
              <a:t>1.1 Título Genérico: </a:t>
            </a:r>
            <a:r>
              <a:rPr lang="pt-BR" sz="1400" b="1" dirty="0"/>
              <a:t>Interações e experiências religiosas na juventude </a:t>
            </a:r>
          </a:p>
          <a:p>
            <a:pPr marL="114300" indent="0" algn="just">
              <a:buNone/>
            </a:pPr>
            <a:r>
              <a:rPr lang="pt-BR" sz="1400" dirty="0"/>
              <a:t>1.2 Título Específico: </a:t>
            </a:r>
            <a:r>
              <a:rPr lang="pt-BR" sz="1400" b="1" dirty="0"/>
              <a:t>Interações e experiências religiosas na juventude e moradores de favelas de Campos dos Goytacazes/RJ.</a:t>
            </a:r>
          </a:p>
          <a:p>
            <a:pPr marL="114300" indent="0" algn="just">
              <a:buNone/>
            </a:pPr>
            <a:r>
              <a:rPr lang="pt-BR" sz="1400" b="1" i="1" dirty="0"/>
              <a:t>2. </a:t>
            </a:r>
            <a:r>
              <a:rPr lang="pt-BR" sz="1400" dirty="0"/>
              <a:t>Referência Bibliográfica:  BERTOLI, </a:t>
            </a:r>
            <a:r>
              <a:rPr lang="pt-BR" sz="1400" dirty="0" err="1"/>
              <a:t>Naiane</a:t>
            </a:r>
            <a:r>
              <a:rPr lang="pt-BR" sz="1400" dirty="0"/>
              <a:t> de Freitas. </a:t>
            </a:r>
            <a:r>
              <a:rPr lang="pt-BR" sz="1400" b="1" dirty="0"/>
              <a:t>Interações e experiências religiosas dos jovens moradores de favelas de Campos dos Goytacazes/RJ.</a:t>
            </a:r>
            <a:r>
              <a:rPr lang="pt-BR" sz="1400" dirty="0"/>
              <a:t> </a:t>
            </a:r>
          </a:p>
          <a:p>
            <a:pPr marL="114300" indent="0" algn="just">
              <a:buNone/>
            </a:pPr>
            <a:r>
              <a:rPr lang="pt-BR" sz="1400" dirty="0"/>
              <a:t>O presente trabalho busca compreender o comportamento e a interação dos jovens e suas experiências religiosas a partir da participação em atividades desenvolvidas por igrejas nas favelas de Campos dos Goytacazes. Trata-se de analisar as vivências, o processo de adesão a segmentos religiosos e suas orientações às praticas e vivencias cotidianas. A partir de uma base de dados etnográfica focalizamos os jovens moradores de três favelas. A compreensão do modo de vida destes locais e a interação dos jovens nas igrejas possibilitam entender que a adesão à igreja é importante na sociabilidade juvenil em suas experiências cotidianas vividas nas favelas e em outros espaços da cidade.</a:t>
            </a:r>
          </a:p>
          <a:p>
            <a:pPr marL="114300" indent="0" algn="just">
              <a:buNone/>
            </a:pPr>
            <a:endParaRPr lang="pt-BR" sz="1400" dirty="0"/>
          </a:p>
          <a:p>
            <a:pPr marL="114300" indent="0">
              <a:buNone/>
            </a:pPr>
            <a:r>
              <a:rPr lang="pt-BR" sz="1400" b="1" dirty="0"/>
              <a:t>PALAVRAS-CHAVE</a:t>
            </a:r>
            <a:r>
              <a:rPr lang="pt-BR" sz="1400" dirty="0"/>
              <a:t>: Religião. Favela. Juventude</a:t>
            </a:r>
            <a:r>
              <a:rPr lang="pt-BR" dirty="0"/>
              <a:t>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739695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Pacote</Template>
  <TotalTime>600</TotalTime>
  <Words>1383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Escrita da pesquisa científica</vt:lpstr>
      <vt:lpstr>Lembre-se sempre de que você, quando escreve, não o faz para você e sim para o outro.  </vt:lpstr>
      <vt:lpstr>FORMAS DE ESCREVER OU TIPOS DE CORRESPODÊNCIA</vt:lpstr>
      <vt:lpstr>Fichamento: oque é?</vt:lpstr>
      <vt:lpstr>Fichamento: conteúdo</vt:lpstr>
      <vt:lpstr>Fichas de indicações bibliográficas</vt:lpstr>
      <vt:lpstr>Fichamento bibliográfico</vt:lpstr>
      <vt:lpstr>fichA DE TRANSCRIÇÃO OU CITAÇÃO</vt:lpstr>
      <vt:lpstr>Ficha de citação</vt:lpstr>
      <vt:lpstr>Ficha de apreciação</vt:lpstr>
      <vt:lpstr>Ficha de apreciação</vt:lpstr>
      <vt:lpstr>Ficha de resumo</vt:lpstr>
      <vt:lpstr>Ficha de resumo</vt:lpstr>
      <vt:lpstr>Características de um resumo</vt:lpstr>
      <vt:lpstr>Categorização do resumo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Escrita da pesquisa científica</dc:title>
  <dc:creator>Monalisa Ribeiro Gama</dc:creator>
  <cp:lastModifiedBy>Mona</cp:lastModifiedBy>
  <cp:revision>18</cp:revision>
  <dcterms:created xsi:type="dcterms:W3CDTF">2021-07-30T19:10:59Z</dcterms:created>
  <dcterms:modified xsi:type="dcterms:W3CDTF">2021-08-06T01:33:47Z</dcterms:modified>
</cp:coreProperties>
</file>