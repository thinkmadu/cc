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8/26/2021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B4B33-6BAD-48B0-BED7-443B4F99E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NORMAS DA ABNT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BBE4B5-2D3C-4CFF-8E37-546DA6AEC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b="1" dirty="0"/>
              <a:t> Citações             Notas de Rodapé         Ilustrações e Tabela</a:t>
            </a:r>
          </a:p>
        </p:txBody>
      </p:sp>
    </p:spTree>
    <p:extLst>
      <p:ext uri="{BB962C8B-B14F-4D97-AF65-F5344CB8AC3E}">
        <p14:creationId xmlns:p14="http://schemas.microsoft.com/office/powerpoint/2010/main" val="49874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55CB4-8B2B-4D5B-8D2A-F76B833D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CITAÇÃO: DEFINIÇÕES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DDBBE-45E9-4DE8-969B-9EB32F5F2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De acordo com as normas da ABNT (NBR 10520/2002) </a:t>
            </a:r>
            <a:r>
              <a:rPr lang="pt-BR" b="1" dirty="0"/>
              <a:t>CITAÇÃO </a:t>
            </a:r>
            <a:r>
              <a:rPr lang="pt-BR" dirty="0"/>
              <a:t>recebe as seguintes definições: 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	1. </a:t>
            </a:r>
            <a:r>
              <a:rPr lang="pt-BR" b="1" dirty="0"/>
              <a:t>Citação</a:t>
            </a:r>
            <a:r>
              <a:rPr lang="pt-BR" dirty="0"/>
              <a:t>: menção de uma informação </a:t>
            </a:r>
            <a:r>
              <a:rPr lang="pt-BR" b="1" dirty="0"/>
              <a:t>extraída de outra fonte</a:t>
            </a:r>
          </a:p>
          <a:p>
            <a:pPr marL="0" indent="0" algn="just">
              <a:buNone/>
            </a:pPr>
            <a:r>
              <a:rPr lang="pt-BR" dirty="0"/>
              <a:t>	2. </a:t>
            </a:r>
            <a:r>
              <a:rPr lang="pt-BR" b="1" dirty="0"/>
              <a:t>Citação de citação</a:t>
            </a:r>
            <a:r>
              <a:rPr lang="pt-BR" dirty="0"/>
              <a:t>: citação direta ou indireta de um texto em que </a:t>
            </a:r>
            <a:r>
              <a:rPr lang="pt-BR" b="1" dirty="0"/>
              <a:t>não se teve acesso ao original.</a:t>
            </a:r>
          </a:p>
          <a:p>
            <a:pPr marL="0" indent="0" algn="just">
              <a:buNone/>
            </a:pPr>
            <a:r>
              <a:rPr lang="pt-BR" dirty="0"/>
              <a:t>	3. </a:t>
            </a:r>
            <a:r>
              <a:rPr lang="pt-BR" b="1" dirty="0"/>
              <a:t>Citação Direta: </a:t>
            </a:r>
            <a:r>
              <a:rPr lang="pt-BR" dirty="0"/>
              <a:t>transcrição textual de parte da obra do autor consultado. São realizadas </a:t>
            </a:r>
            <a:r>
              <a:rPr lang="pt-BR" b="1" dirty="0"/>
              <a:t>transcrições exatamente idênticas </a:t>
            </a:r>
            <a:r>
              <a:rPr lang="pt-BR" dirty="0"/>
              <a:t>às palavras do citado autor. Essas citações </a:t>
            </a:r>
            <a:r>
              <a:rPr lang="pt-BR" b="1" dirty="0"/>
              <a:t>podem ser breves ou longas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21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99965-5898-4C8C-9E35-50A63DD7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BREVES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313EFD-2909-4957-B38E-B70A4CCFB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b="1" dirty="0"/>
              <a:t>As breves </a:t>
            </a:r>
            <a:r>
              <a:rPr lang="pt-BR" dirty="0"/>
              <a:t>não ultrapassam três linhas e devem integrar normalmente o texto, sendo destacadas por aspas duplas, e o tamanho da letra deverá permanecer o mesmo do corpo do texto. As aspas simples são utilizadas para indicar citação no interior da citação.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sz="1700" b="1" dirty="0"/>
              <a:t>EXEMPLOS DE TRANSCRIÇÕES DE TEXTO ATÉ TRÊS LINHAS:</a:t>
            </a:r>
          </a:p>
          <a:p>
            <a:pPr marL="0" indent="0" algn="just">
              <a:buNone/>
            </a:pPr>
            <a:r>
              <a:rPr lang="pt-BR" dirty="0"/>
              <a:t> Exemplo 1: Marion (2002, p. 83) afirma que os índices de liquidez são “utilizados para avaliar a capacidade de pagamento da empresa, isto é, constituem uma apreciação sobre se a empresa tem capacidade para saldar seus compromissos”. </a:t>
            </a:r>
          </a:p>
          <a:p>
            <a:pPr marL="0" indent="0" algn="just">
              <a:buNone/>
            </a:pPr>
            <a:r>
              <a:rPr lang="pt-BR" b="1" dirty="0"/>
              <a:t>Ou</a:t>
            </a:r>
          </a:p>
          <a:p>
            <a:pPr marL="0" indent="0" algn="just">
              <a:buNone/>
            </a:pPr>
            <a:r>
              <a:rPr lang="pt-BR" dirty="0"/>
              <a:t> Exemplo 2: “Os índices de liquidez são utilizados para avaliar a capacidade de pagamento da empresa, isto é, constituem uma apreciação sobre se a empresa tem capacidade para saldar seus compromissos” (MARION, 2002, p. 83)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4021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b="1" dirty="0"/>
              <a:t>As citações com mais de três linhas são chamadas de longas </a:t>
            </a:r>
            <a:r>
              <a:rPr lang="pt-BR" dirty="0"/>
              <a:t>e devem receber um destaque especial com recuo de 4 cm da margem esquerda, com letra menor que a do texto utilizado e sem as aspas.</a:t>
            </a:r>
          </a:p>
        </p:txBody>
      </p:sp>
    </p:spTree>
    <p:extLst>
      <p:ext uri="{BB962C8B-B14F-4D97-AF65-F5344CB8AC3E}">
        <p14:creationId xmlns:p14="http://schemas.microsoft.com/office/powerpoint/2010/main" val="295016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983747"/>
            <a:ext cx="10571998" cy="7979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b="1" dirty="0"/>
              <a:t>Uma citação longa terá esta apresentação: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741C1C-9270-42BD-9566-F7450B681D7D}"/>
              </a:ext>
            </a:extLst>
          </p:cNvPr>
          <p:cNvPicPr/>
          <p:nvPr/>
        </p:nvPicPr>
        <p:blipFill rotWithShape="1">
          <a:blip r:embed="rId2"/>
          <a:srcRect l="15251" t="33629" r="28494" b="23277"/>
          <a:stretch/>
        </p:blipFill>
        <p:spPr bwMode="auto">
          <a:xfrm>
            <a:off x="1721321" y="2635894"/>
            <a:ext cx="8749356" cy="3390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1721320" y="6054732"/>
            <a:ext cx="862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Fonte: Antônio Silva, </a:t>
            </a:r>
            <a:r>
              <a:rPr lang="pt-BR" sz="1600" i="1" dirty="0"/>
              <a:t>Metodologia Científica Aplicado a Contabilidade</a:t>
            </a:r>
            <a:r>
              <a:rPr lang="pt-BR" sz="1600" dirty="0"/>
              <a:t>, 2017, p. 72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908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1"/>
            <a:ext cx="10571998" cy="7979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Havendo </a:t>
            </a:r>
            <a:r>
              <a:rPr lang="pt-BR" b="1" dirty="0"/>
              <a:t>supressão</a:t>
            </a:r>
            <a:r>
              <a:rPr lang="pt-BR" dirty="0"/>
              <a:t> de trechos dentro do texto citado, faz-se a </a:t>
            </a:r>
            <a:r>
              <a:rPr lang="pt-BR" b="1" dirty="0"/>
              <a:t>indicação com reticências entre colchetes</a:t>
            </a:r>
            <a:r>
              <a:rPr lang="pt-BR" dirty="0"/>
              <a:t> [...]</a:t>
            </a:r>
            <a:endParaRPr lang="pt-BR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596348" y="5155008"/>
            <a:ext cx="862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Fonte: Antônio Silva, </a:t>
            </a:r>
            <a:r>
              <a:rPr lang="pt-BR" sz="1600" i="1" dirty="0"/>
              <a:t>Metodologia Científica Aplicado a Contabilidade</a:t>
            </a:r>
            <a:r>
              <a:rPr lang="pt-BR" sz="1600" dirty="0"/>
              <a:t>, 2017, p. 72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277044-5B07-4223-B025-C9BD07604BE4}"/>
              </a:ext>
            </a:extLst>
          </p:cNvPr>
          <p:cNvPicPr/>
          <p:nvPr/>
        </p:nvPicPr>
        <p:blipFill rotWithShape="1">
          <a:blip r:embed="rId2"/>
          <a:srcRect l="18311" t="46235" r="31265" b="46406"/>
          <a:stretch/>
        </p:blipFill>
        <p:spPr bwMode="auto">
          <a:xfrm>
            <a:off x="596348" y="3790978"/>
            <a:ext cx="10785650" cy="1254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8ABABC-440D-4E29-BB41-9C99024815A7}"/>
              </a:ext>
            </a:extLst>
          </p:cNvPr>
          <p:cNvSpPr txBox="1"/>
          <p:nvPr/>
        </p:nvSpPr>
        <p:spPr>
          <a:xfrm>
            <a:off x="703174" y="5883965"/>
            <a:ext cx="10571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No início ou no fim da citação</a:t>
            </a:r>
            <a:r>
              <a:rPr lang="pt-BR" dirty="0"/>
              <a:t>, as reticências são usadas apenas quando o trecho citado não é uma sentença completa. </a:t>
            </a:r>
          </a:p>
        </p:txBody>
      </p:sp>
    </p:spTree>
    <p:extLst>
      <p:ext uri="{BB962C8B-B14F-4D97-AF65-F5344CB8AC3E}">
        <p14:creationId xmlns:p14="http://schemas.microsoft.com/office/powerpoint/2010/main" val="321037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1"/>
            <a:ext cx="10571998" cy="14282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b="1" dirty="0"/>
              <a:t>Se a citação for usada para completar uma sentença do autor do trabalho</a:t>
            </a:r>
            <a:r>
              <a:rPr lang="pt-BR" dirty="0"/>
              <a:t>, esta terminará em </a:t>
            </a:r>
            <a:r>
              <a:rPr lang="pt-BR" b="1" dirty="0"/>
              <a:t>vírgula </a:t>
            </a:r>
            <a:r>
              <a:rPr lang="pt-BR" dirty="0"/>
              <a:t>e aquela iniciará </a:t>
            </a:r>
            <a:r>
              <a:rPr lang="pt-BR" b="1" dirty="0"/>
              <a:t>sem a entrada de parágrafo e com letra minúscula</a:t>
            </a:r>
            <a:r>
              <a:rPr lang="pt-BR" dirty="0"/>
              <a:t>. </a:t>
            </a:r>
          </a:p>
          <a:p>
            <a:pPr marL="0" indent="0" algn="just">
              <a:buNone/>
            </a:pPr>
            <a:r>
              <a:rPr lang="pt-BR" dirty="0"/>
              <a:t>Exemplo: </a:t>
            </a:r>
          </a:p>
          <a:p>
            <a:pPr marL="0" indent="0" algn="just">
              <a:buNone/>
            </a:pPr>
            <a:endParaRPr lang="pt-BR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1554662" y="5633903"/>
            <a:ext cx="7523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73</a:t>
            </a:r>
            <a:r>
              <a:rPr lang="pt-BR" sz="1600" dirty="0"/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0DF072D-97E5-4F14-8D19-222016B1B8FC}"/>
              </a:ext>
            </a:extLst>
          </p:cNvPr>
          <p:cNvPicPr/>
          <p:nvPr/>
        </p:nvPicPr>
        <p:blipFill rotWithShape="1">
          <a:blip r:embed="rId2"/>
          <a:srcRect l="19887" t="52890" r="28704" b="20139"/>
          <a:stretch/>
        </p:blipFill>
        <p:spPr bwMode="auto">
          <a:xfrm>
            <a:off x="1616764" y="3428999"/>
            <a:ext cx="7460975" cy="22049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275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1"/>
            <a:ext cx="10571998" cy="142825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dirty="0"/>
              <a:t>Havendo uma </a:t>
            </a:r>
            <a:r>
              <a:rPr lang="pt-BR" b="1" dirty="0"/>
              <a:t>citação dentro de outra citação</a:t>
            </a:r>
            <a:r>
              <a:rPr lang="pt-BR" dirty="0"/>
              <a:t>, as aspas da segunda transformam-se em </a:t>
            </a:r>
            <a:r>
              <a:rPr lang="pt-BR" b="1" dirty="0"/>
              <a:t>aspas simples </a:t>
            </a:r>
            <a:r>
              <a:rPr lang="pt-BR" dirty="0"/>
              <a:t>(‘) (apóstrofo). Quando dentro da citação transcrita houver aspas, estas também são mudadas para aspas simples.</a:t>
            </a: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EXEMPLO: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1554662" y="5382897"/>
            <a:ext cx="7523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73</a:t>
            </a:r>
            <a:r>
              <a:rPr lang="pt-BR" sz="1600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78D3A3-84A9-42F0-997F-DEE2CA294915}"/>
              </a:ext>
            </a:extLst>
          </p:cNvPr>
          <p:cNvPicPr/>
          <p:nvPr/>
        </p:nvPicPr>
        <p:blipFill rotWithShape="1">
          <a:blip r:embed="rId2"/>
          <a:srcRect l="18706" t="40628" r="31075" b="46759"/>
          <a:stretch/>
        </p:blipFill>
        <p:spPr bwMode="auto">
          <a:xfrm>
            <a:off x="1554662" y="3943138"/>
            <a:ext cx="8520339" cy="1428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4985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1"/>
            <a:ext cx="9620269" cy="14282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Se for feita alguma </a:t>
            </a:r>
            <a:r>
              <a:rPr lang="pt-BR" b="1" dirty="0"/>
              <a:t>interpolação, acréscimos ou comentário durante a citação</a:t>
            </a:r>
            <a:r>
              <a:rPr lang="pt-BR" dirty="0"/>
              <a:t>, deve-se fazê-lo entre </a:t>
            </a:r>
            <a:r>
              <a:rPr lang="pt-BR" b="1" dirty="0"/>
              <a:t>colchetes </a:t>
            </a:r>
            <a:r>
              <a:rPr lang="pt-BR" dirty="0"/>
              <a:t>[ ]</a:t>
            </a: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EXEMPLO: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1435392" y="4956336"/>
            <a:ext cx="7523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74</a:t>
            </a:r>
            <a:r>
              <a:rPr lang="pt-BR" sz="16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7DE771-5F95-4BBB-8F1F-8EE8876DFBAA}"/>
              </a:ext>
            </a:extLst>
          </p:cNvPr>
          <p:cNvPicPr/>
          <p:nvPr/>
        </p:nvPicPr>
        <p:blipFill rotWithShape="1">
          <a:blip r:embed="rId2"/>
          <a:srcRect l="20480" t="59188" r="31073" b="32752"/>
          <a:stretch/>
        </p:blipFill>
        <p:spPr bwMode="auto">
          <a:xfrm>
            <a:off x="1554662" y="3697357"/>
            <a:ext cx="7523077" cy="12094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02632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1"/>
            <a:ext cx="9620269" cy="14282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Se </a:t>
            </a:r>
            <a:r>
              <a:rPr lang="pt-BR" b="1" dirty="0"/>
              <a:t>algum destaque </a:t>
            </a:r>
            <a:r>
              <a:rPr lang="pt-BR" dirty="0"/>
              <a:t>(grifo, negrito, itálico ou sublinhado) for feito, deve-se indicá-lo com a expressão grifo nosso, entre colchetes [ ].</a:t>
            </a:r>
          </a:p>
          <a:p>
            <a:pPr marL="0" indent="0" algn="just">
              <a:buNone/>
            </a:pPr>
            <a:r>
              <a:rPr lang="pt-BR" b="1" dirty="0"/>
              <a:t>EXEMPLO: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1276366" y="5551338"/>
            <a:ext cx="7523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74</a:t>
            </a:r>
            <a:r>
              <a:rPr lang="pt-BR" sz="16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C2B612-B619-403D-A655-AC5F83CC7F1D}"/>
              </a:ext>
            </a:extLst>
          </p:cNvPr>
          <p:cNvPicPr/>
          <p:nvPr/>
        </p:nvPicPr>
        <p:blipFill rotWithShape="1">
          <a:blip r:embed="rId2"/>
          <a:srcRect l="20085" t="50082" r="31464" b="37302"/>
          <a:stretch/>
        </p:blipFill>
        <p:spPr bwMode="auto">
          <a:xfrm>
            <a:off x="1276366" y="3896139"/>
            <a:ext cx="8106173" cy="1625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204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269101"/>
            <a:ext cx="10571998" cy="11599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pt-BR" dirty="0"/>
              <a:t>Quando se tratar de </a:t>
            </a:r>
            <a:r>
              <a:rPr lang="pt-BR" b="1" dirty="0"/>
              <a:t>dados obtidos por informação oral </a:t>
            </a:r>
            <a:r>
              <a:rPr lang="pt-BR" dirty="0"/>
              <a:t>(palestras, debates, comunicações etc.), indicar entre parênteses a expressão </a:t>
            </a:r>
            <a:r>
              <a:rPr lang="pt-BR" b="1" dirty="0"/>
              <a:t>“informação verbal”, </a:t>
            </a:r>
            <a:r>
              <a:rPr lang="pt-BR" dirty="0"/>
              <a:t>mencionando-se os dados disponíveis, somente em notas de rodapé. </a:t>
            </a: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EXEMPLO: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2624772" y="6291827"/>
            <a:ext cx="54450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Antônio Silva, </a:t>
            </a:r>
            <a:r>
              <a:rPr lang="pt-BR" sz="1200" i="1" dirty="0"/>
              <a:t>Metodologia Científica Aplicado a Contabilidade</a:t>
            </a:r>
            <a:r>
              <a:rPr lang="pt-BR" sz="1200" dirty="0"/>
              <a:t>, 2017, p. 75</a:t>
            </a:r>
            <a:r>
              <a:rPr lang="pt-BR" sz="14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B6A511-2D3B-4819-8B19-97C658D6B840}"/>
              </a:ext>
            </a:extLst>
          </p:cNvPr>
          <p:cNvPicPr/>
          <p:nvPr/>
        </p:nvPicPr>
        <p:blipFill rotWithShape="1">
          <a:blip r:embed="rId2"/>
          <a:srcRect l="23051" t="68294" r="31236" b="16541"/>
          <a:stretch/>
        </p:blipFill>
        <p:spPr bwMode="auto">
          <a:xfrm>
            <a:off x="2718314" y="3296632"/>
            <a:ext cx="5445025" cy="13513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E0529F6-4184-4984-B0E8-C14DA1518DDC}"/>
              </a:ext>
            </a:extLst>
          </p:cNvPr>
          <p:cNvSpPr txBox="1"/>
          <p:nvPr/>
        </p:nvSpPr>
        <p:spPr>
          <a:xfrm>
            <a:off x="810000" y="4771184"/>
            <a:ext cx="5034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No rodapé da página: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794D91F-97EF-465B-8631-D138203611E3}"/>
              </a:ext>
            </a:extLst>
          </p:cNvPr>
          <p:cNvPicPr/>
          <p:nvPr/>
        </p:nvPicPr>
        <p:blipFill rotWithShape="1">
          <a:blip r:embed="rId3"/>
          <a:srcRect l="16773" t="52535" r="33568" b="40452"/>
          <a:stretch/>
        </p:blipFill>
        <p:spPr bwMode="auto">
          <a:xfrm>
            <a:off x="2718314" y="5202184"/>
            <a:ext cx="5445025" cy="8540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0708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409F4-D2BD-46F9-9AB7-AE460A2F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DIRETAS: LONGAS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30B9C-77E7-45F7-B1D8-CE12CDA2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74" y="2269100"/>
            <a:ext cx="10678824" cy="162569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dirty="0"/>
              <a:t>Quando se tratar de </a:t>
            </a:r>
            <a:r>
              <a:rPr lang="pt-BR" b="1" dirty="0"/>
              <a:t>dados obtidos por informação oral </a:t>
            </a:r>
            <a:r>
              <a:rPr lang="pt-BR" dirty="0"/>
              <a:t>(palestras, debates, comunicações etc.), indicar entre parênteses a expressão </a:t>
            </a:r>
            <a:r>
              <a:rPr lang="pt-BR" b="1" dirty="0"/>
              <a:t>“informação verbal”, </a:t>
            </a:r>
            <a:r>
              <a:rPr lang="pt-BR" dirty="0"/>
              <a:t>mencionando-se os dados disponíveis, somente em notas de rodapé. </a:t>
            </a: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EXEMPLO: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DB73E-5E5B-432A-B854-A720D8814684}"/>
              </a:ext>
            </a:extLst>
          </p:cNvPr>
          <p:cNvSpPr txBox="1"/>
          <p:nvPr/>
        </p:nvSpPr>
        <p:spPr>
          <a:xfrm>
            <a:off x="2042453" y="5830957"/>
            <a:ext cx="7008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Antônio Silva, </a:t>
            </a:r>
            <a:r>
              <a:rPr lang="pt-BR" sz="1200" i="1" dirty="0"/>
              <a:t>Metodologia Científica Aplicado a Contabilidade</a:t>
            </a:r>
            <a:r>
              <a:rPr lang="pt-BR" sz="1200" dirty="0"/>
              <a:t>, 2017, p. 75</a:t>
            </a:r>
            <a:r>
              <a:rPr lang="pt-BR" sz="14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B6A511-2D3B-4819-8B19-97C658D6B840}"/>
              </a:ext>
            </a:extLst>
          </p:cNvPr>
          <p:cNvPicPr/>
          <p:nvPr/>
        </p:nvPicPr>
        <p:blipFill rotWithShape="1">
          <a:blip r:embed="rId2"/>
          <a:srcRect l="23051" t="68294" r="31236" b="16541"/>
          <a:stretch/>
        </p:blipFill>
        <p:spPr bwMode="auto">
          <a:xfrm>
            <a:off x="2174974" y="4029424"/>
            <a:ext cx="6876260" cy="18015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035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D5B81-B875-451F-8B40-50085477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CITAÇÃO DE CITAÇÃO: DEFINIÇÃO </a:t>
            </a:r>
            <a:br>
              <a:rPr lang="pt-BR" dirty="0"/>
            </a:br>
            <a:r>
              <a:rPr lang="pt-BR" dirty="0"/>
              <a:t>(NBR 10520/2002)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B2F27-3F0D-40D6-BEE4-ABE32D1A8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113" y="2222288"/>
            <a:ext cx="10684173" cy="9704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Se, em um trabalho, for feita uma </a:t>
            </a:r>
            <a:r>
              <a:rPr lang="pt-BR" b="1" dirty="0"/>
              <a:t>citação de alguma passagem já citada em outra obra</a:t>
            </a:r>
            <a:r>
              <a:rPr lang="pt-BR" dirty="0"/>
              <a:t>, a autoria deve ser referenciada pelo </a:t>
            </a:r>
            <a:r>
              <a:rPr lang="pt-BR" b="1" dirty="0"/>
              <a:t>sobrenome do autor original </a:t>
            </a:r>
            <a:r>
              <a:rPr lang="pt-BR" dirty="0"/>
              <a:t>seguida da palavra latina </a:t>
            </a:r>
            <a:r>
              <a:rPr lang="pt-BR" b="1" i="1" dirty="0"/>
              <a:t>apud </a:t>
            </a:r>
            <a:r>
              <a:rPr lang="pt-BR" dirty="0"/>
              <a:t>(que significa segundo, conforme, de acordo com) e o </a:t>
            </a:r>
            <a:r>
              <a:rPr lang="pt-BR" b="1" dirty="0"/>
              <a:t>sobrenome do autor da obra </a:t>
            </a:r>
            <a:r>
              <a:rPr lang="pt-BR" dirty="0"/>
              <a:t>consultada (dessa última). </a:t>
            </a:r>
          </a:p>
          <a:p>
            <a:pPr marL="0" indent="0">
              <a:buNone/>
            </a:pPr>
            <a:r>
              <a:rPr lang="pt-BR" b="1" dirty="0"/>
              <a:t>EXEMPLO: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E555B6-F3B9-4723-8245-4D0AB681847D}"/>
              </a:ext>
            </a:extLst>
          </p:cNvPr>
          <p:cNvPicPr/>
          <p:nvPr/>
        </p:nvPicPr>
        <p:blipFill rotWithShape="1">
          <a:blip r:embed="rId2"/>
          <a:srcRect l="21667" t="38875" r="31651" b="24697"/>
          <a:stretch/>
        </p:blipFill>
        <p:spPr bwMode="auto">
          <a:xfrm>
            <a:off x="1631635" y="3192738"/>
            <a:ext cx="8188226" cy="29839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F685CAE-E31A-40CB-AF35-F1DBA5A7EF14}"/>
              </a:ext>
            </a:extLst>
          </p:cNvPr>
          <p:cNvSpPr txBox="1"/>
          <p:nvPr/>
        </p:nvSpPr>
        <p:spPr>
          <a:xfrm>
            <a:off x="1452572" y="6176689"/>
            <a:ext cx="9666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Fonte: Antônio Silva, </a:t>
            </a:r>
            <a:r>
              <a:rPr lang="pt-BR" sz="1600" i="1" dirty="0"/>
              <a:t>Metodologia Científica Aplicado a Contabilidade</a:t>
            </a:r>
            <a:r>
              <a:rPr lang="pt-BR" sz="1600" dirty="0"/>
              <a:t>, 2017, p. 75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2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3DA5A-C94C-442D-8980-5E7B980A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CITAÇÃO INDIRETA: DEFINIÇÃO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83F44D-7B97-4460-A131-4FD8F64B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É o </a:t>
            </a:r>
            <a:r>
              <a:rPr lang="pt-BR" b="1" dirty="0"/>
              <a:t>texto baseado na obra do autor consultado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 Neste tipo de citação, expressamos o </a:t>
            </a:r>
            <a:r>
              <a:rPr lang="pt-BR" b="1" dirty="0"/>
              <a:t>pensamento de outra pessoa </a:t>
            </a:r>
            <a:r>
              <a:rPr lang="pt-BR" dirty="0"/>
              <a:t>com as nossas próprias palavras. </a:t>
            </a:r>
          </a:p>
          <a:p>
            <a:pPr algn="just"/>
            <a:r>
              <a:rPr lang="pt-BR" dirty="0"/>
              <a:t>Após a citação, devemos indicar </a:t>
            </a:r>
            <a:r>
              <a:rPr lang="pt-BR" b="1" dirty="0"/>
              <a:t>o nome do autor</a:t>
            </a:r>
            <a:r>
              <a:rPr lang="pt-BR" dirty="0"/>
              <a:t>, estando </a:t>
            </a:r>
            <a:r>
              <a:rPr lang="pt-BR" b="1" dirty="0"/>
              <a:t>no corpo do texto em letras minúsculas</a:t>
            </a:r>
            <a:r>
              <a:rPr lang="pt-BR" dirty="0"/>
              <a:t>, e </a:t>
            </a:r>
            <a:r>
              <a:rPr lang="pt-BR" b="1" dirty="0"/>
              <a:t>com letras maiúsculas, se estiver dentro dos parênteses</a:t>
            </a:r>
            <a:r>
              <a:rPr lang="pt-BR" dirty="0"/>
              <a:t>, acompanhado com ano de publicação da obra em que se encontra a ideia a que nos referimos. </a:t>
            </a:r>
          </a:p>
          <a:p>
            <a:pPr algn="just"/>
            <a:r>
              <a:rPr lang="pt-BR" b="1" dirty="0"/>
              <a:t>Não se deve </a:t>
            </a:r>
            <a:r>
              <a:rPr lang="pt-BR" dirty="0"/>
              <a:t>indicar páginas, já que a ideia pode ser o resumo de uma obra inteira, de um capítulo, de diversas partes ou um conjunto delas. </a:t>
            </a:r>
          </a:p>
        </p:txBody>
      </p:sp>
    </p:spTree>
    <p:extLst>
      <p:ext uri="{BB962C8B-B14F-4D97-AF65-F5344CB8AC3E}">
        <p14:creationId xmlns:p14="http://schemas.microsoft.com/office/powerpoint/2010/main" val="1936145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3DA5A-C94C-442D-8980-5E7B980A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CITAÇÃO INDIRETA: EXEMPLOS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87D1EA-1E22-4BA7-9A77-E3CE02C2EE54}"/>
              </a:ext>
            </a:extLst>
          </p:cNvPr>
          <p:cNvPicPr/>
          <p:nvPr/>
        </p:nvPicPr>
        <p:blipFill rotWithShape="1">
          <a:blip r:embed="rId2"/>
          <a:srcRect l="20694" t="31520" r="30424" b="42205"/>
          <a:stretch/>
        </p:blipFill>
        <p:spPr bwMode="auto">
          <a:xfrm>
            <a:off x="1438669" y="2305878"/>
            <a:ext cx="9314660" cy="37371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453C3B2-09A2-4EA4-8C1E-0A97A23D41E2}"/>
              </a:ext>
            </a:extLst>
          </p:cNvPr>
          <p:cNvSpPr txBox="1"/>
          <p:nvPr/>
        </p:nvSpPr>
        <p:spPr>
          <a:xfrm>
            <a:off x="1326835" y="6042991"/>
            <a:ext cx="93146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Fonte: Antônio Silva, </a:t>
            </a:r>
            <a:r>
              <a:rPr lang="pt-BR" sz="1600" i="1" dirty="0"/>
              <a:t>Metodologia Científica Aplicado a Contabilidade</a:t>
            </a:r>
            <a:r>
              <a:rPr lang="pt-BR" sz="1600" dirty="0"/>
              <a:t>, 2017, p. 75.</a:t>
            </a:r>
          </a:p>
        </p:txBody>
      </p:sp>
    </p:spTree>
    <p:extLst>
      <p:ext uri="{BB962C8B-B14F-4D97-AF65-F5344CB8AC3E}">
        <p14:creationId xmlns:p14="http://schemas.microsoft.com/office/powerpoint/2010/main" val="1895605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9895B-98E4-4D92-BC99-10C9F680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NOTAS DE RODAPÉ: 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CFE3D-783B-4412-A8BD-6D47F118F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Nota de Rodapé de página é a </a:t>
            </a:r>
            <a:r>
              <a:rPr lang="pt-BR" b="1" dirty="0"/>
              <a:t>maneira simples do leitor encontrar</a:t>
            </a:r>
            <a:r>
              <a:rPr lang="pt-BR" dirty="0"/>
              <a:t>, na própria página, um e</a:t>
            </a:r>
            <a:r>
              <a:rPr lang="pt-BR" b="1" dirty="0"/>
              <a:t>sclarecimento </a:t>
            </a:r>
            <a:r>
              <a:rPr lang="pt-BR" dirty="0"/>
              <a:t>que o autor pretende lhe transmitir. </a:t>
            </a:r>
          </a:p>
          <a:p>
            <a:r>
              <a:rPr lang="pt-BR" dirty="0"/>
              <a:t>São </a:t>
            </a:r>
            <a:r>
              <a:rPr lang="pt-BR" b="1" dirty="0"/>
              <a:t>observações</a:t>
            </a:r>
            <a:r>
              <a:rPr lang="pt-BR" dirty="0"/>
              <a:t>, </a:t>
            </a:r>
            <a:r>
              <a:rPr lang="pt-BR" b="1" dirty="0"/>
              <a:t>indicações</a:t>
            </a:r>
            <a:r>
              <a:rPr lang="pt-BR" dirty="0"/>
              <a:t> ou </a:t>
            </a:r>
            <a:r>
              <a:rPr lang="pt-BR" b="1" dirty="0"/>
              <a:t>aditamentos</a:t>
            </a:r>
            <a:r>
              <a:rPr lang="pt-BR" dirty="0"/>
              <a:t>, que se fossem realizadas no texto, por certo, prejudicariam a sequência lógica de seu desenvolvimento. </a:t>
            </a:r>
          </a:p>
          <a:p>
            <a:r>
              <a:rPr lang="pt-BR" dirty="0"/>
              <a:t>É </a:t>
            </a:r>
            <a:r>
              <a:rPr lang="pt-BR" b="1" dirty="0"/>
              <a:t>facultativo</a:t>
            </a:r>
            <a:r>
              <a:rPr lang="pt-BR" dirty="0"/>
              <a:t> utilizar-se, nas notas de rodapé, as identificações das referências das obras citadas no texto, lembrando que, se forem realizadas nas notas de rodapé, terá que repeti-las no final do trabalho.</a:t>
            </a:r>
          </a:p>
        </p:txBody>
      </p:sp>
    </p:spTree>
    <p:extLst>
      <p:ext uri="{BB962C8B-B14F-4D97-AF65-F5344CB8AC3E}">
        <p14:creationId xmlns:p14="http://schemas.microsoft.com/office/powerpoint/2010/main" val="3310006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9895B-98E4-4D92-BC99-10C9F680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NOTAS DE RODAPÉ: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CFE3D-783B-4412-A8BD-6D47F118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33600"/>
            <a:ext cx="10554574" cy="164327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As Notas de Referência </a:t>
            </a:r>
            <a:r>
              <a:rPr lang="pt-BR" b="1" dirty="0"/>
              <a:t>são as notas feita por algarismos arábicos</a:t>
            </a:r>
            <a:r>
              <a:rPr lang="pt-BR" dirty="0"/>
              <a:t>, devendo ter </a:t>
            </a:r>
            <a:r>
              <a:rPr lang="pt-BR" b="1" dirty="0"/>
              <a:t>numeração única </a:t>
            </a:r>
            <a:r>
              <a:rPr lang="pt-BR" dirty="0"/>
              <a:t>e </a:t>
            </a:r>
            <a:r>
              <a:rPr lang="pt-BR" b="1" dirty="0"/>
              <a:t>consecutiva</a:t>
            </a:r>
            <a:r>
              <a:rPr lang="pt-BR" dirty="0"/>
              <a:t> para cada capítulo ou parte.</a:t>
            </a:r>
          </a:p>
          <a:p>
            <a:r>
              <a:rPr lang="pt-BR" dirty="0"/>
              <a:t> </a:t>
            </a:r>
            <a:r>
              <a:rPr lang="pt-BR" b="1" dirty="0"/>
              <a:t>Não se inicia </a:t>
            </a:r>
            <a:r>
              <a:rPr lang="pt-BR" dirty="0"/>
              <a:t>a numeração a cada página. </a:t>
            </a:r>
            <a:r>
              <a:rPr lang="pt-BR" b="1" dirty="0"/>
              <a:t>A primeira citação </a:t>
            </a:r>
            <a:r>
              <a:rPr lang="pt-BR" dirty="0"/>
              <a:t>de uma obra, em nota de rodapé, deve ter sua </a:t>
            </a:r>
            <a:r>
              <a:rPr lang="pt-BR" b="1" dirty="0"/>
              <a:t>referência completa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DF147D-9632-4DF5-9A78-6A25209E8132}"/>
              </a:ext>
            </a:extLst>
          </p:cNvPr>
          <p:cNvPicPr/>
          <p:nvPr/>
        </p:nvPicPr>
        <p:blipFill rotWithShape="1">
          <a:blip r:embed="rId2"/>
          <a:srcRect l="18321" t="32221" r="30850" b="45011"/>
          <a:stretch/>
        </p:blipFill>
        <p:spPr bwMode="auto">
          <a:xfrm>
            <a:off x="1702903" y="3776870"/>
            <a:ext cx="7427843" cy="212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2424B53-6341-481B-AF3A-6CE8F2E289AA}"/>
              </a:ext>
            </a:extLst>
          </p:cNvPr>
          <p:cNvSpPr txBox="1"/>
          <p:nvPr/>
        </p:nvSpPr>
        <p:spPr>
          <a:xfrm>
            <a:off x="1606826" y="5898695"/>
            <a:ext cx="752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80.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03DBD65-69BF-4823-90DB-B1F9372DAFE8}"/>
              </a:ext>
            </a:extLst>
          </p:cNvPr>
          <p:cNvSpPr/>
          <p:nvPr/>
        </p:nvSpPr>
        <p:spPr>
          <a:xfrm>
            <a:off x="2504661" y="5076333"/>
            <a:ext cx="2478156" cy="6243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108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9895B-98E4-4D92-BC99-10C9F680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NOTAS DE RODAPÉ: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CFE3D-783B-4412-A8BD-6D47F118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33600"/>
            <a:ext cx="10554574" cy="947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Exemplo 2: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424B53-6341-481B-AF3A-6CE8F2E289AA}"/>
              </a:ext>
            </a:extLst>
          </p:cNvPr>
          <p:cNvSpPr txBox="1"/>
          <p:nvPr/>
        </p:nvSpPr>
        <p:spPr>
          <a:xfrm>
            <a:off x="1606826" y="5898695"/>
            <a:ext cx="752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80.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3A025B-44F4-4024-B4CA-5F7803863B9A}"/>
              </a:ext>
            </a:extLst>
          </p:cNvPr>
          <p:cNvPicPr/>
          <p:nvPr/>
        </p:nvPicPr>
        <p:blipFill rotWithShape="1">
          <a:blip r:embed="rId2"/>
          <a:srcRect l="19513" t="28368" r="32184" b="55506"/>
          <a:stretch/>
        </p:blipFill>
        <p:spPr bwMode="auto">
          <a:xfrm>
            <a:off x="1166192" y="3191890"/>
            <a:ext cx="8918713" cy="25271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EED42DFC-F2EA-4091-AEE7-2134C61067F9}"/>
              </a:ext>
            </a:extLst>
          </p:cNvPr>
          <p:cNvSpPr/>
          <p:nvPr/>
        </p:nvSpPr>
        <p:spPr>
          <a:xfrm>
            <a:off x="2345636" y="4711886"/>
            <a:ext cx="3193774" cy="1007166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600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9895B-98E4-4D92-BC99-10C9F680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NOTAS DE RODAPÉ: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CFE3D-783B-4412-A8BD-6D47F118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33600"/>
            <a:ext cx="10554574" cy="947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Exemplo 3: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424B53-6341-481B-AF3A-6CE8F2E289AA}"/>
              </a:ext>
            </a:extLst>
          </p:cNvPr>
          <p:cNvSpPr txBox="1"/>
          <p:nvPr/>
        </p:nvSpPr>
        <p:spPr>
          <a:xfrm>
            <a:off x="1606826" y="5898695"/>
            <a:ext cx="752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80.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8B92F3-120C-489B-AB60-A09E89C4BEB2}"/>
              </a:ext>
            </a:extLst>
          </p:cNvPr>
          <p:cNvPicPr/>
          <p:nvPr/>
        </p:nvPicPr>
        <p:blipFill rotWithShape="1">
          <a:blip r:embed="rId2"/>
          <a:srcRect l="17342" t="48331" r="30631" b="32054"/>
          <a:stretch/>
        </p:blipFill>
        <p:spPr bwMode="auto">
          <a:xfrm>
            <a:off x="1311966" y="2916611"/>
            <a:ext cx="8666922" cy="26371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8BFF913-0DD7-46F8-B6F3-AAEC6B7B22AF}"/>
              </a:ext>
            </a:extLst>
          </p:cNvPr>
          <p:cNvCxnSpPr/>
          <p:nvPr/>
        </p:nvCxnSpPr>
        <p:spPr>
          <a:xfrm>
            <a:off x="2756452" y="5420139"/>
            <a:ext cx="4081669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826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E6EDE-BB34-42A6-BE8F-A6C15050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ILUSTRAÇÕES</a:t>
            </a:r>
            <a:r>
              <a:rPr lang="pt-BR" dirty="0"/>
              <a:t> : 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12F47-C4F0-46F1-ABA2-D0F1C0300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As ilustrações constituem-se </a:t>
            </a:r>
            <a:r>
              <a:rPr lang="pt-BR" b="1" dirty="0"/>
              <a:t>parte integrante do Trabalho Científico </a:t>
            </a:r>
            <a:r>
              <a:rPr lang="pt-BR" dirty="0"/>
              <a:t>e desempenham papel significativo no seu desenvolvimento  e </a:t>
            </a:r>
            <a:r>
              <a:rPr lang="pt-BR" b="1" dirty="0"/>
              <a:t>poderão</a:t>
            </a:r>
            <a:r>
              <a:rPr lang="pt-BR" dirty="0"/>
              <a:t> ser utilizadas num Trabalho Científico para </a:t>
            </a:r>
            <a:r>
              <a:rPr lang="pt-BR" b="1" dirty="0"/>
              <a:t>ilustrá-lo</a:t>
            </a:r>
            <a:r>
              <a:rPr lang="pt-BR" dirty="0"/>
              <a:t> e </a:t>
            </a:r>
            <a:r>
              <a:rPr lang="pt-BR" b="1" dirty="0"/>
              <a:t>completá-lo.</a:t>
            </a:r>
          </a:p>
          <a:p>
            <a:pPr algn="just"/>
            <a:r>
              <a:rPr lang="pt-BR" dirty="0"/>
              <a:t>As ilustrações podem  </a:t>
            </a:r>
            <a:r>
              <a:rPr lang="pt-BR" b="1" dirty="0"/>
              <a:t>figurar no corpo </a:t>
            </a:r>
            <a:r>
              <a:rPr lang="pt-BR" dirty="0"/>
              <a:t>do Trabalho ou </a:t>
            </a:r>
            <a:r>
              <a:rPr lang="pt-BR" b="1" dirty="0"/>
              <a:t>anexadas no seu  final</a:t>
            </a:r>
            <a:r>
              <a:rPr lang="pt-BR" dirty="0"/>
              <a:t>.</a:t>
            </a:r>
          </a:p>
          <a:p>
            <a:pPr algn="just">
              <a:buAutoNum type="arabicPeriod"/>
            </a:pPr>
            <a:r>
              <a:rPr lang="pt-BR" b="1" dirty="0"/>
              <a:t>No corpo do trabalho</a:t>
            </a:r>
            <a:r>
              <a:rPr lang="pt-BR" dirty="0"/>
              <a:t>, deverão constituir-se em um auxiliar para o esclarecimento e apoio das ideias que estão sendo apresentadas.</a:t>
            </a:r>
          </a:p>
          <a:p>
            <a:pPr algn="just">
              <a:buAutoNum type="arabicPeriod"/>
            </a:pPr>
            <a:r>
              <a:rPr lang="pt-BR" dirty="0"/>
              <a:t>Quando as </a:t>
            </a:r>
            <a:r>
              <a:rPr lang="pt-BR" b="1" dirty="0"/>
              <a:t>ilustrações forem localizadas em anexo</a:t>
            </a:r>
            <a:r>
              <a:rPr lang="pt-BR" dirty="0"/>
              <a:t>, devem ser autoexplicativas, isto é, elas próprias </a:t>
            </a:r>
            <a:r>
              <a:rPr lang="pt-BR" b="1" dirty="0"/>
              <a:t>deverão conter os dados e informações</a:t>
            </a:r>
            <a:r>
              <a:rPr lang="pt-BR" dirty="0"/>
              <a:t> de modo que não obriguem o leitor a consultar o texto constantemente.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92279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E24E-7477-42D5-8F9D-D40B3BC2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TABELAS: 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BEFB2-1682-4EDC-8F9A-DB121737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Meio eficaz de expor os resultados obtidos, pois </a:t>
            </a:r>
            <a:r>
              <a:rPr lang="pt-BR" b="1" dirty="0"/>
              <a:t>facilita a compreensão e interpretação </a:t>
            </a:r>
            <a:r>
              <a:rPr lang="pt-BR" dirty="0"/>
              <a:t>dos dados.</a:t>
            </a:r>
          </a:p>
          <a:p>
            <a:r>
              <a:rPr lang="pt-BR" dirty="0"/>
              <a:t> As tabelas constituem </a:t>
            </a:r>
            <a:r>
              <a:rPr lang="pt-BR" b="1" dirty="0"/>
              <a:t>um tipo especifico de ilustração </a:t>
            </a:r>
            <a:r>
              <a:rPr lang="pt-BR" dirty="0"/>
              <a:t>e se constituem numa unidade autônoma. </a:t>
            </a:r>
          </a:p>
          <a:p>
            <a:r>
              <a:rPr lang="pt-BR" dirty="0"/>
              <a:t>Devem ser </a:t>
            </a:r>
            <a:r>
              <a:rPr lang="pt-BR" b="1" dirty="0"/>
              <a:t>numeradas consecutivamente </a:t>
            </a:r>
            <a:r>
              <a:rPr lang="pt-BR" dirty="0"/>
              <a:t>com algarismos arábicos que seguem a palavra Tabela escrita em letras minúsculas.</a:t>
            </a:r>
          </a:p>
          <a:p>
            <a:r>
              <a:rPr lang="pt-BR" dirty="0"/>
              <a:t>Caso a extensão da Tabela seja </a:t>
            </a:r>
            <a:r>
              <a:rPr lang="pt-BR" b="1" dirty="0"/>
              <a:t>superior à página</a:t>
            </a:r>
            <a:r>
              <a:rPr lang="pt-BR" dirty="0"/>
              <a:t>, pode-se </a:t>
            </a:r>
            <a:r>
              <a:rPr lang="pt-BR" b="1" dirty="0"/>
              <a:t>continuar na seguinte</a:t>
            </a:r>
            <a:r>
              <a:rPr lang="pt-BR" dirty="0"/>
              <a:t>, repetindo, na folha seguinte, o título e cabeçalho e acrescenta a palavra “</a:t>
            </a:r>
            <a:r>
              <a:rPr lang="pt-BR" b="1" dirty="0"/>
              <a:t>continuação ou “cont.”.</a:t>
            </a:r>
          </a:p>
        </p:txBody>
      </p:sp>
    </p:spTree>
    <p:extLst>
      <p:ext uri="{BB962C8B-B14F-4D97-AF65-F5344CB8AC3E}">
        <p14:creationId xmlns:p14="http://schemas.microsoft.com/office/powerpoint/2010/main" val="2105703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E24E-7477-42D5-8F9D-D40B3BC2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TABELAS: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BEFB2-1682-4EDC-8F9A-DB121737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As tabelas são compostas de duas partes: </a:t>
            </a:r>
            <a:r>
              <a:rPr lang="pt-BR" b="1" dirty="0"/>
              <a:t>uma principal </a:t>
            </a:r>
            <a:r>
              <a:rPr lang="pt-BR" dirty="0"/>
              <a:t>e </a:t>
            </a:r>
            <a:r>
              <a:rPr lang="pt-BR" b="1" dirty="0"/>
              <a:t>outra secundária</a:t>
            </a:r>
          </a:p>
          <a:p>
            <a:pPr marL="0" indent="0" algn="just">
              <a:buNone/>
            </a:pPr>
            <a:endParaRPr lang="pt-BR" b="1" dirty="0"/>
          </a:p>
          <a:p>
            <a:pPr algn="just">
              <a:buAutoNum type="arabicPeriod"/>
            </a:pPr>
            <a:r>
              <a:rPr lang="pt-BR" dirty="0"/>
              <a:t>As partes principais são:</a:t>
            </a:r>
          </a:p>
          <a:p>
            <a:pPr marL="0" indent="0" algn="just">
              <a:buNone/>
            </a:pPr>
            <a:r>
              <a:rPr lang="pt-BR" dirty="0"/>
              <a:t> • </a:t>
            </a:r>
            <a:r>
              <a:rPr lang="pt-BR" b="1" dirty="0"/>
              <a:t>Corpo </a:t>
            </a:r>
            <a:r>
              <a:rPr lang="pt-BR" dirty="0"/>
              <a:t>– composto de linhas e colunas separadas por traços verticais;</a:t>
            </a:r>
          </a:p>
          <a:p>
            <a:pPr marL="0" indent="0" algn="just">
              <a:buNone/>
            </a:pPr>
            <a:r>
              <a:rPr lang="pt-BR" dirty="0"/>
              <a:t> • </a:t>
            </a:r>
            <a:r>
              <a:rPr lang="pt-BR" b="1" dirty="0"/>
              <a:t>Coluna indicadora </a:t>
            </a:r>
            <a:r>
              <a:rPr lang="pt-BR" dirty="0"/>
              <a:t>–a primeira coluna é a que indica o conteúdo de cada linha; </a:t>
            </a:r>
          </a:p>
          <a:p>
            <a:pPr marL="0" indent="0" algn="just">
              <a:buNone/>
            </a:pPr>
            <a:r>
              <a:rPr lang="pt-BR" dirty="0"/>
              <a:t>• </a:t>
            </a:r>
            <a:r>
              <a:rPr lang="pt-BR" b="1" dirty="0"/>
              <a:t>Cabeçalho</a:t>
            </a:r>
            <a:r>
              <a:rPr lang="pt-BR" dirty="0"/>
              <a:t> – conjunto de títulos de cada coluna; </a:t>
            </a:r>
          </a:p>
          <a:p>
            <a:pPr marL="0" indent="0" algn="just">
              <a:buNone/>
            </a:pPr>
            <a:r>
              <a:rPr lang="pt-BR" dirty="0"/>
              <a:t>• </a:t>
            </a:r>
            <a:r>
              <a:rPr lang="pt-BR" b="1" dirty="0"/>
              <a:t>Casa</a:t>
            </a:r>
            <a:r>
              <a:rPr lang="pt-BR" dirty="0"/>
              <a:t> – cada um dos valores que aparecem no corpo da tabela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121590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E24E-7477-42D5-8F9D-D40B3BC2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TABELAS: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BEFB2-1682-4EDC-8F9A-DB121737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2. As partes secundárias são: </a:t>
            </a:r>
          </a:p>
          <a:p>
            <a:pPr marL="0" indent="0" algn="just">
              <a:buNone/>
            </a:pPr>
            <a:r>
              <a:rPr lang="pt-BR" dirty="0"/>
              <a:t>• </a:t>
            </a:r>
            <a:r>
              <a:rPr lang="pt-BR" b="1" dirty="0"/>
              <a:t>Título</a:t>
            </a:r>
            <a:r>
              <a:rPr lang="pt-BR" dirty="0"/>
              <a:t> – aparece sempre na </a:t>
            </a:r>
            <a:r>
              <a:rPr lang="pt-BR" b="1" dirty="0"/>
              <a:t>parte superior da tabela </a:t>
            </a:r>
            <a:r>
              <a:rPr lang="pt-BR" dirty="0"/>
              <a:t>e deve ser o mais claro e completo possível. </a:t>
            </a:r>
            <a:r>
              <a:rPr lang="pt-BR" b="1" dirty="0"/>
              <a:t>Deve ser escrito em letras minúsculas, centrado, em espaço simples</a:t>
            </a:r>
            <a:r>
              <a:rPr lang="pt-BR" dirty="0"/>
              <a:t>; </a:t>
            </a:r>
          </a:p>
          <a:p>
            <a:pPr marL="0" indent="0" algn="just">
              <a:buNone/>
            </a:pPr>
            <a:r>
              <a:rPr lang="pt-BR" dirty="0"/>
              <a:t>• </a:t>
            </a:r>
            <a:r>
              <a:rPr lang="pt-BR" b="1" dirty="0"/>
              <a:t>Rodapé</a:t>
            </a:r>
            <a:r>
              <a:rPr lang="pt-BR" dirty="0"/>
              <a:t> – localizado imediatamente </a:t>
            </a:r>
            <a:r>
              <a:rPr lang="pt-BR" b="1" dirty="0"/>
              <a:t>após o fechamento da tabela</a:t>
            </a:r>
            <a:r>
              <a:rPr lang="pt-BR" dirty="0"/>
              <a:t>. Contém a </a:t>
            </a:r>
            <a:r>
              <a:rPr lang="pt-BR" b="1" dirty="0"/>
              <a:t>indicação da fonte e dados necessários </a:t>
            </a:r>
            <a:r>
              <a:rPr lang="pt-BR" dirty="0"/>
              <a:t>para a explicação de algum de seus aspectos; </a:t>
            </a:r>
          </a:p>
          <a:p>
            <a:pPr marL="0" indent="0" algn="just">
              <a:buNone/>
            </a:pPr>
            <a:r>
              <a:rPr lang="pt-BR" b="1" dirty="0"/>
              <a:t>• Fonte </a:t>
            </a:r>
            <a:r>
              <a:rPr lang="pt-BR" dirty="0"/>
              <a:t>– indicação da </a:t>
            </a:r>
            <a:r>
              <a:rPr lang="pt-BR" b="1" dirty="0"/>
              <a:t>entidade responsável pela elaboração da tabela</a:t>
            </a:r>
            <a:r>
              <a:rPr lang="pt-BR" dirty="0"/>
              <a:t>. Coloca-se no </a:t>
            </a:r>
            <a:r>
              <a:rPr lang="pt-BR" b="1" dirty="0"/>
              <a:t>rodapé</a:t>
            </a:r>
            <a:r>
              <a:rPr lang="pt-BR" dirty="0"/>
              <a:t>, depois do fecho da tabela;</a:t>
            </a:r>
          </a:p>
          <a:p>
            <a:pPr marL="0" indent="0" algn="just">
              <a:buNone/>
            </a:pPr>
            <a:r>
              <a:rPr lang="pt-BR" dirty="0"/>
              <a:t> • </a:t>
            </a:r>
            <a:r>
              <a:rPr lang="pt-BR" b="1" dirty="0"/>
              <a:t>Notas e chamadas </a:t>
            </a:r>
            <a:r>
              <a:rPr lang="pt-BR" dirty="0"/>
              <a:t>– aparecem também </a:t>
            </a:r>
            <a:r>
              <a:rPr lang="pt-BR" b="1" dirty="0"/>
              <a:t>no rodapé</a:t>
            </a:r>
            <a:r>
              <a:rPr lang="pt-BR" dirty="0"/>
              <a:t>, de maneira </a:t>
            </a:r>
            <a:r>
              <a:rPr lang="pt-BR" b="1" dirty="0"/>
              <a:t>resumida</a:t>
            </a:r>
            <a:r>
              <a:rPr lang="pt-BR" dirty="0"/>
              <a:t>, depois da fonte. São utilizadas para </a:t>
            </a:r>
            <a:r>
              <a:rPr lang="pt-BR" b="1" dirty="0"/>
              <a:t>esclarecimentos de ordem geral </a:t>
            </a:r>
            <a:r>
              <a:rPr lang="pt-BR" dirty="0"/>
              <a:t>e, quando houver mais de uma, podem ser numeradas. As chamadas serão sempre feitas em algarismos arábicos colocadas entre parênteses.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515531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E24E-7477-42D5-8F9D-D40B3BC2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TABELAS: EXEMPLO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B21506-8C79-47D3-A12C-25B7BD181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1800" dirty="0"/>
              <a:t>Tabela 1: Faculdades que Ministram Cursos de Ciências Contábeis no Estado da Bahia do período de 1968 a 1998.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4F7E704F-020A-4A03-88F6-E93DD28F36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4CA80CE-CCD4-4534-BE4C-A06FEDE450E8}"/>
              </a:ext>
            </a:extLst>
          </p:cNvPr>
          <p:cNvPicPr/>
          <p:nvPr/>
        </p:nvPicPr>
        <p:blipFill rotWithShape="1">
          <a:blip r:embed="rId2"/>
          <a:srcRect l="30919" t="23818" r="42673" b="18013"/>
          <a:stretch/>
        </p:blipFill>
        <p:spPr bwMode="auto">
          <a:xfrm>
            <a:off x="6917634" y="0"/>
            <a:ext cx="5022574" cy="5861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2CC45A-6FA4-4D21-A839-23FD35A2A78B}"/>
              </a:ext>
            </a:extLst>
          </p:cNvPr>
          <p:cNvSpPr txBox="1"/>
          <p:nvPr/>
        </p:nvSpPr>
        <p:spPr>
          <a:xfrm>
            <a:off x="6917634" y="5969308"/>
            <a:ext cx="6142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Fonte: Antônio Silva, </a:t>
            </a:r>
            <a:r>
              <a:rPr lang="pt-BR" sz="1400" i="1" dirty="0"/>
              <a:t>Metodologia Científica Aplicado a Contabilidade</a:t>
            </a:r>
            <a:r>
              <a:rPr lang="pt-BR" sz="1400" dirty="0"/>
              <a:t>, 2017, p. 85.</a:t>
            </a:r>
          </a:p>
        </p:txBody>
      </p:sp>
    </p:spTree>
    <p:extLst>
      <p:ext uri="{BB962C8B-B14F-4D97-AF65-F5344CB8AC3E}">
        <p14:creationId xmlns:p14="http://schemas.microsoft.com/office/powerpoint/2010/main" val="2288517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1A348-A615-44E4-B0A1-B404A485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057AF6-0B02-41F4-B3CE-FFE585E633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719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TM03457503[[fn=Citável]]</Template>
  <TotalTime>80</TotalTime>
  <Words>1611</Words>
  <Application>Microsoft Office PowerPoint</Application>
  <PresentationFormat>Widescreen</PresentationFormat>
  <Paragraphs>107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Century Gothic</vt:lpstr>
      <vt:lpstr>Wingdings 2</vt:lpstr>
      <vt:lpstr>Citável</vt:lpstr>
      <vt:lpstr>NORMAS DA ABNT I</vt:lpstr>
      <vt:lpstr>CITAÇÃO: DEFINIÇÕES</vt:lpstr>
      <vt:lpstr>CITAÇÕES DIRETAS: BREVES</vt:lpstr>
      <vt:lpstr>CITAÇÕES DIRETAS: LONGAS</vt:lpstr>
      <vt:lpstr>CITAÇÕES DIRETAS: LONGAS</vt:lpstr>
      <vt:lpstr>CITAÇÕES DIRETAS: LONGAS</vt:lpstr>
      <vt:lpstr>CITAÇÕES DIRETAS: LONGAS</vt:lpstr>
      <vt:lpstr>CITAÇÕES DIRETAS: LONGAS</vt:lpstr>
      <vt:lpstr>CITAÇÕES DIRETAS: LONGAS</vt:lpstr>
      <vt:lpstr>CITAÇÕES DIRETAS: LONGAS</vt:lpstr>
      <vt:lpstr>CITAÇÕES DIRETAS: LONGAS</vt:lpstr>
      <vt:lpstr>CITAÇÕES DIRETAS: LONGAS</vt:lpstr>
      <vt:lpstr>CITAÇÃO DE CITAÇÃO: DEFINIÇÃO  (NBR 10520/2002)</vt:lpstr>
      <vt:lpstr>CITAÇÃO INDIRETA: DEFINIÇÃO </vt:lpstr>
      <vt:lpstr>CITAÇÃO INDIRETA: EXEMPLOS </vt:lpstr>
      <vt:lpstr>NOTAS DE RODAPÉ: DEFINIÇÃO</vt:lpstr>
      <vt:lpstr>NOTAS DE RODAPÉ: EXEMPLOS</vt:lpstr>
      <vt:lpstr>NOTAS DE RODAPÉ: EXEMPLOS</vt:lpstr>
      <vt:lpstr>NOTAS DE RODAPÉ: EXEMPLOS</vt:lpstr>
      <vt:lpstr>ILUSTRAÇÕES : DEFINIÇÃO</vt:lpstr>
      <vt:lpstr>TABELAS: DEFINIÇÃO</vt:lpstr>
      <vt:lpstr>TABELAS: COMPOSIÇÃO</vt:lpstr>
      <vt:lpstr>TABELAS: COMPOSIÇÃO</vt:lpstr>
      <vt:lpstr>TABELAS: EXEMPLO</vt:lpstr>
      <vt:lpstr>FIM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NORMAS DA ABNT I</dc:title>
  <dc:creator>Mona</dc:creator>
  <cp:lastModifiedBy>Mona</cp:lastModifiedBy>
  <cp:revision>1</cp:revision>
  <dcterms:created xsi:type="dcterms:W3CDTF">2021-08-26T21:30:52Z</dcterms:created>
  <dcterms:modified xsi:type="dcterms:W3CDTF">2021-08-26T22:51:47Z</dcterms:modified>
</cp:coreProperties>
</file>