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8"/>
  </p:notesMasterIdLst>
  <p:handoutMasterIdLst>
    <p:handoutMasterId r:id="rId29"/>
  </p:handoutMasterIdLst>
  <p:sldIdLst>
    <p:sldId id="257" r:id="rId2"/>
    <p:sldId id="262" r:id="rId3"/>
    <p:sldId id="263" r:id="rId4"/>
    <p:sldId id="264" r:id="rId5"/>
    <p:sldId id="265" r:id="rId6"/>
    <p:sldId id="266" r:id="rId7"/>
    <p:sldId id="267" r:id="rId8"/>
    <p:sldId id="268" r:id="rId9"/>
    <p:sldId id="269" r:id="rId10"/>
    <p:sldId id="270" r:id="rId11"/>
    <p:sldId id="271" r:id="rId12"/>
    <p:sldId id="272" r:id="rId13"/>
    <p:sldId id="273" r:id="rId14"/>
    <p:sldId id="275" r:id="rId15"/>
    <p:sldId id="274" r:id="rId16"/>
    <p:sldId id="276" r:id="rId17"/>
    <p:sldId id="277" r:id="rId18"/>
    <p:sldId id="278" r:id="rId19"/>
    <p:sldId id="280" r:id="rId20"/>
    <p:sldId id="281" r:id="rId21"/>
    <p:sldId id="279" r:id="rId22"/>
    <p:sldId id="282" r:id="rId23"/>
    <p:sldId id="283" r:id="rId24"/>
    <p:sldId id="284" r:id="rId25"/>
    <p:sldId id="285" r:id="rId26"/>
    <p:sldId id="286" r:id="rId27"/>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na" initials="M" lastIdx="4" clrIdx="0">
    <p:extLst>
      <p:ext uri="{19B8F6BF-5375-455C-9EA6-DF929625EA0E}">
        <p15:presenceInfo xmlns:p15="http://schemas.microsoft.com/office/powerpoint/2012/main" userId="Mo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22F"/>
    <a:srgbClr val="344529"/>
    <a:srgbClr val="2B3922"/>
    <a:srgbClr val="2E3722"/>
    <a:srgbClr val="FCF7F1"/>
    <a:srgbClr val="B8D233"/>
    <a:srgbClr val="5CC6D6"/>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8-05T16:18:37.377" idx="1">
    <p:pos x="4465" y="655"/>
    <p:text>1° exemplo: autoria, título, edição, local, editora, ano e paginação.</p:text>
    <p:extLst>
      <p:ext uri="{C676402C-5697-4E1C-873F-D02D1690AC5C}">
        <p15:threadingInfo xmlns:p15="http://schemas.microsoft.com/office/powerpoint/2012/main" timeZoneBias="180"/>
      </p:ext>
    </p:extLst>
  </p:cm>
  <p:cm authorId="1" dt="2021-08-05T16:19:13.205" idx="2">
    <p:pos x="4559" y="1546"/>
    <p:text>2° exemplo: autoria, título, tradutor, edição, local, editora, ano e paginação.</p:text>
    <p:extLst>
      <p:ext uri="{C676402C-5697-4E1C-873F-D02D1690AC5C}">
        <p15:threadingInfo xmlns:p15="http://schemas.microsoft.com/office/powerpoint/2012/main" timeZoneBias="180"/>
      </p:ext>
    </p:extLst>
  </p:cm>
  <p:cm authorId="1" dt="2021-08-05T16:19:30.860" idx="3">
    <p:pos x="4559" y="2248"/>
    <p:text>3° exemplo: três autores+responsibilidade intelectual+título+edição+local+editora+ano+paginação.</p:text>
    <p:extLst>
      <p:ext uri="{C676402C-5697-4E1C-873F-D02D1690AC5C}">
        <p15:threadingInfo xmlns:p15="http://schemas.microsoft.com/office/powerpoint/2012/main" timeZoneBias="180"/>
      </p:ext>
    </p:extLst>
  </p:cm>
  <p:cm authorId="1" dt="2021-08-05T16:19:49.996" idx="4">
    <p:pos x="4559" y="3146"/>
    <p:text>° exemplo: autoria instituição+título+local+editora+ano+acesso+paginação+disponibilidade</p:text>
    <p:extLst>
      <p:ext uri="{C676402C-5697-4E1C-873F-D02D1690AC5C}">
        <p15:threadingInfo xmlns:p15="http://schemas.microsoft.com/office/powerpoint/2012/main"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A170B22-A4BB-4708-B0CE-A73E8306129B}" type="datetime1">
              <a:rPr lang="pt-BR" smtClean="0"/>
              <a:t>19/07/2022</a:t>
            </a:fld>
            <a:endParaRPr lang="en-US" dirty="0"/>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ço Reservado para o Número do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7ACF5E7-ACB0-497B-A8C6-F2E617B4631D}" type="slidenum">
              <a:rPr lang="en-US" smtClean="0"/>
              <a:t>‹nº›</a:t>
            </a:fld>
            <a:endParaRPr lang="en-US"/>
          </a:p>
        </p:txBody>
      </p:sp>
    </p:spTree>
    <p:extLst>
      <p:ext uri="{BB962C8B-B14F-4D97-AF65-F5344CB8AC3E}">
        <p14:creationId xmlns:p14="http://schemas.microsoft.com/office/powerpoint/2010/main" val="193853396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6245E56-2EE9-450B-A671-BE5C90BAC91C}" type="datetime1">
              <a:rPr lang="pt-BR" smtClean="0"/>
              <a:t>19/07/2022</a:t>
            </a:fld>
            <a:endParaRPr lang="en-US"/>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endParaRPr lang="en-US"/>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7A705E3-E620-489D-9973-6221209A4B3B}" type="slidenum">
              <a:rPr lang="en-US" smtClean="0"/>
              <a:t>‹nº›</a:t>
            </a:fld>
            <a:endParaRPr lang="en-US"/>
          </a:p>
        </p:txBody>
      </p:sp>
    </p:spTree>
    <p:extLst>
      <p:ext uri="{BB962C8B-B14F-4D97-AF65-F5344CB8AC3E}">
        <p14:creationId xmlns:p14="http://schemas.microsoft.com/office/powerpoint/2010/main" val="3889581830"/>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5" name="Retângulo 4">
            <a:extLst>
              <a:ext uri="{FF2B5EF4-FFF2-40B4-BE49-F238E27FC236}">
                <a16:creationId xmlns=""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useBgFill="1">
        <p:nvSpPr>
          <p:cNvPr id="10" name="Retângulo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tângulo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tângulo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upo 6">
            <a:extLst>
              <a:ext uri="{FF2B5EF4-FFF2-40B4-BE49-F238E27FC236}">
                <a16:creationId xmlns=""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Conector Reto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Conector reto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Conector reto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ítulo 1"/>
          <p:cNvSpPr>
            <a:spLocks noGrp="1"/>
          </p:cNvSpPr>
          <p:nvPr>
            <p:ph type="ctrTitle"/>
          </p:nvPr>
        </p:nvSpPr>
        <p:spPr>
          <a:xfrm>
            <a:off x="1629103" y="2244830"/>
            <a:ext cx="8933796" cy="2437232"/>
          </a:xfrm>
        </p:spPr>
        <p:txBody>
          <a:bodyPr tIns="45720" bIns="45720" rtlCol="0" anchor="ctr">
            <a:noAutofit/>
          </a:bodyPr>
          <a:lstStyle>
            <a:lvl1pPr algn="ctr">
              <a:lnSpc>
                <a:spcPct val="83000"/>
              </a:lnSpc>
              <a:defRPr lang="en-US" sz="6400" b="0" kern="1200" cap="all" spc="-100" baseline="0" dirty="0">
                <a:solidFill>
                  <a:schemeClr val="tx1">
                    <a:lumMod val="85000"/>
                    <a:lumOff val="15000"/>
                  </a:schemeClr>
                </a:solidFill>
                <a:effectLst/>
                <a:latin typeface="+mj-lt"/>
                <a:ea typeface="+mn-ea"/>
                <a:cs typeface="+mn-cs"/>
              </a:defRPr>
            </a:lvl1pPr>
          </a:lstStyle>
          <a:p>
            <a:pPr rtl="0"/>
            <a:r>
              <a:rPr lang="pt-BR"/>
              <a:t>Clique para editar o título Mestre</a:t>
            </a:r>
            <a:endParaRPr lang="en-US" dirty="0"/>
          </a:p>
        </p:txBody>
      </p:sp>
      <p:sp>
        <p:nvSpPr>
          <p:cNvPr id="3" name="Subtítulo 2"/>
          <p:cNvSpPr>
            <a:spLocks noGrp="1"/>
          </p:cNvSpPr>
          <p:nvPr>
            <p:ph type="subTitle" idx="1"/>
          </p:nvPr>
        </p:nvSpPr>
        <p:spPr>
          <a:xfrm>
            <a:off x="1629101" y="4682062"/>
            <a:ext cx="8936846" cy="457201"/>
          </a:xfrm>
        </p:spPr>
        <p:txBody>
          <a:bodyPr rtlCol="0">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do subtítulo Mestre</a:t>
            </a:r>
            <a:endParaRPr lang="en-US" dirty="0"/>
          </a:p>
        </p:txBody>
      </p:sp>
      <p:sp>
        <p:nvSpPr>
          <p:cNvPr id="20" name="Espaço Reservado para Data 19"/>
          <p:cNvSpPr>
            <a:spLocks noGrp="1"/>
          </p:cNvSpPr>
          <p:nvPr>
            <p:ph type="dt" sz="half" idx="10"/>
          </p:nvPr>
        </p:nvSpPr>
        <p:spPr>
          <a:xfrm>
            <a:off x="5318760" y="1341256"/>
            <a:ext cx="1554480" cy="485546"/>
          </a:xfrm>
        </p:spPr>
        <p:txBody>
          <a:bodyPr rtlCol="0"/>
          <a:lstStyle>
            <a:lvl1pPr algn="ctr">
              <a:defRPr sz="1300" spc="0" baseline="0">
                <a:solidFill>
                  <a:srgbClr val="FFFFFF"/>
                </a:solidFill>
                <a:latin typeface="+mn-lt"/>
              </a:defRPr>
            </a:lvl1pPr>
          </a:lstStyle>
          <a:p>
            <a:pPr rtl="0"/>
            <a:fld id="{2F3AF6F7-5911-45C3-BE0F-7F38FEFE43FA}" type="datetime1">
              <a:rPr lang="pt-BR" smtClean="0"/>
              <a:t>19/07/2022</a:t>
            </a:fld>
            <a:endParaRPr lang="en-US" dirty="0"/>
          </a:p>
        </p:txBody>
      </p:sp>
      <p:sp>
        <p:nvSpPr>
          <p:cNvPr id="21" name="Espaço Reservado para Rodapé 20"/>
          <p:cNvSpPr>
            <a:spLocks noGrp="1"/>
          </p:cNvSpPr>
          <p:nvPr>
            <p:ph type="ftr" sz="quarter" idx="11"/>
          </p:nvPr>
        </p:nvSpPr>
        <p:spPr>
          <a:xfrm>
            <a:off x="1629100" y="5177408"/>
            <a:ext cx="5730295" cy="228600"/>
          </a:xfrm>
        </p:spPr>
        <p:txBody>
          <a:bodyPr rtlCol="0"/>
          <a:lstStyle>
            <a:lvl1pPr algn="l">
              <a:defRPr>
                <a:solidFill>
                  <a:schemeClr val="tx1">
                    <a:lumMod val="85000"/>
                    <a:lumOff val="15000"/>
                  </a:schemeClr>
                </a:solidFill>
              </a:defRPr>
            </a:lvl1pPr>
          </a:lstStyle>
          <a:p>
            <a:pPr rtl="0"/>
            <a:endParaRPr lang="en-US" dirty="0"/>
          </a:p>
        </p:txBody>
      </p:sp>
      <p:sp>
        <p:nvSpPr>
          <p:cNvPr id="22" name="Espaço reservado para o número do slide 21"/>
          <p:cNvSpPr>
            <a:spLocks noGrp="1"/>
          </p:cNvSpPr>
          <p:nvPr>
            <p:ph type="sldNum" sz="quarter" idx="12"/>
          </p:nvPr>
        </p:nvSpPr>
        <p:spPr>
          <a:xfrm>
            <a:off x="8606920" y="5177408"/>
            <a:ext cx="1955980" cy="228600"/>
          </a:xfrm>
        </p:spPr>
        <p:txBody>
          <a:bodyPr rtlCol="0"/>
          <a:lstStyle>
            <a:lvl1pPr>
              <a:defRPr>
                <a:solidFill>
                  <a:schemeClr val="tx1">
                    <a:lumMod val="85000"/>
                    <a:lumOff val="15000"/>
                  </a:schemeClr>
                </a:solidFill>
              </a:defRPr>
            </a:lvl1pPr>
          </a:lstStyle>
          <a:p>
            <a:pPr rtl="0"/>
            <a:fld id="{34B7E4EF-A1BD-40F4-AB7B-04F084DD991D}" type="slidenum">
              <a:rPr lang="en-US" smtClean="0"/>
              <a:t>‹nº›</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normAutofit/>
          </a:bodyPr>
          <a:lstStyle>
            <a:lvl1pPr>
              <a:defRPr sz="3800"/>
            </a:lvl1pPr>
          </a:lstStyle>
          <a:p>
            <a:pPr rtl="0"/>
            <a:r>
              <a:rPr lang="pt-BR"/>
              <a:t>Clique para editar o título Mestre</a:t>
            </a:r>
            <a:endParaRPr lang="en-US" dirty="0"/>
          </a:p>
        </p:txBody>
      </p:sp>
      <p:sp>
        <p:nvSpPr>
          <p:cNvPr id="3" name="Espaço reservado para conteúdo 2"/>
          <p:cNvSpPr>
            <a:spLocks noGrp="1"/>
          </p:cNvSpPr>
          <p:nvPr>
            <p:ph idx="1"/>
          </p:nvPr>
        </p:nvSpPr>
        <p:spPr/>
        <p:txBody>
          <a:bodyPr rtlCol="0"/>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p:cNvSpPr>
            <a:spLocks noGrp="1"/>
          </p:cNvSpPr>
          <p:nvPr>
            <p:ph type="dt" sz="half" idx="10"/>
          </p:nvPr>
        </p:nvSpPr>
        <p:spPr/>
        <p:txBody>
          <a:bodyPr rtlCol="0"/>
          <a:lstStyle/>
          <a:p>
            <a:pPr rtl="0"/>
            <a:fld id="{D48C737E-092E-4203-A347-8410086932C6}" type="datetime1">
              <a:rPr lang="pt-BR" smtClean="0"/>
              <a:t>19/07/2022</a:t>
            </a:fld>
            <a:endParaRPr lang="en-US"/>
          </a:p>
        </p:txBody>
      </p:sp>
      <p:sp>
        <p:nvSpPr>
          <p:cNvPr id="5" name="Espaço Reservado para Rodapé 4"/>
          <p:cNvSpPr>
            <a:spLocks noGrp="1"/>
          </p:cNvSpPr>
          <p:nvPr>
            <p:ph type="ftr" sz="quarter" idx="11"/>
          </p:nvPr>
        </p:nvSpPr>
        <p:spPr/>
        <p:txBody>
          <a:bodyPr rtlCol="0"/>
          <a:lstStyle/>
          <a:p>
            <a:pPr rtl="0"/>
            <a:endParaRPr lang="en-US"/>
          </a:p>
        </p:txBody>
      </p:sp>
      <p:sp>
        <p:nvSpPr>
          <p:cNvPr id="6" name="Espaço Reservado para o Número do Slide 5"/>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15" name="Retângulo 14">
            <a:extLst>
              <a:ext uri="{FF2B5EF4-FFF2-40B4-BE49-F238E27FC236}">
                <a16:creationId xmlns=""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useBgFill="1">
        <p:nvSpPr>
          <p:cNvPr id="23" name="Retângulo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tângulo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tângulo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1629156" y="2275165"/>
            <a:ext cx="8933688" cy="2406895"/>
          </a:xfrm>
        </p:spPr>
        <p:txBody>
          <a:bodyPr rtlCol="0" anchor="ctr">
            <a:noAutofit/>
          </a:bodyPr>
          <a:lstStyle>
            <a:lvl1pPr algn="ctr">
              <a:lnSpc>
                <a:spcPct val="83000"/>
              </a:lnSpc>
              <a:defRPr lang="en-US" sz="6400" kern="1200" cap="all" spc="-100" baseline="0" dirty="0">
                <a:solidFill>
                  <a:schemeClr val="tx1">
                    <a:lumMod val="85000"/>
                    <a:lumOff val="15000"/>
                  </a:schemeClr>
                </a:solidFill>
                <a:effectLst/>
                <a:latin typeface="+mj-lt"/>
                <a:ea typeface="+mn-ea"/>
                <a:cs typeface="+mn-cs"/>
              </a:defRPr>
            </a:lvl1pPr>
          </a:lstStyle>
          <a:p>
            <a:pPr rtl="0"/>
            <a:r>
              <a:rPr lang="pt-BR"/>
              <a:t>Clique para editar o título Mestre</a:t>
            </a:r>
            <a:endParaRPr lang="en-US" dirty="0"/>
          </a:p>
        </p:txBody>
      </p:sp>
      <p:grpSp>
        <p:nvGrpSpPr>
          <p:cNvPr id="16" name="Grupo 15">
            <a:extLst>
              <a:ext uri="{FF2B5EF4-FFF2-40B4-BE49-F238E27FC236}">
                <a16:creationId xmlns=""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Conector Reto 16">
              <a:extLst>
                <a:ext uri="{FF2B5EF4-FFF2-40B4-BE49-F238E27FC236}">
                  <a16:creationId xmlns=""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Espaço reservado para texto 2"/>
          <p:cNvSpPr>
            <a:spLocks noGrp="1"/>
          </p:cNvSpPr>
          <p:nvPr>
            <p:ph type="body" idx="1"/>
          </p:nvPr>
        </p:nvSpPr>
        <p:spPr>
          <a:xfrm>
            <a:off x="1629156" y="4682062"/>
            <a:ext cx="8939784" cy="457200"/>
          </a:xfrm>
        </p:spPr>
        <p:txBody>
          <a:bodyPr rtlCol="0"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a:t>Clique para editar os estilos de texto Mestres</a:t>
            </a:r>
          </a:p>
        </p:txBody>
      </p:sp>
      <p:sp>
        <p:nvSpPr>
          <p:cNvPr id="4" name="Espaço Reservado para Data 3"/>
          <p:cNvSpPr>
            <a:spLocks noGrp="1"/>
          </p:cNvSpPr>
          <p:nvPr>
            <p:ph type="dt" sz="half" idx="10"/>
          </p:nvPr>
        </p:nvSpPr>
        <p:spPr>
          <a:xfrm>
            <a:off x="5318760" y="1344502"/>
            <a:ext cx="1554480" cy="498781"/>
          </a:xfrm>
        </p:spPr>
        <p:txBody>
          <a:bodyPr rtlCol="0"/>
          <a:lstStyle>
            <a:lvl1pPr algn="ctr">
              <a:defRPr lang="en-US" sz="1300" kern="1200" spc="0" baseline="0">
                <a:solidFill>
                  <a:srgbClr val="FFFFFF"/>
                </a:solidFill>
                <a:latin typeface="+mn-lt"/>
                <a:ea typeface="+mn-ea"/>
                <a:cs typeface="+mn-cs"/>
              </a:defRPr>
            </a:lvl1pPr>
          </a:lstStyle>
          <a:p>
            <a:pPr rtl="0"/>
            <a:fld id="{494319B4-ED34-4D08-91C0-F7E8BD9417E6}" type="datetime1">
              <a:rPr lang="pt-BR" smtClean="0"/>
              <a:t>19/07/2022</a:t>
            </a:fld>
            <a:endParaRPr lang="en-US" dirty="0"/>
          </a:p>
        </p:txBody>
      </p:sp>
      <p:sp>
        <p:nvSpPr>
          <p:cNvPr id="5" name="Espaço Reservado para Rodapé 4"/>
          <p:cNvSpPr>
            <a:spLocks noGrp="1"/>
          </p:cNvSpPr>
          <p:nvPr>
            <p:ph type="ftr" sz="quarter" idx="11"/>
          </p:nvPr>
        </p:nvSpPr>
        <p:spPr>
          <a:xfrm>
            <a:off x="1629157" y="5177408"/>
            <a:ext cx="5660134" cy="228600"/>
          </a:xfrm>
        </p:spPr>
        <p:txBody>
          <a:bodyPr rtlCol="0"/>
          <a:lstStyle>
            <a:lvl1pPr algn="l">
              <a:defRPr>
                <a:solidFill>
                  <a:schemeClr val="tx1">
                    <a:lumMod val="85000"/>
                    <a:lumOff val="15000"/>
                  </a:schemeClr>
                </a:solidFill>
              </a:defRPr>
            </a:lvl1pPr>
          </a:lstStyle>
          <a:p>
            <a:pPr rtl="0"/>
            <a:endParaRPr lang="en-US" dirty="0"/>
          </a:p>
        </p:txBody>
      </p:sp>
      <p:sp>
        <p:nvSpPr>
          <p:cNvPr id="6" name="Espaço Reservado para o Número do Slide 5"/>
          <p:cNvSpPr>
            <a:spLocks noGrp="1"/>
          </p:cNvSpPr>
          <p:nvPr>
            <p:ph type="sldNum" sz="quarter" idx="12"/>
          </p:nvPr>
        </p:nvSpPr>
        <p:spPr>
          <a:xfrm>
            <a:off x="8604504" y="5177408"/>
            <a:ext cx="1958339" cy="228600"/>
          </a:xfrm>
        </p:spPr>
        <p:txBody>
          <a:bodyPr rtlCol="0"/>
          <a:lstStyle>
            <a:lvl1pPr>
              <a:defRPr>
                <a:solidFill>
                  <a:schemeClr val="tx1">
                    <a:lumMod val="85000"/>
                    <a:lumOff val="15000"/>
                  </a:schemeClr>
                </a:solidFill>
              </a:defRPr>
            </a:lvl1pPr>
          </a:lstStyle>
          <a:p>
            <a:pPr rtl="0"/>
            <a:fld id="{34B7E4EF-A1BD-40F4-AB7B-04F084DD991D}" type="slidenum">
              <a:rPr lang="en-US" smtClean="0"/>
              <a:t>‹nº›</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8" name="Título 7"/>
          <p:cNvSpPr>
            <a:spLocks noGrp="1"/>
          </p:cNvSpPr>
          <p:nvPr>
            <p:ph type="title"/>
          </p:nvPr>
        </p:nvSpPr>
        <p:spPr/>
        <p:txBody>
          <a:bodyPr rtlCol="0"/>
          <a:lstStyle/>
          <a:p>
            <a:pPr rtl="0"/>
            <a:r>
              <a:rPr lang="pt-BR"/>
              <a:t>Clique para editar o título Mestre</a:t>
            </a:r>
            <a:endParaRPr lang="en-US" dirty="0"/>
          </a:p>
        </p:txBody>
      </p:sp>
      <p:sp>
        <p:nvSpPr>
          <p:cNvPr id="3" name="Espaço reservado para conteúdo 2"/>
          <p:cNvSpPr>
            <a:spLocks noGrp="1"/>
          </p:cNvSpPr>
          <p:nvPr>
            <p:ph sz="half" idx="1"/>
          </p:nvPr>
        </p:nvSpPr>
        <p:spPr>
          <a:xfrm>
            <a:off x="1066800" y="2103120"/>
            <a:ext cx="4663440" cy="3749040"/>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conteúdo 3"/>
          <p:cNvSpPr>
            <a:spLocks noGrp="1"/>
          </p:cNvSpPr>
          <p:nvPr>
            <p:ph sz="half" idx="2"/>
          </p:nvPr>
        </p:nvSpPr>
        <p:spPr>
          <a:xfrm>
            <a:off x="6461760" y="2103120"/>
            <a:ext cx="4663440" cy="3749040"/>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Data 4"/>
          <p:cNvSpPr>
            <a:spLocks noGrp="1"/>
          </p:cNvSpPr>
          <p:nvPr>
            <p:ph type="dt" sz="half" idx="10"/>
          </p:nvPr>
        </p:nvSpPr>
        <p:spPr/>
        <p:txBody>
          <a:bodyPr rtlCol="0"/>
          <a:lstStyle/>
          <a:p>
            <a:pPr rtl="0"/>
            <a:fld id="{EDD1C28D-3F4C-4305-9CD5-9949626E9ED5}" type="datetime1">
              <a:rPr lang="pt-BR" smtClean="0"/>
              <a:t>19/07/2022</a:t>
            </a:fld>
            <a:endParaRPr lang="en-US"/>
          </a:p>
        </p:txBody>
      </p:sp>
      <p:sp>
        <p:nvSpPr>
          <p:cNvPr id="6" name="Espaço Reservado para Rodapé 5"/>
          <p:cNvSpPr>
            <a:spLocks noGrp="1"/>
          </p:cNvSpPr>
          <p:nvPr>
            <p:ph type="ftr" sz="quarter" idx="11"/>
          </p:nvPr>
        </p:nvSpPr>
        <p:spPr/>
        <p:txBody>
          <a:bodyPr rtlCol="0"/>
          <a:lstStyle/>
          <a:p>
            <a:pPr rtl="0"/>
            <a:endParaRPr lang="en-US"/>
          </a:p>
        </p:txBody>
      </p:sp>
      <p:sp>
        <p:nvSpPr>
          <p:cNvPr id="7" name="Espaço Reservado para o Número do Slide 6"/>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normAutofit/>
          </a:bodyPr>
          <a:lstStyle>
            <a:lvl1pPr>
              <a:defRPr sz="3800"/>
            </a:lvl1pPr>
          </a:lstStyle>
          <a:p>
            <a:pPr rtl="0"/>
            <a:r>
              <a:rPr lang="pt-BR"/>
              <a:t>Clique para editar o título Mestre</a:t>
            </a:r>
            <a:endParaRPr lang="en-US" dirty="0"/>
          </a:p>
        </p:txBody>
      </p:sp>
      <p:sp>
        <p:nvSpPr>
          <p:cNvPr id="3" name="Espaço reservado para texto 2"/>
          <p:cNvSpPr>
            <a:spLocks noGrp="1"/>
          </p:cNvSpPr>
          <p:nvPr>
            <p:ph type="body" idx="1"/>
          </p:nvPr>
        </p:nvSpPr>
        <p:spPr>
          <a:xfrm>
            <a:off x="1069848" y="2074334"/>
            <a:ext cx="4663440" cy="640080"/>
          </a:xfrm>
        </p:spPr>
        <p:txBody>
          <a:bodyPr rtlCol="0"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os estilos de texto Mestres</a:t>
            </a:r>
          </a:p>
        </p:txBody>
      </p:sp>
      <p:sp>
        <p:nvSpPr>
          <p:cNvPr id="4" name="Espaço reservado para conteúdo 3"/>
          <p:cNvSpPr>
            <a:spLocks noGrp="1"/>
          </p:cNvSpPr>
          <p:nvPr>
            <p:ph sz="half" idx="2"/>
          </p:nvPr>
        </p:nvSpPr>
        <p:spPr>
          <a:xfrm>
            <a:off x="1069848" y="2792472"/>
            <a:ext cx="4663440" cy="3163825"/>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texto 4"/>
          <p:cNvSpPr>
            <a:spLocks noGrp="1"/>
          </p:cNvSpPr>
          <p:nvPr>
            <p:ph type="body" sz="quarter" idx="3"/>
          </p:nvPr>
        </p:nvSpPr>
        <p:spPr>
          <a:xfrm>
            <a:off x="6458712" y="2074334"/>
            <a:ext cx="4663440" cy="640080"/>
          </a:xfrm>
        </p:spPr>
        <p:txBody>
          <a:bodyPr rtlCol="0"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os estilos de texto Mestres</a:t>
            </a:r>
          </a:p>
        </p:txBody>
      </p:sp>
      <p:sp>
        <p:nvSpPr>
          <p:cNvPr id="6" name="Espaço reservado para conteúdo 5"/>
          <p:cNvSpPr>
            <a:spLocks noGrp="1"/>
          </p:cNvSpPr>
          <p:nvPr>
            <p:ph sz="quarter" idx="4"/>
          </p:nvPr>
        </p:nvSpPr>
        <p:spPr>
          <a:xfrm>
            <a:off x="6458712" y="2792471"/>
            <a:ext cx="4663440" cy="3164509"/>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7" name="Espaço Reservado para Data 6"/>
          <p:cNvSpPr>
            <a:spLocks noGrp="1"/>
          </p:cNvSpPr>
          <p:nvPr>
            <p:ph type="dt" sz="half" idx="10"/>
          </p:nvPr>
        </p:nvSpPr>
        <p:spPr/>
        <p:txBody>
          <a:bodyPr rtlCol="0"/>
          <a:lstStyle/>
          <a:p>
            <a:pPr rtl="0"/>
            <a:fld id="{D05F8630-DFFC-437C-A718-61BE3F548C4E}" type="datetime1">
              <a:rPr lang="pt-BR" smtClean="0"/>
              <a:t>19/07/2022</a:t>
            </a:fld>
            <a:endParaRPr lang="en-US"/>
          </a:p>
        </p:txBody>
      </p:sp>
      <p:sp>
        <p:nvSpPr>
          <p:cNvPr id="8" name="Espaço Reservado para Rodapé 7"/>
          <p:cNvSpPr>
            <a:spLocks noGrp="1"/>
          </p:cNvSpPr>
          <p:nvPr>
            <p:ph type="ftr" sz="quarter" idx="11"/>
          </p:nvPr>
        </p:nvSpPr>
        <p:spPr/>
        <p:txBody>
          <a:bodyPr rtlCol="0"/>
          <a:lstStyle/>
          <a:p>
            <a:pPr rtl="0"/>
            <a:endParaRPr lang="en-US"/>
          </a:p>
        </p:txBody>
      </p:sp>
      <p:sp>
        <p:nvSpPr>
          <p:cNvPr id="9" name="Espaço Reservado para o Número do Slide 8"/>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normAutofit/>
          </a:bodyPr>
          <a:lstStyle>
            <a:lvl1pPr>
              <a:defRPr sz="3800"/>
            </a:lvl1pPr>
          </a:lstStyle>
          <a:p>
            <a:pPr rtl="0"/>
            <a:r>
              <a:rPr lang="pt-BR"/>
              <a:t>Clique para editar o título Mestre</a:t>
            </a:r>
            <a:endParaRPr lang="en-US" dirty="0"/>
          </a:p>
        </p:txBody>
      </p:sp>
      <p:sp>
        <p:nvSpPr>
          <p:cNvPr id="3" name="Espaço Reservado para Data 2"/>
          <p:cNvSpPr>
            <a:spLocks noGrp="1"/>
          </p:cNvSpPr>
          <p:nvPr>
            <p:ph type="dt" sz="half" idx="10"/>
          </p:nvPr>
        </p:nvSpPr>
        <p:spPr/>
        <p:txBody>
          <a:bodyPr rtlCol="0"/>
          <a:lstStyle/>
          <a:p>
            <a:pPr rtl="0"/>
            <a:fld id="{3812AD8E-909B-47FE-B3D6-961E1D2E7A49}" type="datetime1">
              <a:rPr lang="pt-BR" smtClean="0"/>
              <a:t>19/07/2022</a:t>
            </a:fld>
            <a:endParaRPr lang="en-US"/>
          </a:p>
        </p:txBody>
      </p:sp>
      <p:sp>
        <p:nvSpPr>
          <p:cNvPr id="4" name="Espaço Reservado para Rodapé 3"/>
          <p:cNvSpPr>
            <a:spLocks noGrp="1"/>
          </p:cNvSpPr>
          <p:nvPr>
            <p:ph type="ftr" sz="quarter" idx="11"/>
          </p:nvPr>
        </p:nvSpPr>
        <p:spPr/>
        <p:txBody>
          <a:bodyPr rtlCol="0"/>
          <a:lstStyle/>
          <a:p>
            <a:pPr rtl="0"/>
            <a:endParaRPr lang="en-US"/>
          </a:p>
        </p:txBody>
      </p:sp>
      <p:sp>
        <p:nvSpPr>
          <p:cNvPr id="5" name="Espaço Reservado para o Número do Slide 4"/>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rtlCol="0"/>
          <a:lstStyle/>
          <a:p>
            <a:pPr rtl="0"/>
            <a:fld id="{5D0BF672-AFC3-4C39-AA84-C1113D4307F1}" type="datetime1">
              <a:rPr lang="pt-BR" smtClean="0"/>
              <a:t>19/07/2022</a:t>
            </a:fld>
            <a:endParaRPr lang="en-US"/>
          </a:p>
        </p:txBody>
      </p:sp>
      <p:sp>
        <p:nvSpPr>
          <p:cNvPr id="3" name="Espaço Reservado para Rodapé 2"/>
          <p:cNvSpPr>
            <a:spLocks noGrp="1"/>
          </p:cNvSpPr>
          <p:nvPr>
            <p:ph type="ftr" sz="quarter" idx="11"/>
          </p:nvPr>
        </p:nvSpPr>
        <p:spPr/>
        <p:txBody>
          <a:bodyPr rtlCol="0"/>
          <a:lstStyle/>
          <a:p>
            <a:pPr rtl="0"/>
            <a:endParaRPr lang="en-US"/>
          </a:p>
        </p:txBody>
      </p:sp>
      <p:sp>
        <p:nvSpPr>
          <p:cNvPr id="4" name="Espaço reservado para o número do slide 3"/>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10" name="Retângulo 9">
            <a:extLst>
              <a:ext uri="{FF2B5EF4-FFF2-40B4-BE49-F238E27FC236}">
                <a16:creationId xmlns=""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tângulo 12">
            <a:extLst>
              <a:ext uri="{FF2B5EF4-FFF2-40B4-BE49-F238E27FC236}">
                <a16:creationId xmlns=""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hasCustomPrompt="1"/>
          </p:nvPr>
        </p:nvSpPr>
        <p:spPr>
          <a:xfrm>
            <a:off x="8458200" y="607392"/>
            <a:ext cx="3161963" cy="1645920"/>
          </a:xfrm>
        </p:spPr>
        <p:txBody>
          <a:bodyPr rtlCol="0" anchor="b">
            <a:normAutofit/>
          </a:bodyPr>
          <a:lstStyle>
            <a:lvl1pPr algn="l" defTabSz="914400" rtl="0" eaLnBrk="1" latinLnBrk="0" hangingPunct="1">
              <a:lnSpc>
                <a:spcPct val="100000"/>
              </a:lnSpc>
              <a:spcBef>
                <a:spcPct val="0"/>
              </a:spcBef>
              <a:buNone/>
              <a:defRPr lang="en-US" sz="2800" b="0" kern="1200" cap="none" spc="0" baseline="0" dirty="0">
                <a:solidFill>
                  <a:schemeClr val="tx1"/>
                </a:solidFill>
                <a:effectLst/>
                <a:latin typeface="+mj-lt"/>
                <a:ea typeface="+mn-ea"/>
                <a:cs typeface="+mn-cs"/>
              </a:defRPr>
            </a:lvl1pPr>
          </a:lstStyle>
          <a:p>
            <a:pPr rtl="0"/>
            <a:r>
              <a:rPr lang="pt-BR" dirty="0"/>
              <a:t>Clique para editar o estilo de título Mestre</a:t>
            </a:r>
            <a:endParaRPr lang="en-US" dirty="0"/>
          </a:p>
        </p:txBody>
      </p:sp>
      <p:sp>
        <p:nvSpPr>
          <p:cNvPr id="3" name="Espaço reservado para conteúdo 2"/>
          <p:cNvSpPr>
            <a:spLocks noGrp="1"/>
          </p:cNvSpPr>
          <p:nvPr>
            <p:ph idx="1"/>
          </p:nvPr>
        </p:nvSpPr>
        <p:spPr>
          <a:xfrm>
            <a:off x="685800" y="609600"/>
            <a:ext cx="6858000" cy="5334000"/>
          </a:xfrm>
        </p:spPr>
        <p:txBody>
          <a:bodyPr rtlCol="0"/>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texto 3"/>
          <p:cNvSpPr>
            <a:spLocks noGrp="1"/>
          </p:cNvSpPr>
          <p:nvPr>
            <p:ph type="body" sz="half" idx="2" hasCustomPrompt="1"/>
          </p:nvPr>
        </p:nvSpPr>
        <p:spPr>
          <a:xfrm>
            <a:off x="8458200" y="2336800"/>
            <a:ext cx="3161963" cy="3606800"/>
          </a:xfrm>
        </p:spPr>
        <p:txBody>
          <a:bodyPr rtlCol="0">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dirty="0"/>
              <a:t>Clique para editar o texto Mestre</a:t>
            </a:r>
          </a:p>
        </p:txBody>
      </p:sp>
      <p:sp>
        <p:nvSpPr>
          <p:cNvPr id="8" name="Espaço Reservado para Data 7"/>
          <p:cNvSpPr>
            <a:spLocks noGrp="1"/>
          </p:cNvSpPr>
          <p:nvPr>
            <p:ph type="dt" sz="half" idx="10"/>
          </p:nvPr>
        </p:nvSpPr>
        <p:spPr>
          <a:xfrm>
            <a:off x="5588000" y="6035040"/>
            <a:ext cx="1955800" cy="365760"/>
          </a:xfrm>
        </p:spPr>
        <p:txBody>
          <a:bodyPr rtlCol="0"/>
          <a:lstStyle>
            <a:lvl1pPr>
              <a:defRPr>
                <a:solidFill>
                  <a:schemeClr val="tx1">
                    <a:lumMod val="85000"/>
                    <a:lumOff val="15000"/>
                  </a:schemeClr>
                </a:solidFill>
              </a:defRPr>
            </a:lvl1pPr>
          </a:lstStyle>
          <a:p>
            <a:pPr rtl="0"/>
            <a:fld id="{B01F5550-97CC-4F3B-A34B-FE39BFD06EF0}" type="datetime1">
              <a:rPr lang="pt-BR" smtClean="0"/>
              <a:t>19/07/2022</a:t>
            </a:fld>
            <a:endParaRPr lang="en-US"/>
          </a:p>
        </p:txBody>
      </p:sp>
      <p:sp>
        <p:nvSpPr>
          <p:cNvPr id="9" name="Espaço Reservado para Rodapé 8"/>
          <p:cNvSpPr>
            <a:spLocks noGrp="1"/>
          </p:cNvSpPr>
          <p:nvPr>
            <p:ph type="ftr" sz="quarter" idx="11"/>
          </p:nvPr>
        </p:nvSpPr>
        <p:spPr>
          <a:xfrm>
            <a:off x="685801" y="6035040"/>
            <a:ext cx="4584700" cy="365760"/>
          </a:xfrm>
        </p:spPr>
        <p:txBody>
          <a:bodyPr rtlCol="0"/>
          <a:lstStyle>
            <a:lvl1pPr algn="l">
              <a:defRPr/>
            </a:lvl1pPr>
          </a:lstStyle>
          <a:p>
            <a:pPr rtl="0"/>
            <a:endParaRPr lang="en-US"/>
          </a:p>
        </p:txBody>
      </p:sp>
      <p:sp>
        <p:nvSpPr>
          <p:cNvPr id="11" name="Espaço Reservado para o Número do Slide 10"/>
          <p:cNvSpPr>
            <a:spLocks noGrp="1"/>
          </p:cNvSpPr>
          <p:nvPr>
            <p:ph type="sldNum" sz="quarter" idx="12"/>
          </p:nvPr>
        </p:nvSpPr>
        <p:spPr>
          <a:xfrm>
            <a:off x="10396728" y="6035040"/>
            <a:ext cx="1223435" cy="365760"/>
          </a:xfrm>
        </p:spPr>
        <p:txBody>
          <a:bodyPr rtlCol="0"/>
          <a:lstStyle>
            <a:lvl1pPr>
              <a:defRPr>
                <a:solidFill>
                  <a:schemeClr val="tx1">
                    <a:lumMod val="85000"/>
                    <a:lumOff val="15000"/>
                  </a:schemeClr>
                </a:solidFill>
              </a:defRPr>
            </a:lvl1pPr>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tângulo 10">
            <a:extLst>
              <a:ext uri="{FF2B5EF4-FFF2-40B4-BE49-F238E27FC236}">
                <a16:creationId xmlns=""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Espaço reservado para imagem 2"/>
          <p:cNvSpPr>
            <a:spLocks noGrp="1" noChangeAspect="1"/>
          </p:cNvSpPr>
          <p:nvPr>
            <p:ph type="pic" idx="1" hasCustomPrompt="1"/>
          </p:nvPr>
        </p:nvSpPr>
        <p:spPr>
          <a:xfrm>
            <a:off x="228599" y="237744"/>
            <a:ext cx="7696201" cy="6382512"/>
          </a:xfrm>
          <a:solidFill>
            <a:schemeClr val="accent1">
              <a:lumMod val="60000"/>
              <a:lumOff val="40000"/>
            </a:schemeClr>
          </a:solidFill>
          <a:ln>
            <a:noFill/>
          </a:ln>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dirty="0"/>
              <a:t>Clique no ícone para adicionar uma imagem</a:t>
            </a:r>
            <a:endParaRPr lang="en-US" dirty="0"/>
          </a:p>
        </p:txBody>
      </p:sp>
      <p:sp>
        <p:nvSpPr>
          <p:cNvPr id="5" name="Espaço Reservado para Data 4"/>
          <p:cNvSpPr>
            <a:spLocks noGrp="1"/>
          </p:cNvSpPr>
          <p:nvPr>
            <p:ph type="dt" sz="half" idx="10"/>
          </p:nvPr>
        </p:nvSpPr>
        <p:spPr>
          <a:xfrm>
            <a:off x="5662337" y="6035040"/>
            <a:ext cx="2071963" cy="365760"/>
          </a:xfrm>
        </p:spPr>
        <p:txBody>
          <a:bodyPr rtlCol="0"/>
          <a:lstStyle>
            <a:lvl1pPr>
              <a:defRPr b="1">
                <a:solidFill>
                  <a:srgbClr val="FFFFFF"/>
                </a:solidFill>
                <a:effectLst>
                  <a:outerShdw blurRad="19050" dist="6350" dir="2700000" algn="tl" rotWithShape="0">
                    <a:prstClr val="black">
                      <a:alpha val="40000"/>
                    </a:prstClr>
                  </a:outerShdw>
                </a:effectLst>
              </a:defRPr>
            </a:lvl1pPr>
          </a:lstStyle>
          <a:p>
            <a:pPr rtl="0"/>
            <a:fld id="{7975B8C2-382E-4F5E-B0CE-7E0EEF75E017}" type="datetime1">
              <a:rPr lang="pt-BR" smtClean="0"/>
              <a:t>19/07/2022</a:t>
            </a:fld>
            <a:endParaRPr lang="en-US" dirty="0"/>
          </a:p>
        </p:txBody>
      </p:sp>
      <p:sp>
        <p:nvSpPr>
          <p:cNvPr id="6" name="Espaço Reservado para Rodapé 5"/>
          <p:cNvSpPr>
            <a:spLocks noGrp="1"/>
          </p:cNvSpPr>
          <p:nvPr>
            <p:ph type="ftr" sz="quarter" idx="11"/>
          </p:nvPr>
        </p:nvSpPr>
        <p:spPr>
          <a:xfrm>
            <a:off x="612648" y="6035040"/>
            <a:ext cx="4588002" cy="365760"/>
          </a:xfrm>
        </p:spPr>
        <p:txBody>
          <a:bodyPr rtlCol="0"/>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rtl="0"/>
            <a:endParaRPr lang="en-US" dirty="0"/>
          </a:p>
        </p:txBody>
      </p:sp>
      <p:sp>
        <p:nvSpPr>
          <p:cNvPr id="7" name="Espaço Reservado para o Número do Slide 6"/>
          <p:cNvSpPr>
            <a:spLocks noGrp="1"/>
          </p:cNvSpPr>
          <p:nvPr>
            <p:ph type="sldNum" sz="quarter" idx="12"/>
          </p:nvPr>
        </p:nvSpPr>
        <p:spPr>
          <a:xfrm>
            <a:off x="10396728" y="6035040"/>
            <a:ext cx="1225296" cy="365760"/>
          </a:xfrm>
        </p:spPr>
        <p:txBody>
          <a:bodyPr rtlCol="0"/>
          <a:lstStyle/>
          <a:p>
            <a:pPr rtl="0"/>
            <a:fld id="{34B7E4EF-A1BD-40F4-AB7B-04F084DD991D}" type="slidenum">
              <a:rPr lang="en-US" smtClean="0"/>
              <a:t>‹nº›</a:t>
            </a:fld>
            <a:endParaRPr lang="en-US"/>
          </a:p>
        </p:txBody>
      </p:sp>
      <p:sp>
        <p:nvSpPr>
          <p:cNvPr id="12" name="Retângulo 11">
            <a:extLst>
              <a:ext uri="{FF2B5EF4-FFF2-40B4-BE49-F238E27FC236}">
                <a16:creationId xmlns=""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hasCustomPrompt="1"/>
          </p:nvPr>
        </p:nvSpPr>
        <p:spPr>
          <a:xfrm>
            <a:off x="8477250" y="603504"/>
            <a:ext cx="3144774" cy="1645920"/>
          </a:xfrm>
        </p:spPr>
        <p:txBody>
          <a:bodyPr rtlCol="0" anchor="b">
            <a:noAutofit/>
          </a:bodyPr>
          <a:lstStyle>
            <a:lvl1pPr algn="l">
              <a:lnSpc>
                <a:spcPct val="100000"/>
              </a:lnSpc>
              <a:defRPr sz="2800" b="0">
                <a:solidFill>
                  <a:schemeClr val="tx1"/>
                </a:solidFill>
                <a:latin typeface="+mj-lt"/>
              </a:defRPr>
            </a:lvl1pPr>
          </a:lstStyle>
          <a:p>
            <a:pPr rtl="0"/>
            <a:r>
              <a:rPr lang="pt-BR" dirty="0"/>
              <a:t>Clique para editar o estilo de título Mestre</a:t>
            </a:r>
            <a:endParaRPr lang="en-US" dirty="0"/>
          </a:p>
        </p:txBody>
      </p:sp>
      <p:sp>
        <p:nvSpPr>
          <p:cNvPr id="4" name="Espaço reservado para texto 3"/>
          <p:cNvSpPr>
            <a:spLocks noGrp="1"/>
          </p:cNvSpPr>
          <p:nvPr>
            <p:ph type="body" sz="half" idx="2" hasCustomPrompt="1"/>
          </p:nvPr>
        </p:nvSpPr>
        <p:spPr>
          <a:xfrm>
            <a:off x="8477250" y="2386584"/>
            <a:ext cx="3144774" cy="3511296"/>
          </a:xfrm>
        </p:spPr>
        <p:txBody>
          <a:bodyPr rtlCol="0">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dirty="0"/>
              <a:t>Clique para editar o texto Mestre</a:t>
            </a:r>
          </a:p>
        </p:txBody>
      </p:sp>
    </p:spTree>
    <p:extLst>
      <p:ext uri="{BB962C8B-B14F-4D97-AF65-F5344CB8AC3E}">
        <p14:creationId xmlns:p14="http://schemas.microsoft.com/office/powerpoint/2010/main" val="267822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normAutofit/>
          </a:bodyPr>
          <a:lstStyle>
            <a:lvl1pPr>
              <a:defRPr sz="3800"/>
            </a:lvl1pPr>
          </a:lstStyle>
          <a:p>
            <a:pPr rtl="0"/>
            <a:r>
              <a:rPr lang="pt-BR"/>
              <a:t>Clique para editar o título Mestre</a:t>
            </a:r>
            <a:endParaRPr lang="en-US" dirty="0"/>
          </a:p>
        </p:txBody>
      </p:sp>
      <p:sp>
        <p:nvSpPr>
          <p:cNvPr id="3" name="Espaço reservado para texto vertical 2"/>
          <p:cNvSpPr>
            <a:spLocks noGrp="1"/>
          </p:cNvSpPr>
          <p:nvPr>
            <p:ph type="body" orient="vert" idx="1"/>
          </p:nvPr>
        </p:nvSpPr>
        <p:spPr/>
        <p:txBody>
          <a:bodyPr vert="eaVert" rtlCol="0"/>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p:cNvSpPr>
            <a:spLocks noGrp="1"/>
          </p:cNvSpPr>
          <p:nvPr>
            <p:ph type="dt" sz="half" idx="10"/>
          </p:nvPr>
        </p:nvSpPr>
        <p:spPr/>
        <p:txBody>
          <a:bodyPr rtlCol="0"/>
          <a:lstStyle/>
          <a:p>
            <a:pPr rtl="0"/>
            <a:fld id="{870C3F0E-1EAD-419A-B8F3-CB7CDE6B1E86}" type="datetime1">
              <a:rPr lang="pt-BR" smtClean="0"/>
              <a:t>19/07/2022</a:t>
            </a:fld>
            <a:endParaRPr lang="en-US"/>
          </a:p>
        </p:txBody>
      </p:sp>
      <p:sp>
        <p:nvSpPr>
          <p:cNvPr id="5" name="Espaço Reservado para Rodapé 4"/>
          <p:cNvSpPr>
            <a:spLocks noGrp="1"/>
          </p:cNvSpPr>
          <p:nvPr>
            <p:ph type="ftr" sz="quarter" idx="11"/>
          </p:nvPr>
        </p:nvSpPr>
        <p:spPr/>
        <p:txBody>
          <a:bodyPr rtlCol="0"/>
          <a:lstStyle/>
          <a:p>
            <a:pPr rtl="0"/>
            <a:endParaRPr lang="en-US"/>
          </a:p>
        </p:txBody>
      </p:sp>
      <p:sp>
        <p:nvSpPr>
          <p:cNvPr id="6" name="Espaço Reservado para o Número do Slide 5"/>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4023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991600" y="762000"/>
            <a:ext cx="2362200" cy="5257800"/>
          </a:xfrm>
        </p:spPr>
        <p:txBody>
          <a:bodyPr vert="eaVert" rtlCol="0"/>
          <a:lstStyle>
            <a:lvl1pPr>
              <a:defRPr/>
            </a:lvl1pPr>
          </a:lstStyle>
          <a:p>
            <a:pPr rtl="0"/>
            <a:r>
              <a:rPr lang="pt-BR" dirty="0"/>
              <a:t>Clique para editar o estilo de título Mestre</a:t>
            </a:r>
            <a:endParaRPr lang="en-US" dirty="0"/>
          </a:p>
        </p:txBody>
      </p:sp>
      <p:sp>
        <p:nvSpPr>
          <p:cNvPr id="3" name="Espaço reservado para texto vertical 2"/>
          <p:cNvSpPr>
            <a:spLocks noGrp="1"/>
          </p:cNvSpPr>
          <p:nvPr>
            <p:ph type="body" orient="vert" idx="1"/>
          </p:nvPr>
        </p:nvSpPr>
        <p:spPr>
          <a:xfrm>
            <a:off x="838200" y="762000"/>
            <a:ext cx="8077200" cy="5257800"/>
          </a:xfrm>
        </p:spPr>
        <p:txBody>
          <a:bodyPr vert="eaVert" rtlCol="0"/>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p:cNvSpPr>
            <a:spLocks noGrp="1"/>
          </p:cNvSpPr>
          <p:nvPr>
            <p:ph type="dt" sz="half" idx="10"/>
          </p:nvPr>
        </p:nvSpPr>
        <p:spPr/>
        <p:txBody>
          <a:bodyPr rtlCol="0"/>
          <a:lstStyle/>
          <a:p>
            <a:pPr rtl="0"/>
            <a:fld id="{5274CCBA-3812-426F-BA8C-8BC3E97D7FB5}" type="datetime1">
              <a:rPr lang="pt-BR" smtClean="0"/>
              <a:t>19/07/2022</a:t>
            </a:fld>
            <a:endParaRPr lang="en-US"/>
          </a:p>
        </p:txBody>
      </p:sp>
      <p:sp>
        <p:nvSpPr>
          <p:cNvPr id="5" name="Espaço Reservado para Rodapé 4"/>
          <p:cNvSpPr>
            <a:spLocks noGrp="1"/>
          </p:cNvSpPr>
          <p:nvPr>
            <p:ph type="ftr" sz="quarter" idx="11"/>
          </p:nvPr>
        </p:nvSpPr>
        <p:spPr/>
        <p:txBody>
          <a:bodyPr rtlCol="0"/>
          <a:lstStyle/>
          <a:p>
            <a:pPr rtl="0"/>
            <a:endParaRPr lang="en-US"/>
          </a:p>
        </p:txBody>
      </p:sp>
      <p:sp>
        <p:nvSpPr>
          <p:cNvPr id="6" name="Espaço Reservado para o Número do Slide 5"/>
          <p:cNvSpPr>
            <a:spLocks noGrp="1"/>
          </p:cNvSpPr>
          <p:nvPr>
            <p:ph type="sldNum" sz="quarter" idx="12"/>
          </p:nvPr>
        </p:nvSpPr>
        <p:spPr/>
        <p:txBody>
          <a:bodyPr rtlCol="0"/>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15100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tângulo 8">
            <a:extLst>
              <a:ext uri="{FF2B5EF4-FFF2-40B4-BE49-F238E27FC236}">
                <a16:creationId xmlns=""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tângulo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tângulo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Espaço reservado para título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pPr rtl="0"/>
            <a:r>
              <a:rPr lang="pt-BR"/>
              <a:t>Clique para editar o estilo de título Mestre</a:t>
            </a:r>
            <a:endParaRPr lang="en-US" dirty="0"/>
          </a:p>
        </p:txBody>
      </p:sp>
      <p:sp>
        <p:nvSpPr>
          <p:cNvPr id="3" name="Espaço reservado para texto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pPr rtl="0"/>
            <a:fld id="{91DF2A3A-30FD-464E-8202-27A276433376}" type="datetime1">
              <a:rPr lang="pt-BR" smtClean="0"/>
              <a:t>19/07/2022</a:t>
            </a:fld>
            <a:endParaRPr lang="en-US" dirty="0"/>
          </a:p>
        </p:txBody>
      </p:sp>
      <p:sp>
        <p:nvSpPr>
          <p:cNvPr id="5" name="Espaço Reservado para Rodapé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pPr rtl="0"/>
            <a:endParaRPr lang="en-US" dirty="0"/>
          </a:p>
        </p:txBody>
      </p:sp>
      <p:sp>
        <p:nvSpPr>
          <p:cNvPr id="6" name="Espaço Reservado para o Número do Slide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pPr rtl="0"/>
            <a:fld id="{34B7E4EF-A1BD-40F4-AB7B-04F084DD991D}" type="slidenum">
              <a:rPr lang="en-US" smtClean="0"/>
              <a:t>‹nº›</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 id="2147483664" r:id="rId10"/>
    <p:sldLayoutId id="2147483666" r:id="rId11"/>
  </p:sldLayoutIdLst>
  <p:hf sldNum="0" hdr="0" ftr="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8.xml"/><Relationship Id="rId6" Type="http://schemas.openxmlformats.org/officeDocument/2006/relationships/comments" Target="../comments/comment1.xml"/><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8.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em 5" descr="Imagem ampliada de um logotipo&#10;&#10;Descrição gerada automaticamente">
            <a:extLst>
              <a:ext uri="{FF2B5EF4-FFF2-40B4-BE49-F238E27FC236}">
                <a16:creationId xmlns=""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r="-1"/>
          <a:stretch/>
        </p:blipFill>
        <p:spPr>
          <a:xfrm>
            <a:off x="20" y="10"/>
            <a:ext cx="12191979" cy="6857990"/>
          </a:xfrm>
          <a:prstGeom prst="rect">
            <a:avLst/>
          </a:prstGeom>
        </p:spPr>
      </p:pic>
      <p:sp>
        <p:nvSpPr>
          <p:cNvPr id="82" name="Retângulo 81">
            <a:extLst>
              <a:ext uri="{FF2B5EF4-FFF2-40B4-BE49-F238E27FC236}">
                <a16:creationId xmlns="" xmlns:a16="http://schemas.microsoft.com/office/drawing/2014/main" id="{2644B391-9BFE-445C-A9EC-F544BB85FB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tângulo 83">
            <a:extLst>
              <a:ext uri="{FF2B5EF4-FFF2-40B4-BE49-F238E27FC236}">
                <a16:creationId xmlns="" xmlns:a16="http://schemas.microsoft.com/office/drawing/2014/main" id="{80F26E69-87D9-4655-AE7B-280A87AA3C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ítulo 1">
            <a:extLst>
              <a:ext uri="{FF2B5EF4-FFF2-40B4-BE49-F238E27FC236}">
                <a16:creationId xmlns="" xmlns:a16="http://schemas.microsoft.com/office/drawing/2014/main" id="{18C3B467-088C-4F3D-A9A7-105C4E1E20CD}"/>
              </a:ext>
            </a:extLst>
          </p:cNvPr>
          <p:cNvSpPr>
            <a:spLocks noGrp="1"/>
          </p:cNvSpPr>
          <p:nvPr>
            <p:ph type="ctrTitle"/>
          </p:nvPr>
        </p:nvSpPr>
        <p:spPr>
          <a:xfrm>
            <a:off x="6033793" y="2355458"/>
            <a:ext cx="4775075" cy="1630907"/>
          </a:xfrm>
        </p:spPr>
        <p:txBody>
          <a:bodyPr rtlCol="0">
            <a:normAutofit/>
          </a:bodyPr>
          <a:lstStyle/>
          <a:p>
            <a:pPr rtl="0"/>
            <a:r>
              <a:rPr lang="pt-BR" sz="3200" dirty="0">
                <a:solidFill>
                  <a:schemeClr val="tx1"/>
                </a:solidFill>
              </a:rPr>
              <a:t>ESCRITA DA PESQUISA CIENTÍFICA</a:t>
            </a:r>
          </a:p>
        </p:txBody>
      </p:sp>
      <p:sp>
        <p:nvSpPr>
          <p:cNvPr id="3" name="Subtítulo 2">
            <a:extLst>
              <a:ext uri="{FF2B5EF4-FFF2-40B4-BE49-F238E27FC236}">
                <a16:creationId xmlns="" xmlns:a16="http://schemas.microsoft.com/office/drawing/2014/main" id="{C8722DDC-8EEE-4A06-8DFE-B44871EAA2CF}"/>
              </a:ext>
            </a:extLst>
          </p:cNvPr>
          <p:cNvSpPr>
            <a:spLocks noGrp="1"/>
          </p:cNvSpPr>
          <p:nvPr>
            <p:ph type="subTitle" idx="1"/>
          </p:nvPr>
        </p:nvSpPr>
        <p:spPr>
          <a:xfrm>
            <a:off x="6033793" y="3995988"/>
            <a:ext cx="4775075" cy="559656"/>
          </a:xfrm>
        </p:spPr>
        <p:txBody>
          <a:bodyPr rtlCol="0">
            <a:normAutofit/>
          </a:bodyPr>
          <a:lstStyle/>
          <a:p>
            <a:pPr rtl="0">
              <a:spcAft>
                <a:spcPts val="600"/>
              </a:spcAft>
            </a:pPr>
            <a:r>
              <a:rPr lang="pt-BR" dirty="0" smtClean="0">
                <a:solidFill>
                  <a:schemeClr val="tx1"/>
                </a:solidFill>
              </a:rPr>
              <a:t>REFERÊNCIAS</a:t>
            </a:r>
            <a:endParaRPr lang="pt-BR" dirty="0">
              <a:solidFill>
                <a:schemeClr val="tx1"/>
              </a:solidFill>
            </a:endParaRP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431D3BC-659A-4D4F-BC10-4B5D20FD1255}"/>
              </a:ext>
            </a:extLst>
          </p:cNvPr>
          <p:cNvSpPr>
            <a:spLocks noGrp="1"/>
          </p:cNvSpPr>
          <p:nvPr>
            <p:ph type="title"/>
          </p:nvPr>
        </p:nvSpPr>
        <p:spPr/>
        <p:txBody>
          <a:bodyPr/>
          <a:lstStyle/>
          <a:p>
            <a:r>
              <a:rPr lang="pt-BR" dirty="0"/>
              <a:t>PAPER</a:t>
            </a:r>
          </a:p>
        </p:txBody>
      </p:sp>
      <p:sp>
        <p:nvSpPr>
          <p:cNvPr id="3" name="Espaço Reservado para Conteúdo 2">
            <a:extLst>
              <a:ext uri="{FF2B5EF4-FFF2-40B4-BE49-F238E27FC236}">
                <a16:creationId xmlns="" xmlns:a16="http://schemas.microsoft.com/office/drawing/2014/main" id="{E69F65CB-E0B1-4139-8B0D-2A11CEC02A46}"/>
              </a:ext>
            </a:extLst>
          </p:cNvPr>
          <p:cNvSpPr>
            <a:spLocks noGrp="1"/>
          </p:cNvSpPr>
          <p:nvPr>
            <p:ph idx="1"/>
          </p:nvPr>
        </p:nvSpPr>
        <p:spPr/>
        <p:txBody>
          <a:bodyPr>
            <a:normAutofit fontScale="70000" lnSpcReduction="20000"/>
          </a:bodyPr>
          <a:lstStyle/>
          <a:p>
            <a:pPr algn="just"/>
            <a:r>
              <a:rPr lang="pt-BR" b="0" i="0" dirty="0">
                <a:effectLst/>
              </a:rPr>
              <a:t>É um pequeno texto elaborado sobre um tema pré-determinado, resultado de estudos ou de pesquisas científicas, no qual o aluno irá desenvolver análises e argumentações, com objetividade e clareza, orientando-se em fatos ou opiniões de especialistas. </a:t>
            </a:r>
          </a:p>
          <a:p>
            <a:pPr algn="just"/>
            <a:r>
              <a:rPr lang="pt-BR" b="0" i="0" dirty="0">
                <a:effectLst/>
              </a:rPr>
              <a:t>Num </a:t>
            </a:r>
            <a:r>
              <a:rPr lang="pt-BR" b="0" i="0" dirty="0" err="1">
                <a:effectLst/>
              </a:rPr>
              <a:t>Paper</a:t>
            </a:r>
            <a:r>
              <a:rPr lang="pt-BR" b="0" i="0" dirty="0">
                <a:effectLst/>
              </a:rPr>
              <a:t>, espera-se o desenvolvimento de um ponto de vista acerca de um tema, uma tomada de posição definida e a expressão dos pensamentos de forma original. Quanto à estrutura, seguir da comunicação científica.</a:t>
            </a:r>
          </a:p>
          <a:p>
            <a:pPr algn="just"/>
            <a:r>
              <a:rPr lang="pt-BR" b="0" i="0" dirty="0">
                <a:effectLst/>
              </a:rPr>
              <a:t>Deve ser escrito em terceira pessoa. </a:t>
            </a:r>
          </a:p>
          <a:p>
            <a:pPr marL="0" indent="0" algn="just">
              <a:buNone/>
            </a:pPr>
            <a:r>
              <a:rPr lang="pt-BR" dirty="0"/>
              <a:t/>
            </a:r>
            <a:br>
              <a:rPr lang="pt-BR" dirty="0"/>
            </a:br>
            <a:r>
              <a:rPr lang="pt-BR" dirty="0"/>
              <a:t/>
            </a:r>
            <a:br>
              <a:rPr lang="pt-BR" dirty="0"/>
            </a:br>
            <a:r>
              <a:rPr lang="pt-BR" b="1" i="0" dirty="0">
                <a:effectLst/>
              </a:rPr>
              <a:t>Para a ABNT :</a:t>
            </a:r>
          </a:p>
          <a:p>
            <a:pPr algn="just"/>
            <a:r>
              <a:rPr lang="pt-BR" b="0" i="0" dirty="0" err="1">
                <a:effectLst/>
              </a:rPr>
              <a:t>Paper</a:t>
            </a:r>
            <a:r>
              <a:rPr lang="pt-BR" b="0" i="0" dirty="0">
                <a:effectLst/>
              </a:rPr>
              <a:t> é um pequeno artigo científico, elaborado sobre determinado tema ou resultado de um projeto de pesquisa para comunicações em congressos e reuniões científicas, sujeitos à sua aceitação por julgamento.</a:t>
            </a:r>
            <a:endParaRPr lang="pt-BR" dirty="0"/>
          </a:p>
          <a:p>
            <a:pPr algn="just"/>
            <a:r>
              <a:rPr lang="pt-BR" b="0" i="0" dirty="0">
                <a:effectLst/>
              </a:rPr>
              <a:t>Os propósitos de um </a:t>
            </a:r>
            <a:r>
              <a:rPr lang="pt-BR" b="0" i="0" dirty="0" err="1">
                <a:effectLst/>
              </a:rPr>
              <a:t>Paper</a:t>
            </a:r>
            <a:r>
              <a:rPr lang="pt-BR" b="0" i="0" dirty="0">
                <a:effectLst/>
              </a:rPr>
              <a:t> são quase sempre os de formar um problema, estudá-lo, adequar hipóteses, cotejar/analisar/investigar/comparar dados, prover uma metodologia própria e, finalmente, concluir ou eventualmente recomendar.</a:t>
            </a:r>
            <a:r>
              <a:rPr lang="pt-BR" dirty="0"/>
              <a:t/>
            </a:r>
            <a:br>
              <a:rPr lang="pt-BR" dirty="0"/>
            </a:br>
            <a:endParaRPr lang="pt-BR" dirty="0"/>
          </a:p>
          <a:p>
            <a:pPr algn="just"/>
            <a:r>
              <a:rPr lang="pt-BR" b="0" i="0" dirty="0">
                <a:effectLst/>
              </a:rPr>
              <a:t>O </a:t>
            </a:r>
            <a:r>
              <a:rPr lang="pt-BR" b="0" i="0" dirty="0" err="1">
                <a:effectLst/>
              </a:rPr>
              <a:t>Paper</a:t>
            </a:r>
            <a:r>
              <a:rPr lang="pt-BR" b="0" i="0" dirty="0">
                <a:effectLst/>
              </a:rPr>
              <a:t> é intrinsecamente técnico, podendo envolver fórmulas, gráficos, citações e pés de página, anexos, adendos e referências. </a:t>
            </a:r>
          </a:p>
          <a:p>
            <a:pPr algn="just"/>
            <a:r>
              <a:rPr lang="pt-BR" b="0" i="0" dirty="0">
                <a:effectLst/>
              </a:rPr>
              <a:t>Num </a:t>
            </a:r>
            <a:r>
              <a:rPr lang="pt-BR" b="0" i="0" dirty="0" err="1">
                <a:effectLst/>
              </a:rPr>
              <a:t>Paper</a:t>
            </a:r>
            <a:r>
              <a:rPr lang="pt-BR" b="0" i="0" dirty="0">
                <a:effectLst/>
              </a:rPr>
              <a:t> a opinião do autor é velada e tem a aparência imparcial e distante, não deixando transparecer tão claramente as crenças e as preferências do escritor. </a:t>
            </a:r>
            <a:endParaRPr lang="pt-BR" dirty="0"/>
          </a:p>
        </p:txBody>
      </p:sp>
      <p:sp>
        <p:nvSpPr>
          <p:cNvPr id="4" name="Espaço Reservado para Texto 3">
            <a:extLst>
              <a:ext uri="{FF2B5EF4-FFF2-40B4-BE49-F238E27FC236}">
                <a16:creationId xmlns="" xmlns:a16="http://schemas.microsoft.com/office/drawing/2014/main" id="{B87486AB-A0F5-438D-AC51-E83B86E57363}"/>
              </a:ext>
            </a:extLst>
          </p:cNvPr>
          <p:cNvSpPr>
            <a:spLocks noGrp="1"/>
          </p:cNvSpPr>
          <p:nvPr>
            <p:ph type="body" sz="half" idx="2"/>
          </p:nvPr>
        </p:nvSpPr>
        <p:spPr/>
        <p:txBody>
          <a:bodyPr/>
          <a:lstStyle/>
          <a:p>
            <a:r>
              <a:rPr lang="pt-BR" dirty="0"/>
              <a:t>CONCEITO E FINALIDADE</a:t>
            </a:r>
          </a:p>
        </p:txBody>
      </p:sp>
    </p:spTree>
    <p:extLst>
      <p:ext uri="{BB962C8B-B14F-4D97-AF65-F5344CB8AC3E}">
        <p14:creationId xmlns:p14="http://schemas.microsoft.com/office/powerpoint/2010/main" val="2306705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AE3D50C-44AE-464A-8DB1-7FFA75C8F7BA}"/>
              </a:ext>
            </a:extLst>
          </p:cNvPr>
          <p:cNvSpPr>
            <a:spLocks noGrp="1"/>
          </p:cNvSpPr>
          <p:nvPr>
            <p:ph type="title"/>
          </p:nvPr>
        </p:nvSpPr>
        <p:spPr/>
        <p:txBody>
          <a:bodyPr/>
          <a:lstStyle/>
          <a:p>
            <a:r>
              <a:rPr lang="pt-BR" dirty="0"/>
              <a:t>TÉCNICA DE ELABORAÇÃO</a:t>
            </a:r>
          </a:p>
        </p:txBody>
      </p:sp>
      <p:sp>
        <p:nvSpPr>
          <p:cNvPr id="3" name="Espaço Reservado para Conteúdo 2">
            <a:extLst>
              <a:ext uri="{FF2B5EF4-FFF2-40B4-BE49-F238E27FC236}">
                <a16:creationId xmlns="" xmlns:a16="http://schemas.microsoft.com/office/drawing/2014/main" id="{A458F351-8E9C-4A06-A2DB-30A79BDFED56}"/>
              </a:ext>
            </a:extLst>
          </p:cNvPr>
          <p:cNvSpPr>
            <a:spLocks noGrp="1"/>
          </p:cNvSpPr>
          <p:nvPr>
            <p:ph idx="1"/>
          </p:nvPr>
        </p:nvSpPr>
        <p:spPr/>
        <p:txBody>
          <a:bodyPr>
            <a:normAutofit fontScale="70000" lnSpcReduction="20000"/>
          </a:bodyPr>
          <a:lstStyle/>
          <a:p>
            <a:pPr marL="0" indent="0">
              <a:buNone/>
            </a:pPr>
            <a:r>
              <a:rPr lang="pt-BR" b="0" i="0" dirty="0">
                <a:solidFill>
                  <a:srgbClr val="5E5E5E"/>
                </a:solidFill>
                <a:effectLst/>
                <a:latin typeface="Open Sans" panose="020B0606030504020204" pitchFamily="34" charset="0"/>
              </a:rPr>
              <a:t>Um </a:t>
            </a:r>
            <a:r>
              <a:rPr lang="pt-BR" b="0" i="0" dirty="0" err="1">
                <a:solidFill>
                  <a:srgbClr val="5E5E5E"/>
                </a:solidFill>
                <a:effectLst/>
                <a:latin typeface="Open Sans" panose="020B0606030504020204" pitchFamily="34" charset="0"/>
              </a:rPr>
              <a:t>Paper</a:t>
            </a:r>
            <a:r>
              <a:rPr lang="pt-BR" b="0" i="0" dirty="0">
                <a:solidFill>
                  <a:srgbClr val="5E5E5E"/>
                </a:solidFill>
                <a:effectLst/>
                <a:latin typeface="Open Sans" panose="020B0606030504020204" pitchFamily="34" charset="0"/>
              </a:rPr>
              <a:t> deve ser redigido em três seções:</a:t>
            </a:r>
          </a:p>
          <a:p>
            <a:pPr marL="0" indent="0">
              <a:buNone/>
            </a:pPr>
            <a:endParaRPr lang="pt-BR" b="0" i="0" dirty="0">
              <a:solidFill>
                <a:srgbClr val="5E5E5E"/>
              </a:solidFill>
              <a:effectLst/>
              <a:latin typeface="Open Sans" panose="020B0606030504020204" pitchFamily="34" charset="0"/>
            </a:endParaRPr>
          </a:p>
          <a:p>
            <a:pPr marL="0" indent="0">
              <a:buNone/>
            </a:pPr>
            <a:r>
              <a:rPr lang="pt-BR" b="1" i="0" dirty="0">
                <a:solidFill>
                  <a:srgbClr val="5E5E5E"/>
                </a:solidFill>
                <a:effectLst/>
                <a:latin typeface="Open Sans" panose="020B0606030504020204" pitchFamily="34" charset="0"/>
              </a:rPr>
              <a:t>1. </a:t>
            </a:r>
            <a:r>
              <a:rPr lang="pt-BR" b="1" i="0" dirty="0" err="1">
                <a:solidFill>
                  <a:srgbClr val="5E5E5E"/>
                </a:solidFill>
                <a:effectLst/>
                <a:latin typeface="Open Sans" panose="020B0606030504020204" pitchFamily="34" charset="0"/>
              </a:rPr>
              <a:t>Pré</a:t>
            </a:r>
            <a:r>
              <a:rPr lang="pt-BR" b="1" i="0" dirty="0">
                <a:solidFill>
                  <a:srgbClr val="5E5E5E"/>
                </a:solidFill>
                <a:effectLst/>
                <a:latin typeface="Open Sans" panose="020B0606030504020204" pitchFamily="34" charset="0"/>
              </a:rPr>
              <a:t>-Textuais</a:t>
            </a:r>
            <a:r>
              <a:rPr lang="pt-BR" dirty="0"/>
              <a:t/>
            </a:r>
            <a:br>
              <a:rPr lang="pt-BR" dirty="0"/>
            </a:br>
            <a:r>
              <a:rPr lang="pt-BR" dirty="0"/>
              <a:t/>
            </a:r>
            <a:br>
              <a:rPr lang="pt-BR" dirty="0"/>
            </a:br>
            <a:r>
              <a:rPr lang="pt-BR" dirty="0">
                <a:solidFill>
                  <a:srgbClr val="5E5E5E"/>
                </a:solidFill>
                <a:latin typeface="Open Sans" panose="020B0606030504020204" pitchFamily="34" charset="0"/>
              </a:rPr>
              <a:t>1.1</a:t>
            </a:r>
            <a:r>
              <a:rPr lang="pt-BR" b="0" i="0" dirty="0">
                <a:solidFill>
                  <a:srgbClr val="5E5E5E"/>
                </a:solidFill>
                <a:effectLst/>
                <a:latin typeface="Open Sans" panose="020B0606030504020204" pitchFamily="34" charset="0"/>
              </a:rPr>
              <a:t> O Título e subtítulo (se houver) devem figurar na página de abertura do artigo, na língua do texto;</a:t>
            </a:r>
            <a:r>
              <a:rPr lang="pt-BR" dirty="0"/>
              <a:t/>
            </a:r>
            <a:br>
              <a:rPr lang="pt-BR" dirty="0"/>
            </a:br>
            <a:r>
              <a:rPr lang="pt-BR" dirty="0">
                <a:solidFill>
                  <a:srgbClr val="5E5E5E"/>
                </a:solidFill>
                <a:latin typeface="Open Sans" panose="020B0606030504020204" pitchFamily="34" charset="0"/>
              </a:rPr>
              <a:t>1.2</a:t>
            </a:r>
            <a:r>
              <a:rPr lang="pt-BR" b="0" i="0" dirty="0">
                <a:solidFill>
                  <a:srgbClr val="5E5E5E"/>
                </a:solidFill>
                <a:effectLst/>
                <a:latin typeface="Open Sans" panose="020B0606030504020204" pitchFamily="34" charset="0"/>
              </a:rPr>
              <a:t> A autoria: Nome completo do(s) autor(es) na forma direta, acompanhados de um breve currículo que o(s) qualifique na área do artigo;</a:t>
            </a:r>
            <a:r>
              <a:rPr lang="pt-BR" dirty="0"/>
              <a:t/>
            </a:r>
            <a:br>
              <a:rPr lang="pt-BR" dirty="0"/>
            </a:br>
            <a:r>
              <a:rPr lang="pt-BR" dirty="0"/>
              <a:t/>
            </a:r>
            <a:br>
              <a:rPr lang="pt-BR" dirty="0"/>
            </a:br>
            <a:r>
              <a:rPr lang="pt-BR" b="1" i="0" dirty="0">
                <a:solidFill>
                  <a:srgbClr val="5E5E5E"/>
                </a:solidFill>
                <a:effectLst/>
                <a:latin typeface="Open Sans" panose="020B0606030504020204" pitchFamily="34" charset="0"/>
              </a:rPr>
              <a:t>2. Textuais</a:t>
            </a:r>
            <a:r>
              <a:rPr lang="pt-BR" dirty="0"/>
              <a:t/>
            </a:r>
            <a:br>
              <a:rPr lang="pt-BR" dirty="0"/>
            </a:br>
            <a:r>
              <a:rPr lang="pt-BR" b="1" dirty="0"/>
              <a:t/>
            </a:r>
            <a:br>
              <a:rPr lang="pt-BR" b="1" dirty="0"/>
            </a:br>
            <a:r>
              <a:rPr lang="pt-BR" b="1" dirty="0">
                <a:solidFill>
                  <a:srgbClr val="5E5E5E"/>
                </a:solidFill>
                <a:latin typeface="Open Sans" panose="020B0606030504020204" pitchFamily="34" charset="0"/>
              </a:rPr>
              <a:t>2.1</a:t>
            </a:r>
            <a:r>
              <a:rPr lang="pt-BR" b="1" i="0" dirty="0">
                <a:solidFill>
                  <a:srgbClr val="5E5E5E"/>
                </a:solidFill>
                <a:effectLst/>
                <a:latin typeface="Open Sans" panose="020B0606030504020204" pitchFamily="34" charset="0"/>
              </a:rPr>
              <a:t> Introdução: </a:t>
            </a:r>
            <a:r>
              <a:rPr lang="pt-BR" b="0" i="0" dirty="0">
                <a:solidFill>
                  <a:srgbClr val="5E5E5E"/>
                </a:solidFill>
                <a:effectLst/>
                <a:latin typeface="Open Sans" panose="020B0606030504020204" pitchFamily="34" charset="0"/>
              </a:rPr>
              <a:t>O objetivo desta seção é introduzir o leitor na questão do tema ou assunto que será tratado no </a:t>
            </a:r>
            <a:r>
              <a:rPr lang="pt-BR" b="0" i="0" dirty="0" err="1">
                <a:solidFill>
                  <a:srgbClr val="5E5E5E"/>
                </a:solidFill>
                <a:effectLst/>
                <a:latin typeface="Open Sans" panose="020B0606030504020204" pitchFamily="34" charset="0"/>
              </a:rPr>
              <a:t>Paper</a:t>
            </a:r>
            <a:r>
              <a:rPr lang="pt-BR" b="0" i="0" dirty="0">
                <a:solidFill>
                  <a:srgbClr val="5E5E5E"/>
                </a:solidFill>
                <a:effectLst/>
                <a:latin typeface="Open Sans" panose="020B0606030504020204" pitchFamily="34" charset="0"/>
              </a:rPr>
              <a:t>. Informação básica, importância e porque está-se escrevendo sobre o assunto. </a:t>
            </a:r>
            <a:r>
              <a:rPr lang="pt-BR" dirty="0"/>
              <a:t/>
            </a:r>
            <a:br>
              <a:rPr lang="pt-BR" dirty="0"/>
            </a:br>
            <a:r>
              <a:rPr lang="pt-BR" b="1" dirty="0">
                <a:solidFill>
                  <a:srgbClr val="5E5E5E"/>
                </a:solidFill>
                <a:latin typeface="Open Sans" panose="020B0606030504020204" pitchFamily="34" charset="0"/>
              </a:rPr>
              <a:t>2.2</a:t>
            </a:r>
            <a:r>
              <a:rPr lang="pt-BR" b="1" i="0" dirty="0">
                <a:solidFill>
                  <a:srgbClr val="5E5E5E"/>
                </a:solidFill>
                <a:effectLst/>
                <a:latin typeface="Open Sans" panose="020B0606030504020204" pitchFamily="34" charset="0"/>
              </a:rPr>
              <a:t> Desenvolvimento: </a:t>
            </a:r>
            <a:r>
              <a:rPr lang="pt-BR" b="0" i="0" dirty="0">
                <a:solidFill>
                  <a:srgbClr val="5E5E5E"/>
                </a:solidFill>
                <a:effectLst/>
                <a:latin typeface="Open Sans" panose="020B0606030504020204" pitchFamily="34" charset="0"/>
              </a:rPr>
              <a:t>Esta é a situação atual, em outras palavras, esta é a seção na qual você diz ao leitor alguma coisa. Você deve estar seguro de organizar o desenvolvimento de maneira que o leitor possa seguir facilmente seu pensamento.</a:t>
            </a:r>
            <a:r>
              <a:rPr lang="pt-BR" dirty="0"/>
              <a:t/>
            </a:r>
            <a:br>
              <a:rPr lang="pt-BR" dirty="0"/>
            </a:br>
            <a:r>
              <a:rPr lang="pt-BR" b="1" dirty="0">
                <a:solidFill>
                  <a:srgbClr val="5E5E5E"/>
                </a:solidFill>
                <a:latin typeface="Open Sans" panose="020B0606030504020204" pitchFamily="34" charset="0"/>
              </a:rPr>
              <a:t>2.3</a:t>
            </a:r>
            <a:r>
              <a:rPr lang="pt-BR" b="1" i="0" dirty="0">
                <a:solidFill>
                  <a:srgbClr val="5E5E5E"/>
                </a:solidFill>
                <a:effectLst/>
                <a:latin typeface="Open Sans" panose="020B0606030504020204" pitchFamily="34" charset="0"/>
              </a:rPr>
              <a:t> Conclusões/Considerações Finais:</a:t>
            </a:r>
            <a:r>
              <a:rPr lang="pt-BR" b="0" i="0" dirty="0">
                <a:solidFill>
                  <a:srgbClr val="5E5E5E"/>
                </a:solidFill>
                <a:effectLst/>
                <a:latin typeface="Open Sans" panose="020B0606030504020204" pitchFamily="34" charset="0"/>
              </a:rPr>
              <a:t> você deverá argumentar e sintetizar as ideias do texto.</a:t>
            </a:r>
            <a:r>
              <a:rPr lang="pt-BR" dirty="0"/>
              <a:t/>
            </a:r>
            <a:br>
              <a:rPr lang="pt-BR" dirty="0"/>
            </a:br>
            <a:r>
              <a:rPr lang="pt-BR" dirty="0"/>
              <a:t/>
            </a:r>
            <a:br>
              <a:rPr lang="pt-BR" dirty="0"/>
            </a:br>
            <a:r>
              <a:rPr lang="pt-BR" b="1" i="0" dirty="0">
                <a:solidFill>
                  <a:srgbClr val="5E5E5E"/>
                </a:solidFill>
                <a:effectLst/>
                <a:latin typeface="Open Sans" panose="020B0606030504020204" pitchFamily="34" charset="0"/>
              </a:rPr>
              <a:t>3. Pós-Textuais</a:t>
            </a:r>
            <a:r>
              <a:rPr lang="pt-BR" dirty="0"/>
              <a:t/>
            </a:r>
            <a:br>
              <a:rPr lang="pt-BR" dirty="0"/>
            </a:br>
            <a:r>
              <a:rPr lang="pt-BR" dirty="0"/>
              <a:t/>
            </a:r>
            <a:br>
              <a:rPr lang="pt-BR" dirty="0"/>
            </a:br>
            <a:r>
              <a:rPr lang="pt-BR" dirty="0">
                <a:solidFill>
                  <a:srgbClr val="5E5E5E"/>
                </a:solidFill>
                <a:latin typeface="Open Sans" panose="020B0606030504020204" pitchFamily="34" charset="0"/>
              </a:rPr>
              <a:t>3.1</a:t>
            </a:r>
            <a:r>
              <a:rPr lang="pt-BR" b="0" i="0" dirty="0">
                <a:solidFill>
                  <a:srgbClr val="5E5E5E"/>
                </a:solidFill>
                <a:effectLst/>
                <a:latin typeface="Open Sans" panose="020B0606030504020204" pitchFamily="34" charset="0"/>
              </a:rPr>
              <a:t> Referências: constitui uma lista ordenada dos documentos efetivamente citados no texto. (elemento obrigatório).</a:t>
            </a:r>
            <a:r>
              <a:rPr lang="pt-BR" dirty="0"/>
              <a:t/>
            </a:r>
            <a:br>
              <a:rPr lang="pt-BR" dirty="0"/>
            </a:br>
            <a:r>
              <a:rPr lang="pt-BR" dirty="0"/>
              <a:t/>
            </a:r>
            <a:br>
              <a:rPr lang="pt-BR" dirty="0"/>
            </a:br>
            <a:endParaRPr lang="pt-BR" b="0" i="0" dirty="0">
              <a:solidFill>
                <a:srgbClr val="5E5E5E"/>
              </a:solidFill>
              <a:effectLst/>
              <a:latin typeface="Open Sans" panose="020B0606030504020204" pitchFamily="34" charset="0"/>
            </a:endParaRPr>
          </a:p>
          <a:p>
            <a:endParaRPr lang="pt-BR" dirty="0"/>
          </a:p>
        </p:txBody>
      </p:sp>
      <p:sp>
        <p:nvSpPr>
          <p:cNvPr id="4" name="Espaço Reservado para Texto 3">
            <a:extLst>
              <a:ext uri="{FF2B5EF4-FFF2-40B4-BE49-F238E27FC236}">
                <a16:creationId xmlns="" xmlns:a16="http://schemas.microsoft.com/office/drawing/2014/main" id="{4574CF50-550C-4E8C-8054-D048CD291E39}"/>
              </a:ext>
            </a:extLst>
          </p:cNvPr>
          <p:cNvSpPr>
            <a:spLocks noGrp="1"/>
          </p:cNvSpPr>
          <p:nvPr>
            <p:ph type="body" sz="half" idx="2"/>
          </p:nvPr>
        </p:nvSpPr>
        <p:spPr/>
        <p:txBody>
          <a:bodyPr>
            <a:normAutofit/>
          </a:bodyPr>
          <a:lstStyle/>
          <a:p>
            <a:pPr algn="just"/>
            <a:r>
              <a:rPr lang="pt-BR" b="0" i="0" dirty="0">
                <a:solidFill>
                  <a:srgbClr val="5E5E5E"/>
                </a:solidFill>
                <a:effectLst/>
                <a:latin typeface="Open Sans" panose="020B0606030504020204" pitchFamily="34" charset="0"/>
              </a:rPr>
              <a:t>Este tipo de trabalho deve ser apresentado segundo as normas ABNT, contendo </a:t>
            </a:r>
            <a:r>
              <a:rPr lang="pt-BR" b="1" i="0" dirty="0">
                <a:solidFill>
                  <a:srgbClr val="5E5E5E"/>
                </a:solidFill>
                <a:effectLst/>
                <a:latin typeface="Open Sans" panose="020B0606030504020204" pitchFamily="34" charset="0"/>
              </a:rPr>
              <a:t>citações diretas </a:t>
            </a:r>
            <a:r>
              <a:rPr lang="pt-BR" b="0" i="0" dirty="0">
                <a:solidFill>
                  <a:srgbClr val="5E5E5E"/>
                </a:solidFill>
                <a:effectLst/>
                <a:latin typeface="Open Sans" panose="020B0606030504020204" pitchFamily="34" charset="0"/>
              </a:rPr>
              <a:t>e/ou </a:t>
            </a:r>
            <a:r>
              <a:rPr lang="pt-BR" b="1" i="0" dirty="0">
                <a:solidFill>
                  <a:srgbClr val="5E5E5E"/>
                </a:solidFill>
                <a:effectLst/>
                <a:latin typeface="Open Sans" panose="020B0606030504020204" pitchFamily="34" charset="0"/>
              </a:rPr>
              <a:t>indiretas</a:t>
            </a:r>
            <a:r>
              <a:rPr lang="pt-BR" b="0" i="0" dirty="0">
                <a:solidFill>
                  <a:srgbClr val="5E5E5E"/>
                </a:solidFill>
                <a:effectLst/>
                <a:latin typeface="Open Sans" panose="020B0606030504020204" pitchFamily="34" charset="0"/>
              </a:rPr>
              <a:t> que sustentem os argumentos do aluno em relação ao tema em debate. Como todo trabalho de caráter acadêmico-científico, o </a:t>
            </a:r>
            <a:r>
              <a:rPr lang="pt-BR" b="0" i="0" dirty="0" err="1">
                <a:solidFill>
                  <a:srgbClr val="5E5E5E"/>
                </a:solidFill>
                <a:effectLst/>
                <a:latin typeface="Open Sans" panose="020B0606030504020204" pitchFamily="34" charset="0"/>
              </a:rPr>
              <a:t>Paper</a:t>
            </a:r>
            <a:r>
              <a:rPr lang="pt-BR" b="0" i="0" dirty="0">
                <a:solidFill>
                  <a:srgbClr val="5E5E5E"/>
                </a:solidFill>
                <a:effectLst/>
                <a:latin typeface="Open Sans" panose="020B0606030504020204" pitchFamily="34" charset="0"/>
              </a:rPr>
              <a:t> deve conter em sua estrutura: </a:t>
            </a:r>
            <a:r>
              <a:rPr lang="pt-BR" b="1" i="0" dirty="0">
                <a:solidFill>
                  <a:srgbClr val="5E5E5E"/>
                </a:solidFill>
                <a:effectLst/>
                <a:latin typeface="Open Sans" panose="020B0606030504020204" pitchFamily="34" charset="0"/>
              </a:rPr>
              <a:t>Introdução, desenvolvimento, conclusão e referências bibliográficas</a:t>
            </a:r>
            <a:r>
              <a:rPr lang="pt-BR" b="0" i="0" dirty="0">
                <a:solidFill>
                  <a:srgbClr val="5E5E5E"/>
                </a:solidFill>
                <a:effectLst/>
                <a:latin typeface="Open Sans" panose="020B0606030504020204" pitchFamily="34" charset="0"/>
              </a:rPr>
              <a:t>.</a:t>
            </a:r>
            <a:endParaRPr lang="pt-BR" dirty="0"/>
          </a:p>
        </p:txBody>
      </p:sp>
      <p:sp>
        <p:nvSpPr>
          <p:cNvPr id="5" name="Espaço Reservado para Data 4">
            <a:extLst>
              <a:ext uri="{FF2B5EF4-FFF2-40B4-BE49-F238E27FC236}">
                <a16:creationId xmlns="" xmlns:a16="http://schemas.microsoft.com/office/drawing/2014/main" id="{FE73B62E-6884-49D1-A7D4-407E0D8026B5}"/>
              </a:ext>
            </a:extLst>
          </p:cNvPr>
          <p:cNvSpPr>
            <a:spLocks noGrp="1"/>
          </p:cNvSpPr>
          <p:nvPr>
            <p:ph type="dt" sz="half" idx="10"/>
          </p:nvPr>
        </p:nvSpPr>
        <p:spPr/>
        <p:txBody>
          <a:bodyPr/>
          <a:lstStyle/>
          <a:p>
            <a:pPr rtl="0"/>
            <a:endParaRPr lang="en-US" dirty="0"/>
          </a:p>
        </p:txBody>
      </p:sp>
    </p:spTree>
    <p:extLst>
      <p:ext uri="{BB962C8B-B14F-4D97-AF65-F5344CB8AC3E}">
        <p14:creationId xmlns:p14="http://schemas.microsoft.com/office/powerpoint/2010/main" val="14777943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2AD41DC-82FB-4668-AD3E-03823EBAD902}"/>
              </a:ext>
            </a:extLst>
          </p:cNvPr>
          <p:cNvSpPr>
            <a:spLocks noGrp="1"/>
          </p:cNvSpPr>
          <p:nvPr>
            <p:ph type="title"/>
          </p:nvPr>
        </p:nvSpPr>
        <p:spPr/>
        <p:txBody>
          <a:bodyPr/>
          <a:lstStyle/>
          <a:p>
            <a:r>
              <a:rPr lang="pt-BR" dirty="0"/>
              <a:t>Modelo Aplicado a Área de Contabilidade</a:t>
            </a:r>
          </a:p>
        </p:txBody>
      </p:sp>
      <p:sp>
        <p:nvSpPr>
          <p:cNvPr id="3" name="Espaço Reservado para Conteúdo 2">
            <a:extLst>
              <a:ext uri="{FF2B5EF4-FFF2-40B4-BE49-F238E27FC236}">
                <a16:creationId xmlns="" xmlns:a16="http://schemas.microsoft.com/office/drawing/2014/main" id="{45BC06EB-3FFC-43CC-BB24-25E93C429C13}"/>
              </a:ext>
            </a:extLst>
          </p:cNvPr>
          <p:cNvSpPr>
            <a:spLocks noGrp="1"/>
          </p:cNvSpPr>
          <p:nvPr>
            <p:ph idx="1"/>
          </p:nvPr>
        </p:nvSpPr>
        <p:spPr/>
        <p:txBody>
          <a:bodyPr>
            <a:normAutofit fontScale="77500" lnSpcReduction="20000"/>
          </a:bodyPr>
          <a:lstStyle/>
          <a:p>
            <a:r>
              <a:rPr lang="pt-BR" dirty="0"/>
              <a:t>Exemplo de um </a:t>
            </a:r>
            <a:r>
              <a:rPr lang="pt-BR" dirty="0" err="1"/>
              <a:t>Paper</a:t>
            </a:r>
            <a:r>
              <a:rPr lang="pt-BR" dirty="0"/>
              <a:t> apresentado no IX Congresso de Contabilidade em Portugal</a:t>
            </a:r>
          </a:p>
          <a:p>
            <a:pPr algn="just"/>
            <a:r>
              <a:rPr lang="pt-BR" dirty="0">
                <a:solidFill>
                  <a:srgbClr val="FF0000"/>
                </a:solidFill>
              </a:rPr>
              <a:t>O presente trabalho tem como objetivo resgatar e identificar os fatos históricos do Ensino Superior de Contabilidade no Brasil estabelecendo uma relação entre os acontecimentos passados, que acontece hoje no curso de Ciências Contábeis e as perspectivas futuras. (PRÓPOSITO). </a:t>
            </a:r>
            <a:r>
              <a:rPr lang="pt-BR" dirty="0">
                <a:solidFill>
                  <a:srgbClr val="344529"/>
                </a:solidFill>
              </a:rPr>
              <a:t>O relato é feito desde o surgimento do curso com o decreto-lei 7.988 de 22 de setembro de 1945 até as Diretrizes Curriculares hoje emanadas do MEC para os Cursos de Ciências Contábeis, </a:t>
            </a:r>
            <a:r>
              <a:rPr lang="pt-BR" dirty="0">
                <a:solidFill>
                  <a:schemeClr val="accent1"/>
                </a:solidFill>
              </a:rPr>
              <a:t>pois o desenvolvimento econômico que o Brasil apresentou, a partir dos anos 40 ensejou o avanço da Contabilidade, tanto do ensino contábil, quanto da profissão. (CONTEXTUALIZAÇÃO E JUSTIFICATIVA) </a:t>
            </a:r>
            <a:r>
              <a:rPr lang="pt-BR" dirty="0">
                <a:solidFill>
                  <a:schemeClr val="accent3">
                    <a:lumMod val="75000"/>
                  </a:schemeClr>
                </a:solidFill>
              </a:rPr>
              <a:t>É realizado </a:t>
            </a:r>
            <a:r>
              <a:rPr lang="pt-BR" b="1" u="sng" dirty="0">
                <a:solidFill>
                  <a:schemeClr val="accent3">
                    <a:lumMod val="75000"/>
                  </a:schemeClr>
                </a:solidFill>
              </a:rPr>
              <a:t>uma retrospectiva no decênio de 60 </a:t>
            </a:r>
            <a:r>
              <a:rPr lang="pt-BR" dirty="0">
                <a:solidFill>
                  <a:schemeClr val="accent3">
                    <a:lumMod val="75000"/>
                  </a:schemeClr>
                </a:solidFill>
              </a:rPr>
              <a:t>onde ocorreram profundas modificações no Ensino Superior Brasileiro que repercutiram no Curso de Ciências Contábeis. Essas mudanças foram em função da Lei nº 4.024, de 20 de dezembro de 1961, que fixou as Diretrizes e Bases da Educação Nacional e criou o CFE - Conselho Federal de Educação, com atribuições de fixar os currículos mínimos e a duração dos cursos superiores destinados à formação para as profissões regulamentadas em lei. (METODOLOGIA) </a:t>
            </a:r>
            <a:r>
              <a:rPr lang="pt-BR" dirty="0">
                <a:solidFill>
                  <a:schemeClr val="tx1">
                    <a:lumMod val="95000"/>
                    <a:lumOff val="5000"/>
                  </a:schemeClr>
                </a:solidFill>
              </a:rPr>
              <a:t>O Trabalho aborda como se deu a formação dos Bacharéis em Ciências Contábeis durante o seu surgimento até os dias atuais perpassando pelos currículos dos cursos surgidos em cada época e o desafio que será necessário para o novo profissional que a aldeia global requer. (PROBLEMA DA PESQUISA) </a:t>
            </a:r>
            <a:r>
              <a:rPr lang="pt-BR" dirty="0">
                <a:solidFill>
                  <a:srgbClr val="7030A0"/>
                </a:solidFill>
              </a:rPr>
              <a:t>O Texto salienta que com a nova Lei de Diretrizes e Bases da Educação Nacional o Ensino Superior Brasileiro espera-se vir a ser mais flexível na organização dos cursos e carreiras, para atender à crescente heterogeneidade da formação prévia e às expectativas de todos os interessados neste nível de ensino. Acredita-se também que com a nova LDB/96, seja possível e viável uma revisão de toda a tradição burocrática que herdamos em uma Educação Conservadora onde se recebe tudo pronto sem uma maior discussão com o sujeito da aprendizagem. Salienta que as expectativas contemporâneas é de currículos mais adequados que possam colocar no mercado profissionais com boa formação, ao nível de graduação, com uma etapa inicial da formação continuada. (DESENVOLVIMENTO – APRESENTAÇÃO E DISCUSSÃO DOS DADOS) </a:t>
            </a:r>
            <a:r>
              <a:rPr lang="pt-BR" dirty="0"/>
              <a:t>Conclui-se que os Cursos de Ciências Contábeis no Brasil precisa voltar-se para a necessidade do mercado e preparar indivíduos que corresponda ao novo perfil de profissional que a sociedade requer. (CONCLUSÃO)</a:t>
            </a:r>
          </a:p>
        </p:txBody>
      </p:sp>
      <p:sp>
        <p:nvSpPr>
          <p:cNvPr id="4" name="Espaço Reservado para Data 3">
            <a:extLst>
              <a:ext uri="{FF2B5EF4-FFF2-40B4-BE49-F238E27FC236}">
                <a16:creationId xmlns="" xmlns:a16="http://schemas.microsoft.com/office/drawing/2014/main" id="{81A6AF61-8221-456B-9E1C-F7E4A12D22D4}"/>
              </a:ext>
            </a:extLst>
          </p:cNvPr>
          <p:cNvSpPr>
            <a:spLocks noGrp="1"/>
          </p:cNvSpPr>
          <p:nvPr>
            <p:ph type="dt" sz="half" idx="10"/>
          </p:nvPr>
        </p:nvSpPr>
        <p:spPr/>
        <p:txBody>
          <a:bodyPr/>
          <a:lstStyle/>
          <a:p>
            <a:pPr rtl="0"/>
            <a:endParaRPr lang="pt-BR" dirty="0"/>
          </a:p>
          <a:p>
            <a:pPr rtl="0"/>
            <a:endParaRPr lang="en-US" dirty="0"/>
          </a:p>
        </p:txBody>
      </p:sp>
    </p:spTree>
    <p:extLst>
      <p:ext uri="{BB962C8B-B14F-4D97-AF65-F5344CB8AC3E}">
        <p14:creationId xmlns:p14="http://schemas.microsoft.com/office/powerpoint/2010/main" val="3332601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67695F7-B366-4EB0-9606-43D49010BB57}"/>
              </a:ext>
            </a:extLst>
          </p:cNvPr>
          <p:cNvSpPr>
            <a:spLocks noGrp="1"/>
          </p:cNvSpPr>
          <p:nvPr>
            <p:ph type="title"/>
          </p:nvPr>
        </p:nvSpPr>
        <p:spPr>
          <a:xfrm>
            <a:off x="1066800" y="642594"/>
            <a:ext cx="10058400" cy="616363"/>
          </a:xfrm>
        </p:spPr>
        <p:txBody>
          <a:bodyPr>
            <a:normAutofit fontScale="90000"/>
          </a:bodyPr>
          <a:lstStyle/>
          <a:p>
            <a:r>
              <a:rPr lang="pt-BR" dirty="0"/>
              <a:t>Modelo Aplicado a Área de Contabilidade</a:t>
            </a:r>
          </a:p>
        </p:txBody>
      </p:sp>
      <p:sp>
        <p:nvSpPr>
          <p:cNvPr id="3" name="Espaço Reservado para Conteúdo 2">
            <a:extLst>
              <a:ext uri="{FF2B5EF4-FFF2-40B4-BE49-F238E27FC236}">
                <a16:creationId xmlns="" xmlns:a16="http://schemas.microsoft.com/office/drawing/2014/main" id="{A6A6AB90-3034-4BB4-855E-9A02DF574C4D}"/>
              </a:ext>
            </a:extLst>
          </p:cNvPr>
          <p:cNvSpPr>
            <a:spLocks noGrp="1"/>
          </p:cNvSpPr>
          <p:nvPr>
            <p:ph idx="1"/>
          </p:nvPr>
        </p:nvSpPr>
        <p:spPr>
          <a:xfrm>
            <a:off x="1066800" y="1258957"/>
            <a:ext cx="10058400" cy="5141843"/>
          </a:xfrm>
        </p:spPr>
        <p:txBody>
          <a:bodyPr>
            <a:normAutofit fontScale="85000" lnSpcReduction="20000"/>
          </a:bodyPr>
          <a:lstStyle/>
          <a:p>
            <a:r>
              <a:rPr lang="pt-BR" dirty="0"/>
              <a:t>REFERÊNCIAS </a:t>
            </a:r>
          </a:p>
          <a:p>
            <a:pPr marL="0" indent="0">
              <a:buNone/>
            </a:pPr>
            <a:r>
              <a:rPr lang="pt-BR" dirty="0"/>
              <a:t>BRASIL. Ministério da Educação e do Desporto. </a:t>
            </a:r>
            <a:r>
              <a:rPr lang="pt-BR" b="1" dirty="0"/>
              <a:t>Resolução nº 3 de outubro de 1992</a:t>
            </a:r>
            <a:r>
              <a:rPr lang="pt-BR" dirty="0"/>
              <a:t>. Fixa os mínimos de conteúdos e duração do curso de graduação em Ciências Contábeis. Diário </a:t>
            </a:r>
            <a:r>
              <a:rPr lang="pt-BR" dirty="0" err="1"/>
              <a:t>Ocial</a:t>
            </a:r>
            <a:r>
              <a:rPr lang="pt-BR" dirty="0"/>
              <a:t> da União. </a:t>
            </a:r>
            <a:r>
              <a:rPr lang="pt-BR" dirty="0" err="1"/>
              <a:t>Brasilia</a:t>
            </a:r>
            <a:r>
              <a:rPr lang="pt-BR" dirty="0"/>
              <a:t>, 1992</a:t>
            </a:r>
          </a:p>
          <a:p>
            <a:pPr marL="0" indent="0">
              <a:buNone/>
            </a:pPr>
            <a:r>
              <a:rPr lang="pt-BR" dirty="0"/>
              <a:t> _______. Ministério da Educação e do Desporto. </a:t>
            </a:r>
            <a:r>
              <a:rPr lang="pt-BR" b="1" dirty="0"/>
              <a:t>Lei de Diretrizes e Bases da Educação</a:t>
            </a:r>
            <a:r>
              <a:rPr lang="pt-BR" dirty="0"/>
              <a:t>. Brasília. 1996 </a:t>
            </a:r>
          </a:p>
          <a:p>
            <a:pPr marL="0" indent="0">
              <a:buNone/>
            </a:pPr>
            <a:r>
              <a:rPr lang="pt-BR" dirty="0"/>
              <a:t>FAVARIN, </a:t>
            </a:r>
            <a:r>
              <a:rPr lang="pt-BR" dirty="0" err="1"/>
              <a:t>Antonio</a:t>
            </a:r>
            <a:r>
              <a:rPr lang="pt-BR" dirty="0"/>
              <a:t> Marcos. </a:t>
            </a:r>
            <a:r>
              <a:rPr lang="pt-BR" b="1" dirty="0"/>
              <a:t>Didática Aplicada ao Ensino de Contabilidade em nível de 3o grau </a:t>
            </a:r>
            <a:r>
              <a:rPr lang="pt-BR" dirty="0"/>
              <a:t>– São Paulo: Dissertação de Mestrado Pontifícia Universidade Católica de São Paulo, 1994 </a:t>
            </a:r>
          </a:p>
          <a:p>
            <a:pPr marL="0" indent="0">
              <a:buNone/>
            </a:pPr>
            <a:r>
              <a:rPr lang="pt-BR" dirty="0"/>
              <a:t>HERMANN JÚNIOR, Frederico </a:t>
            </a:r>
            <a:r>
              <a:rPr lang="pt-BR" b="1" dirty="0"/>
              <a:t>(entrevista). </a:t>
            </a:r>
            <a:r>
              <a:rPr lang="pt-BR" dirty="0"/>
              <a:t>Revista Paulista de Contabilidade 234, dezembro 1943, p. 15-16 </a:t>
            </a:r>
          </a:p>
          <a:p>
            <a:pPr marL="0" indent="0">
              <a:buNone/>
            </a:pPr>
            <a:r>
              <a:rPr lang="pt-BR" dirty="0"/>
              <a:t>PARMA, Hamilton. </a:t>
            </a:r>
            <a:r>
              <a:rPr lang="pt-BR" b="1" dirty="0"/>
              <a:t>Delineamentos Histórico-Contábeis</a:t>
            </a:r>
            <a:r>
              <a:rPr lang="pt-BR" dirty="0"/>
              <a:t>. In: Revista do Conselho Regional do Rio Grande do Sul, 1982 </a:t>
            </a:r>
          </a:p>
          <a:p>
            <a:pPr marL="0" indent="0">
              <a:buNone/>
            </a:pPr>
            <a:r>
              <a:rPr lang="pt-BR" dirty="0"/>
              <a:t>SÁ, </a:t>
            </a:r>
            <a:r>
              <a:rPr lang="pt-BR" dirty="0" err="1"/>
              <a:t>Antonio</a:t>
            </a:r>
            <a:r>
              <a:rPr lang="pt-BR" dirty="0"/>
              <a:t> Lopes de. </a:t>
            </a:r>
            <a:r>
              <a:rPr lang="pt-BR" b="1" dirty="0"/>
              <a:t>Teoria da Contabilidade</a:t>
            </a:r>
            <a:r>
              <a:rPr lang="pt-BR" dirty="0"/>
              <a:t>. São Paulo: Atlas, 1998</a:t>
            </a:r>
          </a:p>
          <a:p>
            <a:pPr marL="0" indent="0">
              <a:buNone/>
            </a:pPr>
            <a:r>
              <a:rPr lang="pt-BR" dirty="0"/>
              <a:t> _________. </a:t>
            </a:r>
            <a:r>
              <a:rPr lang="pt-BR" b="1" dirty="0"/>
              <a:t>História Geral e das Doutrinas da Contabilidade</a:t>
            </a:r>
            <a:r>
              <a:rPr lang="pt-BR" dirty="0"/>
              <a:t>. São Paulo: Atlas, 1997</a:t>
            </a:r>
          </a:p>
          <a:p>
            <a:pPr marL="0" indent="0">
              <a:buNone/>
            </a:pPr>
            <a:r>
              <a:rPr lang="pt-BR" dirty="0"/>
              <a:t> _________. </a:t>
            </a:r>
            <a:r>
              <a:rPr lang="pt-BR" b="1" dirty="0" err="1"/>
              <a:t>Filosoa</a:t>
            </a:r>
            <a:r>
              <a:rPr lang="pt-BR" b="1" dirty="0"/>
              <a:t> da Contabilidade. </a:t>
            </a:r>
            <a:r>
              <a:rPr lang="pt-BR" dirty="0"/>
              <a:t>Rio de Janeiro: </a:t>
            </a:r>
            <a:r>
              <a:rPr lang="pt-BR" dirty="0" err="1"/>
              <a:t>Gráca</a:t>
            </a:r>
            <a:r>
              <a:rPr lang="pt-BR" dirty="0"/>
              <a:t> Editora Aurora, 1953</a:t>
            </a:r>
          </a:p>
          <a:p>
            <a:pPr marL="0" indent="0">
              <a:buNone/>
            </a:pPr>
            <a:r>
              <a:rPr lang="pt-BR" dirty="0"/>
              <a:t> SILVA, Laércio Baptista da. </a:t>
            </a:r>
            <a:r>
              <a:rPr lang="pt-BR" b="1" dirty="0"/>
              <a:t>A Contabilidade no Brasil </a:t>
            </a:r>
            <a:r>
              <a:rPr lang="pt-BR" dirty="0"/>
              <a:t>– aspectos do desenvolvimento por </a:t>
            </a:r>
            <a:r>
              <a:rPr lang="pt-BR" dirty="0" err="1"/>
              <a:t>inuência</a:t>
            </a:r>
            <a:r>
              <a:rPr lang="pt-BR" dirty="0"/>
              <a:t> da legislação e do contabilista. São Paulo: Dissertação de Mestrado – FEA-USP, 1980 </a:t>
            </a:r>
          </a:p>
          <a:p>
            <a:pPr marL="0" indent="0">
              <a:buNone/>
            </a:pPr>
            <a:r>
              <a:rPr lang="pt-BR" dirty="0"/>
              <a:t>SILVA, Hélio da et al. </a:t>
            </a:r>
            <a:r>
              <a:rPr lang="pt-BR" b="1" dirty="0"/>
              <a:t>Evolução Histórica da Contabilidade</a:t>
            </a:r>
            <a:r>
              <a:rPr lang="pt-BR" dirty="0"/>
              <a:t>. RBC Ano XX Nº 75, 1991</a:t>
            </a:r>
          </a:p>
          <a:p>
            <a:pPr marL="0" indent="0">
              <a:buNone/>
            </a:pPr>
            <a:r>
              <a:rPr lang="pt-BR" dirty="0"/>
              <a:t> SCHIMIDT, Paulo. </a:t>
            </a:r>
            <a:r>
              <a:rPr lang="pt-BR" b="1" dirty="0"/>
              <a:t>História do Pensamento Contábil</a:t>
            </a:r>
            <a:r>
              <a:rPr lang="pt-BR" dirty="0"/>
              <a:t>. Porto Alegre: Bookman, 2000 </a:t>
            </a:r>
          </a:p>
          <a:p>
            <a:pPr marL="0" indent="0">
              <a:buNone/>
            </a:pPr>
            <a:r>
              <a:rPr lang="pt-BR" dirty="0"/>
              <a:t>TRALDI, Lady Lima. </a:t>
            </a:r>
            <a:r>
              <a:rPr lang="pt-BR" b="1" dirty="0"/>
              <a:t>Currículo</a:t>
            </a:r>
            <a:r>
              <a:rPr lang="pt-BR" dirty="0"/>
              <a:t>. 3ª ed. São Paulo: Atlas, 1987 </a:t>
            </a:r>
          </a:p>
          <a:p>
            <a:pPr marL="0" indent="0">
              <a:buNone/>
            </a:pPr>
            <a:r>
              <a:rPr lang="pt-BR" dirty="0"/>
              <a:t>VASCONCELOS, Nanci Pereira de. </a:t>
            </a:r>
            <a:r>
              <a:rPr lang="pt-BR" b="1" dirty="0"/>
              <a:t>Uma Contribuição para a melhoria da Qualidade do Ensino Superior da Contabilidade </a:t>
            </a:r>
            <a:r>
              <a:rPr lang="pt-BR" dirty="0"/>
              <a:t>– Uma abordagem Sistêmica. São Paulo: Tese de Doutorado, Universidade de São Paulo, 1995</a:t>
            </a:r>
          </a:p>
        </p:txBody>
      </p:sp>
      <p:sp>
        <p:nvSpPr>
          <p:cNvPr id="4" name="Espaço Reservado para Data 3">
            <a:extLst>
              <a:ext uri="{FF2B5EF4-FFF2-40B4-BE49-F238E27FC236}">
                <a16:creationId xmlns="" xmlns:a16="http://schemas.microsoft.com/office/drawing/2014/main" id="{A5A7AD5E-C05E-4270-B493-7F6F189CFE4C}"/>
              </a:ext>
            </a:extLst>
          </p:cNvPr>
          <p:cNvSpPr>
            <a:spLocks noGrp="1"/>
          </p:cNvSpPr>
          <p:nvPr>
            <p:ph type="dt" sz="half" idx="10"/>
          </p:nvPr>
        </p:nvSpPr>
        <p:spPr/>
        <p:txBody>
          <a:bodyPr/>
          <a:lstStyle/>
          <a:p>
            <a:pPr rtl="0"/>
            <a:fld id="{D48C737E-092E-4203-A347-8410086932C6}" type="datetime1">
              <a:rPr lang="pt-BR" smtClean="0"/>
              <a:t>19/07/2022</a:t>
            </a:fld>
            <a:endParaRPr lang="en-US" dirty="0"/>
          </a:p>
        </p:txBody>
      </p:sp>
    </p:spTree>
    <p:extLst>
      <p:ext uri="{BB962C8B-B14F-4D97-AF65-F5344CB8AC3E}">
        <p14:creationId xmlns:p14="http://schemas.microsoft.com/office/powerpoint/2010/main" val="21288541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A23EC16-A381-46E1-9B82-BE8A18320638}"/>
              </a:ext>
            </a:extLst>
          </p:cNvPr>
          <p:cNvSpPr>
            <a:spLocks noGrp="1"/>
          </p:cNvSpPr>
          <p:nvPr>
            <p:ph type="title"/>
          </p:nvPr>
        </p:nvSpPr>
        <p:spPr/>
        <p:txBody>
          <a:bodyPr/>
          <a:lstStyle/>
          <a:p>
            <a:r>
              <a:rPr lang="pt-BR" dirty="0"/>
              <a:t>MODELOS DE REFERÊNCIA</a:t>
            </a:r>
          </a:p>
        </p:txBody>
      </p:sp>
      <p:pic>
        <p:nvPicPr>
          <p:cNvPr id="8" name="Espaço Reservado para Conteúdo 7">
            <a:extLst>
              <a:ext uri="{FF2B5EF4-FFF2-40B4-BE49-F238E27FC236}">
                <a16:creationId xmlns="" xmlns:a16="http://schemas.microsoft.com/office/drawing/2014/main" id="{B65A40B6-B3C5-4E86-A22E-C32022321A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739" y="1039923"/>
            <a:ext cx="6858000" cy="1114847"/>
          </a:xfrm>
        </p:spPr>
      </p:pic>
      <p:sp>
        <p:nvSpPr>
          <p:cNvPr id="6" name="Espaço Reservado para Texto 5">
            <a:extLst>
              <a:ext uri="{FF2B5EF4-FFF2-40B4-BE49-F238E27FC236}">
                <a16:creationId xmlns="" xmlns:a16="http://schemas.microsoft.com/office/drawing/2014/main" id="{3D9E2DEA-D98E-47A8-A948-08F4DECF4923}"/>
              </a:ext>
            </a:extLst>
          </p:cNvPr>
          <p:cNvSpPr>
            <a:spLocks noGrp="1"/>
          </p:cNvSpPr>
          <p:nvPr>
            <p:ph type="body" sz="half" idx="2"/>
          </p:nvPr>
        </p:nvSpPr>
        <p:spPr/>
        <p:txBody>
          <a:bodyPr/>
          <a:lstStyle/>
          <a:p>
            <a:r>
              <a:rPr lang="pt-BR" dirty="0"/>
              <a:t>LIVROS</a:t>
            </a:r>
          </a:p>
        </p:txBody>
      </p:sp>
      <p:pic>
        <p:nvPicPr>
          <p:cNvPr id="10" name="Imagem 9">
            <a:extLst>
              <a:ext uri="{FF2B5EF4-FFF2-40B4-BE49-F238E27FC236}">
                <a16:creationId xmlns="" xmlns:a16="http://schemas.microsoft.com/office/drawing/2014/main" id="{5A98C526-43BC-488B-A8B7-114E90463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738" y="2454968"/>
            <a:ext cx="7008124" cy="942975"/>
          </a:xfrm>
          <a:prstGeom prst="rect">
            <a:avLst/>
          </a:prstGeom>
        </p:spPr>
      </p:pic>
      <p:pic>
        <p:nvPicPr>
          <p:cNvPr id="12" name="Imagem 11">
            <a:extLst>
              <a:ext uri="{FF2B5EF4-FFF2-40B4-BE49-F238E27FC236}">
                <a16:creationId xmlns="" xmlns:a16="http://schemas.microsoft.com/office/drawing/2014/main" id="{913F1C73-BB24-45B3-9241-723413A512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587" y="3568097"/>
            <a:ext cx="6728275" cy="1113134"/>
          </a:xfrm>
          <a:prstGeom prst="rect">
            <a:avLst/>
          </a:prstGeom>
        </p:spPr>
      </p:pic>
      <p:pic>
        <p:nvPicPr>
          <p:cNvPr id="14" name="Imagem 13">
            <a:extLst>
              <a:ext uri="{FF2B5EF4-FFF2-40B4-BE49-F238E27FC236}">
                <a16:creationId xmlns="" xmlns:a16="http://schemas.microsoft.com/office/drawing/2014/main" id="{9915B3C4-FE42-4494-ABE7-7F58970733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9738" y="4995027"/>
            <a:ext cx="7008124" cy="1285108"/>
          </a:xfrm>
          <a:prstGeom prst="rect">
            <a:avLst/>
          </a:prstGeom>
        </p:spPr>
      </p:pic>
    </p:spTree>
    <p:extLst>
      <p:ext uri="{BB962C8B-B14F-4D97-AF65-F5344CB8AC3E}">
        <p14:creationId xmlns:p14="http://schemas.microsoft.com/office/powerpoint/2010/main" val="27980671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C13D01F-D45B-47D4-B6D0-2117D38BEF93}"/>
              </a:ext>
            </a:extLst>
          </p:cNvPr>
          <p:cNvSpPr>
            <a:spLocks noGrp="1"/>
          </p:cNvSpPr>
          <p:nvPr>
            <p:ph type="title"/>
          </p:nvPr>
        </p:nvSpPr>
        <p:spPr/>
        <p:txBody>
          <a:bodyPr/>
          <a:lstStyle/>
          <a:p>
            <a:r>
              <a:rPr lang="pt-BR" dirty="0"/>
              <a:t>MODELOS DE REFERÊNCIA</a:t>
            </a:r>
          </a:p>
        </p:txBody>
      </p:sp>
      <p:sp>
        <p:nvSpPr>
          <p:cNvPr id="3" name="Espaço Reservado para Conteúdo 2">
            <a:extLst>
              <a:ext uri="{FF2B5EF4-FFF2-40B4-BE49-F238E27FC236}">
                <a16:creationId xmlns="" xmlns:a16="http://schemas.microsoft.com/office/drawing/2014/main" id="{3F3F7E32-7C8B-4769-AE9A-8BA32C317BCC}"/>
              </a:ext>
            </a:extLst>
          </p:cNvPr>
          <p:cNvSpPr>
            <a:spLocks noGrp="1"/>
          </p:cNvSpPr>
          <p:nvPr>
            <p:ph idx="1"/>
          </p:nvPr>
        </p:nvSpPr>
        <p:spPr>
          <a:xfrm>
            <a:off x="400039" y="213840"/>
            <a:ext cx="7488382" cy="5425440"/>
          </a:xfrm>
        </p:spPr>
        <p:txBody>
          <a:bodyPr>
            <a:normAutofit lnSpcReduction="10000"/>
          </a:bodyPr>
          <a:lstStyle/>
          <a:p>
            <a:pPr marL="0" indent="0" algn="l" fontAlgn="base">
              <a:buNone/>
            </a:pPr>
            <a:r>
              <a:rPr lang="pt-BR" b="0" i="0" dirty="0">
                <a:solidFill>
                  <a:srgbClr val="000000"/>
                </a:solidFill>
                <a:effectLst/>
                <a:latin typeface="open sans" panose="020B0606030504020204" pitchFamily="34" charset="0"/>
              </a:rPr>
              <a:t>1° exemplo: Dissertação</a:t>
            </a:r>
          </a:p>
          <a:p>
            <a:pPr marL="0" indent="0" algn="l" fontAlgn="base">
              <a:buNone/>
            </a:pPr>
            <a:r>
              <a:rPr lang="pt-BR" b="0" i="0" dirty="0">
                <a:solidFill>
                  <a:srgbClr val="000000"/>
                </a:solidFill>
                <a:effectLst/>
                <a:latin typeface="open sans" panose="020B0606030504020204" pitchFamily="34" charset="0"/>
              </a:rPr>
              <a:t>Autoria, título, ano de depósito, total de folhas ou páginas, tipo, instituição, local, data de defesa</a:t>
            </a:r>
          </a:p>
          <a:p>
            <a:pPr marL="0" indent="0" algn="l" fontAlgn="base">
              <a:buNone/>
            </a:pPr>
            <a:endParaRPr lang="pt-BR" dirty="0">
              <a:solidFill>
                <a:srgbClr val="000000"/>
              </a:solidFill>
              <a:latin typeface="open sans" panose="020B0606030504020204" pitchFamily="34" charset="0"/>
            </a:endParaRPr>
          </a:p>
          <a:p>
            <a:pPr marL="0" indent="0" algn="l" fontAlgn="base">
              <a:buNone/>
            </a:pPr>
            <a:endParaRPr lang="pt-BR" b="0" i="0" dirty="0">
              <a:solidFill>
                <a:srgbClr val="000000"/>
              </a:solidFill>
              <a:effectLst/>
              <a:latin typeface="open sans" panose="020B0606030504020204" pitchFamily="34" charset="0"/>
            </a:endParaRPr>
          </a:p>
          <a:p>
            <a:r>
              <a:rPr lang="pt-BR" dirty="0"/>
              <a:t>DD</a:t>
            </a:r>
          </a:p>
          <a:p>
            <a:pPr marL="0" indent="0">
              <a:buNone/>
            </a:pPr>
            <a:endParaRPr lang="pt-BR" dirty="0"/>
          </a:p>
          <a:p>
            <a:pPr marL="0" indent="0">
              <a:buNone/>
            </a:pPr>
            <a:endParaRPr lang="pt-BR" dirty="0"/>
          </a:p>
          <a:p>
            <a:r>
              <a:rPr lang="pt-BR" b="0" i="0" dirty="0">
                <a:solidFill>
                  <a:srgbClr val="000000"/>
                </a:solidFill>
                <a:effectLst/>
                <a:latin typeface="open sans" panose="020B0606030504020204" pitchFamily="34" charset="0"/>
              </a:rPr>
              <a:t>2° exemplo: tese</a:t>
            </a:r>
          </a:p>
          <a:p>
            <a:endParaRPr lang="pt-BR" b="0" i="0" dirty="0">
              <a:solidFill>
                <a:srgbClr val="000000"/>
              </a:solidFill>
              <a:effectLst/>
              <a:latin typeface="open sans" panose="020B0606030504020204" pitchFamily="34" charset="0"/>
            </a:endParaRPr>
          </a:p>
          <a:p>
            <a:endParaRPr lang="pt-BR" dirty="0">
              <a:solidFill>
                <a:srgbClr val="000000"/>
              </a:solidFill>
              <a:latin typeface="open sans" panose="020B0606030504020204" pitchFamily="34" charset="0"/>
            </a:endParaRPr>
          </a:p>
          <a:p>
            <a:pPr marL="0" indent="0">
              <a:buNone/>
            </a:pPr>
            <a:endParaRPr lang="pt-BR" b="0" i="0" dirty="0">
              <a:solidFill>
                <a:srgbClr val="000000"/>
              </a:solidFill>
              <a:effectLst/>
              <a:latin typeface="open sans" panose="020B0606030504020204" pitchFamily="34" charset="0"/>
            </a:endParaRPr>
          </a:p>
          <a:p>
            <a:r>
              <a:rPr lang="pt-BR" dirty="0">
                <a:solidFill>
                  <a:srgbClr val="000000"/>
                </a:solidFill>
                <a:latin typeface="open sans" panose="020B0606030504020204" pitchFamily="34" charset="0"/>
              </a:rPr>
              <a:t>3</a:t>
            </a:r>
            <a:r>
              <a:rPr lang="pt-BR" b="0" i="0" dirty="0">
                <a:solidFill>
                  <a:srgbClr val="000000"/>
                </a:solidFill>
                <a:effectLst/>
                <a:latin typeface="open sans" panose="020B0606030504020204" pitchFamily="34" charset="0"/>
              </a:rPr>
              <a:t>° exemplo: trabalho acadêmico na internet</a:t>
            </a:r>
          </a:p>
          <a:p>
            <a:endParaRPr lang="pt-BR" dirty="0"/>
          </a:p>
        </p:txBody>
      </p:sp>
      <p:sp>
        <p:nvSpPr>
          <p:cNvPr id="4" name="Espaço Reservado para Texto 3">
            <a:extLst>
              <a:ext uri="{FF2B5EF4-FFF2-40B4-BE49-F238E27FC236}">
                <a16:creationId xmlns="" xmlns:a16="http://schemas.microsoft.com/office/drawing/2014/main" id="{98CC8CA6-3D2D-4130-B617-4D27743207A4}"/>
              </a:ext>
            </a:extLst>
          </p:cNvPr>
          <p:cNvSpPr>
            <a:spLocks noGrp="1"/>
          </p:cNvSpPr>
          <p:nvPr>
            <p:ph type="body" sz="half" idx="2"/>
          </p:nvPr>
        </p:nvSpPr>
        <p:spPr/>
        <p:txBody>
          <a:bodyPr/>
          <a:lstStyle/>
          <a:p>
            <a:r>
              <a:rPr lang="pt-BR" dirty="0"/>
              <a:t>TRABALHOS ACADÊMICOS</a:t>
            </a:r>
          </a:p>
        </p:txBody>
      </p:sp>
      <p:sp>
        <p:nvSpPr>
          <p:cNvPr id="5" name="Espaço Reservado para Data 4">
            <a:extLst>
              <a:ext uri="{FF2B5EF4-FFF2-40B4-BE49-F238E27FC236}">
                <a16:creationId xmlns="" xmlns:a16="http://schemas.microsoft.com/office/drawing/2014/main" id="{3A110AD7-54BF-4117-AA87-8DEF55BD9E00}"/>
              </a:ext>
            </a:extLst>
          </p:cNvPr>
          <p:cNvSpPr>
            <a:spLocks noGrp="1"/>
          </p:cNvSpPr>
          <p:nvPr>
            <p:ph type="dt" sz="half" idx="10"/>
          </p:nvPr>
        </p:nvSpPr>
        <p:spPr/>
        <p:txBody>
          <a:bodyPr/>
          <a:lstStyle/>
          <a:p>
            <a:pPr rtl="0"/>
            <a:fld id="{B01F5550-97CC-4F3B-A34B-FE39BFD06EF0}" type="datetime1">
              <a:rPr lang="pt-BR" smtClean="0"/>
              <a:t>19/07/2022</a:t>
            </a:fld>
            <a:endParaRPr lang="en-US"/>
          </a:p>
        </p:txBody>
      </p:sp>
      <p:pic>
        <p:nvPicPr>
          <p:cNvPr id="7" name="Imagem 6">
            <a:extLst>
              <a:ext uri="{FF2B5EF4-FFF2-40B4-BE49-F238E27FC236}">
                <a16:creationId xmlns="" xmlns:a16="http://schemas.microsoft.com/office/drawing/2014/main" id="{C05DBA5A-D161-41D5-9B52-8C9C1501A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707" y="1300050"/>
            <a:ext cx="7147675" cy="2073499"/>
          </a:xfrm>
          <a:prstGeom prst="rect">
            <a:avLst/>
          </a:prstGeom>
        </p:spPr>
      </p:pic>
      <p:pic>
        <p:nvPicPr>
          <p:cNvPr id="9" name="Imagem 8">
            <a:extLst>
              <a:ext uri="{FF2B5EF4-FFF2-40B4-BE49-F238E27FC236}">
                <a16:creationId xmlns="" xmlns:a16="http://schemas.microsoft.com/office/drawing/2014/main" id="{12F93E5A-368F-4D1F-8D80-59DB0506B9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1263" y="3836600"/>
            <a:ext cx="6345934" cy="947154"/>
          </a:xfrm>
          <a:prstGeom prst="rect">
            <a:avLst/>
          </a:prstGeom>
        </p:spPr>
      </p:pic>
      <p:pic>
        <p:nvPicPr>
          <p:cNvPr id="11" name="Imagem 10">
            <a:extLst>
              <a:ext uri="{FF2B5EF4-FFF2-40B4-BE49-F238E27FC236}">
                <a16:creationId xmlns="" xmlns:a16="http://schemas.microsoft.com/office/drawing/2014/main" id="{D0683136-BDB5-4480-99D9-95894231F1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2" y="5246805"/>
            <a:ext cx="7529934" cy="1110825"/>
          </a:xfrm>
          <a:prstGeom prst="rect">
            <a:avLst/>
          </a:prstGeom>
        </p:spPr>
      </p:pic>
    </p:spTree>
    <p:extLst>
      <p:ext uri="{BB962C8B-B14F-4D97-AF65-F5344CB8AC3E}">
        <p14:creationId xmlns:p14="http://schemas.microsoft.com/office/powerpoint/2010/main" val="12759200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4507B5E-94B6-4BCD-A7F6-5EFDE63E1F3D}"/>
              </a:ext>
            </a:extLst>
          </p:cNvPr>
          <p:cNvSpPr>
            <a:spLocks noGrp="1"/>
          </p:cNvSpPr>
          <p:nvPr>
            <p:ph type="title"/>
          </p:nvPr>
        </p:nvSpPr>
        <p:spPr/>
        <p:txBody>
          <a:bodyPr/>
          <a:lstStyle/>
          <a:p>
            <a:r>
              <a:rPr lang="pt-BR" dirty="0"/>
              <a:t>MODELO DE REFERÊNCIA</a:t>
            </a:r>
          </a:p>
        </p:txBody>
      </p:sp>
      <p:sp>
        <p:nvSpPr>
          <p:cNvPr id="3" name="Espaço Reservado para Conteúdo 2">
            <a:extLst>
              <a:ext uri="{FF2B5EF4-FFF2-40B4-BE49-F238E27FC236}">
                <a16:creationId xmlns="" xmlns:a16="http://schemas.microsoft.com/office/drawing/2014/main" id="{660EAEAF-5BFA-499E-9962-C12A71972170}"/>
              </a:ext>
            </a:extLst>
          </p:cNvPr>
          <p:cNvSpPr>
            <a:spLocks noGrp="1"/>
          </p:cNvSpPr>
          <p:nvPr>
            <p:ph idx="1"/>
          </p:nvPr>
        </p:nvSpPr>
        <p:spPr/>
        <p:txBody>
          <a:bodyPr/>
          <a:lstStyle/>
          <a:p>
            <a:pPr marL="0" indent="0" algn="l" fontAlgn="base">
              <a:buNone/>
            </a:pPr>
            <a:r>
              <a:rPr lang="pt-BR" b="0" i="0" dirty="0">
                <a:solidFill>
                  <a:srgbClr val="000000"/>
                </a:solidFill>
                <a:effectLst/>
                <a:latin typeface="open sans" panose="020B0606030504020204" pitchFamily="34" charset="0"/>
              </a:rPr>
              <a:t>1° exemplo: referência de artigo de periódico</a:t>
            </a:r>
          </a:p>
          <a:p>
            <a:pPr algn="l" fontAlgn="base">
              <a:buFont typeface="Wingdings" panose="05000000000000000000" pitchFamily="2" charset="2"/>
              <a:buChar char="Ø"/>
            </a:pPr>
            <a:r>
              <a:rPr lang="pt-BR" b="0" i="0" dirty="0">
                <a:solidFill>
                  <a:srgbClr val="000000"/>
                </a:solidFill>
                <a:effectLst/>
                <a:latin typeface="open sans" panose="020B0606030504020204" pitchFamily="34" charset="0"/>
              </a:rPr>
              <a:t> Autoria, título do artigo, título da revista, local, volume, fascículo, intervalo de páginas, mês, ano</a:t>
            </a:r>
          </a:p>
          <a:p>
            <a:pPr algn="l" fontAlgn="base">
              <a:buFont typeface="Wingdings" panose="05000000000000000000" pitchFamily="2" charset="2"/>
              <a:buChar char="Ø"/>
            </a:pPr>
            <a:endParaRPr lang="pt-BR" dirty="0">
              <a:solidFill>
                <a:srgbClr val="000000"/>
              </a:solidFill>
              <a:latin typeface="open sans" panose="020B0606030504020204" pitchFamily="34" charset="0"/>
            </a:endParaRPr>
          </a:p>
          <a:p>
            <a:pPr marL="0" indent="0" algn="l" fontAlgn="base">
              <a:buNone/>
            </a:pPr>
            <a:endParaRPr lang="pt-BR" b="0" i="0" dirty="0">
              <a:solidFill>
                <a:srgbClr val="000000"/>
              </a:solidFill>
              <a:effectLst/>
              <a:latin typeface="open sans" panose="020B0606030504020204" pitchFamily="34" charset="0"/>
            </a:endParaRPr>
          </a:p>
          <a:p>
            <a:endParaRPr lang="pt-BR" dirty="0"/>
          </a:p>
          <a:p>
            <a:endParaRPr lang="pt-BR" dirty="0"/>
          </a:p>
          <a:p>
            <a:endParaRPr lang="pt-BR" dirty="0"/>
          </a:p>
          <a:p>
            <a:r>
              <a:rPr lang="pt-BR" b="0" i="0" dirty="0">
                <a:solidFill>
                  <a:srgbClr val="000000"/>
                </a:solidFill>
                <a:effectLst/>
                <a:latin typeface="open sans" panose="020B0606030504020204" pitchFamily="34" charset="0"/>
              </a:rPr>
              <a:t>2° exemplo: referência de artigo de jornal</a:t>
            </a:r>
          </a:p>
          <a:p>
            <a:endParaRPr lang="pt-BR" dirty="0"/>
          </a:p>
        </p:txBody>
      </p:sp>
      <p:sp>
        <p:nvSpPr>
          <p:cNvPr id="4" name="Espaço Reservado para Texto 3">
            <a:extLst>
              <a:ext uri="{FF2B5EF4-FFF2-40B4-BE49-F238E27FC236}">
                <a16:creationId xmlns="" xmlns:a16="http://schemas.microsoft.com/office/drawing/2014/main" id="{60B49258-BCF2-4C26-B7C1-7F56FFF90F90}"/>
              </a:ext>
            </a:extLst>
          </p:cNvPr>
          <p:cNvSpPr>
            <a:spLocks noGrp="1"/>
          </p:cNvSpPr>
          <p:nvPr>
            <p:ph type="body" sz="half" idx="2"/>
          </p:nvPr>
        </p:nvSpPr>
        <p:spPr/>
        <p:txBody>
          <a:bodyPr/>
          <a:lstStyle/>
          <a:p>
            <a:r>
              <a:rPr lang="pt-BR" i="0" dirty="0">
                <a:solidFill>
                  <a:srgbClr val="000000"/>
                </a:solidFill>
                <a:effectLst/>
                <a:latin typeface="open sans" panose="020B0606030504020204" pitchFamily="34" charset="0"/>
              </a:rPr>
              <a:t>ARTIGOS DE PERIÓDICOS, JORNAIS</a:t>
            </a:r>
            <a:endParaRPr lang="pt-BR" dirty="0"/>
          </a:p>
        </p:txBody>
      </p:sp>
      <p:sp>
        <p:nvSpPr>
          <p:cNvPr id="5" name="Espaço Reservado para Data 4">
            <a:extLst>
              <a:ext uri="{FF2B5EF4-FFF2-40B4-BE49-F238E27FC236}">
                <a16:creationId xmlns="" xmlns:a16="http://schemas.microsoft.com/office/drawing/2014/main" id="{6EB6DD2F-D7F8-4EB4-8B8F-CE03B9B733AF}"/>
              </a:ext>
            </a:extLst>
          </p:cNvPr>
          <p:cNvSpPr>
            <a:spLocks noGrp="1"/>
          </p:cNvSpPr>
          <p:nvPr>
            <p:ph type="dt" sz="half" idx="10"/>
          </p:nvPr>
        </p:nvSpPr>
        <p:spPr/>
        <p:txBody>
          <a:bodyPr/>
          <a:lstStyle/>
          <a:p>
            <a:pPr rtl="0"/>
            <a:fld id="{B01F5550-97CC-4F3B-A34B-FE39BFD06EF0}" type="datetime1">
              <a:rPr lang="pt-BR" smtClean="0"/>
              <a:t>19/07/2022</a:t>
            </a:fld>
            <a:endParaRPr lang="en-US"/>
          </a:p>
        </p:txBody>
      </p:sp>
      <p:pic>
        <p:nvPicPr>
          <p:cNvPr id="7" name="Imagem 6">
            <a:extLst>
              <a:ext uri="{FF2B5EF4-FFF2-40B4-BE49-F238E27FC236}">
                <a16:creationId xmlns="" xmlns:a16="http://schemas.microsoft.com/office/drawing/2014/main" id="{28DE67C2-672E-4E39-8196-74941D35E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58240"/>
            <a:ext cx="7886700" cy="1866900"/>
          </a:xfrm>
          <a:prstGeom prst="rect">
            <a:avLst/>
          </a:prstGeom>
        </p:spPr>
      </p:pic>
      <p:pic>
        <p:nvPicPr>
          <p:cNvPr id="9" name="Imagem 8">
            <a:extLst>
              <a:ext uri="{FF2B5EF4-FFF2-40B4-BE49-F238E27FC236}">
                <a16:creationId xmlns="" xmlns:a16="http://schemas.microsoft.com/office/drawing/2014/main" id="{3E477927-EAFA-4850-B8A7-B07538711F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048" y="4447135"/>
            <a:ext cx="7318652" cy="1953665"/>
          </a:xfrm>
          <a:prstGeom prst="rect">
            <a:avLst/>
          </a:prstGeom>
        </p:spPr>
      </p:pic>
    </p:spTree>
    <p:extLst>
      <p:ext uri="{BB962C8B-B14F-4D97-AF65-F5344CB8AC3E}">
        <p14:creationId xmlns:p14="http://schemas.microsoft.com/office/powerpoint/2010/main" val="4648216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61D2750-D585-4FF5-9C60-2800EA74A839}"/>
              </a:ext>
            </a:extLst>
          </p:cNvPr>
          <p:cNvSpPr>
            <a:spLocks noGrp="1"/>
          </p:cNvSpPr>
          <p:nvPr>
            <p:ph type="title"/>
          </p:nvPr>
        </p:nvSpPr>
        <p:spPr/>
        <p:txBody>
          <a:bodyPr/>
          <a:lstStyle/>
          <a:p>
            <a:r>
              <a:rPr lang="pt-BR" dirty="0"/>
              <a:t>MODELO DE REFERÊNCIA</a:t>
            </a:r>
          </a:p>
        </p:txBody>
      </p:sp>
      <p:sp>
        <p:nvSpPr>
          <p:cNvPr id="3" name="Espaço Reservado para Conteúdo 2">
            <a:extLst>
              <a:ext uri="{FF2B5EF4-FFF2-40B4-BE49-F238E27FC236}">
                <a16:creationId xmlns="" xmlns:a16="http://schemas.microsoft.com/office/drawing/2014/main" id="{F1272D2E-2BA4-47C2-8F8C-E80633CCB38B}"/>
              </a:ext>
            </a:extLst>
          </p:cNvPr>
          <p:cNvSpPr>
            <a:spLocks noGrp="1"/>
          </p:cNvSpPr>
          <p:nvPr>
            <p:ph idx="1"/>
          </p:nvPr>
        </p:nvSpPr>
        <p:spPr>
          <a:xfrm>
            <a:off x="581025" y="166255"/>
            <a:ext cx="6962775" cy="5555672"/>
          </a:xfrm>
        </p:spPr>
        <p:txBody>
          <a:bodyPr/>
          <a:lstStyle/>
          <a:p>
            <a:r>
              <a:rPr lang="pt-BR" dirty="0"/>
              <a:t>1º Exemplo: VÍDEO</a:t>
            </a:r>
          </a:p>
          <a:p>
            <a:endParaRPr lang="pt-BR" dirty="0"/>
          </a:p>
          <a:p>
            <a:endParaRPr lang="pt-BR" dirty="0"/>
          </a:p>
          <a:p>
            <a:endParaRPr lang="pt-BR" dirty="0"/>
          </a:p>
          <a:p>
            <a:pPr marL="0" indent="0">
              <a:buNone/>
            </a:pPr>
            <a:r>
              <a:rPr lang="pt-BR" dirty="0"/>
              <a:t>2º Exemplo: Twitter</a:t>
            </a:r>
          </a:p>
          <a:p>
            <a:endParaRPr lang="pt-BR" dirty="0"/>
          </a:p>
          <a:p>
            <a:endParaRPr lang="pt-BR" dirty="0"/>
          </a:p>
          <a:p>
            <a:endParaRPr lang="pt-BR" dirty="0"/>
          </a:p>
          <a:p>
            <a:endParaRPr lang="pt-BR" dirty="0"/>
          </a:p>
          <a:p>
            <a:r>
              <a:rPr lang="pt-BR" dirty="0"/>
              <a:t>3º Exemplo: FACEBOOK</a:t>
            </a:r>
          </a:p>
          <a:p>
            <a:endParaRPr lang="pt-BR" dirty="0"/>
          </a:p>
        </p:txBody>
      </p:sp>
      <p:sp>
        <p:nvSpPr>
          <p:cNvPr id="4" name="Espaço Reservado para Texto 3">
            <a:extLst>
              <a:ext uri="{FF2B5EF4-FFF2-40B4-BE49-F238E27FC236}">
                <a16:creationId xmlns="" xmlns:a16="http://schemas.microsoft.com/office/drawing/2014/main" id="{94FE3D54-D864-4DA9-8088-1A144E4BF7BA}"/>
              </a:ext>
            </a:extLst>
          </p:cNvPr>
          <p:cNvSpPr>
            <a:spLocks noGrp="1"/>
          </p:cNvSpPr>
          <p:nvPr>
            <p:ph type="body" sz="half" idx="2"/>
          </p:nvPr>
        </p:nvSpPr>
        <p:spPr/>
        <p:txBody>
          <a:bodyPr/>
          <a:lstStyle/>
          <a:p>
            <a:r>
              <a:rPr lang="pt-BR" dirty="0"/>
              <a:t>MÍDIAS EM GERAL</a:t>
            </a:r>
          </a:p>
        </p:txBody>
      </p:sp>
      <p:sp>
        <p:nvSpPr>
          <p:cNvPr id="5" name="Espaço Reservado para Data 4">
            <a:extLst>
              <a:ext uri="{FF2B5EF4-FFF2-40B4-BE49-F238E27FC236}">
                <a16:creationId xmlns="" xmlns:a16="http://schemas.microsoft.com/office/drawing/2014/main" id="{D33CD50F-BE10-4E0F-92D1-F3E4D71BA5FD}"/>
              </a:ext>
            </a:extLst>
          </p:cNvPr>
          <p:cNvSpPr>
            <a:spLocks noGrp="1"/>
          </p:cNvSpPr>
          <p:nvPr>
            <p:ph type="dt" sz="half" idx="10"/>
          </p:nvPr>
        </p:nvSpPr>
        <p:spPr/>
        <p:txBody>
          <a:bodyPr/>
          <a:lstStyle/>
          <a:p>
            <a:pPr rtl="0"/>
            <a:fld id="{B01F5550-97CC-4F3B-A34B-FE39BFD06EF0}" type="datetime1">
              <a:rPr lang="pt-BR" smtClean="0"/>
              <a:t>19/07/2022</a:t>
            </a:fld>
            <a:endParaRPr lang="en-US"/>
          </a:p>
        </p:txBody>
      </p:sp>
      <p:pic>
        <p:nvPicPr>
          <p:cNvPr id="7" name="Imagem 6">
            <a:extLst>
              <a:ext uri="{FF2B5EF4-FFF2-40B4-BE49-F238E27FC236}">
                <a16:creationId xmlns="" xmlns:a16="http://schemas.microsoft.com/office/drawing/2014/main" id="{B470DF94-D295-4B52-94B5-3FBE39937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776" y="510436"/>
            <a:ext cx="6867524" cy="1482017"/>
          </a:xfrm>
          <a:prstGeom prst="rect">
            <a:avLst/>
          </a:prstGeom>
        </p:spPr>
      </p:pic>
      <p:pic>
        <p:nvPicPr>
          <p:cNvPr id="9" name="Imagem 8">
            <a:extLst>
              <a:ext uri="{FF2B5EF4-FFF2-40B4-BE49-F238E27FC236}">
                <a16:creationId xmlns="" xmlns:a16="http://schemas.microsoft.com/office/drawing/2014/main" id="{05F1B4B3-F6D4-444E-85BC-FEEEC0F41B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026" y="2270655"/>
            <a:ext cx="6867524" cy="1869545"/>
          </a:xfrm>
          <a:prstGeom prst="rect">
            <a:avLst/>
          </a:prstGeom>
        </p:spPr>
      </p:pic>
      <p:pic>
        <p:nvPicPr>
          <p:cNvPr id="11" name="Imagem 10">
            <a:extLst>
              <a:ext uri="{FF2B5EF4-FFF2-40B4-BE49-F238E27FC236}">
                <a16:creationId xmlns="" xmlns:a16="http://schemas.microsoft.com/office/drawing/2014/main" id="{7DF538B8-7536-4769-B1C5-1935194832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774" y="4438045"/>
            <a:ext cx="6962775" cy="2028940"/>
          </a:xfrm>
          <a:prstGeom prst="rect">
            <a:avLst/>
          </a:prstGeom>
        </p:spPr>
      </p:pic>
    </p:spTree>
    <p:extLst>
      <p:ext uri="{BB962C8B-B14F-4D97-AF65-F5344CB8AC3E}">
        <p14:creationId xmlns:p14="http://schemas.microsoft.com/office/powerpoint/2010/main" val="35932502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61D2750-D585-4FF5-9C60-2800EA74A839}"/>
              </a:ext>
            </a:extLst>
          </p:cNvPr>
          <p:cNvSpPr>
            <a:spLocks noGrp="1"/>
          </p:cNvSpPr>
          <p:nvPr>
            <p:ph type="title"/>
          </p:nvPr>
        </p:nvSpPr>
        <p:spPr/>
        <p:txBody>
          <a:bodyPr/>
          <a:lstStyle/>
          <a:p>
            <a:r>
              <a:rPr lang="pt-BR" dirty="0"/>
              <a:t>MODELO DE REFERÊNCIA</a:t>
            </a:r>
          </a:p>
        </p:txBody>
      </p:sp>
      <p:sp>
        <p:nvSpPr>
          <p:cNvPr id="3" name="Espaço Reservado para Conteúdo 2">
            <a:extLst>
              <a:ext uri="{FF2B5EF4-FFF2-40B4-BE49-F238E27FC236}">
                <a16:creationId xmlns="" xmlns:a16="http://schemas.microsoft.com/office/drawing/2014/main" id="{F1272D2E-2BA4-47C2-8F8C-E80633CCB38B}"/>
              </a:ext>
            </a:extLst>
          </p:cNvPr>
          <p:cNvSpPr>
            <a:spLocks noGrp="1"/>
          </p:cNvSpPr>
          <p:nvPr>
            <p:ph idx="1"/>
          </p:nvPr>
        </p:nvSpPr>
        <p:spPr>
          <a:xfrm>
            <a:off x="581025" y="166255"/>
            <a:ext cx="6962775" cy="5555672"/>
          </a:xfrm>
        </p:spPr>
        <p:txBody>
          <a:bodyPr>
            <a:normAutofit fontScale="92500" lnSpcReduction="20000"/>
          </a:bodyPr>
          <a:lstStyle/>
          <a:p>
            <a:endParaRPr lang="pt-BR" dirty="0"/>
          </a:p>
          <a:p>
            <a:endParaRPr lang="pt-BR" dirty="0"/>
          </a:p>
          <a:p>
            <a:pPr marL="0" indent="0">
              <a:buNone/>
            </a:pPr>
            <a:r>
              <a:rPr lang="pt-BR" dirty="0"/>
              <a:t>4º Exemplo: WIKIPÉDIA</a:t>
            </a:r>
          </a:p>
          <a:p>
            <a:endParaRPr lang="pt-BR" dirty="0"/>
          </a:p>
          <a:p>
            <a:endParaRPr lang="pt-BR" dirty="0"/>
          </a:p>
          <a:p>
            <a:endParaRPr lang="pt-BR" dirty="0"/>
          </a:p>
          <a:p>
            <a:pPr marL="0" indent="0">
              <a:buNone/>
            </a:pPr>
            <a:endParaRPr lang="pt-BR" dirty="0"/>
          </a:p>
          <a:p>
            <a:pPr marL="0" indent="0">
              <a:buNone/>
            </a:pPr>
            <a:endParaRPr lang="pt-BR" dirty="0"/>
          </a:p>
          <a:p>
            <a:pPr marL="0" indent="0">
              <a:buNone/>
            </a:pPr>
            <a:endParaRPr lang="pt-BR" dirty="0"/>
          </a:p>
          <a:p>
            <a:pPr marL="0" indent="0">
              <a:buNone/>
            </a:pPr>
            <a:r>
              <a:rPr lang="pt-BR" dirty="0"/>
              <a:t>5º Exemplo: BLOGS</a:t>
            </a:r>
          </a:p>
          <a:p>
            <a:endParaRPr lang="pt-BR" dirty="0"/>
          </a:p>
          <a:p>
            <a:endParaRPr lang="pt-BR" dirty="0"/>
          </a:p>
          <a:p>
            <a:endParaRPr lang="pt-BR" dirty="0"/>
          </a:p>
          <a:p>
            <a:endParaRPr lang="pt-BR" dirty="0"/>
          </a:p>
          <a:p>
            <a:r>
              <a:rPr lang="pt-BR" dirty="0"/>
              <a:t>4º Exemplo: FACEBOOK</a:t>
            </a:r>
          </a:p>
          <a:p>
            <a:endParaRPr lang="pt-BR" dirty="0"/>
          </a:p>
        </p:txBody>
      </p:sp>
      <p:sp>
        <p:nvSpPr>
          <p:cNvPr id="4" name="Espaço Reservado para Texto 3">
            <a:extLst>
              <a:ext uri="{FF2B5EF4-FFF2-40B4-BE49-F238E27FC236}">
                <a16:creationId xmlns="" xmlns:a16="http://schemas.microsoft.com/office/drawing/2014/main" id="{94FE3D54-D864-4DA9-8088-1A144E4BF7BA}"/>
              </a:ext>
            </a:extLst>
          </p:cNvPr>
          <p:cNvSpPr>
            <a:spLocks noGrp="1"/>
          </p:cNvSpPr>
          <p:nvPr>
            <p:ph type="body" sz="half" idx="2"/>
          </p:nvPr>
        </p:nvSpPr>
        <p:spPr/>
        <p:txBody>
          <a:bodyPr/>
          <a:lstStyle/>
          <a:p>
            <a:r>
              <a:rPr lang="pt-BR" dirty="0"/>
              <a:t>MÍDIAS EM GERAL</a:t>
            </a:r>
          </a:p>
        </p:txBody>
      </p:sp>
      <p:sp>
        <p:nvSpPr>
          <p:cNvPr id="5" name="Espaço Reservado para Data 4">
            <a:extLst>
              <a:ext uri="{FF2B5EF4-FFF2-40B4-BE49-F238E27FC236}">
                <a16:creationId xmlns="" xmlns:a16="http://schemas.microsoft.com/office/drawing/2014/main" id="{D33CD50F-BE10-4E0F-92D1-F3E4D71BA5FD}"/>
              </a:ext>
            </a:extLst>
          </p:cNvPr>
          <p:cNvSpPr>
            <a:spLocks noGrp="1"/>
          </p:cNvSpPr>
          <p:nvPr>
            <p:ph type="dt" sz="half" idx="10"/>
          </p:nvPr>
        </p:nvSpPr>
        <p:spPr/>
        <p:txBody>
          <a:bodyPr/>
          <a:lstStyle/>
          <a:p>
            <a:pPr rtl="0"/>
            <a:fld id="{B01F5550-97CC-4F3B-A34B-FE39BFD06EF0}" type="datetime1">
              <a:rPr lang="pt-BR" smtClean="0"/>
              <a:t>19/07/2022</a:t>
            </a:fld>
            <a:endParaRPr lang="en-US"/>
          </a:p>
        </p:txBody>
      </p:sp>
      <p:pic>
        <p:nvPicPr>
          <p:cNvPr id="7" name="Imagem 6">
            <a:extLst>
              <a:ext uri="{FF2B5EF4-FFF2-40B4-BE49-F238E27FC236}">
                <a16:creationId xmlns="" xmlns:a16="http://schemas.microsoft.com/office/drawing/2014/main" id="{B470DF94-D295-4B52-94B5-3FBE399370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3397" y="1430352"/>
            <a:ext cx="6867525" cy="1826364"/>
          </a:xfrm>
          <a:prstGeom prst="rect">
            <a:avLst/>
          </a:prstGeom>
        </p:spPr>
      </p:pic>
      <p:pic>
        <p:nvPicPr>
          <p:cNvPr id="8" name="Imagem 7">
            <a:extLst>
              <a:ext uri="{FF2B5EF4-FFF2-40B4-BE49-F238E27FC236}">
                <a16:creationId xmlns="" xmlns:a16="http://schemas.microsoft.com/office/drawing/2014/main" id="{7CAF0122-7DC0-4A75-AEE9-803E0392E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633" y="3970020"/>
            <a:ext cx="7124700" cy="2667000"/>
          </a:xfrm>
          <a:prstGeom prst="rect">
            <a:avLst/>
          </a:prstGeom>
        </p:spPr>
      </p:pic>
    </p:spTree>
    <p:extLst>
      <p:ext uri="{BB962C8B-B14F-4D97-AF65-F5344CB8AC3E}">
        <p14:creationId xmlns:p14="http://schemas.microsoft.com/office/powerpoint/2010/main" val="41711843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935E3D0-72D7-474E-A303-0B5CB3010E62}"/>
              </a:ext>
            </a:extLst>
          </p:cNvPr>
          <p:cNvSpPr>
            <a:spLocks noGrp="1"/>
          </p:cNvSpPr>
          <p:nvPr>
            <p:ph type="title"/>
          </p:nvPr>
        </p:nvSpPr>
        <p:spPr/>
        <p:txBody>
          <a:bodyPr/>
          <a:lstStyle/>
          <a:p>
            <a:r>
              <a:rPr lang="pt-BR" dirty="0"/>
              <a:t>MODELO DE REFERÊNCIA</a:t>
            </a:r>
          </a:p>
        </p:txBody>
      </p:sp>
      <p:sp>
        <p:nvSpPr>
          <p:cNvPr id="3" name="Espaço Reservado para Conteúdo 2">
            <a:extLst>
              <a:ext uri="{FF2B5EF4-FFF2-40B4-BE49-F238E27FC236}">
                <a16:creationId xmlns="" xmlns:a16="http://schemas.microsoft.com/office/drawing/2014/main" id="{86ECC6FB-1EED-4658-9D38-F0926457529F}"/>
              </a:ext>
            </a:extLst>
          </p:cNvPr>
          <p:cNvSpPr>
            <a:spLocks noGrp="1"/>
          </p:cNvSpPr>
          <p:nvPr>
            <p:ph idx="1"/>
          </p:nvPr>
        </p:nvSpPr>
        <p:spPr>
          <a:xfrm>
            <a:off x="685799" y="457200"/>
            <a:ext cx="7252855" cy="5486400"/>
          </a:xfrm>
        </p:spPr>
        <p:txBody>
          <a:bodyPr>
            <a:normAutofit/>
          </a:bodyPr>
          <a:lstStyle/>
          <a:p>
            <a:r>
              <a:rPr lang="pt-BR" dirty="0"/>
              <a:t>6º EXEMPLO: PODCAST</a:t>
            </a:r>
          </a:p>
          <a:p>
            <a:endParaRPr lang="pt-BR" dirty="0"/>
          </a:p>
          <a:p>
            <a:endParaRPr lang="pt-BR" dirty="0"/>
          </a:p>
          <a:p>
            <a:endParaRPr lang="pt-BR" dirty="0"/>
          </a:p>
          <a:p>
            <a:endParaRPr lang="pt-BR" dirty="0"/>
          </a:p>
          <a:p>
            <a:endParaRPr lang="pt-BR" dirty="0"/>
          </a:p>
          <a:p>
            <a:pPr marL="0" indent="0">
              <a:buNone/>
            </a:pPr>
            <a:endParaRPr lang="pt-BR" dirty="0"/>
          </a:p>
          <a:p>
            <a:pPr marL="0" indent="0">
              <a:buNone/>
            </a:pPr>
            <a:endParaRPr lang="pt-BR" dirty="0"/>
          </a:p>
          <a:p>
            <a:r>
              <a:rPr lang="pt-BR" dirty="0"/>
              <a:t>7º EXEMPLO: PÁGINA DE INTERNET</a:t>
            </a:r>
          </a:p>
          <a:p>
            <a:endParaRPr lang="pt-BR" dirty="0"/>
          </a:p>
        </p:txBody>
      </p:sp>
      <p:sp>
        <p:nvSpPr>
          <p:cNvPr id="4" name="Espaço Reservado para Texto 3">
            <a:extLst>
              <a:ext uri="{FF2B5EF4-FFF2-40B4-BE49-F238E27FC236}">
                <a16:creationId xmlns="" xmlns:a16="http://schemas.microsoft.com/office/drawing/2014/main" id="{EE49C7C0-4597-4BD1-952C-033D2372001B}"/>
              </a:ext>
            </a:extLst>
          </p:cNvPr>
          <p:cNvSpPr>
            <a:spLocks noGrp="1"/>
          </p:cNvSpPr>
          <p:nvPr>
            <p:ph type="body" sz="half" idx="2"/>
          </p:nvPr>
        </p:nvSpPr>
        <p:spPr/>
        <p:txBody>
          <a:bodyPr/>
          <a:lstStyle/>
          <a:p>
            <a:r>
              <a:rPr lang="pt-BR" dirty="0"/>
              <a:t>MÍDIAS EM GERAL</a:t>
            </a:r>
          </a:p>
        </p:txBody>
      </p:sp>
      <p:sp>
        <p:nvSpPr>
          <p:cNvPr id="5" name="Espaço Reservado para Data 4">
            <a:extLst>
              <a:ext uri="{FF2B5EF4-FFF2-40B4-BE49-F238E27FC236}">
                <a16:creationId xmlns="" xmlns:a16="http://schemas.microsoft.com/office/drawing/2014/main" id="{B7885FBA-2F4C-4630-BDD4-4465343C5DDE}"/>
              </a:ext>
            </a:extLst>
          </p:cNvPr>
          <p:cNvSpPr>
            <a:spLocks noGrp="1"/>
          </p:cNvSpPr>
          <p:nvPr>
            <p:ph type="dt" sz="half" idx="10"/>
          </p:nvPr>
        </p:nvSpPr>
        <p:spPr/>
        <p:txBody>
          <a:bodyPr/>
          <a:lstStyle/>
          <a:p>
            <a:pPr rtl="0"/>
            <a:fld id="{B01F5550-97CC-4F3B-A34B-FE39BFD06EF0}" type="datetime1">
              <a:rPr lang="pt-BR" smtClean="0"/>
              <a:t>19/07/2022</a:t>
            </a:fld>
            <a:endParaRPr lang="en-US"/>
          </a:p>
        </p:txBody>
      </p:sp>
      <p:pic>
        <p:nvPicPr>
          <p:cNvPr id="13" name="Imagem 12">
            <a:extLst>
              <a:ext uri="{FF2B5EF4-FFF2-40B4-BE49-F238E27FC236}">
                <a16:creationId xmlns="" xmlns:a16="http://schemas.microsoft.com/office/drawing/2014/main" id="{2727CDE9-57B0-4D3A-BF96-4696BB48B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9" y="1163782"/>
            <a:ext cx="7019925" cy="2609850"/>
          </a:xfrm>
          <a:prstGeom prst="rect">
            <a:avLst/>
          </a:prstGeom>
        </p:spPr>
      </p:pic>
      <p:pic>
        <p:nvPicPr>
          <p:cNvPr id="15" name="Imagem 14">
            <a:extLst>
              <a:ext uri="{FF2B5EF4-FFF2-40B4-BE49-F238E27FC236}">
                <a16:creationId xmlns="" xmlns:a16="http://schemas.microsoft.com/office/drawing/2014/main" id="{A879E5DA-6972-404E-B72F-B161C53E2A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025" y="4524029"/>
            <a:ext cx="6962775" cy="1314450"/>
          </a:xfrm>
          <a:prstGeom prst="rect">
            <a:avLst/>
          </a:prstGeom>
        </p:spPr>
      </p:pic>
    </p:spTree>
    <p:extLst>
      <p:ext uri="{BB962C8B-B14F-4D97-AF65-F5344CB8AC3E}">
        <p14:creationId xmlns:p14="http://schemas.microsoft.com/office/powerpoint/2010/main" val="7878243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68A0F73-F71D-4EA5-BECD-D63D7E231B2C}"/>
              </a:ext>
            </a:extLst>
          </p:cNvPr>
          <p:cNvSpPr>
            <a:spLocks noGrp="1"/>
          </p:cNvSpPr>
          <p:nvPr>
            <p:ph type="ctrTitle"/>
          </p:nvPr>
        </p:nvSpPr>
        <p:spPr/>
        <p:txBody>
          <a:bodyPr/>
          <a:lstStyle/>
          <a:p>
            <a:r>
              <a:rPr lang="pt-BR" dirty="0"/>
              <a:t>resumo</a:t>
            </a:r>
          </a:p>
        </p:txBody>
      </p:sp>
      <p:sp>
        <p:nvSpPr>
          <p:cNvPr id="3" name="Subtítulo 2">
            <a:extLst>
              <a:ext uri="{FF2B5EF4-FFF2-40B4-BE49-F238E27FC236}">
                <a16:creationId xmlns="" xmlns:a16="http://schemas.microsoft.com/office/drawing/2014/main" id="{27307B68-94F8-4960-A1BB-F53555988285}"/>
              </a:ext>
            </a:extLst>
          </p:cNvPr>
          <p:cNvSpPr>
            <a:spLocks noGrp="1"/>
          </p:cNvSpPr>
          <p:nvPr>
            <p:ph type="subTitle" idx="1"/>
          </p:nvPr>
        </p:nvSpPr>
        <p:spPr/>
        <p:txBody>
          <a:bodyPr/>
          <a:lstStyle/>
          <a:p>
            <a:r>
              <a:rPr lang="pt-BR" dirty="0"/>
              <a:t>NBR 6028/2003</a:t>
            </a:r>
          </a:p>
        </p:txBody>
      </p:sp>
      <p:sp>
        <p:nvSpPr>
          <p:cNvPr id="4" name="Espaço Reservado para Data 3">
            <a:extLst>
              <a:ext uri="{FF2B5EF4-FFF2-40B4-BE49-F238E27FC236}">
                <a16:creationId xmlns="" xmlns:a16="http://schemas.microsoft.com/office/drawing/2014/main" id="{121071D3-F7BC-404C-B295-8B7712566867}"/>
              </a:ext>
            </a:extLst>
          </p:cNvPr>
          <p:cNvSpPr>
            <a:spLocks noGrp="1"/>
          </p:cNvSpPr>
          <p:nvPr>
            <p:ph type="dt" sz="half" idx="10"/>
          </p:nvPr>
        </p:nvSpPr>
        <p:spPr/>
        <p:txBody>
          <a:bodyPr/>
          <a:lstStyle/>
          <a:p>
            <a:pPr rtl="0"/>
            <a:fld id="{2F3AF6F7-5911-45C3-BE0F-7F38FEFE43FA}" type="datetime1">
              <a:rPr lang="pt-BR" smtClean="0"/>
              <a:t>19/07/2022</a:t>
            </a:fld>
            <a:endParaRPr lang="en-US" dirty="0"/>
          </a:p>
        </p:txBody>
      </p:sp>
    </p:spTree>
    <p:extLst>
      <p:ext uri="{BB962C8B-B14F-4D97-AF65-F5344CB8AC3E}">
        <p14:creationId xmlns:p14="http://schemas.microsoft.com/office/powerpoint/2010/main" val="1398537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7">
            <a:extLst>
              <a:ext uri="{FF2B5EF4-FFF2-40B4-BE49-F238E27FC236}">
                <a16:creationId xmlns="" xmlns:a16="http://schemas.microsoft.com/office/drawing/2014/main" id="{54C98489-5022-45A8-9903-9F787BB0BF97}"/>
              </a:ext>
            </a:extLst>
          </p:cNvPr>
          <p:cNvSpPr>
            <a:spLocks noGrp="1"/>
          </p:cNvSpPr>
          <p:nvPr>
            <p:ph type="title"/>
          </p:nvPr>
        </p:nvSpPr>
        <p:spPr/>
        <p:txBody>
          <a:bodyPr/>
          <a:lstStyle/>
          <a:p>
            <a:r>
              <a:rPr lang="pt-BR" dirty="0"/>
              <a:t>RESUMO</a:t>
            </a:r>
          </a:p>
        </p:txBody>
      </p:sp>
      <p:sp>
        <p:nvSpPr>
          <p:cNvPr id="9" name="Espaço Reservado para Conteúdo 8">
            <a:extLst>
              <a:ext uri="{FF2B5EF4-FFF2-40B4-BE49-F238E27FC236}">
                <a16:creationId xmlns="" xmlns:a16="http://schemas.microsoft.com/office/drawing/2014/main" id="{CA6AFAD2-8A98-4414-894C-CEF2A15004E0}"/>
              </a:ext>
            </a:extLst>
          </p:cNvPr>
          <p:cNvSpPr>
            <a:spLocks noGrp="1"/>
          </p:cNvSpPr>
          <p:nvPr>
            <p:ph idx="1"/>
          </p:nvPr>
        </p:nvSpPr>
        <p:spPr/>
        <p:txBody>
          <a:bodyPr>
            <a:normAutofit fontScale="92500"/>
          </a:bodyPr>
          <a:lstStyle/>
          <a:p>
            <a:pPr algn="just"/>
            <a:r>
              <a:rPr lang="pt-BR" dirty="0"/>
              <a:t>A norma NBR 6028 , da Associação Brasileira de Normas Técnicas, define resumo como “ apresentação concisa dos pontos relevantes de um texto”.</a:t>
            </a:r>
          </a:p>
          <a:p>
            <a:pPr algn="just"/>
            <a:r>
              <a:rPr lang="pt-BR" dirty="0"/>
              <a:t>Silva </a:t>
            </a:r>
            <a:r>
              <a:rPr lang="pt-BR" i="1" dirty="0"/>
              <a:t>(apud </a:t>
            </a:r>
            <a:r>
              <a:rPr lang="pt-BR" dirty="0"/>
              <a:t>MEDEIROS</a:t>
            </a:r>
            <a:r>
              <a:rPr lang="pt-BR" i="1" dirty="0"/>
              <a:t>, </a:t>
            </a:r>
            <a:r>
              <a:rPr lang="pt-BR" dirty="0"/>
              <a:t>2017 p. 60) define resumo como “ apresentação sintética e seletiva das </a:t>
            </a:r>
            <a:r>
              <a:rPr lang="pt-BR" dirty="0" err="1"/>
              <a:t>idéias</a:t>
            </a:r>
            <a:r>
              <a:rPr lang="pt-BR" dirty="0"/>
              <a:t> (</a:t>
            </a:r>
            <a:r>
              <a:rPr lang="pt-BR" i="1" dirty="0"/>
              <a:t>sic</a:t>
            </a:r>
            <a:r>
              <a:rPr lang="pt-BR" dirty="0"/>
              <a:t>) de um texto, ressaltando a progressão e a articulação delas. Nele devem aparecer as principais </a:t>
            </a:r>
            <a:r>
              <a:rPr lang="pt-BR" dirty="0" err="1"/>
              <a:t>idéias</a:t>
            </a:r>
            <a:r>
              <a:rPr lang="pt-BR" dirty="0"/>
              <a:t> </a:t>
            </a:r>
            <a:r>
              <a:rPr lang="pt-BR" i="1" dirty="0"/>
              <a:t>(sic)</a:t>
            </a:r>
            <a:r>
              <a:rPr lang="pt-BR" dirty="0"/>
              <a:t> do autor do texto.”</a:t>
            </a:r>
          </a:p>
          <a:p>
            <a:pPr algn="just"/>
            <a:r>
              <a:rPr lang="pt-BR" dirty="0"/>
              <a:t>Na elaboração do resumo, quatro pontos devem ser destacados no conteúdo do texto: </a:t>
            </a:r>
          </a:p>
          <a:p>
            <a:pPr marL="457200" indent="-457200" algn="just">
              <a:buAutoNum type="arabicPeriod"/>
            </a:pPr>
            <a:r>
              <a:rPr lang="pt-BR" dirty="0"/>
              <a:t>Assunto;</a:t>
            </a:r>
          </a:p>
          <a:p>
            <a:pPr marL="457200" indent="-457200" algn="just">
              <a:buAutoNum type="arabicPeriod"/>
            </a:pPr>
            <a:r>
              <a:rPr lang="pt-BR" dirty="0"/>
              <a:t>2. Objetivo do texto; </a:t>
            </a:r>
          </a:p>
          <a:p>
            <a:pPr marL="457200" indent="-457200" algn="just">
              <a:buAutoNum type="arabicPeriod"/>
            </a:pPr>
            <a:r>
              <a:rPr lang="pt-BR" dirty="0"/>
              <a:t> Articulação das ideias (Método e Análise dos resultados) e; </a:t>
            </a:r>
          </a:p>
          <a:p>
            <a:pPr marL="457200" indent="-457200" algn="just">
              <a:buAutoNum type="arabicPeriod"/>
            </a:pPr>
            <a:r>
              <a:rPr lang="pt-BR" dirty="0"/>
              <a:t> As conclusões do autor do texto.</a:t>
            </a:r>
          </a:p>
        </p:txBody>
      </p:sp>
      <p:sp>
        <p:nvSpPr>
          <p:cNvPr id="10" name="Espaço Reservado para Texto 9">
            <a:extLst>
              <a:ext uri="{FF2B5EF4-FFF2-40B4-BE49-F238E27FC236}">
                <a16:creationId xmlns="" xmlns:a16="http://schemas.microsoft.com/office/drawing/2014/main" id="{254317BA-40AC-4504-8ABA-508F355B2C88}"/>
              </a:ext>
            </a:extLst>
          </p:cNvPr>
          <p:cNvSpPr>
            <a:spLocks noGrp="1"/>
          </p:cNvSpPr>
          <p:nvPr>
            <p:ph type="body" sz="half" idx="2"/>
          </p:nvPr>
        </p:nvSpPr>
        <p:spPr/>
        <p:txBody>
          <a:bodyPr/>
          <a:lstStyle/>
          <a:p>
            <a:r>
              <a:rPr lang="pt-BR" dirty="0"/>
              <a:t>DEFINIÇÃO</a:t>
            </a:r>
          </a:p>
        </p:txBody>
      </p:sp>
      <p:sp>
        <p:nvSpPr>
          <p:cNvPr id="3" name="Espaço Reservado para Data 2">
            <a:extLst>
              <a:ext uri="{FF2B5EF4-FFF2-40B4-BE49-F238E27FC236}">
                <a16:creationId xmlns="" xmlns:a16="http://schemas.microsoft.com/office/drawing/2014/main" id="{A0BE57DE-897B-4FF4-B5E6-24CC0DA922DB}"/>
              </a:ext>
            </a:extLst>
          </p:cNvPr>
          <p:cNvSpPr>
            <a:spLocks noGrp="1"/>
          </p:cNvSpPr>
          <p:nvPr>
            <p:ph type="dt" sz="half" idx="10"/>
          </p:nvPr>
        </p:nvSpPr>
        <p:spPr/>
        <p:txBody>
          <a:bodyPr/>
          <a:lstStyle/>
          <a:p>
            <a:pPr rtl="0"/>
            <a:fld id="{7975B8C2-382E-4F5E-B0CE-7E0EEF75E017}" type="datetime1">
              <a:rPr lang="pt-BR" smtClean="0"/>
              <a:t>19/07/2022</a:t>
            </a:fld>
            <a:endParaRPr lang="en-US" dirty="0"/>
          </a:p>
        </p:txBody>
      </p:sp>
    </p:spTree>
    <p:extLst>
      <p:ext uri="{BB962C8B-B14F-4D97-AF65-F5344CB8AC3E}">
        <p14:creationId xmlns:p14="http://schemas.microsoft.com/office/powerpoint/2010/main" val="27344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9581834-1D91-472A-8B9D-07BF89C72EDF}"/>
              </a:ext>
            </a:extLst>
          </p:cNvPr>
          <p:cNvSpPr>
            <a:spLocks noGrp="1"/>
          </p:cNvSpPr>
          <p:nvPr>
            <p:ph type="title"/>
          </p:nvPr>
        </p:nvSpPr>
        <p:spPr/>
        <p:txBody>
          <a:bodyPr/>
          <a:lstStyle/>
          <a:p>
            <a:r>
              <a:rPr lang="pt-BR" dirty="0"/>
              <a:t>RESUMO</a:t>
            </a:r>
          </a:p>
        </p:txBody>
      </p:sp>
      <p:sp>
        <p:nvSpPr>
          <p:cNvPr id="3" name="Espaço Reservado para Conteúdo 2">
            <a:extLst>
              <a:ext uri="{FF2B5EF4-FFF2-40B4-BE49-F238E27FC236}">
                <a16:creationId xmlns="" xmlns:a16="http://schemas.microsoft.com/office/drawing/2014/main" id="{398C6C0F-64AE-4D41-B61B-0CAAEE179DE4}"/>
              </a:ext>
            </a:extLst>
          </p:cNvPr>
          <p:cNvSpPr>
            <a:spLocks noGrp="1"/>
          </p:cNvSpPr>
          <p:nvPr>
            <p:ph idx="1"/>
          </p:nvPr>
        </p:nvSpPr>
        <p:spPr/>
        <p:txBody>
          <a:bodyPr/>
          <a:lstStyle/>
          <a:p>
            <a:r>
              <a:rPr lang="pt-BR" dirty="0"/>
              <a:t>Segundo a NBR 6028, deve-se evitar no resumo: </a:t>
            </a:r>
          </a:p>
          <a:p>
            <a:pPr marL="0" indent="0">
              <a:buNone/>
            </a:pPr>
            <a:r>
              <a:rPr lang="pt-BR" dirty="0"/>
              <a:t>• O uso de parágrafos; </a:t>
            </a:r>
          </a:p>
          <a:p>
            <a:pPr marL="0" indent="0">
              <a:buNone/>
            </a:pPr>
            <a:r>
              <a:rPr lang="pt-BR" dirty="0"/>
              <a:t>• Frases longas; </a:t>
            </a:r>
          </a:p>
          <a:p>
            <a:pPr marL="0" indent="0">
              <a:buNone/>
            </a:pPr>
            <a:r>
              <a:rPr lang="pt-BR" dirty="0"/>
              <a:t>• Citações e descrições ou explicações detalhadas; </a:t>
            </a:r>
          </a:p>
          <a:p>
            <a:pPr marL="0" indent="0">
              <a:buNone/>
            </a:pPr>
            <a:r>
              <a:rPr lang="pt-BR" dirty="0"/>
              <a:t>• Expressões do tipo: o “autor trata”, no “texto do autor” o “artigo trata” e similares; </a:t>
            </a:r>
          </a:p>
          <a:p>
            <a:pPr marL="0" indent="0">
              <a:buNone/>
            </a:pPr>
            <a:r>
              <a:rPr lang="pt-BR" dirty="0"/>
              <a:t>• Figuras, tabelas, gráficos, fórmulas, equações e diagramas. </a:t>
            </a:r>
          </a:p>
        </p:txBody>
      </p:sp>
      <p:sp>
        <p:nvSpPr>
          <p:cNvPr id="4" name="Espaço Reservado para Texto 3">
            <a:extLst>
              <a:ext uri="{FF2B5EF4-FFF2-40B4-BE49-F238E27FC236}">
                <a16:creationId xmlns="" xmlns:a16="http://schemas.microsoft.com/office/drawing/2014/main" id="{B9A42CAC-3732-4ADB-8485-2BC69BE6C90A}"/>
              </a:ext>
            </a:extLst>
          </p:cNvPr>
          <p:cNvSpPr>
            <a:spLocks noGrp="1"/>
          </p:cNvSpPr>
          <p:nvPr>
            <p:ph type="body" sz="half" idx="2"/>
          </p:nvPr>
        </p:nvSpPr>
        <p:spPr/>
        <p:txBody>
          <a:bodyPr/>
          <a:lstStyle/>
          <a:p>
            <a:r>
              <a:rPr lang="pt-BR" dirty="0"/>
              <a:t>O QUE SE DEVE EVITAR</a:t>
            </a:r>
          </a:p>
        </p:txBody>
      </p:sp>
      <p:sp>
        <p:nvSpPr>
          <p:cNvPr id="5" name="Espaço Reservado para Data 4">
            <a:extLst>
              <a:ext uri="{FF2B5EF4-FFF2-40B4-BE49-F238E27FC236}">
                <a16:creationId xmlns="" xmlns:a16="http://schemas.microsoft.com/office/drawing/2014/main" id="{FCD46963-7DBA-45BE-B8B8-6134508ED737}"/>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42909038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441091F-6506-49FB-8B27-B231A34BB08A}"/>
              </a:ext>
            </a:extLst>
          </p:cNvPr>
          <p:cNvSpPr>
            <a:spLocks noGrp="1"/>
          </p:cNvSpPr>
          <p:nvPr>
            <p:ph type="title"/>
          </p:nvPr>
        </p:nvSpPr>
        <p:spPr/>
        <p:txBody>
          <a:bodyPr/>
          <a:lstStyle/>
          <a:p>
            <a:r>
              <a:rPr lang="pt-BR" dirty="0"/>
              <a:t>RESUMO</a:t>
            </a:r>
          </a:p>
        </p:txBody>
      </p:sp>
      <p:sp>
        <p:nvSpPr>
          <p:cNvPr id="3" name="Espaço Reservado para Conteúdo 2">
            <a:extLst>
              <a:ext uri="{FF2B5EF4-FFF2-40B4-BE49-F238E27FC236}">
                <a16:creationId xmlns="" xmlns:a16="http://schemas.microsoft.com/office/drawing/2014/main" id="{47554F0E-1BD0-4C32-B5C7-D046E75BDE4F}"/>
              </a:ext>
            </a:extLst>
          </p:cNvPr>
          <p:cNvSpPr>
            <a:spLocks noGrp="1"/>
          </p:cNvSpPr>
          <p:nvPr>
            <p:ph idx="1"/>
          </p:nvPr>
        </p:nvSpPr>
        <p:spPr/>
        <p:txBody>
          <a:bodyPr>
            <a:normAutofit fontScale="85000" lnSpcReduction="20000"/>
          </a:bodyPr>
          <a:lstStyle/>
          <a:p>
            <a:pPr marL="0" indent="0">
              <a:buNone/>
            </a:pPr>
            <a:r>
              <a:rPr lang="pt-BR" dirty="0"/>
              <a:t>No momento de elaboração de um Resumo deve ser observado os seguintes itens:</a:t>
            </a:r>
          </a:p>
          <a:p>
            <a:pPr marL="0" indent="0">
              <a:buNone/>
            </a:pPr>
            <a:endParaRPr lang="pt-BR" dirty="0"/>
          </a:p>
          <a:p>
            <a:pPr marL="0" indent="0">
              <a:buNone/>
            </a:pPr>
            <a:r>
              <a:rPr lang="pt-BR" dirty="0"/>
              <a:t> • Ficha Bibliográfica do texto: autor, título da obra, local, editora, ano, páginas </a:t>
            </a:r>
          </a:p>
          <a:p>
            <a:pPr marL="0" indent="0">
              <a:buNone/>
            </a:pPr>
            <a:r>
              <a:rPr lang="pt-BR" dirty="0"/>
              <a:t>• Tipologia do texto se literário, jornalístico, didático, acadêmico, </a:t>
            </a:r>
            <a:r>
              <a:rPr lang="pt-BR" dirty="0" err="1"/>
              <a:t>etc</a:t>
            </a:r>
            <a:r>
              <a:rPr lang="pt-BR" dirty="0"/>
              <a:t>). </a:t>
            </a:r>
          </a:p>
          <a:p>
            <a:pPr marL="0" indent="0">
              <a:buNone/>
            </a:pPr>
            <a:r>
              <a:rPr lang="pt-BR" dirty="0"/>
              <a:t>• Resumo do conteúdo observando o assunto, objetivo, método, conclusões do autor. </a:t>
            </a:r>
          </a:p>
          <a:p>
            <a:pPr marL="0" indent="0">
              <a:buNone/>
            </a:pPr>
            <a:r>
              <a:rPr lang="pt-BR" dirty="0"/>
              <a:t>• Ao redigir o resumo, use frases curtas e diretas. Evite referências extensas. </a:t>
            </a:r>
          </a:p>
          <a:p>
            <a:pPr marL="0" indent="0">
              <a:buNone/>
            </a:pPr>
            <a:r>
              <a:rPr lang="pt-BR" dirty="0"/>
              <a:t>• Apontar as ideias mais importantes.</a:t>
            </a:r>
          </a:p>
          <a:p>
            <a:pPr marL="0" indent="0">
              <a:buNone/>
            </a:pPr>
            <a:endParaRPr lang="pt-BR" dirty="0"/>
          </a:p>
          <a:p>
            <a:pPr marL="0" indent="0" algn="just">
              <a:buNone/>
            </a:pPr>
            <a:r>
              <a:rPr lang="pt-BR" dirty="0"/>
              <a:t>“O resumo deve ressaltar o objetivo, o método, os resultados e as conclusões do documento. A ordem e a extensão destes itens dependem do tipo de resumo (informativo ou indicativo) e do tratamento que cada item recebe no documento original.” (NBR 6028, 2013)</a:t>
            </a:r>
          </a:p>
        </p:txBody>
      </p:sp>
      <p:sp>
        <p:nvSpPr>
          <p:cNvPr id="4" name="Espaço Reservado para Texto 3">
            <a:extLst>
              <a:ext uri="{FF2B5EF4-FFF2-40B4-BE49-F238E27FC236}">
                <a16:creationId xmlns="" xmlns:a16="http://schemas.microsoft.com/office/drawing/2014/main" id="{FA00B8DF-5EE3-476F-882F-D925409A1AB2}"/>
              </a:ext>
            </a:extLst>
          </p:cNvPr>
          <p:cNvSpPr>
            <a:spLocks noGrp="1"/>
          </p:cNvSpPr>
          <p:nvPr>
            <p:ph type="body" sz="half" idx="2"/>
          </p:nvPr>
        </p:nvSpPr>
        <p:spPr/>
        <p:txBody>
          <a:bodyPr/>
          <a:lstStyle/>
          <a:p>
            <a:r>
              <a:rPr lang="pt-BR" dirty="0"/>
              <a:t>ELEMENTOS</a:t>
            </a:r>
          </a:p>
        </p:txBody>
      </p:sp>
      <p:sp>
        <p:nvSpPr>
          <p:cNvPr id="5" name="Espaço Reservado para Data 4">
            <a:extLst>
              <a:ext uri="{FF2B5EF4-FFF2-40B4-BE49-F238E27FC236}">
                <a16:creationId xmlns="" xmlns:a16="http://schemas.microsoft.com/office/drawing/2014/main" id="{60F4751A-1437-49B9-8992-F48CA646F2EB}"/>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38109154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28A79EB-0375-41A1-8DC8-BD5BFE60B530}"/>
              </a:ext>
            </a:extLst>
          </p:cNvPr>
          <p:cNvSpPr>
            <a:spLocks noGrp="1"/>
          </p:cNvSpPr>
          <p:nvPr>
            <p:ph type="title"/>
          </p:nvPr>
        </p:nvSpPr>
        <p:spPr/>
        <p:txBody>
          <a:bodyPr/>
          <a:lstStyle/>
          <a:p>
            <a:r>
              <a:rPr lang="pt-BR" dirty="0"/>
              <a:t>RESUMO</a:t>
            </a:r>
          </a:p>
        </p:txBody>
      </p:sp>
      <p:sp>
        <p:nvSpPr>
          <p:cNvPr id="3" name="Espaço Reservado para Conteúdo 2">
            <a:extLst>
              <a:ext uri="{FF2B5EF4-FFF2-40B4-BE49-F238E27FC236}">
                <a16:creationId xmlns="" xmlns:a16="http://schemas.microsoft.com/office/drawing/2014/main" id="{BD3B9E8C-4941-44C6-841C-6A2EA356E2C5}"/>
              </a:ext>
            </a:extLst>
          </p:cNvPr>
          <p:cNvSpPr>
            <a:spLocks noGrp="1"/>
          </p:cNvSpPr>
          <p:nvPr>
            <p:ph idx="1"/>
          </p:nvPr>
        </p:nvSpPr>
        <p:spPr/>
        <p:txBody>
          <a:bodyPr/>
          <a:lstStyle/>
          <a:p>
            <a:r>
              <a:rPr lang="pt-BR" b="1" dirty="0"/>
              <a:t>Resumo Indicativo ou descritivo </a:t>
            </a:r>
            <a:r>
              <a:rPr lang="pt-BR" dirty="0"/>
              <a:t>– é realizado através de uma descrição dos principais tópicos do texto original, não dispensando contudo a leitura do texto, para uma melhor compreensão do assunto. Poderá ser escrito em até 20 linhas. </a:t>
            </a:r>
          </a:p>
          <a:p>
            <a:r>
              <a:rPr lang="pt-BR" dirty="0"/>
              <a:t> </a:t>
            </a:r>
            <a:r>
              <a:rPr lang="pt-BR" b="1" dirty="0"/>
              <a:t>Resumo informativo ou analítico </a:t>
            </a:r>
            <a:r>
              <a:rPr lang="pt-BR" dirty="0"/>
              <a:t>– é o tipo de resumo que reduz o texto a 1/3 ou ¼ do original, abolindo-se gráficos, citações, exemplificações abundantes, mantendo-se, porém, as ideias principais. Não são permitidas as opiniões pessoais do autor. </a:t>
            </a:r>
          </a:p>
          <a:p>
            <a:r>
              <a:rPr lang="pt-BR" dirty="0"/>
              <a:t> </a:t>
            </a:r>
            <a:r>
              <a:rPr lang="pt-BR" b="1" dirty="0"/>
              <a:t>Resumo Crítico: </a:t>
            </a:r>
            <a:r>
              <a:rPr lang="pt-BR" dirty="0"/>
              <a:t>consiste na condensação do texto original a 1/3 ou ¼ de sua extensão, mantendo as ideias fundamentais, mas permite opiniões e comentários do autor do resumo. </a:t>
            </a:r>
          </a:p>
        </p:txBody>
      </p:sp>
      <p:sp>
        <p:nvSpPr>
          <p:cNvPr id="4" name="Espaço Reservado para Texto 3">
            <a:extLst>
              <a:ext uri="{FF2B5EF4-FFF2-40B4-BE49-F238E27FC236}">
                <a16:creationId xmlns="" xmlns:a16="http://schemas.microsoft.com/office/drawing/2014/main" id="{BDCF2EFE-9E26-4F8F-9635-B76E43A60AAB}"/>
              </a:ext>
            </a:extLst>
          </p:cNvPr>
          <p:cNvSpPr>
            <a:spLocks noGrp="1"/>
          </p:cNvSpPr>
          <p:nvPr>
            <p:ph type="body" sz="half" idx="2"/>
          </p:nvPr>
        </p:nvSpPr>
        <p:spPr/>
        <p:txBody>
          <a:bodyPr/>
          <a:lstStyle/>
          <a:p>
            <a:r>
              <a:rPr lang="pt-BR" dirty="0"/>
              <a:t>TIPOLOGIA</a:t>
            </a:r>
          </a:p>
        </p:txBody>
      </p:sp>
      <p:sp>
        <p:nvSpPr>
          <p:cNvPr id="5" name="Espaço Reservado para Data 4">
            <a:extLst>
              <a:ext uri="{FF2B5EF4-FFF2-40B4-BE49-F238E27FC236}">
                <a16:creationId xmlns="" xmlns:a16="http://schemas.microsoft.com/office/drawing/2014/main" id="{7579AF56-1B98-4621-8F75-984EF62F57AA}"/>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27930483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em 5" descr="Imagem ampliada de um logotipo&#10;&#10;Descrição gerada automaticamente">
            <a:extLst>
              <a:ext uri="{FF2B5EF4-FFF2-40B4-BE49-F238E27FC236}">
                <a16:creationId xmlns=""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r="-1"/>
          <a:stretch/>
        </p:blipFill>
        <p:spPr>
          <a:xfrm>
            <a:off x="20" y="10"/>
            <a:ext cx="12191979" cy="6857990"/>
          </a:xfrm>
          <a:prstGeom prst="rect">
            <a:avLst/>
          </a:prstGeom>
        </p:spPr>
      </p:pic>
      <p:sp>
        <p:nvSpPr>
          <p:cNvPr id="82" name="Retângulo 81">
            <a:extLst>
              <a:ext uri="{FF2B5EF4-FFF2-40B4-BE49-F238E27FC236}">
                <a16:creationId xmlns="" xmlns:a16="http://schemas.microsoft.com/office/drawing/2014/main" id="{2644B391-9BFE-445C-A9EC-F544BB85FB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tângulo 83">
            <a:extLst>
              <a:ext uri="{FF2B5EF4-FFF2-40B4-BE49-F238E27FC236}">
                <a16:creationId xmlns="" xmlns:a16="http://schemas.microsoft.com/office/drawing/2014/main" id="{80F26E69-87D9-4655-AE7B-280A87AA3C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ítulo 1">
            <a:extLst>
              <a:ext uri="{FF2B5EF4-FFF2-40B4-BE49-F238E27FC236}">
                <a16:creationId xmlns="" xmlns:a16="http://schemas.microsoft.com/office/drawing/2014/main" id="{18C3B467-088C-4F3D-A9A7-105C4E1E20CD}"/>
              </a:ext>
            </a:extLst>
          </p:cNvPr>
          <p:cNvSpPr>
            <a:spLocks noGrp="1"/>
          </p:cNvSpPr>
          <p:nvPr>
            <p:ph type="ctrTitle"/>
          </p:nvPr>
        </p:nvSpPr>
        <p:spPr>
          <a:xfrm>
            <a:off x="6033793" y="2355458"/>
            <a:ext cx="4775075" cy="1630907"/>
          </a:xfrm>
        </p:spPr>
        <p:txBody>
          <a:bodyPr rtlCol="0">
            <a:normAutofit/>
          </a:bodyPr>
          <a:lstStyle/>
          <a:p>
            <a:pPr rtl="0"/>
            <a:r>
              <a:rPr lang="pt-BR" sz="3200" dirty="0">
                <a:solidFill>
                  <a:schemeClr val="tx1"/>
                </a:solidFill>
              </a:rPr>
              <a:t>ESCRITA DA PESQUISA CIENTÍFICA</a:t>
            </a:r>
          </a:p>
        </p:txBody>
      </p:sp>
      <p:sp>
        <p:nvSpPr>
          <p:cNvPr id="3" name="Subtítulo 2">
            <a:extLst>
              <a:ext uri="{FF2B5EF4-FFF2-40B4-BE49-F238E27FC236}">
                <a16:creationId xmlns="" xmlns:a16="http://schemas.microsoft.com/office/drawing/2014/main" id="{C8722DDC-8EEE-4A06-8DFE-B44871EAA2CF}"/>
              </a:ext>
            </a:extLst>
          </p:cNvPr>
          <p:cNvSpPr>
            <a:spLocks noGrp="1"/>
          </p:cNvSpPr>
          <p:nvPr>
            <p:ph type="subTitle" idx="1"/>
          </p:nvPr>
        </p:nvSpPr>
        <p:spPr>
          <a:xfrm>
            <a:off x="6033793" y="3995988"/>
            <a:ext cx="4775075" cy="559656"/>
          </a:xfrm>
        </p:spPr>
        <p:txBody>
          <a:bodyPr rtlCol="0">
            <a:normAutofit/>
          </a:bodyPr>
          <a:lstStyle/>
          <a:p>
            <a:pPr rtl="0">
              <a:spcAft>
                <a:spcPts val="600"/>
              </a:spcAft>
            </a:pPr>
            <a:r>
              <a:rPr lang="pt-BR" dirty="0" smtClean="0">
                <a:solidFill>
                  <a:schemeClr val="tx1"/>
                </a:solidFill>
              </a:rPr>
              <a:t>RESENHA</a:t>
            </a:r>
            <a:endParaRPr lang="pt-BR" dirty="0">
              <a:solidFill>
                <a:schemeClr val="tx1"/>
              </a:solidFill>
            </a:endParaRPr>
          </a:p>
        </p:txBody>
      </p:sp>
    </p:spTree>
    <p:extLst>
      <p:ext uri="{BB962C8B-B14F-4D97-AF65-F5344CB8AC3E}">
        <p14:creationId xmlns:p14="http://schemas.microsoft.com/office/powerpoint/2010/main" val="29634587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8610A1A-D52F-4A86-A0EB-4B95BD725841}"/>
              </a:ext>
            </a:extLst>
          </p:cNvPr>
          <p:cNvSpPr>
            <a:spLocks noGrp="1"/>
          </p:cNvSpPr>
          <p:nvPr>
            <p:ph type="ctrTitle"/>
          </p:nvPr>
        </p:nvSpPr>
        <p:spPr/>
        <p:txBody>
          <a:bodyPr/>
          <a:lstStyle/>
          <a:p>
            <a:r>
              <a:rPr lang="pt-BR" sz="5400" b="0" i="1" dirty="0">
                <a:solidFill>
                  <a:srgbClr val="000000"/>
                </a:solidFill>
                <a:effectLst/>
                <a:latin typeface="Verdana" panose="020B0604030504040204" pitchFamily="34" charset="0"/>
              </a:rPr>
              <a:t>Qual é a resenha?</a:t>
            </a:r>
            <a:endParaRPr lang="pt-BR" sz="5400" dirty="0"/>
          </a:p>
        </p:txBody>
      </p:sp>
      <p:sp>
        <p:nvSpPr>
          <p:cNvPr id="3" name="Subtítulo 2">
            <a:extLst>
              <a:ext uri="{FF2B5EF4-FFF2-40B4-BE49-F238E27FC236}">
                <a16:creationId xmlns="" xmlns:a16="http://schemas.microsoft.com/office/drawing/2014/main" id="{920F7A04-73CB-46DD-9177-894F3BE23D73}"/>
              </a:ext>
            </a:extLst>
          </p:cNvPr>
          <p:cNvSpPr>
            <a:spLocks noGrp="1"/>
          </p:cNvSpPr>
          <p:nvPr>
            <p:ph type="subTitle" idx="1"/>
          </p:nvPr>
        </p:nvSpPr>
        <p:spPr>
          <a:xfrm>
            <a:off x="1629101" y="4264721"/>
            <a:ext cx="8936846" cy="834682"/>
          </a:xfrm>
        </p:spPr>
        <p:txBody>
          <a:bodyPr>
            <a:normAutofit fontScale="92500" lnSpcReduction="20000"/>
          </a:bodyPr>
          <a:lstStyle/>
          <a:p>
            <a:pPr algn="just"/>
            <a:r>
              <a:rPr lang="pt-BR" b="0" i="0" dirty="0">
                <a:solidFill>
                  <a:srgbClr val="202124"/>
                </a:solidFill>
                <a:effectLst/>
                <a:latin typeface="arial" panose="020B0604020202020204" pitchFamily="34" charset="0"/>
              </a:rPr>
              <a:t>[Gíria nordestina] Muito versátil e adaptável, “</a:t>
            </a:r>
            <a:r>
              <a:rPr lang="pt-BR" b="1" i="0" dirty="0">
                <a:solidFill>
                  <a:srgbClr val="202124"/>
                </a:solidFill>
                <a:effectLst/>
                <a:latin typeface="arial" panose="020B0604020202020204" pitchFamily="34" charset="0"/>
              </a:rPr>
              <a:t>resenha</a:t>
            </a:r>
            <a:r>
              <a:rPr lang="pt-BR" b="0" i="0" dirty="0">
                <a:solidFill>
                  <a:srgbClr val="202124"/>
                </a:solidFill>
                <a:effectLst/>
                <a:latin typeface="arial" panose="020B0604020202020204" pitchFamily="34" charset="0"/>
              </a:rPr>
              <a:t>” significa conversar, falar uma novidade, contar uma fofoca ou dizer algo engraçado. Nesse mesmo sentido, também é utilizada a expressão “rasga aí”, que significa contar tudo.</a:t>
            </a:r>
            <a:endParaRPr lang="pt-BR" dirty="0"/>
          </a:p>
        </p:txBody>
      </p:sp>
      <p:sp>
        <p:nvSpPr>
          <p:cNvPr id="4" name="Espaço Reservado para Data 3">
            <a:extLst>
              <a:ext uri="{FF2B5EF4-FFF2-40B4-BE49-F238E27FC236}">
                <a16:creationId xmlns="" xmlns:a16="http://schemas.microsoft.com/office/drawing/2014/main" id="{A3CF4FB4-8693-49D0-A350-53DBF8B503DF}"/>
              </a:ext>
            </a:extLst>
          </p:cNvPr>
          <p:cNvSpPr>
            <a:spLocks noGrp="1"/>
          </p:cNvSpPr>
          <p:nvPr>
            <p:ph type="dt" sz="half" idx="10"/>
          </p:nvPr>
        </p:nvSpPr>
        <p:spPr/>
        <p:txBody>
          <a:bodyPr/>
          <a:lstStyle/>
          <a:p>
            <a:pPr rtl="0"/>
            <a:fld id="{2F3AF6F7-5911-45C3-BE0F-7F38FEFE43FA}" type="datetime1">
              <a:rPr lang="pt-BR" smtClean="0"/>
              <a:t>19/07/2022</a:t>
            </a:fld>
            <a:endParaRPr lang="en-US" dirty="0"/>
          </a:p>
        </p:txBody>
      </p:sp>
    </p:spTree>
    <p:extLst>
      <p:ext uri="{BB962C8B-B14F-4D97-AF65-F5344CB8AC3E}">
        <p14:creationId xmlns:p14="http://schemas.microsoft.com/office/powerpoint/2010/main" val="2684620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B4D5223-7C37-45DA-BC39-1C3B9F635D08}"/>
              </a:ext>
            </a:extLst>
          </p:cNvPr>
          <p:cNvSpPr>
            <a:spLocks noGrp="1"/>
          </p:cNvSpPr>
          <p:nvPr>
            <p:ph type="ctrTitle"/>
          </p:nvPr>
        </p:nvSpPr>
        <p:spPr/>
        <p:txBody>
          <a:bodyPr/>
          <a:lstStyle/>
          <a:p>
            <a:r>
              <a:rPr lang="pt-BR" sz="5400" b="0" i="1" dirty="0">
                <a:solidFill>
                  <a:srgbClr val="000000"/>
                </a:solidFill>
                <a:effectLst/>
                <a:latin typeface="Verdana" panose="020B0604030504040204" pitchFamily="34" charset="0"/>
              </a:rPr>
              <a:t>resenha é o resumo comentado de livro</a:t>
            </a:r>
            <a:endParaRPr lang="pt-BR" sz="5400" dirty="0"/>
          </a:p>
        </p:txBody>
      </p:sp>
      <p:sp>
        <p:nvSpPr>
          <p:cNvPr id="3" name="Subtítulo 2">
            <a:extLst>
              <a:ext uri="{FF2B5EF4-FFF2-40B4-BE49-F238E27FC236}">
                <a16:creationId xmlns="" xmlns:a16="http://schemas.microsoft.com/office/drawing/2014/main" id="{1C96E6FE-9F75-468C-9520-100E779997AA}"/>
              </a:ext>
            </a:extLst>
          </p:cNvPr>
          <p:cNvSpPr>
            <a:spLocks noGrp="1"/>
          </p:cNvSpPr>
          <p:nvPr>
            <p:ph type="subTitle" idx="1"/>
          </p:nvPr>
        </p:nvSpPr>
        <p:spPr/>
        <p:txBody>
          <a:bodyPr/>
          <a:lstStyle/>
          <a:p>
            <a:r>
              <a:rPr lang="pt-BR" dirty="0"/>
              <a:t>Verbete contido no Dicionário Houaiss</a:t>
            </a:r>
          </a:p>
        </p:txBody>
      </p:sp>
      <p:sp>
        <p:nvSpPr>
          <p:cNvPr id="4" name="Espaço Reservado para Data 3">
            <a:extLst>
              <a:ext uri="{FF2B5EF4-FFF2-40B4-BE49-F238E27FC236}">
                <a16:creationId xmlns="" xmlns:a16="http://schemas.microsoft.com/office/drawing/2014/main" id="{E5EADF08-DC6A-4D61-AA3A-09A990F2B14C}"/>
              </a:ext>
            </a:extLst>
          </p:cNvPr>
          <p:cNvSpPr>
            <a:spLocks noGrp="1"/>
          </p:cNvSpPr>
          <p:nvPr>
            <p:ph type="dt" sz="half" idx="10"/>
          </p:nvPr>
        </p:nvSpPr>
        <p:spPr/>
        <p:txBody>
          <a:bodyPr/>
          <a:lstStyle/>
          <a:p>
            <a:pPr rtl="0"/>
            <a:fld id="{2F3AF6F7-5911-45C3-BE0F-7F38FEFE43FA}" type="datetime1">
              <a:rPr lang="pt-BR" smtClean="0"/>
              <a:t>19/07/2022</a:t>
            </a:fld>
            <a:endParaRPr lang="en-US" dirty="0"/>
          </a:p>
        </p:txBody>
      </p:sp>
    </p:spTree>
    <p:extLst>
      <p:ext uri="{BB962C8B-B14F-4D97-AF65-F5344CB8AC3E}">
        <p14:creationId xmlns:p14="http://schemas.microsoft.com/office/powerpoint/2010/main" val="40478179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29CBCBA0-9775-44A6-BFAA-3153934102D5}"/>
              </a:ext>
            </a:extLst>
          </p:cNvPr>
          <p:cNvSpPr>
            <a:spLocks noGrp="1"/>
          </p:cNvSpPr>
          <p:nvPr>
            <p:ph type="title"/>
          </p:nvPr>
        </p:nvSpPr>
        <p:spPr/>
        <p:txBody>
          <a:bodyPr/>
          <a:lstStyle/>
          <a:p>
            <a:r>
              <a:rPr lang="pt-BR" dirty="0"/>
              <a:t>RESENHA ACADÊMICA</a:t>
            </a:r>
          </a:p>
        </p:txBody>
      </p:sp>
      <p:sp>
        <p:nvSpPr>
          <p:cNvPr id="3" name="Espaço Reservado para Conteúdo 2">
            <a:extLst>
              <a:ext uri="{FF2B5EF4-FFF2-40B4-BE49-F238E27FC236}">
                <a16:creationId xmlns="" xmlns:a16="http://schemas.microsoft.com/office/drawing/2014/main" id="{300C15FB-BC22-4E08-AF12-CFD0A095D878}"/>
              </a:ext>
            </a:extLst>
          </p:cNvPr>
          <p:cNvSpPr>
            <a:spLocks noGrp="1"/>
          </p:cNvSpPr>
          <p:nvPr>
            <p:ph idx="1"/>
          </p:nvPr>
        </p:nvSpPr>
        <p:spPr/>
        <p:txBody>
          <a:bodyPr/>
          <a:lstStyle/>
          <a:p>
            <a:pPr algn="just"/>
            <a:endParaRPr lang="pt-BR" dirty="0"/>
          </a:p>
          <a:p>
            <a:pPr algn="just"/>
            <a:r>
              <a:rPr lang="pt-BR" dirty="0"/>
              <a:t>Para Andrade ( </a:t>
            </a:r>
            <a:r>
              <a:rPr lang="pt-BR" i="1" dirty="0"/>
              <a:t>apud </a:t>
            </a:r>
            <a:r>
              <a:rPr lang="pt-BR" dirty="0"/>
              <a:t>SILVA, 2017, p. 60), resenha é um tipo de trabalho que “ exige conhecimento do assunto, para estabelecer comparação com outras obras da mesma área e maturidade intelectual para fazer avaliação e emitir juízo de valor”. </a:t>
            </a:r>
          </a:p>
          <a:p>
            <a:pPr algn="just"/>
            <a:r>
              <a:rPr lang="pt-BR" dirty="0"/>
              <a:t>A resenha consiste na leitura, estudo, resumo, crítica e na formulação de um conceito de valor sobre o trabalho que está sendo </a:t>
            </a:r>
            <a:r>
              <a:rPr lang="pt-BR" dirty="0" smtClean="0"/>
              <a:t>analisado.</a:t>
            </a:r>
            <a:endParaRPr lang="pt-BR" dirty="0"/>
          </a:p>
          <a:p>
            <a:pPr algn="just"/>
            <a:r>
              <a:rPr lang="pt-BR" dirty="0"/>
              <a:t>A Associação Brasileira de Normas Técnicas, por meio da NBR 6028, denominou a resenha de </a:t>
            </a:r>
            <a:r>
              <a:rPr lang="pt-BR" b="1" dirty="0"/>
              <a:t>resumo crítico.</a:t>
            </a:r>
          </a:p>
        </p:txBody>
      </p:sp>
      <p:sp>
        <p:nvSpPr>
          <p:cNvPr id="4" name="Espaço Reservado para Texto 3">
            <a:extLst>
              <a:ext uri="{FF2B5EF4-FFF2-40B4-BE49-F238E27FC236}">
                <a16:creationId xmlns="" xmlns:a16="http://schemas.microsoft.com/office/drawing/2014/main" id="{69B207DB-7D13-49C1-8CF3-0625E572CDB4}"/>
              </a:ext>
            </a:extLst>
          </p:cNvPr>
          <p:cNvSpPr>
            <a:spLocks noGrp="1"/>
          </p:cNvSpPr>
          <p:nvPr>
            <p:ph type="body" sz="half" idx="2"/>
          </p:nvPr>
        </p:nvSpPr>
        <p:spPr/>
        <p:txBody>
          <a:bodyPr/>
          <a:lstStyle/>
          <a:p>
            <a:r>
              <a:rPr lang="pt-BR" dirty="0"/>
              <a:t>DEFINIÇÃO</a:t>
            </a:r>
          </a:p>
        </p:txBody>
      </p:sp>
      <p:sp>
        <p:nvSpPr>
          <p:cNvPr id="5" name="Espaço Reservado para Data 4">
            <a:extLst>
              <a:ext uri="{FF2B5EF4-FFF2-40B4-BE49-F238E27FC236}">
                <a16:creationId xmlns="" xmlns:a16="http://schemas.microsoft.com/office/drawing/2014/main" id="{69BA47C3-DBD5-4748-813D-67E3F8EF04D3}"/>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16125016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DF334CDB-65A6-422C-8D7A-79ABD52B7455}"/>
              </a:ext>
            </a:extLst>
          </p:cNvPr>
          <p:cNvSpPr>
            <a:spLocks noGrp="1"/>
          </p:cNvSpPr>
          <p:nvPr>
            <p:ph type="title"/>
          </p:nvPr>
        </p:nvSpPr>
        <p:spPr/>
        <p:txBody>
          <a:bodyPr/>
          <a:lstStyle/>
          <a:p>
            <a:r>
              <a:rPr lang="pt-BR" dirty="0"/>
              <a:t>RESENHA</a:t>
            </a:r>
          </a:p>
        </p:txBody>
      </p:sp>
      <p:sp>
        <p:nvSpPr>
          <p:cNvPr id="3" name="Espaço Reservado para Conteúdo 2">
            <a:extLst>
              <a:ext uri="{FF2B5EF4-FFF2-40B4-BE49-F238E27FC236}">
                <a16:creationId xmlns="" xmlns:a16="http://schemas.microsoft.com/office/drawing/2014/main" id="{D21FADAF-72BF-4C8E-845A-4782B27D096B}"/>
              </a:ext>
            </a:extLst>
          </p:cNvPr>
          <p:cNvSpPr>
            <a:spLocks noGrp="1"/>
          </p:cNvSpPr>
          <p:nvPr>
            <p:ph idx="1"/>
          </p:nvPr>
        </p:nvSpPr>
        <p:spPr/>
        <p:txBody>
          <a:bodyPr>
            <a:normAutofit fontScale="92500" lnSpcReduction="10000"/>
          </a:bodyPr>
          <a:lstStyle/>
          <a:p>
            <a:pPr marL="457200" indent="-457200" algn="l">
              <a:lnSpc>
                <a:spcPct val="150000"/>
              </a:lnSpc>
              <a:buFont typeface="+mj-lt"/>
              <a:buAutoNum type="arabicPeriod"/>
            </a:pPr>
            <a:r>
              <a:rPr lang="pt-BR" b="0" i="0" dirty="0">
                <a:effectLst/>
                <a:latin typeface="Roboto" panose="02000000000000000000" pitchFamily="2" charset="0"/>
              </a:rPr>
              <a:t>Qual é a principal tese defendida pelo autor?;</a:t>
            </a:r>
          </a:p>
          <a:p>
            <a:pPr marL="457200" indent="-457200" algn="l">
              <a:lnSpc>
                <a:spcPct val="150000"/>
              </a:lnSpc>
              <a:buFont typeface="+mj-lt"/>
              <a:buAutoNum type="arabicPeriod"/>
            </a:pPr>
            <a:r>
              <a:rPr lang="pt-BR" b="0" i="0" dirty="0">
                <a:effectLst/>
                <a:latin typeface="Roboto" panose="02000000000000000000" pitchFamily="2" charset="0"/>
              </a:rPr>
              <a:t>como ele desenvolve sua ideia?;</a:t>
            </a:r>
          </a:p>
          <a:p>
            <a:pPr marL="457200" indent="-457200" algn="l">
              <a:lnSpc>
                <a:spcPct val="150000"/>
              </a:lnSpc>
              <a:buFont typeface="+mj-lt"/>
              <a:buAutoNum type="arabicPeriod"/>
            </a:pPr>
            <a:r>
              <a:rPr lang="pt-BR" b="0" i="0" dirty="0">
                <a:effectLst/>
                <a:latin typeface="Roboto" panose="02000000000000000000" pitchFamily="2" charset="0"/>
              </a:rPr>
              <a:t>ela foi feita de maneira clara e bem explicativa?;</a:t>
            </a:r>
          </a:p>
          <a:p>
            <a:pPr marL="457200" indent="-457200" algn="l">
              <a:lnSpc>
                <a:spcPct val="150000"/>
              </a:lnSpc>
              <a:buFont typeface="+mj-lt"/>
              <a:buAutoNum type="arabicPeriod"/>
            </a:pPr>
            <a:r>
              <a:rPr lang="pt-BR" b="0" i="0" dirty="0">
                <a:effectLst/>
                <a:latin typeface="Roboto" panose="02000000000000000000" pitchFamily="2" charset="0"/>
              </a:rPr>
              <a:t>é preciso ter alguma bagagem prévia de conhecimento para entender o conteúdo?;</a:t>
            </a:r>
          </a:p>
          <a:p>
            <a:pPr marL="457200" indent="-457200" algn="l">
              <a:lnSpc>
                <a:spcPct val="150000"/>
              </a:lnSpc>
              <a:buFont typeface="+mj-lt"/>
              <a:buAutoNum type="arabicPeriod"/>
            </a:pPr>
            <a:r>
              <a:rPr lang="pt-BR" b="0" i="0" dirty="0">
                <a:effectLst/>
                <a:latin typeface="Roboto" panose="02000000000000000000" pitchFamily="2" charset="0"/>
              </a:rPr>
              <a:t>a obra é agradável?;</a:t>
            </a:r>
          </a:p>
          <a:p>
            <a:pPr marL="457200" indent="-457200" algn="l">
              <a:lnSpc>
                <a:spcPct val="150000"/>
              </a:lnSpc>
              <a:buFont typeface="+mj-lt"/>
              <a:buAutoNum type="arabicPeriod"/>
            </a:pPr>
            <a:r>
              <a:rPr lang="pt-BR" b="0" i="0" dirty="0">
                <a:effectLst/>
                <a:latin typeface="Roboto" panose="02000000000000000000" pitchFamily="2" charset="0"/>
              </a:rPr>
              <a:t>ela foi bem organizada?;</a:t>
            </a:r>
          </a:p>
          <a:p>
            <a:pPr marL="457200" indent="-457200" algn="l">
              <a:lnSpc>
                <a:spcPct val="150000"/>
              </a:lnSpc>
              <a:buFont typeface="+mj-lt"/>
              <a:buAutoNum type="arabicPeriod"/>
            </a:pPr>
            <a:r>
              <a:rPr lang="pt-BR" b="0" i="0" dirty="0">
                <a:effectLst/>
                <a:latin typeface="Roboto" panose="02000000000000000000" pitchFamily="2" charset="0"/>
              </a:rPr>
              <a:t>o autor se baseou em alguma ideia de outras pessoas para chegar à sua </a:t>
            </a:r>
            <a:r>
              <a:rPr lang="pt-BR" dirty="0">
                <a:latin typeface="Roboto" panose="02000000000000000000" pitchFamily="2" charset="0"/>
              </a:rPr>
              <a:t>conclusão</a:t>
            </a:r>
            <a:r>
              <a:rPr lang="pt-BR" b="0" i="0" dirty="0">
                <a:effectLst/>
                <a:latin typeface="Roboto" panose="02000000000000000000" pitchFamily="2" charset="0"/>
              </a:rPr>
              <a:t>?;</a:t>
            </a:r>
          </a:p>
          <a:p>
            <a:pPr marL="457200" indent="-457200" algn="l">
              <a:lnSpc>
                <a:spcPct val="150000"/>
              </a:lnSpc>
              <a:buFont typeface="+mj-lt"/>
              <a:buAutoNum type="arabicPeriod"/>
            </a:pPr>
            <a:r>
              <a:rPr lang="pt-BR" b="0" i="0" dirty="0">
                <a:effectLst/>
                <a:latin typeface="Roboto" panose="02000000000000000000" pitchFamily="2" charset="0"/>
              </a:rPr>
              <a:t>com a sua obra, ele chegou à alguma conclusão? como ela foi alcançada? ela foi bem alcançada?.</a:t>
            </a:r>
          </a:p>
          <a:p>
            <a:endParaRPr lang="pt-BR" dirty="0"/>
          </a:p>
        </p:txBody>
      </p:sp>
      <p:sp>
        <p:nvSpPr>
          <p:cNvPr id="4" name="Espaço Reservado para Texto 3">
            <a:extLst>
              <a:ext uri="{FF2B5EF4-FFF2-40B4-BE49-F238E27FC236}">
                <a16:creationId xmlns="" xmlns:a16="http://schemas.microsoft.com/office/drawing/2014/main" id="{44A2AEF1-B779-4799-9FCB-897481132E77}"/>
              </a:ext>
            </a:extLst>
          </p:cNvPr>
          <p:cNvSpPr>
            <a:spLocks noGrp="1"/>
          </p:cNvSpPr>
          <p:nvPr>
            <p:ph type="body" sz="half" idx="2"/>
          </p:nvPr>
        </p:nvSpPr>
        <p:spPr/>
        <p:txBody>
          <a:bodyPr/>
          <a:lstStyle/>
          <a:p>
            <a:r>
              <a:rPr lang="pt-BR" dirty="0"/>
              <a:t>PERGUNTAS NORTEADORAS</a:t>
            </a:r>
          </a:p>
        </p:txBody>
      </p:sp>
      <p:sp>
        <p:nvSpPr>
          <p:cNvPr id="5" name="Espaço Reservado para Data 4">
            <a:extLst>
              <a:ext uri="{FF2B5EF4-FFF2-40B4-BE49-F238E27FC236}">
                <a16:creationId xmlns="" xmlns:a16="http://schemas.microsoft.com/office/drawing/2014/main" id="{98CE4E2C-C3F6-40C3-8F35-718968FB7496}"/>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4172997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75C041-D76D-4B5A-9C10-0F6790F7BE69}"/>
              </a:ext>
            </a:extLst>
          </p:cNvPr>
          <p:cNvSpPr>
            <a:spLocks noGrp="1"/>
          </p:cNvSpPr>
          <p:nvPr>
            <p:ph type="title"/>
          </p:nvPr>
        </p:nvSpPr>
        <p:spPr/>
        <p:txBody>
          <a:bodyPr/>
          <a:lstStyle/>
          <a:p>
            <a:r>
              <a:rPr lang="pt-BR" dirty="0"/>
              <a:t>RESENHA</a:t>
            </a:r>
          </a:p>
        </p:txBody>
      </p:sp>
      <p:sp>
        <p:nvSpPr>
          <p:cNvPr id="3" name="Espaço Reservado para Conteúdo 2">
            <a:extLst>
              <a:ext uri="{FF2B5EF4-FFF2-40B4-BE49-F238E27FC236}">
                <a16:creationId xmlns="" xmlns:a16="http://schemas.microsoft.com/office/drawing/2014/main" id="{E5B59C62-AAE6-4A42-A5AF-30A635E79C74}"/>
              </a:ext>
            </a:extLst>
          </p:cNvPr>
          <p:cNvSpPr>
            <a:spLocks noGrp="1"/>
          </p:cNvSpPr>
          <p:nvPr>
            <p:ph idx="1"/>
          </p:nvPr>
        </p:nvSpPr>
        <p:spPr/>
        <p:txBody>
          <a:bodyPr>
            <a:normAutofit fontScale="77500" lnSpcReduction="20000"/>
          </a:bodyPr>
          <a:lstStyle/>
          <a:p>
            <a:pPr marL="0" indent="0" algn="ctr">
              <a:buNone/>
            </a:pPr>
            <a:r>
              <a:rPr lang="pt-BR" b="1" dirty="0"/>
              <a:t>7 PASSOS PARA CONSTRUÇÃO DE UMA RESENHA:</a:t>
            </a:r>
          </a:p>
          <a:p>
            <a:pPr marL="457200" indent="-457200" algn="just">
              <a:buFont typeface="+mj-lt"/>
              <a:buAutoNum type="arabicPeriod"/>
            </a:pPr>
            <a:endParaRPr lang="pt-BR" b="1" dirty="0"/>
          </a:p>
          <a:p>
            <a:pPr marL="457200" indent="-457200" algn="just">
              <a:buAutoNum type="arabicPeriod"/>
            </a:pPr>
            <a:r>
              <a:rPr lang="pt-BR" b="1" dirty="0"/>
              <a:t>Credenciais do autor: </a:t>
            </a:r>
            <a:r>
              <a:rPr lang="pt-BR" dirty="0"/>
              <a:t>- Informações sobre o autor, nacionalidade, formação universitária, títulos, livro ou artigo publicado.</a:t>
            </a:r>
          </a:p>
          <a:p>
            <a:pPr marL="457200" indent="-457200" algn="just">
              <a:buAutoNum type="arabicPeriod"/>
            </a:pPr>
            <a:r>
              <a:rPr lang="pt-BR" b="1" dirty="0"/>
              <a:t> Resumo da obra: </a:t>
            </a:r>
            <a:r>
              <a:rPr lang="pt-BR" dirty="0"/>
              <a:t>- Resumo das ideias principais da obra. De que trata o texto? Qual sua característica principal? Exige algum conhecimento prévio para entendê-la? Descrição do conteúdo dos capítulos ou partes da obra.</a:t>
            </a:r>
          </a:p>
          <a:p>
            <a:pPr marL="457200" indent="-457200" algn="just">
              <a:buAutoNum type="arabicPeriod"/>
            </a:pPr>
            <a:r>
              <a:rPr lang="pt-BR" b="1" dirty="0"/>
              <a:t>Conclusões da autoria: </a:t>
            </a:r>
            <a:r>
              <a:rPr lang="pt-BR" dirty="0"/>
              <a:t>- Quais as conclusões a que o autor chegou? </a:t>
            </a:r>
          </a:p>
          <a:p>
            <a:pPr marL="457200" indent="-457200" algn="just">
              <a:buAutoNum type="arabicPeriod"/>
            </a:pPr>
            <a:r>
              <a:rPr lang="pt-BR" b="1" dirty="0"/>
              <a:t>Metodologia da autoria: </a:t>
            </a:r>
            <a:r>
              <a:rPr lang="pt-BR" dirty="0"/>
              <a:t>- Que métodos utilizou? Dedutivo? Indutivo? Histórico? Comparativo? Estatístico? - Que técnicas utilizou? Entrevista? Questionários? </a:t>
            </a:r>
          </a:p>
          <a:p>
            <a:pPr marL="457200" indent="-457200" algn="just">
              <a:buAutoNum type="arabicPeriod"/>
            </a:pPr>
            <a:r>
              <a:rPr lang="pt-BR" b="1" dirty="0"/>
              <a:t>Quadro de referência do autor: </a:t>
            </a:r>
            <a:r>
              <a:rPr lang="pt-BR" dirty="0"/>
              <a:t>- Que teoria serve de apoio ao estudo apresentado? Qual o modelo teórico utilizado? </a:t>
            </a:r>
          </a:p>
          <a:p>
            <a:pPr marL="457200" indent="-457200" algn="just">
              <a:buAutoNum type="arabicPeriod"/>
            </a:pPr>
            <a:r>
              <a:rPr lang="pt-BR" b="1" dirty="0"/>
              <a:t>Crítica do resenhista (apreciação) </a:t>
            </a:r>
            <a:r>
              <a:rPr lang="pt-BR" dirty="0"/>
              <a:t>- Julgamento da obra. Qual a contribuição da obra? As </a:t>
            </a:r>
            <a:r>
              <a:rPr lang="pt-BR" dirty="0" smtClean="0"/>
              <a:t>ideias </a:t>
            </a:r>
            <a:r>
              <a:rPr lang="pt-BR" dirty="0"/>
              <a:t>são originais? Como é o estilo do autor: conciso, objetivo, simples? Idealista? Realista? </a:t>
            </a:r>
          </a:p>
          <a:p>
            <a:pPr marL="457200" indent="-457200" algn="just">
              <a:buAutoNum type="arabicPeriod"/>
            </a:pPr>
            <a:r>
              <a:rPr lang="pt-BR" b="1" dirty="0"/>
              <a:t>Indicações do resenhista: </a:t>
            </a:r>
            <a:r>
              <a:rPr lang="pt-BR" dirty="0"/>
              <a:t>- A quem é dirigida a obra? A obra é endereçada a que disciplina? Pode ser adotada em algum curso? Qual?</a:t>
            </a:r>
          </a:p>
          <a:p>
            <a:pPr marL="457200" indent="-457200">
              <a:buFont typeface="+mj-lt"/>
              <a:buAutoNum type="arabicPeriod"/>
            </a:pPr>
            <a:endParaRPr lang="pt-BR" dirty="0"/>
          </a:p>
          <a:p>
            <a:pPr marL="457200" indent="-457200">
              <a:buFont typeface="+mj-lt"/>
              <a:buAutoNum type="arabicPeriod"/>
            </a:pPr>
            <a:endParaRPr lang="pt-BR" dirty="0"/>
          </a:p>
          <a:p>
            <a:pPr marL="0" indent="0">
              <a:buNone/>
            </a:pPr>
            <a:endParaRPr lang="pt-BR" dirty="0"/>
          </a:p>
        </p:txBody>
      </p:sp>
      <p:sp>
        <p:nvSpPr>
          <p:cNvPr id="4" name="Espaço Reservado para Texto 3">
            <a:extLst>
              <a:ext uri="{FF2B5EF4-FFF2-40B4-BE49-F238E27FC236}">
                <a16:creationId xmlns="" xmlns:a16="http://schemas.microsoft.com/office/drawing/2014/main" id="{E1763BC9-A747-4D1A-93D7-70D69F839091}"/>
              </a:ext>
            </a:extLst>
          </p:cNvPr>
          <p:cNvSpPr>
            <a:spLocks noGrp="1"/>
          </p:cNvSpPr>
          <p:nvPr>
            <p:ph type="body" sz="half" idx="2"/>
          </p:nvPr>
        </p:nvSpPr>
        <p:spPr/>
        <p:txBody>
          <a:bodyPr/>
          <a:lstStyle/>
          <a:p>
            <a:r>
              <a:rPr lang="pt-BR" dirty="0"/>
              <a:t>ESTRUTURAÇÃO</a:t>
            </a:r>
          </a:p>
          <a:p>
            <a:r>
              <a:rPr lang="pt-BR" dirty="0"/>
              <a:t>(MEDEIROS, </a:t>
            </a:r>
            <a:r>
              <a:rPr lang="pt-BR" i="1" dirty="0"/>
              <a:t>apud </a:t>
            </a:r>
            <a:r>
              <a:rPr lang="pt-BR" dirty="0"/>
              <a:t>SILVA, 2017, p. 62)</a:t>
            </a:r>
          </a:p>
        </p:txBody>
      </p:sp>
      <p:sp>
        <p:nvSpPr>
          <p:cNvPr id="5" name="Espaço Reservado para Data 4">
            <a:extLst>
              <a:ext uri="{FF2B5EF4-FFF2-40B4-BE49-F238E27FC236}">
                <a16:creationId xmlns="" xmlns:a16="http://schemas.microsoft.com/office/drawing/2014/main" id="{EA25A105-0066-498D-9653-D761A8538890}"/>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235810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4A57329-A415-43BB-A384-19B882872CAE}"/>
              </a:ext>
            </a:extLst>
          </p:cNvPr>
          <p:cNvSpPr>
            <a:spLocks noGrp="1"/>
          </p:cNvSpPr>
          <p:nvPr>
            <p:ph type="title"/>
          </p:nvPr>
        </p:nvSpPr>
        <p:spPr/>
        <p:txBody>
          <a:bodyPr/>
          <a:lstStyle/>
          <a:p>
            <a:r>
              <a:rPr lang="pt-BR" dirty="0"/>
              <a:t>RESENHA</a:t>
            </a:r>
          </a:p>
        </p:txBody>
      </p:sp>
      <p:sp>
        <p:nvSpPr>
          <p:cNvPr id="3" name="Espaço Reservado para Conteúdo 2">
            <a:extLst>
              <a:ext uri="{FF2B5EF4-FFF2-40B4-BE49-F238E27FC236}">
                <a16:creationId xmlns="" xmlns:a16="http://schemas.microsoft.com/office/drawing/2014/main" id="{692A79F5-8558-4CC0-8912-42C052D0049F}"/>
              </a:ext>
            </a:extLst>
          </p:cNvPr>
          <p:cNvSpPr>
            <a:spLocks noGrp="1"/>
          </p:cNvSpPr>
          <p:nvPr>
            <p:ph idx="1"/>
          </p:nvPr>
        </p:nvSpPr>
        <p:spPr/>
        <p:txBody>
          <a:bodyPr>
            <a:normAutofit fontScale="85000" lnSpcReduction="10000"/>
          </a:bodyPr>
          <a:lstStyle/>
          <a:p>
            <a:pPr marL="457200" indent="-457200" algn="just">
              <a:buFont typeface="+mj-lt"/>
              <a:buAutoNum type="arabicPeriod"/>
            </a:pPr>
            <a:r>
              <a:rPr lang="pt-BR" dirty="0"/>
              <a:t>Uma resenha de livro deve começar pela </a:t>
            </a:r>
            <a:r>
              <a:rPr lang="pt-BR" b="1" dirty="0"/>
              <a:t>referência bibliográfica </a:t>
            </a:r>
            <a:r>
              <a:rPr lang="pt-BR" dirty="0"/>
              <a:t>completa: autor, título completo, local, editora, data de publicação, número de edição, número de páginas, ano original de edição, título do original e nome do tradutor (quando houver);</a:t>
            </a:r>
          </a:p>
          <a:p>
            <a:pPr marL="457200" indent="-457200" algn="just">
              <a:buFont typeface="+mj-lt"/>
              <a:buAutoNum type="arabicPeriod"/>
            </a:pPr>
            <a:endParaRPr lang="pt-BR" dirty="0" smtClean="0"/>
          </a:p>
          <a:p>
            <a:pPr marL="457200" indent="-457200" algn="just">
              <a:buFont typeface="+mj-lt"/>
              <a:buAutoNum type="arabicPeriod"/>
            </a:pPr>
            <a:r>
              <a:rPr lang="pt-BR" dirty="0"/>
              <a:t>O</a:t>
            </a:r>
            <a:r>
              <a:rPr lang="pt-BR" dirty="0" smtClean="0"/>
              <a:t> </a:t>
            </a:r>
            <a:r>
              <a:rPr lang="pt-BR" dirty="0"/>
              <a:t>primeiro </a:t>
            </a:r>
            <a:r>
              <a:rPr lang="pt-BR" dirty="0" smtClean="0"/>
              <a:t>parágrafo </a:t>
            </a:r>
            <a:r>
              <a:rPr lang="pt-BR" dirty="0"/>
              <a:t>da resenha deve incluir </a:t>
            </a:r>
            <a:r>
              <a:rPr lang="pt-BR" b="1" dirty="0"/>
              <a:t>dados breves sobre o autor</a:t>
            </a:r>
            <a:r>
              <a:rPr lang="pt-BR" dirty="0"/>
              <a:t>: formação, nacionalidade, profissão, vinculo institucional, outros livros escritos, idade ou época em que viveu. </a:t>
            </a:r>
            <a:endParaRPr lang="pt-BR" dirty="0" smtClean="0"/>
          </a:p>
          <a:p>
            <a:pPr marL="457200" indent="-457200" algn="just">
              <a:buFont typeface="+mj-lt"/>
              <a:buAutoNum type="arabicPeriod"/>
            </a:pPr>
            <a:r>
              <a:rPr lang="pt-BR" dirty="0" smtClean="0"/>
              <a:t>Em </a:t>
            </a:r>
            <a:r>
              <a:rPr lang="pt-BR" dirty="0"/>
              <a:t>seguida, o leitor deve ficar sabendo exatamente qual o </a:t>
            </a:r>
            <a:r>
              <a:rPr lang="pt-BR" b="1" dirty="0"/>
              <a:t>gênero da obra</a:t>
            </a:r>
            <a:r>
              <a:rPr lang="pt-BR" dirty="0"/>
              <a:t>: ficção (romance, poesia, contos etc.), ensaio, tese acadêmica, memórias , biografia, relate pessoal, texto   cientifico,   coletânea   de   reportagens, ensaio, coletânea de textos de um autor ou de vários autores etc. </a:t>
            </a:r>
            <a:r>
              <a:rPr lang="pt-BR" dirty="0" smtClean="0"/>
              <a:t>É </a:t>
            </a:r>
            <a:r>
              <a:rPr lang="pt-BR" dirty="0"/>
              <a:t>bom destacar se a obra é</a:t>
            </a:r>
            <a:r>
              <a:rPr lang="pt-BR" dirty="0" smtClean="0"/>
              <a:t> </a:t>
            </a:r>
            <a:r>
              <a:rPr lang="pt-BR" dirty="0"/>
              <a:t>uma reedição, ou se é tradução de alguma obra famosa em outros países. Em alguns casos, é importante informar se o texto </a:t>
            </a:r>
            <a:r>
              <a:rPr lang="pt-BR" dirty="0" smtClean="0"/>
              <a:t>dá sequência </a:t>
            </a:r>
            <a:r>
              <a:rPr lang="pt-BR" dirty="0"/>
              <a:t>a outra obra importante do autor, ou se tem relação direta (</a:t>
            </a:r>
            <a:r>
              <a:rPr lang="pt-BR" dirty="0" smtClean="0"/>
              <a:t>polêmica </a:t>
            </a:r>
            <a:r>
              <a:rPr lang="pt-BR" dirty="0"/>
              <a:t>com, resposta a) com um texto muito conhecido de outro autor.</a:t>
            </a:r>
          </a:p>
          <a:p>
            <a:pPr marL="457200" indent="-457200">
              <a:buFont typeface="+mj-lt"/>
              <a:buAutoNum type="arabicPeriod"/>
            </a:pPr>
            <a:endParaRPr lang="pt-BR" dirty="0"/>
          </a:p>
        </p:txBody>
      </p:sp>
      <p:sp>
        <p:nvSpPr>
          <p:cNvPr id="4" name="Espaço Reservado para Texto 3">
            <a:extLst>
              <a:ext uri="{FF2B5EF4-FFF2-40B4-BE49-F238E27FC236}">
                <a16:creationId xmlns="" xmlns:a16="http://schemas.microsoft.com/office/drawing/2014/main" id="{B2CBFC80-070E-4B51-9EA7-C1E8BD4C07C2}"/>
              </a:ext>
            </a:extLst>
          </p:cNvPr>
          <p:cNvSpPr>
            <a:spLocks noGrp="1"/>
          </p:cNvSpPr>
          <p:nvPr>
            <p:ph type="body" sz="half" idx="2"/>
          </p:nvPr>
        </p:nvSpPr>
        <p:spPr/>
        <p:txBody>
          <a:bodyPr/>
          <a:lstStyle/>
          <a:p>
            <a:r>
              <a:rPr lang="pt-BR" dirty="0"/>
              <a:t>ROTEIRO</a:t>
            </a:r>
          </a:p>
        </p:txBody>
      </p:sp>
      <p:sp>
        <p:nvSpPr>
          <p:cNvPr id="5" name="Espaço Reservado para Data 4">
            <a:extLst>
              <a:ext uri="{FF2B5EF4-FFF2-40B4-BE49-F238E27FC236}">
                <a16:creationId xmlns="" xmlns:a16="http://schemas.microsoft.com/office/drawing/2014/main" id="{8309EF50-B0B8-4372-9E3E-D03841CB5029}"/>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4213418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8A5EB51-EB45-4103-BF11-9ADB7E9369F4}"/>
              </a:ext>
            </a:extLst>
          </p:cNvPr>
          <p:cNvSpPr>
            <a:spLocks noGrp="1"/>
          </p:cNvSpPr>
          <p:nvPr>
            <p:ph type="title"/>
          </p:nvPr>
        </p:nvSpPr>
        <p:spPr/>
        <p:txBody>
          <a:bodyPr/>
          <a:lstStyle/>
          <a:p>
            <a:r>
              <a:rPr lang="pt-BR" dirty="0"/>
              <a:t>RESENHA</a:t>
            </a:r>
          </a:p>
        </p:txBody>
      </p:sp>
      <p:sp>
        <p:nvSpPr>
          <p:cNvPr id="3" name="Espaço Reservado para Conteúdo 2">
            <a:extLst>
              <a:ext uri="{FF2B5EF4-FFF2-40B4-BE49-F238E27FC236}">
                <a16:creationId xmlns="" xmlns:a16="http://schemas.microsoft.com/office/drawing/2014/main" id="{C281F5B9-64B9-4C45-B947-BC3E191EDF28}"/>
              </a:ext>
            </a:extLst>
          </p:cNvPr>
          <p:cNvSpPr>
            <a:spLocks noGrp="1"/>
          </p:cNvSpPr>
          <p:nvPr>
            <p:ph idx="1"/>
          </p:nvPr>
        </p:nvSpPr>
        <p:spPr>
          <a:xfrm>
            <a:off x="296214" y="609599"/>
            <a:ext cx="7247586" cy="5919989"/>
          </a:xfrm>
        </p:spPr>
        <p:txBody>
          <a:bodyPr>
            <a:normAutofit fontScale="62500" lnSpcReduction="20000"/>
          </a:bodyPr>
          <a:lstStyle/>
          <a:p>
            <a:pPr marL="0" indent="0" algn="just">
              <a:buNone/>
            </a:pPr>
            <a:r>
              <a:rPr lang="pt-BR" sz="2500" dirty="0" smtClean="0"/>
              <a:t>4. </a:t>
            </a:r>
            <a:r>
              <a:rPr lang="pt-BR" sz="2500" b="1" dirty="0"/>
              <a:t>I</a:t>
            </a:r>
            <a:r>
              <a:rPr lang="pt-BR" sz="2500" b="1" dirty="0" smtClean="0"/>
              <a:t>nformações </a:t>
            </a:r>
            <a:r>
              <a:rPr lang="pt-BR" sz="2500" b="1" dirty="0"/>
              <a:t>sobre o conteúdo e a intenção da obra:</a:t>
            </a:r>
            <a:r>
              <a:rPr lang="pt-BR" sz="2500" dirty="0"/>
              <a:t> assunto(s) principal(</a:t>
            </a:r>
            <a:r>
              <a:rPr lang="pt-BR" sz="2500" dirty="0" err="1"/>
              <a:t>is</a:t>
            </a:r>
            <a:r>
              <a:rPr lang="pt-BR" sz="2500" dirty="0"/>
              <a:t>), posições ou teses centrais etc., ou, no caso de ficção, o tema, a linguagem usada, a época retratada, os principais personagens etc. Se for o caso, podem ser incluídas menções a "linhagem"   metodológica do texto - "história das mentalidades", "antropologia politica", "sociologia quantitativa" etc. - e a influencias admitidas pelo autor e/ou identificadas pelo resenhista. </a:t>
            </a:r>
            <a:endParaRPr lang="pt-BR" sz="2500" dirty="0" smtClean="0"/>
          </a:p>
          <a:p>
            <a:pPr marL="0" indent="0" algn="just">
              <a:buNone/>
            </a:pPr>
            <a:r>
              <a:rPr lang="pt-BR" sz="2500" dirty="0" smtClean="0"/>
              <a:t>5</a:t>
            </a:r>
            <a:r>
              <a:rPr lang="pt-BR" sz="2500" dirty="0"/>
              <a:t>. </a:t>
            </a:r>
            <a:r>
              <a:rPr lang="pt-BR" sz="2500" dirty="0" smtClean="0"/>
              <a:t>Os </a:t>
            </a:r>
            <a:r>
              <a:rPr lang="pt-BR" sz="2500" b="1" dirty="0" smtClean="0"/>
              <a:t>meios </a:t>
            </a:r>
            <a:r>
              <a:rPr lang="pt-BR" sz="2500" b="1" dirty="0"/>
              <a:t>e recursos usados pelo autor</a:t>
            </a:r>
            <a:r>
              <a:rPr lang="pt-BR" sz="2500" dirty="0"/>
              <a:t>, ou seja, de onde ele tirou e como ele usou os materiais, analises, </a:t>
            </a:r>
            <a:r>
              <a:rPr lang="pt-BR" sz="2500" dirty="0" smtClean="0"/>
              <a:t>opiniões </a:t>
            </a:r>
            <a:r>
              <a:rPr lang="pt-BR" sz="2500" dirty="0"/>
              <a:t>e informações em que baseou o texto: viagens, memória, opinião, entrevistas, questionários, leitura de outros livros, de jornais ou de documentos, </a:t>
            </a:r>
            <a:r>
              <a:rPr lang="pt-BR" sz="2500" i="1" dirty="0" err="1"/>
              <a:t>surveys</a:t>
            </a:r>
            <a:r>
              <a:rPr lang="pt-BR" sz="2500" dirty="0"/>
              <a:t> de opinião pública, dados estatísticos, radio, TV, cinema, biografias de pessoas conhecidas ou desconhecidas, vivência pessoal etc</a:t>
            </a:r>
            <a:r>
              <a:rPr lang="pt-BR" sz="2500" b="1" dirty="0"/>
              <a:t>. Nesse item </a:t>
            </a:r>
            <a:r>
              <a:rPr lang="pt-BR" sz="2500" dirty="0"/>
              <a:t>cabem comentários sobre os métodos e procedimentos científicos ou de criação artística.</a:t>
            </a:r>
          </a:p>
          <a:p>
            <a:pPr marL="0" indent="0" algn="just">
              <a:buNone/>
            </a:pPr>
            <a:r>
              <a:rPr lang="pt-BR" sz="2500" dirty="0"/>
              <a:t>6. E</a:t>
            </a:r>
            <a:r>
              <a:rPr lang="pt-BR" sz="2500" dirty="0" smtClean="0"/>
              <a:t>xpor </a:t>
            </a:r>
            <a:r>
              <a:rPr lang="pt-BR" sz="2500" dirty="0"/>
              <a:t>uma </a:t>
            </a:r>
            <a:r>
              <a:rPr lang="pt-BR" sz="2500" b="1" dirty="0"/>
              <a:t>apreciação valorativa sobre os méritos e defeitos do </a:t>
            </a:r>
            <a:r>
              <a:rPr lang="pt-BR" sz="2500" b="1" dirty="0" smtClean="0"/>
              <a:t>texto</a:t>
            </a:r>
            <a:r>
              <a:rPr lang="pt-BR" sz="2500" dirty="0"/>
              <a:t> </a:t>
            </a:r>
            <a:r>
              <a:rPr lang="pt-BR" sz="2500" dirty="0" smtClean="0"/>
              <a:t>baseada </a:t>
            </a:r>
            <a:r>
              <a:rPr lang="pt-BR" sz="2500" dirty="0"/>
              <a:t>em </a:t>
            </a:r>
            <a:r>
              <a:rPr lang="pt-BR" sz="2500" b="1" dirty="0"/>
              <a:t>argumentos construídos exclusivamente a partir da leitura do próprio resenhista </a:t>
            </a:r>
            <a:r>
              <a:rPr lang="pt-BR" sz="2500" dirty="0"/>
              <a:t>- não é apropriado usar as visões de outros comentaristas da obra. É crucial neste item enfatizar o que o autor de fato fez ou tentou fazer,  e não os pontos que ele "poderia" ou "deveria" ter feito de acordo com a preferência do resenhista.</a:t>
            </a:r>
          </a:p>
          <a:p>
            <a:pPr marL="0" indent="0">
              <a:buNone/>
            </a:pPr>
            <a:r>
              <a:rPr lang="pt-BR" dirty="0"/>
              <a:t> </a:t>
            </a:r>
          </a:p>
        </p:txBody>
      </p:sp>
      <p:sp>
        <p:nvSpPr>
          <p:cNvPr id="4" name="Espaço Reservado para Texto 3">
            <a:extLst>
              <a:ext uri="{FF2B5EF4-FFF2-40B4-BE49-F238E27FC236}">
                <a16:creationId xmlns="" xmlns:a16="http://schemas.microsoft.com/office/drawing/2014/main" id="{6827A5E2-20B8-4D62-9CA7-4D01EDADBDA0}"/>
              </a:ext>
            </a:extLst>
          </p:cNvPr>
          <p:cNvSpPr>
            <a:spLocks noGrp="1"/>
          </p:cNvSpPr>
          <p:nvPr>
            <p:ph type="body" sz="half" idx="2"/>
          </p:nvPr>
        </p:nvSpPr>
        <p:spPr/>
        <p:txBody>
          <a:bodyPr/>
          <a:lstStyle/>
          <a:p>
            <a:r>
              <a:rPr lang="pt-BR" dirty="0"/>
              <a:t>ROTEIRO</a:t>
            </a:r>
          </a:p>
        </p:txBody>
      </p:sp>
      <p:sp>
        <p:nvSpPr>
          <p:cNvPr id="5" name="Espaço Reservado para Data 4">
            <a:extLst>
              <a:ext uri="{FF2B5EF4-FFF2-40B4-BE49-F238E27FC236}">
                <a16:creationId xmlns="" xmlns:a16="http://schemas.microsoft.com/office/drawing/2014/main" id="{AB9AC050-C8CD-43C1-9E29-A135A0926380}"/>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1651516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F62BA3C-7EBB-465E-90EA-FB9BCD037B27}"/>
              </a:ext>
            </a:extLst>
          </p:cNvPr>
          <p:cNvSpPr>
            <a:spLocks noGrp="1"/>
          </p:cNvSpPr>
          <p:nvPr>
            <p:ph type="title"/>
          </p:nvPr>
        </p:nvSpPr>
        <p:spPr/>
        <p:txBody>
          <a:bodyPr/>
          <a:lstStyle/>
          <a:p>
            <a:r>
              <a:rPr lang="pt-BR" dirty="0"/>
              <a:t>RESENHA</a:t>
            </a:r>
          </a:p>
        </p:txBody>
      </p:sp>
      <p:sp>
        <p:nvSpPr>
          <p:cNvPr id="3" name="Espaço Reservado para Conteúdo 2">
            <a:extLst>
              <a:ext uri="{FF2B5EF4-FFF2-40B4-BE49-F238E27FC236}">
                <a16:creationId xmlns="" xmlns:a16="http://schemas.microsoft.com/office/drawing/2014/main" id="{43E00A66-013F-4DBB-B496-B32B9DBF3D44}"/>
              </a:ext>
            </a:extLst>
          </p:cNvPr>
          <p:cNvSpPr>
            <a:spLocks noGrp="1"/>
          </p:cNvSpPr>
          <p:nvPr>
            <p:ph idx="1"/>
          </p:nvPr>
        </p:nvSpPr>
        <p:spPr/>
        <p:txBody>
          <a:bodyPr>
            <a:normAutofit/>
          </a:bodyPr>
          <a:lstStyle/>
          <a:p>
            <a:pPr marL="0" indent="0" algn="just">
              <a:buNone/>
            </a:pPr>
            <a:r>
              <a:rPr lang="pt-BR" dirty="0"/>
              <a:t>7. </a:t>
            </a:r>
            <a:r>
              <a:rPr lang="pt-BR" dirty="0" smtClean="0"/>
              <a:t>Deve </a:t>
            </a:r>
            <a:r>
              <a:rPr lang="pt-BR" b="1" dirty="0" smtClean="0"/>
              <a:t>destacar </a:t>
            </a:r>
            <a:r>
              <a:rPr lang="pt-BR" b="1" dirty="0"/>
              <a:t>clara e sucintamente a contribuição ou a importância do livro dentro do seu gênero e tema</a:t>
            </a:r>
            <a:r>
              <a:rPr lang="pt-BR" dirty="0"/>
              <a:t>, com base no conjunto de argumentos expostos nos parágrafos anteriores. </a:t>
            </a:r>
            <a:r>
              <a:rPr lang="pt-BR" dirty="0" smtClean="0"/>
              <a:t>Fazer o </a:t>
            </a:r>
            <a:r>
              <a:rPr lang="pt-BR" dirty="0"/>
              <a:t>balanço final dos aspectos positivos e negativos da obra e dar ao leitor o seu parecer, que pode ser positivo ou claramente negativo, ou intermediário entre esses extremos. </a:t>
            </a:r>
            <a:endParaRPr lang="pt-BR" dirty="0" smtClean="0"/>
          </a:p>
          <a:p>
            <a:pPr marL="0" indent="0" algn="just">
              <a:buNone/>
            </a:pPr>
            <a:r>
              <a:rPr lang="pt-BR" dirty="0" smtClean="0"/>
              <a:t>8</a:t>
            </a:r>
            <a:r>
              <a:rPr lang="pt-BR" dirty="0"/>
              <a:t>. Um ultimo elemento, </a:t>
            </a:r>
            <a:r>
              <a:rPr lang="pt-BR" b="1" dirty="0"/>
              <a:t>facultativo</a:t>
            </a:r>
            <a:r>
              <a:rPr lang="pt-BR" dirty="0"/>
              <a:t>, é apresentar um </a:t>
            </a:r>
            <a:r>
              <a:rPr lang="pt-BR" b="1" dirty="0"/>
              <a:t>perfil dos leitores que o resenhista considera serem os maiores interessados </a:t>
            </a:r>
            <a:r>
              <a:rPr lang="pt-BR" dirty="0"/>
              <a:t>no livro - "adolescentes", "profissionais do ensino", "cidadãos ativistas",  "estudantes  de graduação" etc.</a:t>
            </a:r>
          </a:p>
          <a:p>
            <a:pPr marL="0" indent="0">
              <a:buNone/>
            </a:pPr>
            <a:endParaRPr lang="pt-BR" dirty="0"/>
          </a:p>
          <a:p>
            <a:pPr marL="0" indent="0">
              <a:buNone/>
            </a:pPr>
            <a:endParaRPr lang="pt-BR" dirty="0"/>
          </a:p>
        </p:txBody>
      </p:sp>
      <p:sp>
        <p:nvSpPr>
          <p:cNvPr id="4" name="Espaço Reservado para Texto 3">
            <a:extLst>
              <a:ext uri="{FF2B5EF4-FFF2-40B4-BE49-F238E27FC236}">
                <a16:creationId xmlns="" xmlns:a16="http://schemas.microsoft.com/office/drawing/2014/main" id="{02B72076-BB76-4126-8525-35DD6DFABB48}"/>
              </a:ext>
            </a:extLst>
          </p:cNvPr>
          <p:cNvSpPr>
            <a:spLocks noGrp="1"/>
          </p:cNvSpPr>
          <p:nvPr>
            <p:ph type="body" sz="half" idx="2"/>
          </p:nvPr>
        </p:nvSpPr>
        <p:spPr/>
        <p:txBody>
          <a:bodyPr/>
          <a:lstStyle/>
          <a:p>
            <a:r>
              <a:rPr lang="pt-BR" dirty="0"/>
              <a:t>ROTEIRO</a:t>
            </a:r>
          </a:p>
        </p:txBody>
      </p:sp>
      <p:sp>
        <p:nvSpPr>
          <p:cNvPr id="5" name="Espaço Reservado para Data 4">
            <a:extLst>
              <a:ext uri="{FF2B5EF4-FFF2-40B4-BE49-F238E27FC236}">
                <a16:creationId xmlns="" xmlns:a16="http://schemas.microsoft.com/office/drawing/2014/main" id="{E03D0A63-029F-4382-B3BB-A9F3A9D80860}"/>
              </a:ext>
            </a:extLst>
          </p:cNvPr>
          <p:cNvSpPr>
            <a:spLocks noGrp="1"/>
          </p:cNvSpPr>
          <p:nvPr>
            <p:ph type="dt" sz="half" idx="10"/>
          </p:nvPr>
        </p:nvSpPr>
        <p:spPr/>
        <p:txBody>
          <a:bodyPr/>
          <a:lstStyle/>
          <a:p>
            <a:pPr rtl="0"/>
            <a:fld id="{B01F5550-97CC-4F3B-A34B-FE39BFD06EF0}" type="datetime1">
              <a:rPr lang="pt-BR" smtClean="0"/>
              <a:t>19/07/2022</a:t>
            </a:fld>
            <a:endParaRPr lang="en-US"/>
          </a:p>
        </p:txBody>
      </p:sp>
    </p:spTree>
    <p:extLst>
      <p:ext uri="{BB962C8B-B14F-4D97-AF65-F5344CB8AC3E}">
        <p14:creationId xmlns:p14="http://schemas.microsoft.com/office/powerpoint/2010/main" val="1265032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E50B2A45-94D8-49A1-8E15-55F7128A80DD}"/>
              </a:ext>
            </a:extLst>
          </p:cNvPr>
          <p:cNvSpPr>
            <a:spLocks noGrp="1"/>
          </p:cNvSpPr>
          <p:nvPr>
            <p:ph type="title"/>
          </p:nvPr>
        </p:nvSpPr>
        <p:spPr>
          <a:xfrm>
            <a:off x="1066800" y="642594"/>
            <a:ext cx="2246243" cy="351319"/>
          </a:xfrm>
        </p:spPr>
        <p:txBody>
          <a:bodyPr>
            <a:normAutofit fontScale="90000"/>
          </a:bodyPr>
          <a:lstStyle/>
          <a:p>
            <a:r>
              <a:rPr lang="pt-BR" sz="1800" b="1" dirty="0"/>
              <a:t>MODELO DE RESENHA</a:t>
            </a:r>
          </a:p>
        </p:txBody>
      </p:sp>
      <p:sp>
        <p:nvSpPr>
          <p:cNvPr id="3" name="Espaço Reservado para Data 2">
            <a:extLst>
              <a:ext uri="{FF2B5EF4-FFF2-40B4-BE49-F238E27FC236}">
                <a16:creationId xmlns="" xmlns:a16="http://schemas.microsoft.com/office/drawing/2014/main" id="{2FE4B734-7FBE-428E-8D6A-9291A083E58F}"/>
              </a:ext>
            </a:extLst>
          </p:cNvPr>
          <p:cNvSpPr>
            <a:spLocks noGrp="1"/>
          </p:cNvSpPr>
          <p:nvPr>
            <p:ph type="dt" sz="half" idx="10"/>
          </p:nvPr>
        </p:nvSpPr>
        <p:spPr/>
        <p:txBody>
          <a:bodyPr/>
          <a:lstStyle/>
          <a:p>
            <a:pPr rtl="0"/>
            <a:fld id="{3812AD8E-909B-47FE-B3D6-961E1D2E7A49}" type="datetime1">
              <a:rPr lang="pt-BR" smtClean="0"/>
              <a:t>19/07/2022</a:t>
            </a:fld>
            <a:endParaRPr lang="en-US"/>
          </a:p>
        </p:txBody>
      </p:sp>
      <p:sp>
        <p:nvSpPr>
          <p:cNvPr id="4" name="CaixaDeTexto 3">
            <a:extLst>
              <a:ext uri="{FF2B5EF4-FFF2-40B4-BE49-F238E27FC236}">
                <a16:creationId xmlns="" xmlns:a16="http://schemas.microsoft.com/office/drawing/2014/main" id="{4B823C43-DE3E-48E3-BEE3-83FF6B73629B}"/>
              </a:ext>
            </a:extLst>
          </p:cNvPr>
          <p:cNvSpPr txBox="1"/>
          <p:nvPr/>
        </p:nvSpPr>
        <p:spPr>
          <a:xfrm>
            <a:off x="675861" y="1364974"/>
            <a:ext cx="10972800" cy="4062651"/>
          </a:xfrm>
          <a:prstGeom prst="rect">
            <a:avLst/>
          </a:prstGeom>
          <a:noFill/>
        </p:spPr>
        <p:txBody>
          <a:bodyPr wrap="square" rtlCol="0">
            <a:spAutoFit/>
          </a:bodyPr>
          <a:lstStyle/>
          <a:p>
            <a:r>
              <a:rPr lang="pt-BR" dirty="0"/>
              <a:t>EXEMPLO DE RESENHA DE UM LIVRO</a:t>
            </a:r>
          </a:p>
          <a:p>
            <a:pPr algn="just"/>
            <a:endParaRPr lang="pt-BR" sz="1200" dirty="0"/>
          </a:p>
          <a:p>
            <a:pPr algn="just"/>
            <a:r>
              <a:rPr lang="pt-BR" sz="1200" dirty="0"/>
              <a:t>FRANCO, Hilário; MARRA, Ernesto. </a:t>
            </a:r>
            <a:r>
              <a:rPr lang="pt-BR" sz="1200" b="1" dirty="0"/>
              <a:t>Auditoria Contábil</a:t>
            </a:r>
            <a:r>
              <a:rPr lang="pt-BR" sz="1200" dirty="0"/>
              <a:t>: Normas de Auditoria, procedimentos e papéis de trabalho, programas de auditoria e relatórios de auditoria. 4.ed. São Paulo: Atlas,1999. </a:t>
            </a:r>
            <a:r>
              <a:rPr lang="pt-BR" sz="1200" smtClean="0"/>
              <a:t>356p. </a:t>
            </a:r>
            <a:r>
              <a:rPr lang="pt-BR" sz="1200" smtClean="0">
                <a:solidFill>
                  <a:schemeClr val="accent1"/>
                </a:solidFill>
              </a:rPr>
              <a:t>[REFERÊNCIA </a:t>
            </a:r>
            <a:r>
              <a:rPr lang="pt-BR" sz="1200" dirty="0">
                <a:solidFill>
                  <a:schemeClr val="accent1"/>
                </a:solidFill>
              </a:rPr>
              <a:t>BIBLIOGRÁFICA]</a:t>
            </a:r>
          </a:p>
          <a:p>
            <a:pPr algn="just"/>
            <a:endParaRPr lang="pt-BR" sz="1200" dirty="0"/>
          </a:p>
          <a:p>
            <a:pPr algn="just"/>
            <a:r>
              <a:rPr lang="pt-BR" sz="1200" dirty="0"/>
              <a:t> </a:t>
            </a:r>
            <a:r>
              <a:rPr lang="pt-BR" sz="1200" b="1" dirty="0"/>
              <a:t>Credenciais do Autor: </a:t>
            </a:r>
            <a:r>
              <a:rPr lang="pt-BR" sz="1200" dirty="0"/>
              <a:t>Hilário Franco. Contador, Economista, Administrador, com cursos de especialização em vários cursos de pós-graduação. Professor por mais três decênios, de várias disciplinas de Contabilidade em diversas Faculdades e Escolas Comerciais do Brasil e do exterior. </a:t>
            </a:r>
            <a:r>
              <a:rPr lang="pt-BR" sz="1200" dirty="0">
                <a:solidFill>
                  <a:schemeClr val="accent3">
                    <a:lumMod val="75000"/>
                  </a:schemeClr>
                </a:solidFill>
              </a:rPr>
              <a:t>[DADOS BREVES SOBRE O AUTOR]</a:t>
            </a:r>
          </a:p>
          <a:p>
            <a:pPr algn="just"/>
            <a:endParaRPr lang="pt-BR" sz="1200" dirty="0"/>
          </a:p>
          <a:p>
            <a:pPr algn="just"/>
            <a:r>
              <a:rPr lang="pt-BR" sz="1200" b="1" dirty="0"/>
              <a:t>Comentários: </a:t>
            </a:r>
            <a:r>
              <a:rPr lang="pt-BR" sz="1200" dirty="0">
                <a:solidFill>
                  <a:schemeClr val="accent2">
                    <a:lumMod val="75000"/>
                  </a:schemeClr>
                </a:solidFill>
              </a:rPr>
              <a:t>Em sua quarta edição, devidamente revista e atualizada, esta publicação foi escrita com rigor técnico, ajustada às normas legais e fundamentada em prolongada experiência profissional. </a:t>
            </a:r>
            <a:r>
              <a:rPr lang="pt-BR" sz="1200" dirty="0"/>
              <a:t>[GÊNERO TEXTUAL] </a:t>
            </a:r>
            <a:r>
              <a:rPr lang="pt-BR" sz="1200" dirty="0">
                <a:solidFill>
                  <a:schemeClr val="accent6">
                    <a:lumMod val="50000"/>
                  </a:schemeClr>
                </a:solidFill>
              </a:rPr>
              <a:t>Seu texto atende a uma exigência já há algum tempo manifestada no País: a produção de literatura técnica sobre auditoria contábil, em nível compatível com o desenvolvimento profissional verificado na área. </a:t>
            </a:r>
            <a:r>
              <a:rPr lang="pt-BR" sz="1200" dirty="0"/>
              <a:t>[CONTRIBUIÇÃO DA OBRA] </a:t>
            </a:r>
            <a:r>
              <a:rPr lang="pt-BR" sz="1200" dirty="0">
                <a:solidFill>
                  <a:schemeClr val="accent2">
                    <a:lumMod val="50000"/>
                  </a:schemeClr>
                </a:solidFill>
              </a:rPr>
              <a:t>A auditoria é, certamente, a técnica de controle que mais se desenvolveu no últimos dez anos, no Brasil, exigindo dos profissionais conhecimentos abrangentes que vão além do tradicional campo da Contabilidade, envolvendo, entre outras áreas, também, a análise das finanças das empresas e do setor público, o direito empresarial e o processo administrativo. </a:t>
            </a:r>
            <a:r>
              <a:rPr lang="pt-BR" sz="1200" dirty="0"/>
              <a:t>[INFORMAÇÕES SOBRE CONTEÚDO E INTENÇÕES DA OBRA]</a:t>
            </a:r>
            <a:r>
              <a:rPr lang="pt-BR" sz="1200" dirty="0">
                <a:solidFill>
                  <a:schemeClr val="accent2">
                    <a:lumMod val="50000"/>
                  </a:schemeClr>
                </a:solidFill>
              </a:rPr>
              <a:t> </a:t>
            </a:r>
            <a:r>
              <a:rPr lang="pt-BR" sz="1200" dirty="0">
                <a:solidFill>
                  <a:schemeClr val="accent3">
                    <a:lumMod val="75000"/>
                  </a:schemeClr>
                </a:solidFill>
              </a:rPr>
              <a:t>Constituindo-se em sólida contribuição para a formação de profissionais nessa área, este texto não apenas expõe as técnicas da auditoria contábil, como ainda analisa as condições necessárias (legais, técnicas, culturais e éticas) ao exercício da função de auditor e à constituição de sociedades profissionais. </a:t>
            </a:r>
            <a:r>
              <a:rPr lang="pt-BR" sz="1200" dirty="0"/>
              <a:t>[APRECIAÇÃO VALORIATIVA DO RESENHISTA/ A CONTRIBUIÇÃO OU A IMPORTÂNCIA DO LIVRO DENTRO DO SEU GÊNERO E TEMA]</a:t>
            </a:r>
            <a:r>
              <a:rPr lang="pt-BR" sz="1200" dirty="0">
                <a:solidFill>
                  <a:schemeClr val="accent4">
                    <a:lumMod val="50000"/>
                  </a:schemeClr>
                </a:solidFill>
              </a:rPr>
              <a:t> Finalmente, a obra apresenta, também, todas as normas editadas pelo Conselho Federal de Contabilidade sobre a matéria e que, no exercício profissional, são de observância obrigatória pelo Contador no desempenho da função de auditor.</a:t>
            </a:r>
            <a:r>
              <a:rPr lang="pt-BR" sz="1200" dirty="0"/>
              <a:t> [</a:t>
            </a:r>
            <a:r>
              <a:rPr lang="pt-BR" sz="1400" dirty="0"/>
              <a:t>PERFIL DOS LEITORES QUE O RESENHISTA CONSIDERA SEREM OS MAIORES INTERESSADOS ]</a:t>
            </a:r>
            <a:endParaRPr lang="pt-BR" sz="1200" dirty="0">
              <a:solidFill>
                <a:schemeClr val="accent4">
                  <a:lumMod val="50000"/>
                </a:schemeClr>
              </a:solidFill>
            </a:endParaRPr>
          </a:p>
        </p:txBody>
      </p:sp>
    </p:spTree>
    <p:extLst>
      <p:ext uri="{BB962C8B-B14F-4D97-AF65-F5344CB8AC3E}">
        <p14:creationId xmlns:p14="http://schemas.microsoft.com/office/powerpoint/2010/main" val="10548416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_41798614_TF78438558" id="{EFC388B7-E3E7-46E9-90A0-7401A222EB8A}" vid="{685F28B6-3FA5-49C7-9831-35ED941F70C7}"/>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{B52B8AD0-E38F-4C57-B084-C5CC4D232D1E}tf78438558_win32</Template>
  <TotalTime>626</TotalTime>
  <Words>2934</Words>
  <Application>Microsoft Office PowerPoint</Application>
  <PresentationFormat>Widescreen</PresentationFormat>
  <Paragraphs>215</Paragraphs>
  <Slides>26</Slides>
  <Notes>0</Notes>
  <HiddenSlides>10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26</vt:i4>
      </vt:variant>
    </vt:vector>
  </HeadingPairs>
  <TitlesOfParts>
    <vt:vector size="36" baseType="lpstr">
      <vt:lpstr>Arial</vt:lpstr>
      <vt:lpstr>Calibri</vt:lpstr>
      <vt:lpstr>Century Gothic</vt:lpstr>
      <vt:lpstr>Garamond</vt:lpstr>
      <vt:lpstr>Open Sans</vt:lpstr>
      <vt:lpstr>Open Sans</vt:lpstr>
      <vt:lpstr>Roboto</vt:lpstr>
      <vt:lpstr>Verdana</vt:lpstr>
      <vt:lpstr>Wingdings</vt:lpstr>
      <vt:lpstr>SavonVTI</vt:lpstr>
      <vt:lpstr>ESCRITA DA PESQUISA CIENTÍFICA</vt:lpstr>
      <vt:lpstr>PAPER</vt:lpstr>
      <vt:lpstr>TÉCNICA DE ELABORAÇÃO</vt:lpstr>
      <vt:lpstr>Modelo Aplicado a Área de Contabilidade</vt:lpstr>
      <vt:lpstr>Modelo Aplicado a Área de Contabilidade</vt:lpstr>
      <vt:lpstr>MODELOS DE REFERÊNCIA</vt:lpstr>
      <vt:lpstr>MODELOS DE REFERÊNCIA</vt:lpstr>
      <vt:lpstr>MODELO DE REFERÊNCIA</vt:lpstr>
      <vt:lpstr>MODELO DE REFERÊNCIA</vt:lpstr>
      <vt:lpstr>MODELO DE REFERÊNCIA</vt:lpstr>
      <vt:lpstr>MODELO DE REFERÊNCIA</vt:lpstr>
      <vt:lpstr>resumo</vt:lpstr>
      <vt:lpstr>RESUMO</vt:lpstr>
      <vt:lpstr>RESUMO</vt:lpstr>
      <vt:lpstr>RESUMO</vt:lpstr>
      <vt:lpstr>RESUMO</vt:lpstr>
      <vt:lpstr>ESCRITA DA PESQUISA CIENTÍFICA</vt:lpstr>
      <vt:lpstr>Qual é a resenha?</vt:lpstr>
      <vt:lpstr>resenha é o resumo comentado de livro</vt:lpstr>
      <vt:lpstr>RESENHA ACADÊMICA</vt:lpstr>
      <vt:lpstr>RESENHA</vt:lpstr>
      <vt:lpstr>RESENHA</vt:lpstr>
      <vt:lpstr>RESENHA</vt:lpstr>
      <vt:lpstr>RESENHA</vt:lpstr>
      <vt:lpstr>RESENHA</vt:lpstr>
      <vt:lpstr>MODELO DE RESENHA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ESCRITA DA PESQUISA CIENTÍFICA</dc:title>
  <dc:creator>Mona</dc:creator>
  <cp:lastModifiedBy>Conta da Microsoft</cp:lastModifiedBy>
  <cp:revision>11</cp:revision>
  <dcterms:created xsi:type="dcterms:W3CDTF">2021-08-05T18:07:14Z</dcterms:created>
  <dcterms:modified xsi:type="dcterms:W3CDTF">2022-07-19T21:22:01Z</dcterms:modified>
</cp:coreProperties>
</file>