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0"/>
  </p:notesMasterIdLst>
  <p:handoutMasterIdLst>
    <p:handoutMasterId r:id="rId21"/>
  </p:handoutMasterIdLst>
  <p:sldIdLst>
    <p:sldId id="279" r:id="rId2"/>
    <p:sldId id="266" r:id="rId3"/>
    <p:sldId id="277" r:id="rId4"/>
    <p:sldId id="268" r:id="rId5"/>
    <p:sldId id="275" r:id="rId6"/>
    <p:sldId id="276" r:id="rId7"/>
    <p:sldId id="283" r:id="rId8"/>
    <p:sldId id="285" r:id="rId9"/>
    <p:sldId id="284" r:id="rId10"/>
    <p:sldId id="269" r:id="rId11"/>
    <p:sldId id="271" r:id="rId12"/>
    <p:sldId id="270" r:id="rId13"/>
    <p:sldId id="278" r:id="rId14"/>
    <p:sldId id="272" r:id="rId15"/>
    <p:sldId id="273" r:id="rId16"/>
    <p:sldId id="274" r:id="rId17"/>
    <p:sldId id="282" r:id="rId18"/>
    <p:sldId id="280" r:id="rId19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22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1" d="100"/>
          <a:sy n="41" d="100"/>
        </p:scale>
        <p:origin x="-906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6580C0-3169-4135-A849-00BC7558F2F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026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295B15A-5EEB-4385-AF15-AFEBEA2AD6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974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1027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sz="2400">
                <a:latin typeface="Times New Roman" pitchFamily="18" charset="0"/>
              </a:endParaRPr>
            </a:p>
          </p:txBody>
        </p:sp>
        <p:grpSp>
          <p:nvGrpSpPr>
            <p:cNvPr id="6" name="Group 1028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1029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1030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12" name="Line 1031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</p:grpSp>
        <p:grpSp>
          <p:nvGrpSpPr>
            <p:cNvPr id="7" name="Group 1032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1033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9" name="Line 1034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</p:grpSp>
      </p:grpSp>
      <p:sp>
        <p:nvSpPr>
          <p:cNvPr id="21515" name="Rectangle 1035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30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21516" name="Rectangle 103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3" name="Rectangle 1037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038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5" name="Rectangle 103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3B36C-6BAF-42E2-8DFC-4FBE1CC7433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F04D1-ACA4-4833-B4B3-A514D90E3A1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FFB29-2002-462C-8D92-857CC8FAAD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9D881-010A-4994-ABD9-B0E9984340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F3F107-DB88-4506-A0D8-8B3F2E18843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D69B0-A0AC-4A22-9901-E7F97BAD2F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6F6A9-F4FE-470F-8B23-308F4DB4D48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8FA56-B25F-4D28-9211-4D42B9C522A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33424-759E-4B34-AB10-00FCB9277E9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73BE09-6865-4C7F-863A-95E975AED34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B1B1A-57E2-4A71-853A-B75A4362C2C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2048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sz="2400">
                <a:latin typeface="Times New Roman" pitchFamily="18" charset="0"/>
              </a:endParaRPr>
            </a:p>
          </p:txBody>
        </p:sp>
        <p:grpSp>
          <p:nvGrpSpPr>
            <p:cNvPr id="615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2048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2048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pt-BR"/>
              </a:p>
            </p:txBody>
          </p:sp>
        </p:grpSp>
      </p:grpSp>
      <p:sp>
        <p:nvSpPr>
          <p:cNvPr id="614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614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2048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49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4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084420E0-5C7D-438B-8FB3-B91B39C98FA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ransition/>
  <p:txStyles>
    <p:titleStyle>
      <a:lvl1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+mj-lt"/>
          <a:ea typeface="+mj-ea"/>
          <a:cs typeface="+mj-cs"/>
        </a:defRPr>
      </a:lvl1pPr>
      <a:lvl2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2pPr>
      <a:lvl3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3pPr>
      <a:lvl4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4pPr>
      <a:lvl5pPr algn="just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5pPr>
      <a:lvl6pPr marL="457200" algn="just" rtl="0" fontAlgn="base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6pPr>
      <a:lvl7pPr marL="914400" algn="just" rtl="0" fontAlgn="base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7pPr>
      <a:lvl8pPr marL="1371600" algn="just" rtl="0" fontAlgn="base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8pPr>
      <a:lvl9pPr marL="1828800" algn="just" rtl="0" fontAlgn="base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Arial" pitchFamily="34" charset="0"/>
          <a:ea typeface="Times New Roman" pitchFamily="18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q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q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35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Conversão Matricial da Circunferência</a:t>
            </a:r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pt-BR"/>
              <a:t>Computação Gráfica</a:t>
            </a:r>
          </a:p>
          <a:p>
            <a:pPr eaLnBrk="1" hangingPunct="1"/>
            <a:r>
              <a:rPr lang="pt-BR"/>
              <a:t>Prof. Robson Pequeno de Sousa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Circunferência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pt-BR">
              <a:cs typeface="Arial" pitchFamily="34" charset="0"/>
            </a:endParaRPr>
          </a:p>
          <a:p>
            <a:pPr eaLnBrk="1" hangingPunct="1"/>
            <a:r>
              <a:rPr lang="pt-BR">
                <a:cs typeface="Arial" pitchFamily="34" charset="0"/>
              </a:rPr>
              <a:t>A equação de uma circunferência com centro na origem e raio R, em coordenadas cartesianas, é dada por:</a:t>
            </a:r>
          </a:p>
          <a:p>
            <a:pPr eaLnBrk="1" hangingPunct="1"/>
            <a:endParaRPr lang="pt-BR">
              <a:cs typeface="Arial" pitchFamily="34" charset="0"/>
            </a:endParaRPr>
          </a:p>
          <a:p>
            <a:pPr eaLnBrk="1" hangingPunct="1"/>
            <a:endParaRPr lang="pt-BR" sz="2000">
              <a:cs typeface="Arial" pitchFamily="34" charset="0"/>
            </a:endParaRPr>
          </a:p>
          <a:p>
            <a:pPr eaLnBrk="1" hangingPunct="1"/>
            <a:endParaRPr lang="pt-BR" sz="2000">
              <a:cs typeface="Arial" pitchFamily="34" charset="0"/>
            </a:endParaRPr>
          </a:p>
          <a:p>
            <a:pPr eaLnBrk="1" hangingPunct="1"/>
            <a:endParaRPr lang="pt-BR" sz="2000">
              <a:cs typeface="Arial" pitchFamily="34" charset="0"/>
            </a:endParaRPr>
          </a:p>
          <a:p>
            <a:pPr eaLnBrk="1" hangingPunct="1"/>
            <a:r>
              <a:rPr lang="pt-BR">
                <a:cs typeface="Arial" pitchFamily="34" charset="0"/>
              </a:rPr>
              <a:t>Equação explicita da circunferência</a:t>
            </a:r>
          </a:p>
          <a:p>
            <a:pPr eaLnBrk="1" hangingPunct="1">
              <a:buFont typeface="Wingdings" pitchFamily="2" charset="2"/>
              <a:buNone/>
            </a:pPr>
            <a:endParaRPr lang="pt-BR" sz="200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pt-BR" sz="2000">
              <a:cs typeface="Arial" pitchFamily="34" charset="0"/>
            </a:endParaRPr>
          </a:p>
        </p:txBody>
      </p:sp>
      <p:graphicFrame>
        <p:nvGraphicFramePr>
          <p:cNvPr id="1026" name="Object 1024"/>
          <p:cNvGraphicFramePr>
            <a:graphicFrameLocks noChangeAspect="1"/>
          </p:cNvGraphicFramePr>
          <p:nvPr/>
        </p:nvGraphicFramePr>
        <p:xfrm>
          <a:off x="3124200" y="4114800"/>
          <a:ext cx="1511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Equation" r:id="rId3" imgW="1511280" imgH="406080" progId="">
                  <p:embed/>
                </p:oleObj>
              </mc:Choice>
              <mc:Fallback>
                <p:oleObj name="Equation" r:id="rId3" imgW="1511280" imgH="406080" progId="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14800"/>
                        <a:ext cx="1511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1025"/>
          <p:cNvGraphicFramePr>
            <a:graphicFrameLocks noChangeAspect="1"/>
          </p:cNvGraphicFramePr>
          <p:nvPr/>
        </p:nvGraphicFramePr>
        <p:xfrm>
          <a:off x="2286000" y="5791200"/>
          <a:ext cx="3060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Equation" r:id="rId5" imgW="3060360" imgH="469800" progId="">
                  <p:embed/>
                </p:oleObj>
              </mc:Choice>
              <mc:Fallback>
                <p:oleObj name="Equation" r:id="rId5" imgW="3060360" imgH="469800" progId="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791200"/>
                        <a:ext cx="3060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3481388" y="24241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Simetria de Ordem 8</a:t>
            </a:r>
          </a:p>
        </p:txBody>
      </p:sp>
      <p:sp>
        <p:nvSpPr>
          <p:cNvPr id="1024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/>
              <a:t>O traçado de uma circunferência pode tirar proveito de sua simetria.</a:t>
            </a:r>
          </a:p>
          <a:p>
            <a:pPr lvl="1" eaLnBrk="1" hangingPunct="1"/>
            <a:endParaRPr lang="pt-BR"/>
          </a:p>
          <a:p>
            <a:pPr lvl="1" eaLnBrk="1" hangingPunct="1"/>
            <a:r>
              <a:rPr lang="pt-BR"/>
              <a:t>Suponha que a circunferência esteja centrada na origem</a:t>
            </a:r>
          </a:p>
          <a:p>
            <a:pPr lvl="1" eaLnBrk="1" hangingPunct="1"/>
            <a:r>
              <a:rPr lang="pt-BR"/>
              <a:t>Se o ponto </a:t>
            </a:r>
            <a:r>
              <a:rPr lang="pt-BR" i="1"/>
              <a:t>(x,y)</a:t>
            </a:r>
            <a:r>
              <a:rPr lang="pt-BR"/>
              <a:t> pertence à circunferência, pode-se calcular os sete outros pontos da circunferência por simetria.</a:t>
            </a:r>
          </a:p>
          <a:p>
            <a:pPr lvl="1" eaLnBrk="1" hangingPunct="1"/>
            <a:r>
              <a:rPr lang="pt-BR"/>
              <a:t> Compute um arco de circunferência de 45º para obter a circunferência toda.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pt-BR"/>
              <a:t>Simetria de Ordem 8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153400" cy="5181600"/>
          </a:xfrm>
        </p:spPr>
        <p:txBody>
          <a:bodyPr/>
          <a:lstStyle/>
          <a:p>
            <a:pPr algn="just" eaLnBrk="1" hangingPunct="1"/>
            <a:r>
              <a:rPr lang="pt-BR" sz="3200" b="1">
                <a:cs typeface="Arial" pitchFamily="34" charset="0"/>
              </a:rPr>
              <a:t>Simetria de ordem 8 </a:t>
            </a:r>
            <a:endParaRPr lang="pt-BR" sz="3200"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void Círculo_ponto(</a:t>
            </a:r>
            <a:r>
              <a:rPr lang="pt-BR" sz="2000" b="1">
                <a:cs typeface="Arial" pitchFamily="34" charset="0"/>
              </a:rPr>
              <a:t>int</a:t>
            </a:r>
            <a:r>
              <a:rPr lang="pt-BR" sz="2000">
                <a:cs typeface="Arial" pitchFamily="34" charset="0"/>
              </a:rPr>
              <a:t> x,</a:t>
            </a:r>
            <a:r>
              <a:rPr lang="pt-BR" sz="2000" b="1">
                <a:cs typeface="Arial" pitchFamily="34" charset="0"/>
              </a:rPr>
              <a:t>int</a:t>
            </a:r>
            <a:r>
              <a:rPr lang="pt-BR" sz="2000">
                <a:cs typeface="Arial" pitchFamily="34" charset="0"/>
              </a:rPr>
              <a:t> y,</a:t>
            </a:r>
            <a:r>
              <a:rPr lang="pt-BR" sz="2000" b="1">
                <a:cs typeface="Arial" pitchFamily="34" charset="0"/>
              </a:rPr>
              <a:t>int</a:t>
            </a:r>
            <a:r>
              <a:rPr lang="pt-BR" sz="2000">
                <a:cs typeface="Arial" pitchFamily="34" charset="0"/>
              </a:rPr>
              <a:t> valor)</a:t>
            </a:r>
            <a:endParaRPr lang="pt-BR" sz="2000"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{</a:t>
            </a:r>
            <a:endParaRPr lang="pt-BR" sz="2000"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writepixel(x,y,valor);</a:t>
            </a:r>
            <a:endParaRPr lang="pt-BR" sz="2000"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writepixel(y,x,valor);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writepixel(y,-x,valor);</a:t>
            </a:r>
            <a:endParaRPr lang="pt-BR" sz="2000"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writepixel(x,-y,valor);</a:t>
            </a:r>
            <a:endParaRPr lang="pt-BR" sz="2000"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writepixel(-x,-y,valor);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writepixel(-y,-x,valor);</a:t>
            </a:r>
            <a:endParaRPr lang="pt-BR" sz="2000"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writepixel(-y,x,valor);</a:t>
            </a:r>
            <a:endParaRPr lang="pt-BR" sz="2000">
              <a:cs typeface="Times New Roman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writepixel(-x,y,valor);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pt-BR" sz="2000">
                <a:cs typeface="Arial" pitchFamily="34" charset="0"/>
              </a:rPr>
              <a:t>}</a:t>
            </a:r>
            <a:endParaRPr lang="pt-BR" sz="2000">
              <a:cs typeface="Times New Roman" pitchFamily="18" charset="0"/>
            </a:endParaRPr>
          </a:p>
          <a:p>
            <a:pPr eaLnBrk="1" hangingPunct="1"/>
            <a:endParaRPr lang="pt-BR" sz="200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028950" y="2357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2809875"/>
            <a:ext cx="4572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Traçados de Círculos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3200"/>
              <a:t>Algoritmos Alternativos</a:t>
            </a:r>
          </a:p>
          <a:p>
            <a:pPr lvl="1" eaLnBrk="1" hangingPunct="1"/>
            <a:r>
              <a:rPr lang="pt-BR"/>
              <a:t>polígono regular de </a:t>
            </a:r>
            <a:r>
              <a:rPr lang="pt-BR" i="1"/>
              <a:t>n</a:t>
            </a:r>
            <a:r>
              <a:rPr lang="pt-BR"/>
              <a:t> lados é usado como aproximação para a circunferência.</a:t>
            </a:r>
          </a:p>
          <a:p>
            <a:pPr lvl="1" eaLnBrk="1" hangingPunct="1"/>
            <a:endParaRPr lang="pt-BR"/>
          </a:p>
          <a:p>
            <a:pPr lvl="1" eaLnBrk="1" hangingPunct="1"/>
            <a:r>
              <a:rPr lang="pt-BR"/>
              <a:t>Desvantagem</a:t>
            </a:r>
          </a:p>
          <a:p>
            <a:pPr lvl="2" eaLnBrk="1" hangingPunct="1"/>
            <a:endParaRPr lang="pt-BR"/>
          </a:p>
          <a:p>
            <a:pPr lvl="2" eaLnBrk="1" hangingPunct="1"/>
            <a:r>
              <a:rPr lang="pt-BR"/>
              <a:t>n deve ser suficientemente grande para se ter uma boa aproximação.</a:t>
            </a:r>
          </a:p>
          <a:p>
            <a:pPr lvl="2" eaLnBrk="1" hangingPunct="1"/>
            <a:r>
              <a:rPr lang="pt-BR"/>
              <a:t>Algoritmo lento</a:t>
            </a:r>
          </a:p>
          <a:p>
            <a:pPr lvl="2" eaLnBrk="1" hangingPunct="1"/>
            <a:r>
              <a:rPr lang="pt-BR"/>
              <a:t>Busca de alternativas para acelerar o algoritmo</a:t>
            </a:r>
          </a:p>
          <a:p>
            <a:pPr lvl="1" eaLnBrk="1" hangingPunct="1"/>
            <a:endParaRPr lang="pt-BR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Traçados de Círculos</a:t>
            </a:r>
          </a:p>
        </p:txBody>
      </p:sp>
      <p:sp>
        <p:nvSpPr>
          <p:cNvPr id="2052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3200"/>
              <a:t>Algoritmos Alternativos</a:t>
            </a:r>
          </a:p>
          <a:p>
            <a:pPr lvl="1" eaLnBrk="1" hangingPunct="1"/>
            <a:r>
              <a:rPr lang="pt-BR" sz="2800"/>
              <a:t>equação explícita da circunferência,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sz="2800" i="1"/>
              <a:t> </a:t>
            </a:r>
          </a:p>
          <a:p>
            <a:pPr lvl="2" eaLnBrk="1" hangingPunct="1">
              <a:buFont typeface="Wingdings" pitchFamily="2" charset="2"/>
              <a:buNone/>
            </a:pPr>
            <a:endParaRPr lang="pt-BR">
              <a:cs typeface="Arial" pitchFamily="34" charset="0"/>
            </a:endParaRPr>
          </a:p>
        </p:txBody>
      </p:sp>
      <p:pic>
        <p:nvPicPr>
          <p:cNvPr id="56324" name="Picture 10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124200"/>
            <a:ext cx="218122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4" name="Text Box 1029"/>
          <p:cNvSpPr txBox="1">
            <a:spLocks noChangeArrowheads="1"/>
          </p:cNvSpPr>
          <p:nvPr/>
        </p:nvSpPr>
        <p:spPr bwMode="auto">
          <a:xfrm>
            <a:off x="3429000" y="3143250"/>
            <a:ext cx="5562600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q"/>
            </a:pPr>
            <a:endParaRPr lang="pt-BR" sz="2000" dirty="0">
              <a:cs typeface="Arial" pitchFamily="34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q"/>
            </a:pPr>
            <a:r>
              <a:rPr lang="pt-BR" sz="2000" dirty="0">
                <a:cs typeface="Arial" pitchFamily="34" charset="0"/>
              </a:rPr>
              <a:t>Requer operações de arredondamento  e raiz quadrada.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q"/>
            </a:pPr>
            <a:endParaRPr lang="pt-BR" sz="2000" dirty="0"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q"/>
            </a:pPr>
            <a:endParaRPr lang="pt-BR" sz="2000" dirty="0">
              <a:cs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q"/>
            </a:pPr>
            <a:r>
              <a:rPr lang="pt-BR" sz="2000" dirty="0">
                <a:cs typeface="Times New Roman" pitchFamily="18" charset="0"/>
              </a:rPr>
              <a:t> Grandes </a:t>
            </a:r>
            <a:r>
              <a:rPr lang="pt-BR" sz="2000" dirty="0" err="1">
                <a:cs typeface="Times New Roman" pitchFamily="18" charset="0"/>
              </a:rPr>
              <a:t>gaps</a:t>
            </a:r>
            <a:r>
              <a:rPr lang="pt-BR" sz="2000" dirty="0">
                <a:cs typeface="Times New Roman" pitchFamily="18" charset="0"/>
              </a:rPr>
              <a:t> nas regiões onde a tangente à circunferência é infinita.</a:t>
            </a:r>
            <a:r>
              <a:rPr lang="pt-BR" sz="2000" dirty="0">
                <a:cs typeface="Arial" pitchFamily="34" charset="0"/>
              </a:rPr>
              <a:t> </a:t>
            </a:r>
            <a:r>
              <a:rPr lang="pt-BR" sz="2000" dirty="0"/>
              <a:t> </a:t>
            </a:r>
          </a:p>
          <a:p>
            <a:pPr lvl="2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q"/>
            </a:pPr>
            <a:endParaRPr lang="pt-BR" sz="2000" dirty="0"/>
          </a:p>
          <a:p>
            <a:pPr>
              <a:spcBef>
                <a:spcPct val="50000"/>
              </a:spcBef>
            </a:pPr>
            <a:endParaRPr lang="pt-BR" dirty="0"/>
          </a:p>
        </p:txBody>
      </p:sp>
      <p:graphicFrame>
        <p:nvGraphicFramePr>
          <p:cNvPr id="2050" name="Object 1025"/>
          <p:cNvGraphicFramePr>
            <a:graphicFrameLocks noChangeAspect="1"/>
          </p:cNvGraphicFramePr>
          <p:nvPr/>
        </p:nvGraphicFramePr>
        <p:xfrm>
          <a:off x="2928938" y="2643188"/>
          <a:ext cx="3060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Equation" r:id="rId4" imgW="3060360" imgH="469800" progId="">
                  <p:embed/>
                </p:oleObj>
              </mc:Choice>
              <mc:Fallback>
                <p:oleObj name="Equation" r:id="rId4" imgW="3060360" imgH="469800" progId="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2643188"/>
                        <a:ext cx="3060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Método polinomial</a:t>
            </a:r>
          </a:p>
        </p:txBody>
      </p:sp>
      <p:sp>
        <p:nvSpPr>
          <p:cNvPr id="410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200" dirty="0"/>
              <a:t>Algoritmo </a:t>
            </a:r>
          </a:p>
          <a:p>
            <a:pPr lvl="1">
              <a:buFont typeface="Wingdings" pitchFamily="2" charset="2"/>
              <a:buNone/>
            </a:pPr>
            <a:endParaRPr lang="pt-BR" sz="1200" dirty="0"/>
          </a:p>
          <a:p>
            <a:pPr lvl="1">
              <a:buFont typeface="Wingdings" pitchFamily="2" charset="2"/>
              <a:buNone/>
            </a:pPr>
            <a:endParaRPr lang="pt-BR" sz="1200" dirty="0"/>
          </a:p>
          <a:p>
            <a:pPr lvl="1">
              <a:buFont typeface="Wingdings" pitchFamily="2" charset="2"/>
              <a:buNone/>
            </a:pPr>
            <a:endParaRPr lang="pt-BR" sz="1200" dirty="0"/>
          </a:p>
          <a:p>
            <a:pPr lvl="1">
              <a:buFont typeface="Wingdings" pitchFamily="2" charset="2"/>
              <a:buNone/>
            </a:pPr>
            <a:r>
              <a:rPr lang="pt-BR" sz="2000" dirty="0"/>
              <a:t>1 r = raio do círculo; (h,k) = coordenada do centro do círculo;   x =0; i = define o passo; </a:t>
            </a:r>
            <a:r>
              <a:rPr lang="pt-BR" sz="2000" dirty="0" err="1"/>
              <a:t>xend</a:t>
            </a:r>
            <a:r>
              <a:rPr lang="pt-BR" sz="2000" dirty="0"/>
              <a:t> = </a:t>
            </a:r>
          </a:p>
          <a:p>
            <a:pPr lvl="1">
              <a:buFont typeface="Wingdings" pitchFamily="2" charset="2"/>
              <a:buNone/>
            </a:pPr>
            <a:r>
              <a:rPr lang="pt-BR" sz="2000" dirty="0"/>
              <a:t>2 </a:t>
            </a:r>
            <a:r>
              <a:rPr lang="pt-BR" sz="2000" dirty="0" err="1"/>
              <a:t>Test</a:t>
            </a:r>
            <a:r>
              <a:rPr lang="pt-BR" sz="2000" dirty="0"/>
              <a:t>  para determinar se o círculo tem sido convertido                     Pare  </a:t>
            </a:r>
          </a:p>
          <a:p>
            <a:pPr lvl="1">
              <a:buFont typeface="Wingdings" pitchFamily="2" charset="2"/>
              <a:buNone/>
            </a:pPr>
            <a:r>
              <a:rPr lang="pt-BR" sz="2000" dirty="0"/>
              <a:t>3 compute o valor da coordenada y , em que </a:t>
            </a:r>
          </a:p>
          <a:p>
            <a:pPr lvl="1">
              <a:buFont typeface="Wingdings" pitchFamily="2" charset="2"/>
              <a:buNone/>
            </a:pPr>
            <a:r>
              <a:rPr lang="pt-BR" sz="2000" dirty="0"/>
              <a:t>4 </a:t>
            </a:r>
            <a:r>
              <a:rPr lang="pt-BR" sz="2000" dirty="0" err="1"/>
              <a:t>plot</a:t>
            </a:r>
            <a:r>
              <a:rPr lang="pt-BR" sz="2000" dirty="0"/>
              <a:t> 7 pontos determinado por simetria utilizando a função </a:t>
            </a:r>
            <a:r>
              <a:rPr lang="pt-BR" sz="2000" dirty="0">
                <a:cs typeface="Arial" pitchFamily="34" charset="0"/>
              </a:rPr>
              <a:t> </a:t>
            </a:r>
            <a:r>
              <a:rPr lang="pt-BR" sz="2000" dirty="0" err="1">
                <a:cs typeface="Arial" pitchFamily="34" charset="0"/>
              </a:rPr>
              <a:t>Círculo_ponto</a:t>
            </a:r>
            <a:r>
              <a:rPr lang="pt-BR" sz="2000" dirty="0">
                <a:cs typeface="Arial" pitchFamily="34" charset="0"/>
              </a:rPr>
              <a:t>(</a:t>
            </a:r>
            <a:r>
              <a:rPr lang="pt-BR" sz="2000" b="1" dirty="0">
                <a:cs typeface="Arial" pitchFamily="34" charset="0"/>
              </a:rPr>
              <a:t>round</a:t>
            </a:r>
            <a:r>
              <a:rPr lang="pt-BR" sz="2000" dirty="0">
                <a:cs typeface="Arial" pitchFamily="34" charset="0"/>
              </a:rPr>
              <a:t> x,</a:t>
            </a:r>
            <a:r>
              <a:rPr lang="pt-BR" sz="2000" b="1" dirty="0">
                <a:cs typeface="Arial" pitchFamily="34" charset="0"/>
              </a:rPr>
              <a:t>round</a:t>
            </a:r>
            <a:r>
              <a:rPr lang="pt-BR" sz="2000" dirty="0">
                <a:cs typeface="Arial" pitchFamily="34" charset="0"/>
              </a:rPr>
              <a:t> </a:t>
            </a:r>
            <a:r>
              <a:rPr lang="pt-BR" sz="2000" dirty="0" err="1">
                <a:cs typeface="Arial" pitchFamily="34" charset="0"/>
              </a:rPr>
              <a:t>y,</a:t>
            </a:r>
            <a:r>
              <a:rPr lang="pt-BR" sz="2000" b="1" dirty="0" err="1">
                <a:cs typeface="Arial" pitchFamily="34" charset="0"/>
              </a:rPr>
              <a:t>int</a:t>
            </a:r>
            <a:r>
              <a:rPr lang="pt-BR" sz="2000" dirty="0">
                <a:cs typeface="Arial" pitchFamily="34" charset="0"/>
              </a:rPr>
              <a:t> valor)</a:t>
            </a:r>
          </a:p>
          <a:p>
            <a:pPr lvl="1">
              <a:buFont typeface="Wingdings" pitchFamily="2" charset="2"/>
              <a:buNone/>
            </a:pPr>
            <a:r>
              <a:rPr lang="pt-BR" sz="2000" dirty="0">
                <a:cs typeface="Arial" pitchFamily="34" charset="0"/>
              </a:rPr>
              <a:t>5 Incremente x: x = x+i</a:t>
            </a:r>
          </a:p>
          <a:p>
            <a:pPr lvl="1">
              <a:buFont typeface="Wingdings" pitchFamily="2" charset="2"/>
              <a:buNone/>
            </a:pPr>
            <a:r>
              <a:rPr lang="pt-BR" sz="2000" dirty="0">
                <a:cs typeface="Arial" pitchFamily="34" charset="0"/>
              </a:rPr>
              <a:t>6 vá para o passo 2</a:t>
            </a:r>
            <a:endParaRPr lang="pt-BR" sz="2000" dirty="0">
              <a:cs typeface="Times New Roman" pitchFamily="18" charset="0"/>
            </a:endParaRPr>
          </a:p>
          <a:p>
            <a:pPr lvl="1">
              <a:buFont typeface="Wingdings" pitchFamily="2" charset="2"/>
              <a:buNone/>
            </a:pPr>
            <a:endParaRPr lang="pt-BR" sz="1200" dirty="0"/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5286375" y="3143250"/>
          <a:ext cx="2857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" name="Equation" r:id="rId3" imgW="266400" imgH="419040" progId="">
                  <p:embed/>
                </p:oleObj>
              </mc:Choice>
              <mc:Fallback>
                <p:oleObj name="Equation" r:id="rId3" imgW="266400" imgH="41904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3143250"/>
                        <a:ext cx="285750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2428875" y="3857625"/>
          <a:ext cx="8096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" name="Equation" r:id="rId5" imgW="647640" imgH="228600" progId="">
                  <p:embed/>
                </p:oleObj>
              </mc:Choice>
              <mc:Fallback>
                <p:oleObj name="Equation" r:id="rId5" imgW="647640" imgH="2286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3857625"/>
                        <a:ext cx="8096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6"/>
          <p:cNvGraphicFramePr>
            <a:graphicFrameLocks noChangeAspect="1"/>
          </p:cNvGraphicFramePr>
          <p:nvPr/>
        </p:nvGraphicFramePr>
        <p:xfrm>
          <a:off x="4089400" y="2743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" name="Equation" r:id="rId7" imgW="914400" imgH="198720" progId="">
                  <p:embed/>
                </p:oleObj>
              </mc:Choice>
              <mc:Fallback>
                <p:oleObj name="Equation" r:id="rId7" imgW="914400" imgH="19872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74320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8"/>
          <p:cNvGraphicFramePr>
            <a:graphicFrameLocks noChangeAspect="1"/>
          </p:cNvGraphicFramePr>
          <p:nvPr/>
        </p:nvGraphicFramePr>
        <p:xfrm>
          <a:off x="6572250" y="4214813"/>
          <a:ext cx="1000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" name="Equation" r:id="rId9" imgW="1638000" imgH="469800" progId="">
                  <p:embed/>
                </p:oleObj>
              </mc:Choice>
              <mc:Fallback>
                <p:oleObj name="Equation" r:id="rId9" imgW="1638000" imgH="4698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4214813"/>
                        <a:ext cx="1000125" cy="287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Traçados de Círculos</a:t>
            </a:r>
          </a:p>
        </p:txBody>
      </p:sp>
      <p:sp>
        <p:nvSpPr>
          <p:cNvPr id="307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Algoritmos Alternativos</a:t>
            </a:r>
          </a:p>
          <a:p>
            <a:pPr lvl="1"/>
            <a:r>
              <a:rPr lang="pt-BR" dirty="0"/>
              <a:t>Método Trigonométrico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Neste método θ é o passo de θ =0 para</a:t>
            </a:r>
          </a:p>
          <a:p>
            <a:pPr lvl="1"/>
            <a:r>
              <a:rPr lang="pt-BR" dirty="0"/>
              <a:t> Requer operações em ponto flutuantes e funções de arredondamentos.   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714625" y="2714625"/>
          <a:ext cx="124936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3" imgW="672840" imgH="431640" progId="">
                  <p:embed/>
                </p:oleObj>
              </mc:Choice>
              <mc:Fallback>
                <p:oleObj name="Equation" r:id="rId3" imgW="672840" imgH="4316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714625"/>
                        <a:ext cx="1249363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273916"/>
              </p:ext>
            </p:extLst>
          </p:nvPr>
        </p:nvGraphicFramePr>
        <p:xfrm>
          <a:off x="7884368" y="3789040"/>
          <a:ext cx="35718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5" imgW="164880" imgH="393480" progId="">
                  <p:embed/>
                </p:oleObj>
              </mc:Choice>
              <mc:Fallback>
                <p:oleObj name="Equation" r:id="rId5" imgW="164880" imgH="39348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368" y="3789040"/>
                        <a:ext cx="357188" cy="852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Método trigonométrico</a:t>
            </a:r>
          </a:p>
        </p:txBody>
      </p:sp>
      <p:sp>
        <p:nvSpPr>
          <p:cNvPr id="5126" name="Espaço Reservado para Conteúdo 2"/>
          <p:cNvSpPr>
            <a:spLocks noGrp="1"/>
          </p:cNvSpPr>
          <p:nvPr>
            <p:ph idx="1"/>
          </p:nvPr>
        </p:nvSpPr>
        <p:spPr>
          <a:xfrm>
            <a:off x="785813" y="1600200"/>
            <a:ext cx="7900987" cy="4757738"/>
          </a:xfrm>
        </p:spPr>
        <p:txBody>
          <a:bodyPr/>
          <a:lstStyle/>
          <a:p>
            <a:r>
              <a:rPr lang="pt-BR" sz="3200" dirty="0"/>
              <a:t>Algoritmo </a:t>
            </a:r>
          </a:p>
          <a:p>
            <a:pPr lvl="1">
              <a:buFont typeface="Wingdings" pitchFamily="2" charset="2"/>
              <a:buNone/>
            </a:pPr>
            <a:endParaRPr lang="pt-BR" sz="1200" dirty="0"/>
          </a:p>
          <a:p>
            <a:pPr lvl="1">
              <a:buFont typeface="Wingdings" pitchFamily="2" charset="2"/>
              <a:buNone/>
            </a:pPr>
            <a:endParaRPr lang="pt-BR" sz="1200" dirty="0"/>
          </a:p>
          <a:p>
            <a:pPr lvl="1">
              <a:buFont typeface="Wingdings" pitchFamily="2" charset="2"/>
              <a:buNone/>
            </a:pPr>
            <a:endParaRPr lang="pt-BR" sz="1200" dirty="0"/>
          </a:p>
          <a:p>
            <a:pPr lvl="1">
              <a:buFont typeface="Wingdings" pitchFamily="2" charset="2"/>
              <a:buNone/>
            </a:pPr>
            <a:r>
              <a:rPr lang="pt-BR" sz="2000" dirty="0"/>
              <a:t>1 r = raio do círculo; (h,k) = coordenada do centro do círculo;      i = define o passo; </a:t>
            </a:r>
          </a:p>
          <a:p>
            <a:pPr lvl="1">
              <a:buFont typeface="Wingdings" pitchFamily="2" charset="2"/>
              <a:buNone/>
            </a:pPr>
            <a:r>
              <a:rPr lang="pt-BR" sz="2000" dirty="0"/>
              <a:t>2 </a:t>
            </a:r>
            <a:r>
              <a:rPr lang="pt-BR" sz="2000" dirty="0" err="1"/>
              <a:t>Test</a:t>
            </a:r>
            <a:r>
              <a:rPr lang="pt-BR" sz="2000" dirty="0"/>
              <a:t>  para determinar se o círculo tem sido convertido,                     pare.  </a:t>
            </a:r>
          </a:p>
          <a:p>
            <a:pPr lvl="1">
              <a:buFont typeface="Wingdings" pitchFamily="2" charset="2"/>
              <a:buNone/>
            </a:pPr>
            <a:r>
              <a:rPr lang="pt-BR" sz="2000" dirty="0"/>
              <a:t>3 compute o valor das coordenadas x e y , em que </a:t>
            </a:r>
          </a:p>
          <a:p>
            <a:pPr lvl="1">
              <a:buFont typeface="Wingdings" pitchFamily="2" charset="2"/>
              <a:buNone/>
            </a:pPr>
            <a:endParaRPr lang="pt-BR" sz="2000" dirty="0"/>
          </a:p>
          <a:p>
            <a:pPr lvl="1">
              <a:buFont typeface="Wingdings" pitchFamily="2" charset="2"/>
              <a:buNone/>
            </a:pPr>
            <a:r>
              <a:rPr lang="pt-BR" sz="2000" dirty="0"/>
              <a:t>4 </a:t>
            </a:r>
            <a:r>
              <a:rPr lang="pt-BR" sz="2000" dirty="0" err="1"/>
              <a:t>plot</a:t>
            </a:r>
            <a:r>
              <a:rPr lang="pt-BR" sz="2000"/>
              <a:t> 7 </a:t>
            </a:r>
            <a:r>
              <a:rPr lang="pt-BR" sz="2000" dirty="0"/>
              <a:t>pontos determinado por simetria utilizando a função </a:t>
            </a:r>
            <a:r>
              <a:rPr lang="pt-BR" sz="2000" dirty="0">
                <a:cs typeface="Arial" pitchFamily="34" charset="0"/>
              </a:rPr>
              <a:t> </a:t>
            </a:r>
            <a:r>
              <a:rPr lang="pt-BR" sz="2000" dirty="0" err="1">
                <a:cs typeface="Arial" pitchFamily="34" charset="0"/>
              </a:rPr>
              <a:t>Círculo_ponto</a:t>
            </a:r>
            <a:r>
              <a:rPr lang="pt-BR" sz="2000" dirty="0">
                <a:cs typeface="Arial" pitchFamily="34" charset="0"/>
              </a:rPr>
              <a:t>(</a:t>
            </a:r>
            <a:r>
              <a:rPr lang="pt-BR" sz="2000" b="1" dirty="0" err="1">
                <a:cs typeface="Arial" pitchFamily="34" charset="0"/>
              </a:rPr>
              <a:t>round</a:t>
            </a:r>
            <a:r>
              <a:rPr lang="pt-BR" sz="2000" dirty="0" err="1">
                <a:cs typeface="Arial" pitchFamily="34" charset="0"/>
              </a:rPr>
              <a:t>x,</a:t>
            </a:r>
            <a:r>
              <a:rPr lang="pt-BR" sz="2000" b="1" dirty="0" err="1">
                <a:cs typeface="Arial" pitchFamily="34" charset="0"/>
              </a:rPr>
              <a:t>round</a:t>
            </a:r>
            <a:r>
              <a:rPr lang="pt-BR" sz="2000" dirty="0" err="1">
                <a:cs typeface="Arial" pitchFamily="34" charset="0"/>
              </a:rPr>
              <a:t>y,</a:t>
            </a:r>
            <a:r>
              <a:rPr lang="pt-BR" sz="2000" b="1" dirty="0" err="1">
                <a:cs typeface="Arial" pitchFamily="34" charset="0"/>
              </a:rPr>
              <a:t>int</a:t>
            </a:r>
            <a:r>
              <a:rPr lang="pt-BR" sz="2000" dirty="0">
                <a:cs typeface="Arial" pitchFamily="34" charset="0"/>
              </a:rPr>
              <a:t> valor).</a:t>
            </a:r>
          </a:p>
          <a:p>
            <a:pPr lvl="1">
              <a:buFont typeface="Wingdings" pitchFamily="2" charset="2"/>
              <a:buNone/>
            </a:pPr>
            <a:r>
              <a:rPr lang="pt-BR" sz="2000" dirty="0">
                <a:cs typeface="Arial" pitchFamily="34" charset="0"/>
              </a:rPr>
              <a:t>5 Incremente </a:t>
            </a:r>
            <a:r>
              <a:rPr lang="el-GR" sz="2000" dirty="0">
                <a:cs typeface="Arial" pitchFamily="34" charset="0"/>
              </a:rPr>
              <a:t>θ</a:t>
            </a:r>
            <a:r>
              <a:rPr lang="pt-BR" sz="2000" dirty="0">
                <a:cs typeface="Arial" pitchFamily="34" charset="0"/>
              </a:rPr>
              <a:t> = </a:t>
            </a:r>
            <a:r>
              <a:rPr lang="el-GR" sz="2000" dirty="0">
                <a:cs typeface="Arial" pitchFamily="34" charset="0"/>
              </a:rPr>
              <a:t>θ</a:t>
            </a:r>
            <a:r>
              <a:rPr lang="pt-BR" sz="2000" dirty="0">
                <a:cs typeface="Arial" pitchFamily="34" charset="0"/>
              </a:rPr>
              <a:t> + i.</a:t>
            </a:r>
          </a:p>
          <a:p>
            <a:pPr lvl="1">
              <a:buFont typeface="Wingdings" pitchFamily="2" charset="2"/>
              <a:buNone/>
            </a:pPr>
            <a:r>
              <a:rPr lang="pt-BR" sz="2000" dirty="0">
                <a:cs typeface="Arial" pitchFamily="34" charset="0"/>
              </a:rPr>
              <a:t>6 vá para o passo 2.</a:t>
            </a:r>
            <a:endParaRPr lang="pt-BR" sz="2000" dirty="0">
              <a:cs typeface="Times New Roman" pitchFamily="18" charset="0"/>
            </a:endParaRPr>
          </a:p>
          <a:p>
            <a:endParaRPr lang="pt-BR" dirty="0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905878"/>
              </p:ext>
            </p:extLst>
          </p:nvPr>
        </p:nvGraphicFramePr>
        <p:xfrm>
          <a:off x="3825875" y="3143250"/>
          <a:ext cx="194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9" name="Equation" r:id="rId3" imgW="1942920" imgH="393480" progId="Equation.DSMT4">
                  <p:embed/>
                </p:oleObj>
              </mc:Choice>
              <mc:Fallback>
                <p:oleObj name="Equation" r:id="rId3" imgW="194292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3143250"/>
                        <a:ext cx="1943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7858125" y="3571875"/>
          <a:ext cx="685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0" name="Equation" r:id="rId5" imgW="685800" imgH="228600" progId="">
                  <p:embed/>
                </p:oleObj>
              </mc:Choice>
              <mc:Fallback>
                <p:oleObj name="Equation" r:id="rId5" imgW="685800" imgH="2286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25" y="3571875"/>
                        <a:ext cx="6858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1714500" y="4500563"/>
          <a:ext cx="673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1" name="Equation" r:id="rId7" imgW="672840" imgH="431640" progId="">
                  <p:embed/>
                </p:oleObj>
              </mc:Choice>
              <mc:Fallback>
                <p:oleObj name="Equation" r:id="rId7" imgW="672840" imgH="43164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4500563"/>
                        <a:ext cx="6731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/>
              <a:t>Algoritmo  do   ponto    m</a:t>
            </a:r>
            <a:r>
              <a:rPr lang="pt-BR">
                <a:latin typeface="Tahoma" pitchFamily="34" charset="0"/>
              </a:rPr>
              <a:t>é</a:t>
            </a:r>
            <a:r>
              <a:rPr lang="pt-BR"/>
              <a:t>dio    para conversão da circunferência</a:t>
            </a:r>
            <a:r>
              <a:rPr lang="pt-BR" sz="2800"/>
              <a:t>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305800" cy="5029200"/>
          </a:xfrm>
        </p:spPr>
        <p:txBody>
          <a:bodyPr/>
          <a:lstStyle/>
          <a:p>
            <a:pPr eaLnBrk="1" hangingPunct="1"/>
            <a:r>
              <a:rPr lang="pt-BR" altLang="ko-KR" sz="2400" b="1" dirty="0">
                <a:ea typeface="Gulim" pitchFamily="34" charset="-127"/>
                <a:cs typeface="Arial" pitchFamily="34" charset="0"/>
              </a:rPr>
              <a:t>Algoritmo do "Ponto-M</a:t>
            </a:r>
            <a:r>
              <a:rPr lang="pt-BR" altLang="ko-KR" sz="2400" b="1" dirty="0">
                <a:latin typeface="Tahoma" pitchFamily="34" charset="0"/>
                <a:ea typeface="Gulim" pitchFamily="34" charset="-127"/>
                <a:cs typeface="Arial" pitchFamily="34" charset="0"/>
              </a:rPr>
              <a:t>é</a:t>
            </a:r>
            <a:r>
              <a:rPr lang="pt-BR" altLang="ko-KR" sz="2400" b="1" dirty="0">
                <a:ea typeface="Gulim" pitchFamily="34" charset="-127"/>
                <a:cs typeface="Arial" pitchFamily="34" charset="0"/>
              </a:rPr>
              <a:t>dio" para Circunferências.</a:t>
            </a:r>
            <a:r>
              <a:rPr lang="pt-BR" altLang="ko-KR" sz="2000" dirty="0">
                <a:ea typeface="Gulim" pitchFamily="34" charset="-127"/>
                <a:cs typeface="Arial" pitchFamily="34" charset="0"/>
              </a:rPr>
              <a:t> </a:t>
            </a:r>
          </a:p>
          <a:p>
            <a:pPr lvl="1" eaLnBrk="1" hangingPunct="1"/>
            <a:endParaRPr lang="en-US" altLang="ko-KR" sz="2000" dirty="0">
              <a:ea typeface="Gulim" pitchFamily="34" charset="-127"/>
              <a:cs typeface="Arial" pitchFamily="34" charset="0"/>
            </a:endParaRPr>
          </a:p>
          <a:p>
            <a:pPr lvl="1" eaLnBrk="1" hangingPunct="1"/>
            <a:r>
              <a:rPr lang="en-US" altLang="ko-KR" sz="2000" dirty="0" err="1">
                <a:ea typeface="Gulim" pitchFamily="34" charset="-127"/>
                <a:cs typeface="Arial" pitchFamily="34" charset="0"/>
              </a:rPr>
              <a:t>Suponha</a:t>
            </a:r>
            <a:r>
              <a:rPr lang="en-US" altLang="ko-KR" sz="2000" dirty="0">
                <a:ea typeface="Gulim" pitchFamily="34" charset="-127"/>
                <a:cs typeface="Arial" pitchFamily="34" charset="0"/>
              </a:rPr>
              <a:t> que </a:t>
            </a:r>
            <a:r>
              <a:rPr lang="en-US" altLang="ko-KR" sz="2000" dirty="0" err="1">
                <a:ea typeface="Gulim" pitchFamily="34" charset="-127"/>
                <a:cs typeface="Arial" pitchFamily="34" charset="0"/>
              </a:rPr>
              <a:t>desenhamos</a:t>
            </a:r>
            <a:r>
              <a:rPr lang="en-US" altLang="ko-KR" sz="2000" dirty="0">
                <a:ea typeface="Gulim" pitchFamily="34" charset="-127"/>
                <a:cs typeface="Arial" pitchFamily="34" charset="0"/>
              </a:rPr>
              <a:t> o pixel (</a:t>
            </a:r>
            <a:r>
              <a:rPr lang="en-US" altLang="ko-KR" sz="2000" dirty="0" err="1">
                <a:ea typeface="Gulim" pitchFamily="34" charset="-127"/>
                <a:cs typeface="Arial" pitchFamily="34" charset="0"/>
              </a:rPr>
              <a:t>x</a:t>
            </a:r>
            <a:r>
              <a:rPr lang="en-US" altLang="ko-KR" sz="2000" baseline="-25000" dirty="0" err="1">
                <a:ea typeface="Gulim" pitchFamily="34" charset="-127"/>
                <a:cs typeface="Arial" pitchFamily="34" charset="0"/>
              </a:rPr>
              <a:t>p</a:t>
            </a:r>
            <a:r>
              <a:rPr lang="en-US" altLang="ko-KR" sz="2000" dirty="0" err="1">
                <a:ea typeface="Gulim" pitchFamily="34" charset="-127"/>
                <a:cs typeface="Arial" pitchFamily="34" charset="0"/>
              </a:rPr>
              <a:t>,y</a:t>
            </a:r>
            <a:r>
              <a:rPr lang="en-US" altLang="ko-KR" sz="2000" baseline="-25000" dirty="0" err="1">
                <a:ea typeface="Gulim" pitchFamily="34" charset="-127"/>
                <a:cs typeface="Arial" pitchFamily="34" charset="0"/>
              </a:rPr>
              <a:t>p</a:t>
            </a:r>
            <a:r>
              <a:rPr lang="en-US" altLang="ko-KR" sz="2000" dirty="0">
                <a:ea typeface="Gulim" pitchFamily="34" charset="-127"/>
                <a:cs typeface="Arial" pitchFamily="34" charset="0"/>
              </a:rPr>
              <a:t>). Qual o proximo pixel </a:t>
            </a:r>
            <a:r>
              <a:rPr lang="en-US" altLang="ko-KR" sz="2000" dirty="0" err="1">
                <a:ea typeface="Gulim" pitchFamily="34" charset="-127"/>
                <a:cs typeface="Arial" pitchFamily="34" charset="0"/>
              </a:rPr>
              <a:t>deve</a:t>
            </a:r>
            <a:r>
              <a:rPr lang="en-US" altLang="ko-KR" sz="2000" dirty="0">
                <a:ea typeface="Gulim" pitchFamily="34" charset="-127"/>
                <a:cs typeface="Arial" pitchFamily="34" charset="0"/>
              </a:rPr>
              <a:t> ser </a:t>
            </a:r>
            <a:r>
              <a:rPr lang="en-US" altLang="ko-KR" sz="2000" dirty="0" err="1">
                <a:ea typeface="Gulim" pitchFamily="34" charset="-127"/>
                <a:cs typeface="Arial" pitchFamily="34" charset="0"/>
              </a:rPr>
              <a:t>desenhado</a:t>
            </a:r>
            <a:r>
              <a:rPr lang="en-US" altLang="ko-KR" sz="2000" dirty="0">
                <a:ea typeface="Gulim" pitchFamily="34" charset="-127"/>
                <a:cs typeface="Arial" pitchFamily="34" charset="0"/>
              </a:rPr>
              <a:t>?</a:t>
            </a:r>
          </a:p>
          <a:p>
            <a:pPr eaLnBrk="1" hangingPunct="1">
              <a:buClr>
                <a:schemeClr val="hlink"/>
              </a:buClr>
              <a:buFontTx/>
              <a:buChar char="•"/>
            </a:pPr>
            <a:endParaRPr lang="en-US" altLang="ko-KR" sz="2000" dirty="0">
              <a:ea typeface="Gulim" pitchFamily="34" charset="-127"/>
              <a:cs typeface="Arial" pitchFamily="34" charset="0"/>
            </a:endParaRPr>
          </a:p>
          <a:p>
            <a:pPr eaLnBrk="1" hangingPunct="1">
              <a:buClr>
                <a:schemeClr val="hlink"/>
              </a:buClr>
              <a:buFontTx/>
              <a:buChar char="•"/>
            </a:pPr>
            <a:endParaRPr lang="en-US" altLang="ko-KR" sz="1800" dirty="0">
              <a:ea typeface="Gulim" pitchFamily="34" charset="-127"/>
              <a:cs typeface="Arial" pitchFamily="34" charset="0"/>
            </a:endParaRPr>
          </a:p>
          <a:p>
            <a:pPr eaLnBrk="1" hangingPunct="1">
              <a:buClr>
                <a:schemeClr val="hlink"/>
              </a:buClr>
              <a:buFontTx/>
              <a:buChar char="•"/>
            </a:pPr>
            <a:endParaRPr lang="en-US" altLang="ko-KR" sz="1800" dirty="0">
              <a:ea typeface="Gulim" pitchFamily="34" charset="-127"/>
              <a:cs typeface="Arial" pitchFamily="34" charset="0"/>
            </a:endParaRPr>
          </a:p>
          <a:p>
            <a:pPr eaLnBrk="1" hangingPunct="1">
              <a:buClr>
                <a:schemeClr val="hlink"/>
              </a:buClr>
              <a:buFontTx/>
              <a:buChar char="•"/>
            </a:pPr>
            <a:endParaRPr lang="en-US" altLang="ko-KR" sz="1800" dirty="0">
              <a:ea typeface="Gulim" pitchFamily="34" charset="-127"/>
              <a:cs typeface="Arial" pitchFamily="34" charset="0"/>
            </a:endParaRPr>
          </a:p>
          <a:p>
            <a:pPr eaLnBrk="1" hangingPunct="1">
              <a:buClr>
                <a:schemeClr val="hlink"/>
              </a:buClr>
              <a:buFontTx/>
              <a:buChar char="•"/>
            </a:pPr>
            <a:endParaRPr lang="en-US" altLang="ko-KR" sz="1800" dirty="0">
              <a:ea typeface="Gulim" pitchFamily="34" charset="-127"/>
              <a:cs typeface="Arial" pitchFamily="34" charset="0"/>
            </a:endParaRPr>
          </a:p>
          <a:p>
            <a:pPr eaLnBrk="1" hangingPunct="1">
              <a:buClr>
                <a:schemeClr val="hlink"/>
              </a:buClr>
              <a:buFontTx/>
              <a:buChar char="•"/>
            </a:pPr>
            <a:endParaRPr lang="en-US" altLang="ko-KR" sz="1800" dirty="0">
              <a:ea typeface="Gulim" pitchFamily="34" charset="-127"/>
              <a:cs typeface="Arial" pitchFamily="34" charset="0"/>
            </a:endParaRPr>
          </a:p>
          <a:p>
            <a:pPr eaLnBrk="1" hangingPunct="1"/>
            <a:endParaRPr lang="pt-BR" sz="1800" dirty="0">
              <a:ea typeface="Gulim" pitchFamily="34" charset="-127"/>
              <a:cs typeface="Arial" pitchFamily="34" charset="0"/>
            </a:endParaRPr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472" y="3124200"/>
            <a:ext cx="487680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ko-KR">
                <a:ea typeface="Gulim" pitchFamily="34" charset="-127"/>
              </a:rPr>
              <a:t>Conversão Matricial da Circunferência</a:t>
            </a:r>
            <a:endParaRPr lang="pt-B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8001000" cy="4800600"/>
          </a:xfrm>
        </p:spPr>
        <p:txBody>
          <a:bodyPr/>
          <a:lstStyle/>
          <a:p>
            <a:pPr eaLnBrk="1" hangingPunct="1"/>
            <a:r>
              <a:rPr lang="pt-BR" sz="2400">
                <a:cs typeface="Arial" pitchFamily="34" charset="0"/>
              </a:rPr>
              <a:t>Considere apenas um arco de 45º da circunferência, o 2º octante,</a:t>
            </a:r>
            <a:r>
              <a:rPr lang="pt-BR" sz="2400"/>
              <a:t> de (</a:t>
            </a:r>
            <a:r>
              <a:rPr lang="pt-BR" sz="2400" i="1"/>
              <a:t>x=0, y=R)</a:t>
            </a:r>
            <a:r>
              <a:rPr lang="pt-BR" sz="2400"/>
              <a:t> a (</a:t>
            </a:r>
            <a:r>
              <a:rPr lang="pt-BR" sz="2400" i="1"/>
              <a:t>x=y= R/(2)</a:t>
            </a:r>
            <a:r>
              <a:rPr lang="pt-BR" sz="2400" i="1" baseline="30000"/>
              <a:t>1/2</a:t>
            </a:r>
            <a:r>
              <a:rPr lang="pt-BR" sz="2400" i="1"/>
              <a:t> ).</a:t>
            </a:r>
          </a:p>
          <a:p>
            <a:pPr eaLnBrk="1" hangingPunct="1">
              <a:buFont typeface="Wingdings" pitchFamily="2" charset="2"/>
              <a:buNone/>
            </a:pPr>
            <a:endParaRPr lang="pt-BR" sz="2400"/>
          </a:p>
          <a:p>
            <a:pPr eaLnBrk="1" hangingPunct="1"/>
            <a:r>
              <a:rPr lang="pt-BR" sz="2400"/>
              <a:t>Use o procedimento Circulo_Ponto para traçar todos os pontos da circunferência.</a:t>
            </a:r>
          </a:p>
          <a:p>
            <a:pPr eaLnBrk="1" hangingPunct="1">
              <a:buFont typeface="Wingdings" pitchFamily="2" charset="2"/>
              <a:buNone/>
            </a:pPr>
            <a:endParaRPr lang="pt-BR" sz="2400" i="1"/>
          </a:p>
          <a:p>
            <a:pPr eaLnBrk="1" hangingPunct="1"/>
            <a:r>
              <a:rPr lang="pt-BR" sz="2400">
                <a:cs typeface="Arial" pitchFamily="34" charset="0"/>
              </a:rPr>
              <a:t>Assim como o algoritmo gerador de linhas, a estratégia é selecionar entre 2 pixels na malha aquele que está mais próximo da circunferência, </a:t>
            </a:r>
            <a:r>
              <a:rPr lang="pt-BR" sz="2400"/>
              <a:t>utilizando o sinal da função no ponto intermediário entre os dois possíveis pixels ( E ou SE).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ko-KR">
                <a:ea typeface="Gulim" pitchFamily="34" charset="-127"/>
              </a:rPr>
              <a:t>Conversão Matricial da Circunferência</a:t>
            </a:r>
            <a:endParaRPr lang="pt-B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/>
              <a:t>Equação implícita da circunferência.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>
                <a:latin typeface="명조"/>
                <a:ea typeface="Gulim" pitchFamily="34" charset="-127"/>
              </a:rPr>
              <a:t>  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>
                <a:latin typeface="명조"/>
                <a:ea typeface="Gulim" pitchFamily="34" charset="-127"/>
              </a:rPr>
              <a:t>      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>
                <a:latin typeface="명조"/>
                <a:ea typeface="Gulim" pitchFamily="34" charset="-127"/>
              </a:rPr>
              <a:t>                      F(</a:t>
            </a:r>
            <a:r>
              <a:rPr lang="en-US" altLang="ko-KR">
                <a:latin typeface="신명조"/>
                <a:ea typeface="Gulim" pitchFamily="34" charset="-127"/>
              </a:rPr>
              <a:t>x,y) = x</a:t>
            </a:r>
            <a:r>
              <a:rPr lang="en-US" altLang="ko-KR" baseline="30000">
                <a:latin typeface="신명조"/>
                <a:ea typeface="Gulim" pitchFamily="34" charset="-127"/>
              </a:rPr>
              <a:t>2</a:t>
            </a:r>
            <a:r>
              <a:rPr lang="en-US" altLang="ko-KR">
                <a:latin typeface="명조"/>
                <a:ea typeface="Gulim" pitchFamily="34" charset="-127"/>
              </a:rPr>
              <a:t> + y</a:t>
            </a:r>
            <a:r>
              <a:rPr lang="en-US" altLang="ko-KR" baseline="30000">
                <a:latin typeface="신명조"/>
                <a:ea typeface="Gulim" pitchFamily="34" charset="-127"/>
              </a:rPr>
              <a:t>2</a:t>
            </a:r>
            <a:r>
              <a:rPr lang="en-US" altLang="ko-KR">
                <a:latin typeface="명조"/>
                <a:ea typeface="Gulim" pitchFamily="34" charset="-127"/>
              </a:rPr>
              <a:t> - R</a:t>
            </a:r>
            <a:r>
              <a:rPr lang="en-US" altLang="ko-KR" baseline="30000">
                <a:latin typeface="신명조"/>
                <a:ea typeface="Gulim" pitchFamily="34" charset="-127"/>
              </a:rPr>
              <a:t>2</a:t>
            </a:r>
            <a:r>
              <a:rPr lang="pt-BR"/>
              <a:t> 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ko-KR">
                <a:latin typeface="명조"/>
                <a:ea typeface="Gulim" pitchFamily="34" charset="-127"/>
              </a:rPr>
              <a:t>                                =  0  sobre o c</a:t>
            </a:r>
            <a:r>
              <a:rPr lang="en-US" altLang="ko-KR">
                <a:latin typeface="Times New Roman" pitchFamily="18" charset="0"/>
                <a:ea typeface="Gulim" pitchFamily="34" charset="-127"/>
              </a:rPr>
              <a:t>í</a:t>
            </a:r>
            <a:r>
              <a:rPr lang="en-US" altLang="ko-KR">
                <a:latin typeface="명조"/>
                <a:ea typeface="Gulim" pitchFamily="34" charset="-127"/>
              </a:rPr>
              <a:t>rculo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ko-KR">
                <a:latin typeface="명조"/>
                <a:ea typeface="Gulim" pitchFamily="34" charset="-127"/>
              </a:rPr>
              <a:t>                                 &gt; 0  fora do c</a:t>
            </a:r>
            <a:r>
              <a:rPr lang="en-US" altLang="ko-KR">
                <a:latin typeface="Times New Roman" pitchFamily="18" charset="0"/>
                <a:ea typeface="Gulim" pitchFamily="34" charset="-127"/>
              </a:rPr>
              <a:t>í</a:t>
            </a:r>
            <a:r>
              <a:rPr lang="en-US" altLang="ko-KR">
                <a:latin typeface="명조"/>
                <a:ea typeface="Gulim" pitchFamily="34" charset="-127"/>
              </a:rPr>
              <a:t>rculo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altLang="ko-KR">
                <a:latin typeface="명조"/>
                <a:ea typeface="Gulim" pitchFamily="34" charset="-127"/>
              </a:rPr>
              <a:t>                                &lt;  0  dentro do c</a:t>
            </a:r>
            <a:r>
              <a:rPr lang="en-US" altLang="ko-KR">
                <a:latin typeface="Times New Roman" pitchFamily="18" charset="0"/>
                <a:ea typeface="Gulim" pitchFamily="34" charset="-127"/>
              </a:rPr>
              <a:t>í</a:t>
            </a:r>
            <a:r>
              <a:rPr lang="en-US" altLang="ko-KR">
                <a:latin typeface="명조"/>
                <a:ea typeface="Gulim" pitchFamily="34" charset="-127"/>
              </a:rPr>
              <a:t>rculo</a:t>
            </a:r>
            <a:endParaRPr lang="pt-BR">
              <a:latin typeface="명조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Gerando a Variável de Decisão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828800"/>
            <a:ext cx="64008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ko-KR" sz="2800">
                <a:ea typeface="Gulim" pitchFamily="34" charset="-127"/>
              </a:rPr>
              <a:t>Conversão Matricial da Circunferência</a:t>
            </a:r>
            <a:endParaRPr lang="pt-BR" sz="280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305800" cy="4953000"/>
          </a:xfrm>
        </p:spPr>
        <p:txBody>
          <a:bodyPr/>
          <a:lstStyle/>
          <a:p>
            <a:pPr eaLnBrk="1" hangingPunct="1"/>
            <a:r>
              <a:rPr lang="pt-BR" sz="2000" dirty="0"/>
              <a:t>De forma semelhante a conversão da reta, determina-se  a variável de decisão d.</a:t>
            </a:r>
          </a:p>
          <a:p>
            <a:pPr eaLnBrk="1" hangingPunct="1"/>
            <a:endParaRPr lang="pt-BR" sz="1800" dirty="0"/>
          </a:p>
          <a:p>
            <a:pPr lvl="1" algn="just" eaLnBrk="1" hangingPunct="1"/>
            <a:r>
              <a:rPr lang="en-US" altLang="ko-KR" sz="2000" dirty="0" err="1">
                <a:ea typeface="Gulim" pitchFamily="34" charset="-127"/>
              </a:rPr>
              <a:t>Vari</a:t>
            </a:r>
            <a:r>
              <a:rPr lang="en-US" altLang="ko-KR" sz="2000" dirty="0" err="1">
                <a:latin typeface="Tahoma" pitchFamily="34" charset="0"/>
                <a:ea typeface="Gulim" pitchFamily="34" charset="-127"/>
              </a:rPr>
              <a:t>á</a:t>
            </a:r>
            <a:r>
              <a:rPr lang="en-US" altLang="ko-KR" sz="2000" dirty="0" err="1">
                <a:ea typeface="Gulim" pitchFamily="34" charset="-127"/>
              </a:rPr>
              <a:t>vel</a:t>
            </a:r>
            <a:r>
              <a:rPr lang="en-US" altLang="ko-KR" sz="2000" dirty="0">
                <a:ea typeface="Gulim" pitchFamily="34" charset="-127"/>
              </a:rPr>
              <a:t> de </a:t>
            </a:r>
            <a:r>
              <a:rPr lang="en-US" altLang="ko-KR" sz="2000" dirty="0" err="1">
                <a:ea typeface="Gulim" pitchFamily="34" charset="-127"/>
              </a:rPr>
              <a:t>decisão</a:t>
            </a:r>
            <a:r>
              <a:rPr lang="en-US" altLang="ko-KR" sz="1800" dirty="0">
                <a:latin typeface="명조"/>
                <a:ea typeface="Gulim" pitchFamily="34" charset="-127"/>
              </a:rPr>
              <a:t> </a:t>
            </a:r>
          </a:p>
          <a:p>
            <a:pPr lvl="2" algn="just" eaLnBrk="1" hangingPunct="1"/>
            <a:endParaRPr lang="en-US" altLang="ko-KR" sz="1800" b="1" i="1" dirty="0">
              <a:latin typeface="신명조"/>
              <a:ea typeface="Gulim" pitchFamily="34" charset="-127"/>
            </a:endParaRPr>
          </a:p>
          <a:p>
            <a:pPr lvl="2" algn="just" eaLnBrk="1" hangingPunct="1"/>
            <a:r>
              <a:rPr lang="en-US" altLang="ko-KR" b="1" i="1" dirty="0" err="1">
                <a:latin typeface="신명조"/>
                <a:ea typeface="Gulim" pitchFamily="34" charset="-127"/>
              </a:rPr>
              <a:t>d</a:t>
            </a:r>
            <a:r>
              <a:rPr lang="en-US" altLang="ko-KR" b="1" i="1" baseline="-25000" dirty="0" err="1">
                <a:latin typeface="신명조"/>
                <a:ea typeface="Gulim" pitchFamily="34" charset="-127"/>
              </a:rPr>
              <a:t>old</a:t>
            </a:r>
            <a:r>
              <a:rPr lang="en-US" altLang="ko-KR" b="1" i="1" dirty="0">
                <a:latin typeface="명조"/>
                <a:ea typeface="Gulim" pitchFamily="34" charset="-127"/>
              </a:rPr>
              <a:t> = F(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x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+1, y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-</a:t>
            </a:r>
            <a:r>
              <a:rPr lang="en-US" altLang="ko-KR" b="1" i="1" dirty="0">
                <a:latin typeface="Times New Roman" pitchFamily="18" charset="0"/>
                <a:ea typeface="Gulim" pitchFamily="34" charset="-127"/>
              </a:rPr>
              <a:t>½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)</a:t>
            </a:r>
            <a:r>
              <a:rPr lang="en-US" altLang="ko-KR" dirty="0">
                <a:latin typeface="신명조"/>
                <a:ea typeface="Gulim" pitchFamily="34" charset="-127"/>
              </a:rPr>
              <a:t> 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= (x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+1)</a:t>
            </a:r>
            <a:r>
              <a:rPr lang="en-US" altLang="ko-KR" b="1" i="1" baseline="30000" dirty="0">
                <a:latin typeface="신명조"/>
                <a:ea typeface="Gulim" pitchFamily="34" charset="-127"/>
              </a:rPr>
              <a:t>2</a:t>
            </a:r>
            <a:r>
              <a:rPr lang="en-US" altLang="ko-KR" b="1" i="1" dirty="0">
                <a:latin typeface="명조"/>
                <a:ea typeface="Gulim" pitchFamily="34" charset="-127"/>
              </a:rPr>
              <a:t> + (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y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-</a:t>
            </a:r>
            <a:r>
              <a:rPr lang="en-US" altLang="ko-KR" b="1" i="1" dirty="0">
                <a:latin typeface="Times New Roman" pitchFamily="18" charset="0"/>
                <a:ea typeface="Gulim" pitchFamily="34" charset="-127"/>
              </a:rPr>
              <a:t>½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)</a:t>
            </a:r>
            <a:r>
              <a:rPr lang="en-US" altLang="ko-KR" b="1" i="1" baseline="30000" dirty="0">
                <a:latin typeface="신명조"/>
                <a:ea typeface="Gulim" pitchFamily="34" charset="-127"/>
              </a:rPr>
              <a:t>2</a:t>
            </a:r>
            <a:r>
              <a:rPr lang="en-US" altLang="ko-KR" b="1" i="1" baseline="-25000" dirty="0">
                <a:latin typeface="명조"/>
                <a:ea typeface="Gulim" pitchFamily="34" charset="-127"/>
              </a:rPr>
              <a:t> </a:t>
            </a:r>
            <a:r>
              <a:rPr lang="en-US" altLang="ko-KR" b="1" i="1" dirty="0">
                <a:latin typeface="명조"/>
                <a:ea typeface="Gulim" pitchFamily="34" charset="-127"/>
              </a:rPr>
              <a:t>- R</a:t>
            </a:r>
            <a:r>
              <a:rPr lang="en-US" altLang="ko-KR" b="1" i="1" baseline="30000" dirty="0">
                <a:latin typeface="신명조"/>
                <a:ea typeface="Gulim" pitchFamily="34" charset="-127"/>
              </a:rPr>
              <a:t>2</a:t>
            </a:r>
            <a:r>
              <a:rPr lang="en-US" altLang="ko-KR" dirty="0">
                <a:latin typeface="명조"/>
                <a:ea typeface="Gulim" pitchFamily="34" charset="-127"/>
              </a:rPr>
              <a:t> </a:t>
            </a:r>
          </a:p>
          <a:p>
            <a:pPr lvl="1" algn="ctr" eaLnBrk="1" hangingPunct="1">
              <a:buFont typeface="Wingdings" pitchFamily="2" charset="2"/>
              <a:buNone/>
            </a:pPr>
            <a:r>
              <a:rPr lang="en-US" altLang="ko-KR" sz="1800" dirty="0">
                <a:latin typeface="신명조"/>
                <a:ea typeface="Gulim" pitchFamily="34" charset="-127"/>
              </a:rPr>
              <a:t>                          </a:t>
            </a:r>
            <a:endParaRPr lang="en-US" altLang="ko-KR" sz="1800" dirty="0">
              <a:latin typeface="명조"/>
              <a:ea typeface="Gulim" pitchFamily="34" charset="-127"/>
            </a:endParaRPr>
          </a:p>
          <a:p>
            <a:pPr lvl="1" algn="just" eaLnBrk="1" hangingPunct="1"/>
            <a:r>
              <a:rPr lang="en-US" altLang="ko-KR" sz="2000" dirty="0">
                <a:latin typeface="신명조"/>
                <a:ea typeface="Gulim" pitchFamily="34" charset="-127"/>
              </a:rPr>
              <a:t>Se </a:t>
            </a:r>
            <a:r>
              <a:rPr lang="en-US" altLang="ko-KR" sz="2000" dirty="0" err="1">
                <a:ea typeface="Gulim" pitchFamily="34" charset="-127"/>
              </a:rPr>
              <a:t>d</a:t>
            </a:r>
            <a:r>
              <a:rPr lang="en-US" altLang="ko-KR" sz="2000" baseline="-25000" dirty="0" err="1">
                <a:ea typeface="Gulim" pitchFamily="34" charset="-127"/>
              </a:rPr>
              <a:t>old</a:t>
            </a:r>
            <a:r>
              <a:rPr lang="en-US" altLang="ko-KR" sz="2000" dirty="0">
                <a:ea typeface="Gulim" pitchFamily="34" charset="-127"/>
              </a:rPr>
              <a:t> &lt; 0, </a:t>
            </a:r>
            <a:r>
              <a:rPr lang="en-US" altLang="ko-KR" sz="2000" dirty="0" err="1">
                <a:ea typeface="Gulim" pitchFamily="34" charset="-127"/>
              </a:rPr>
              <a:t>escolha</a:t>
            </a:r>
            <a:r>
              <a:rPr lang="en-US" altLang="ko-KR" sz="2000" dirty="0">
                <a:ea typeface="Gulim" pitchFamily="34" charset="-127"/>
              </a:rPr>
              <a:t> E</a:t>
            </a:r>
            <a:r>
              <a:rPr lang="en-US" altLang="ko-KR" sz="2000" dirty="0">
                <a:latin typeface="명조"/>
                <a:ea typeface="Gulim" pitchFamily="34" charset="-127"/>
              </a:rPr>
              <a:t>. </a:t>
            </a:r>
          </a:p>
          <a:p>
            <a:pPr lvl="2" algn="just" eaLnBrk="1" hangingPunct="1">
              <a:buFont typeface="Wingdings" pitchFamily="2" charset="2"/>
              <a:buNone/>
            </a:pPr>
            <a:r>
              <a:rPr lang="en-US" altLang="ko-KR" sz="1800" dirty="0">
                <a:latin typeface="신명조"/>
                <a:ea typeface="Gulim" pitchFamily="34" charset="-127"/>
              </a:rPr>
              <a:t> </a:t>
            </a:r>
          </a:p>
          <a:p>
            <a:pPr lvl="2" algn="just" eaLnBrk="1" hangingPunct="1"/>
            <a:r>
              <a:rPr lang="en-US" altLang="ko-KR" b="1" i="1" dirty="0" err="1">
                <a:latin typeface="신명조"/>
                <a:ea typeface="Gulim" pitchFamily="34" charset="-127"/>
              </a:rPr>
              <a:t>d</a:t>
            </a:r>
            <a:r>
              <a:rPr lang="en-US" altLang="ko-KR" b="1" i="1" baseline="-25000" dirty="0" err="1">
                <a:latin typeface="신명조"/>
                <a:ea typeface="Gulim" pitchFamily="34" charset="-127"/>
              </a:rPr>
              <a:t>new</a:t>
            </a:r>
            <a:r>
              <a:rPr lang="en-US" altLang="ko-KR" b="1" i="1" dirty="0">
                <a:latin typeface="명조"/>
                <a:ea typeface="Gulim" pitchFamily="34" charset="-127"/>
              </a:rPr>
              <a:t> = F(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x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+2, y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-</a:t>
            </a:r>
            <a:r>
              <a:rPr lang="en-US" altLang="ko-KR" b="1" i="1" dirty="0">
                <a:latin typeface="Times New Roman" pitchFamily="18" charset="0"/>
                <a:ea typeface="Gulim" pitchFamily="34" charset="-127"/>
              </a:rPr>
              <a:t>½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) = </a:t>
            </a:r>
            <a:r>
              <a:rPr lang="en-US" altLang="ko-KR" b="1" i="1" dirty="0" err="1">
                <a:latin typeface="신명조"/>
                <a:ea typeface="Gulim" pitchFamily="34" charset="-127"/>
              </a:rPr>
              <a:t>d</a:t>
            </a:r>
            <a:r>
              <a:rPr lang="en-US" altLang="ko-KR" b="1" i="1" baseline="-25000" dirty="0" err="1">
                <a:latin typeface="신명조"/>
                <a:ea typeface="Gulim" pitchFamily="34" charset="-127"/>
              </a:rPr>
              <a:t>old</a:t>
            </a:r>
            <a:r>
              <a:rPr lang="en-US" altLang="ko-KR" b="1" i="1" dirty="0">
                <a:latin typeface="명조"/>
                <a:ea typeface="Gulim" pitchFamily="34" charset="-127"/>
              </a:rPr>
              <a:t> + (2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x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명조"/>
                <a:ea typeface="Gulim" pitchFamily="34" charset="-127"/>
              </a:rPr>
              <a:t> + 3)</a:t>
            </a:r>
            <a:r>
              <a:rPr lang="en-US" altLang="ko-KR" dirty="0">
                <a:latin typeface="명조"/>
                <a:ea typeface="Gulim" pitchFamily="34" charset="-127"/>
              </a:rPr>
              <a:t> </a:t>
            </a:r>
          </a:p>
          <a:p>
            <a:pPr lvl="1" algn="just" eaLnBrk="1" hangingPunct="1"/>
            <a:endParaRPr lang="en-US" altLang="ko-KR" sz="2000" dirty="0">
              <a:ea typeface="Gulim" pitchFamily="34" charset="-127"/>
            </a:endParaRPr>
          </a:p>
          <a:p>
            <a:pPr lvl="1" algn="just" eaLnBrk="1" hangingPunct="1"/>
            <a:r>
              <a:rPr lang="en-US" altLang="ko-KR" sz="2000" dirty="0">
                <a:ea typeface="Gulim" pitchFamily="34" charset="-127"/>
              </a:rPr>
              <a:t>Se </a:t>
            </a:r>
            <a:r>
              <a:rPr lang="en-US" altLang="ko-KR" sz="2000" dirty="0" err="1">
                <a:ea typeface="Gulim" pitchFamily="34" charset="-127"/>
              </a:rPr>
              <a:t>d</a:t>
            </a:r>
            <a:r>
              <a:rPr lang="en-US" altLang="ko-KR" sz="2000" baseline="-25000" dirty="0" err="1">
                <a:ea typeface="Gulim" pitchFamily="34" charset="-127"/>
              </a:rPr>
              <a:t>old</a:t>
            </a:r>
            <a:r>
              <a:rPr lang="en-US" altLang="ko-KR" sz="2000" dirty="0">
                <a:ea typeface="Gulim" pitchFamily="34" charset="-127"/>
              </a:rPr>
              <a:t> </a:t>
            </a:r>
            <a:r>
              <a:rPr lang="en-US" altLang="ko-KR" sz="2000" dirty="0">
                <a:ea typeface="Gulim" pitchFamily="34" charset="-127"/>
                <a:sym typeface="Symbol" pitchFamily="18" charset="2"/>
              </a:rPr>
              <a:t> </a:t>
            </a:r>
            <a:r>
              <a:rPr lang="en-US" altLang="ko-KR" sz="2000" dirty="0">
                <a:ea typeface="Gulim" pitchFamily="34" charset="-127"/>
              </a:rPr>
              <a:t>0, </a:t>
            </a:r>
            <a:r>
              <a:rPr lang="en-US" altLang="ko-KR" sz="2000" dirty="0" err="1">
                <a:ea typeface="Gulim" pitchFamily="34" charset="-127"/>
              </a:rPr>
              <a:t>escolha</a:t>
            </a:r>
            <a:r>
              <a:rPr lang="en-US" altLang="ko-KR" sz="2000" dirty="0">
                <a:ea typeface="Gulim" pitchFamily="34" charset="-127"/>
              </a:rPr>
              <a:t> SE</a:t>
            </a:r>
            <a:r>
              <a:rPr lang="en-US" altLang="ko-KR" sz="2000" dirty="0">
                <a:latin typeface="신명조"/>
                <a:ea typeface="Gulim" pitchFamily="34" charset="-127"/>
              </a:rPr>
              <a:t>.</a:t>
            </a:r>
            <a:r>
              <a:rPr lang="en-US" altLang="ko-KR" sz="1800" dirty="0">
                <a:latin typeface="신명조"/>
                <a:ea typeface="Gulim" pitchFamily="34" charset="-127"/>
              </a:rPr>
              <a:t> </a:t>
            </a:r>
          </a:p>
          <a:p>
            <a:pPr lvl="2" algn="just" eaLnBrk="1" hangingPunct="1">
              <a:buFont typeface="Wingdings" pitchFamily="2" charset="2"/>
              <a:buNone/>
            </a:pPr>
            <a:endParaRPr lang="en-US" altLang="ko-KR" sz="1800" b="1" i="1" dirty="0">
              <a:latin typeface="신명조"/>
              <a:ea typeface="Gulim" pitchFamily="34" charset="-127"/>
            </a:endParaRPr>
          </a:p>
          <a:p>
            <a:pPr lvl="2" algn="just" eaLnBrk="1" hangingPunct="1"/>
            <a:r>
              <a:rPr lang="en-US" altLang="ko-KR" b="1" i="1" dirty="0" err="1">
                <a:latin typeface="신명조"/>
                <a:ea typeface="Gulim" pitchFamily="34" charset="-127"/>
              </a:rPr>
              <a:t>d</a:t>
            </a:r>
            <a:r>
              <a:rPr lang="en-US" altLang="ko-KR" b="1" i="1" baseline="-25000" dirty="0" err="1">
                <a:latin typeface="신명조"/>
                <a:ea typeface="Gulim" pitchFamily="34" charset="-127"/>
              </a:rPr>
              <a:t>new</a:t>
            </a:r>
            <a:r>
              <a:rPr lang="en-US" altLang="ko-KR" b="1" i="1" dirty="0">
                <a:latin typeface="명조"/>
                <a:ea typeface="Gulim" pitchFamily="34" charset="-127"/>
              </a:rPr>
              <a:t> = F(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x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+2, y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-</a:t>
            </a:r>
            <a:r>
              <a:rPr lang="en-US" altLang="ko-KR" b="1" i="1" dirty="0">
                <a:latin typeface="Times New Roman" pitchFamily="18" charset="0"/>
                <a:ea typeface="Gulim" pitchFamily="34" charset="-127"/>
              </a:rPr>
              <a:t>½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-1) = </a:t>
            </a:r>
            <a:r>
              <a:rPr lang="en-US" altLang="ko-KR" b="1" i="1" dirty="0" err="1">
                <a:latin typeface="신명조"/>
                <a:ea typeface="Gulim" pitchFamily="34" charset="-127"/>
              </a:rPr>
              <a:t>d</a:t>
            </a:r>
            <a:r>
              <a:rPr lang="en-US" altLang="ko-KR" b="1" i="1" baseline="-25000" dirty="0" err="1">
                <a:latin typeface="신명조"/>
                <a:ea typeface="Gulim" pitchFamily="34" charset="-127"/>
              </a:rPr>
              <a:t>old</a:t>
            </a:r>
            <a:r>
              <a:rPr lang="en-US" altLang="ko-KR" b="1" i="1" dirty="0">
                <a:latin typeface="명조"/>
                <a:ea typeface="Gulim" pitchFamily="34" charset="-127"/>
              </a:rPr>
              <a:t> + (2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x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명조"/>
                <a:ea typeface="Gulim" pitchFamily="34" charset="-127"/>
              </a:rPr>
              <a:t> - 2</a:t>
            </a:r>
            <a:r>
              <a:rPr lang="en-US" altLang="ko-KR" b="1" i="1" dirty="0">
                <a:latin typeface="신명조"/>
                <a:ea typeface="Gulim" pitchFamily="34" charset="-127"/>
              </a:rPr>
              <a:t>y</a:t>
            </a:r>
            <a:r>
              <a:rPr lang="en-US" altLang="ko-KR" b="1" i="1" baseline="-25000" dirty="0">
                <a:latin typeface="신명조"/>
                <a:ea typeface="Gulim" pitchFamily="34" charset="-127"/>
              </a:rPr>
              <a:t>p</a:t>
            </a:r>
            <a:r>
              <a:rPr lang="en-US" altLang="ko-KR" b="1" i="1" dirty="0">
                <a:latin typeface="명조"/>
                <a:ea typeface="Gulim" pitchFamily="34" charset="-127"/>
              </a:rPr>
              <a:t> + 5)</a:t>
            </a:r>
            <a:r>
              <a:rPr lang="en-US" altLang="ko-KR" sz="1800" dirty="0">
                <a:latin typeface="명조"/>
                <a:ea typeface="Gulim" pitchFamily="34" charset="-127"/>
              </a:rPr>
              <a:t> </a:t>
            </a:r>
            <a:endParaRPr lang="pt-BR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altLang="ko-KR" sz="2800">
                <a:ea typeface="Gulim" pitchFamily="34" charset="-127"/>
              </a:rPr>
              <a:t>Conversão por Varredura da Circunferência</a:t>
            </a:r>
            <a:endParaRPr lang="pt-BR" sz="280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2400"/>
              <a:t>Variável de decisão inicial</a:t>
            </a:r>
          </a:p>
          <a:p>
            <a:pPr lvl="1" algn="just" eaLnBrk="1" hangingPunct="1"/>
            <a:endParaRPr lang="en-US" altLang="ko-KR" sz="2000">
              <a:ea typeface="Gulim" pitchFamily="34" charset="-127"/>
            </a:endParaRPr>
          </a:p>
          <a:p>
            <a:pPr lvl="1" algn="just" eaLnBrk="1" hangingPunct="1"/>
            <a:r>
              <a:rPr lang="en-US" altLang="ko-KR" sz="2000">
                <a:ea typeface="Gulim" pitchFamily="34" charset="-127"/>
              </a:rPr>
              <a:t>Se </a:t>
            </a:r>
            <a:r>
              <a:rPr lang="pt-BR" altLang="ko-KR" sz="2000">
                <a:ea typeface="Gulim" pitchFamily="34" charset="-127"/>
              </a:rPr>
              <a:t>iniciamos em (0,R), o pr</a:t>
            </a:r>
            <a:r>
              <a:rPr lang="pt-BR" altLang="ko-KR" sz="2000">
                <a:latin typeface="Tahoma" pitchFamily="34" charset="0"/>
                <a:ea typeface="Gulim" pitchFamily="34" charset="-127"/>
              </a:rPr>
              <a:t>ó</a:t>
            </a:r>
            <a:r>
              <a:rPr lang="pt-BR" altLang="ko-KR" sz="2000">
                <a:ea typeface="Gulim" pitchFamily="34" charset="-127"/>
              </a:rPr>
              <a:t>ximo ponto m</a:t>
            </a:r>
            <a:r>
              <a:rPr lang="pt-BR" altLang="ko-KR" sz="2000">
                <a:latin typeface="Tahoma" pitchFamily="34" charset="0"/>
                <a:ea typeface="Gulim" pitchFamily="34" charset="-127"/>
              </a:rPr>
              <a:t>é</a:t>
            </a:r>
            <a:r>
              <a:rPr lang="pt-BR" altLang="ko-KR" sz="2000">
                <a:ea typeface="Gulim" pitchFamily="34" charset="-127"/>
              </a:rPr>
              <a:t>dio estar</a:t>
            </a:r>
            <a:r>
              <a:rPr lang="pt-BR" altLang="ko-KR" sz="2000">
                <a:latin typeface="Tahoma" pitchFamily="34" charset="0"/>
                <a:ea typeface="Gulim" pitchFamily="34" charset="-127"/>
              </a:rPr>
              <a:t>á</a:t>
            </a:r>
            <a:r>
              <a:rPr lang="pt-BR" altLang="ko-KR" sz="2000">
                <a:ea typeface="Gulim" pitchFamily="34" charset="-127"/>
              </a:rPr>
              <a:t> em    (1, R </a:t>
            </a:r>
            <a:r>
              <a:rPr lang="pt-BR" altLang="ko-KR" sz="2000">
                <a:latin typeface="Tahoma" pitchFamily="34" charset="0"/>
                <a:ea typeface="Gulim" pitchFamily="34" charset="-127"/>
              </a:rPr>
              <a:t>–</a:t>
            </a:r>
            <a:r>
              <a:rPr lang="pt-BR" altLang="ko-KR" sz="2000">
                <a:ea typeface="Gulim" pitchFamily="34" charset="-127"/>
              </a:rPr>
              <a:t> </a:t>
            </a:r>
            <a:r>
              <a:rPr lang="pt-BR" altLang="ko-KR" sz="2000">
                <a:latin typeface="Tahoma" pitchFamily="34" charset="0"/>
                <a:ea typeface="Gulim" pitchFamily="34" charset="-127"/>
              </a:rPr>
              <a:t>½</a:t>
            </a:r>
            <a:r>
              <a:rPr lang="pt-BR" altLang="ko-KR" sz="2000">
                <a:ea typeface="Gulim" pitchFamily="34" charset="-127"/>
              </a:rPr>
              <a:t>), portanto o valor inicial de d </a:t>
            </a:r>
            <a:r>
              <a:rPr lang="pt-BR" altLang="ko-KR" sz="2000">
                <a:latin typeface="Tahoma" pitchFamily="34" charset="0"/>
                <a:ea typeface="Gulim" pitchFamily="34" charset="-127"/>
              </a:rPr>
              <a:t>é</a:t>
            </a:r>
            <a:r>
              <a:rPr lang="pt-BR" altLang="ko-KR" sz="2000">
                <a:ea typeface="Gulim" pitchFamily="34" charset="-127"/>
              </a:rPr>
              <a:t> dado por:</a:t>
            </a:r>
          </a:p>
          <a:p>
            <a:pPr lvl="2" algn="just" eaLnBrk="1" hangingPunct="1"/>
            <a:endParaRPr lang="pt-BR" altLang="ko-KR">
              <a:latin typeface="신명조"/>
              <a:ea typeface="Gulim" pitchFamily="34" charset="-127"/>
            </a:endParaRPr>
          </a:p>
          <a:p>
            <a:pPr lvl="2" algn="just" eaLnBrk="1" hangingPunct="1"/>
            <a:r>
              <a:rPr lang="pt-BR" altLang="ko-KR">
                <a:latin typeface="신명조"/>
                <a:ea typeface="Gulim" pitchFamily="34" charset="-127"/>
              </a:rPr>
              <a:t>d</a:t>
            </a:r>
            <a:r>
              <a:rPr lang="pt-BR" altLang="ko-KR" baseline="-25000">
                <a:latin typeface="신명조"/>
                <a:ea typeface="Gulim" pitchFamily="34" charset="-127"/>
              </a:rPr>
              <a:t>init</a:t>
            </a:r>
            <a:r>
              <a:rPr lang="pt-BR" altLang="ko-KR">
                <a:latin typeface="명조"/>
                <a:ea typeface="Gulim" pitchFamily="34" charset="-127"/>
              </a:rPr>
              <a:t> = F(1, R - </a:t>
            </a:r>
            <a:r>
              <a:rPr lang="pt-BR" altLang="ko-KR">
                <a:latin typeface="Times New Roman" pitchFamily="18" charset="0"/>
                <a:ea typeface="Gulim" pitchFamily="34" charset="-127"/>
              </a:rPr>
              <a:t>½</a:t>
            </a:r>
            <a:r>
              <a:rPr lang="pt-BR" altLang="ko-KR">
                <a:latin typeface="신명조"/>
                <a:ea typeface="Gulim" pitchFamily="34" charset="-127"/>
              </a:rPr>
              <a:t>) </a:t>
            </a:r>
            <a:endParaRPr lang="pt-BR" altLang="ko-KR">
              <a:latin typeface="명조"/>
              <a:ea typeface="Gulim" pitchFamily="34" charset="-127"/>
            </a:endParaRPr>
          </a:p>
          <a:p>
            <a:pPr lvl="2" algn="just" eaLnBrk="1" hangingPunct="1">
              <a:buFont typeface="Wingdings" pitchFamily="2" charset="2"/>
              <a:buNone/>
            </a:pPr>
            <a:r>
              <a:rPr lang="pt-BR" altLang="ko-KR">
                <a:latin typeface="명조"/>
                <a:ea typeface="Gulim" pitchFamily="34" charset="-127"/>
              </a:rPr>
              <a:t>	        = 5/4 - R.</a:t>
            </a:r>
          </a:p>
          <a:p>
            <a:pPr lvl="1" algn="just" eaLnBrk="1" hangingPunct="1"/>
            <a:endParaRPr lang="pt-BR" altLang="ko-KR" sz="2000">
              <a:latin typeface="명조"/>
              <a:ea typeface="Gulim" pitchFamily="34" charset="-127"/>
            </a:endParaRPr>
          </a:p>
          <a:p>
            <a:pPr lvl="1" algn="just" eaLnBrk="1" hangingPunct="1"/>
            <a:endParaRPr lang="pt-BR" altLang="ko-KR" sz="2000">
              <a:latin typeface="명조"/>
              <a:ea typeface="Gulim" pitchFamily="34" charset="-127"/>
            </a:endParaRPr>
          </a:p>
          <a:p>
            <a:pPr lvl="1" algn="just" eaLnBrk="1" hangingPunct="1"/>
            <a:r>
              <a:rPr lang="pt-BR" altLang="ko-KR" sz="2000">
                <a:latin typeface="명조"/>
                <a:ea typeface="Gulim" pitchFamily="34" charset="-127"/>
              </a:rPr>
              <a:t>Se R for inteiro, fa</a:t>
            </a:r>
            <a:r>
              <a:rPr lang="pt-BR" altLang="ko-KR" sz="2000">
                <a:latin typeface="Times New Roman" pitchFamily="18" charset="0"/>
                <a:ea typeface="Gulim" pitchFamily="34" charset="-127"/>
              </a:rPr>
              <a:t>ç</a:t>
            </a:r>
            <a:r>
              <a:rPr lang="pt-BR" altLang="ko-KR" sz="2000">
                <a:latin typeface="명조"/>
                <a:ea typeface="Gulim" pitchFamily="34" charset="-127"/>
              </a:rPr>
              <a:t>a h = d </a:t>
            </a:r>
            <a:r>
              <a:rPr lang="pt-BR" altLang="ko-KR" sz="2000">
                <a:latin typeface="Times New Roman" pitchFamily="18" charset="0"/>
                <a:ea typeface="Gulim" pitchFamily="34" charset="-127"/>
              </a:rPr>
              <a:t>–</a:t>
            </a:r>
            <a:r>
              <a:rPr lang="pt-BR" altLang="ko-KR" sz="2000">
                <a:latin typeface="명조"/>
                <a:ea typeface="Gulim" pitchFamily="34" charset="-127"/>
              </a:rPr>
              <a:t> </a:t>
            </a:r>
            <a:r>
              <a:rPr lang="pt-BR" altLang="ko-KR" sz="2000">
                <a:latin typeface="Times New Roman" pitchFamily="18" charset="0"/>
                <a:ea typeface="Gulim" pitchFamily="34" charset="-127"/>
              </a:rPr>
              <a:t>¼</a:t>
            </a:r>
            <a:r>
              <a:rPr lang="pt-BR" altLang="ko-KR" sz="2000">
                <a:latin typeface="명조"/>
                <a:ea typeface="Gulim" pitchFamily="34" charset="-127"/>
              </a:rPr>
              <a:t>  -&gt; d = h + </a:t>
            </a:r>
            <a:r>
              <a:rPr lang="pt-BR" altLang="ko-KR" sz="2000">
                <a:latin typeface="Times New Roman" pitchFamily="18" charset="0"/>
                <a:ea typeface="Gulim" pitchFamily="34" charset="-127"/>
              </a:rPr>
              <a:t>¼</a:t>
            </a:r>
            <a:r>
              <a:rPr lang="pt-BR" altLang="ko-KR" sz="2000">
                <a:latin typeface="명조"/>
                <a:ea typeface="Gulim" pitchFamily="34" charset="-127"/>
              </a:rPr>
              <a:t> , segue que a inicializa</a:t>
            </a:r>
            <a:r>
              <a:rPr lang="pt-BR" altLang="ko-KR" sz="2000">
                <a:latin typeface="Times New Roman" pitchFamily="18" charset="0"/>
                <a:ea typeface="Gulim" pitchFamily="34" charset="-127"/>
              </a:rPr>
              <a:t>ç</a:t>
            </a:r>
            <a:r>
              <a:rPr lang="pt-BR" altLang="ko-KR" sz="2000">
                <a:latin typeface="명조"/>
                <a:ea typeface="Gulim" pitchFamily="34" charset="-127"/>
              </a:rPr>
              <a:t>ão ser</a:t>
            </a:r>
            <a:r>
              <a:rPr lang="pt-BR" altLang="ko-KR" sz="2000">
                <a:latin typeface="Times New Roman" pitchFamily="18" charset="0"/>
                <a:ea typeface="Gulim" pitchFamily="34" charset="-127"/>
              </a:rPr>
              <a:t>á</a:t>
            </a:r>
            <a:r>
              <a:rPr lang="pt-BR" altLang="ko-KR" sz="2000">
                <a:latin typeface="명조"/>
                <a:ea typeface="Gulim" pitchFamily="34" charset="-127"/>
              </a:rPr>
              <a:t>  h = 1 - R.</a:t>
            </a:r>
          </a:p>
          <a:p>
            <a:pPr lvl="1" algn="ctr" eaLnBrk="1" hangingPunct="1">
              <a:buFont typeface="Wingdings" pitchFamily="2" charset="2"/>
              <a:buNone/>
            </a:pPr>
            <a:r>
              <a:rPr lang="pt-BR" altLang="ko-KR" sz="2000">
                <a:latin typeface="명조"/>
                <a:ea typeface="Gulim" pitchFamily="34" charset="-127"/>
              </a:rPr>
              <a:t>d</a:t>
            </a:r>
            <a:r>
              <a:rPr lang="pt-BR" altLang="ko-KR" sz="2000" baseline="-25000">
                <a:latin typeface="명조"/>
                <a:ea typeface="Gulim" pitchFamily="34" charset="-127"/>
              </a:rPr>
              <a:t>init</a:t>
            </a:r>
            <a:r>
              <a:rPr lang="pt-BR" altLang="ko-KR" sz="2000">
                <a:latin typeface="명조"/>
                <a:ea typeface="Gulim" pitchFamily="34" charset="-127"/>
              </a:rPr>
              <a:t> = 1 - R</a:t>
            </a:r>
            <a:endParaRPr lang="pt-BR" sz="2000"/>
          </a:p>
          <a:p>
            <a:pPr lvl="2" algn="just" eaLnBrk="1" hangingPunct="1">
              <a:buFont typeface="Wingdings" pitchFamily="2" charset="2"/>
              <a:buNone/>
            </a:pPr>
            <a:endParaRPr lang="pt-BR" altLang="ko-KR">
              <a:latin typeface="명조"/>
              <a:ea typeface="Gulim" pitchFamily="34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ko-KR" b="0">
                <a:ea typeface="Gulim" pitchFamily="34" charset="-127"/>
              </a:rPr>
              <a:t>Conversão por Varredura da Circunferência</a:t>
            </a:r>
            <a:endParaRPr lang="pt-BR" b="0"/>
          </a:p>
        </p:txBody>
      </p:sp>
      <p:sp>
        <p:nvSpPr>
          <p:cNvPr id="1843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3810000" cy="4840288"/>
          </a:xfrm>
          <a:noFill/>
        </p:spPr>
        <p:txBody>
          <a:bodyPr/>
          <a:lstStyle/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 err="1">
                <a:ea typeface="Gulim" pitchFamily="34" charset="-127"/>
              </a:rPr>
              <a:t>Void</a:t>
            </a:r>
            <a:r>
              <a:rPr lang="pt-BR" sz="1600" b="1" dirty="0">
                <a:ea typeface="Gulim" pitchFamily="34" charset="-127"/>
              </a:rPr>
              <a:t> </a:t>
            </a:r>
            <a:r>
              <a:rPr lang="pt-BR" sz="1600" b="1" dirty="0" err="1">
                <a:ea typeface="Gulim" pitchFamily="34" charset="-127"/>
              </a:rPr>
              <a:t>cpontomedio</a:t>
            </a:r>
            <a:r>
              <a:rPr lang="pt-BR" sz="1600" b="1" dirty="0">
                <a:ea typeface="Gulim" pitchFamily="34" charset="-127"/>
              </a:rPr>
              <a:t>(</a:t>
            </a:r>
            <a:r>
              <a:rPr lang="pt-BR" sz="1600" b="1" dirty="0" err="1">
                <a:ea typeface="Gulim" pitchFamily="34" charset="-127"/>
              </a:rPr>
              <a:t>int</a:t>
            </a:r>
            <a:r>
              <a:rPr lang="pt-BR" sz="1600" b="1" dirty="0">
                <a:ea typeface="Gulim" pitchFamily="34" charset="-127"/>
              </a:rPr>
              <a:t> raio, </a:t>
            </a:r>
            <a:r>
              <a:rPr lang="pt-BR" sz="1600" b="1" dirty="0" err="1">
                <a:ea typeface="Gulim" pitchFamily="34" charset="-127"/>
              </a:rPr>
              <a:t>int</a:t>
            </a:r>
            <a:r>
              <a:rPr lang="pt-BR" sz="1600" b="1" dirty="0">
                <a:ea typeface="Gulim" pitchFamily="34" charset="-127"/>
              </a:rPr>
              <a:t> valor)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{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 err="1">
                <a:ea typeface="Gulim" pitchFamily="34" charset="-127"/>
              </a:rPr>
              <a:t>Int</a:t>
            </a:r>
            <a:r>
              <a:rPr lang="pt-BR" sz="1600" b="1" dirty="0">
                <a:ea typeface="Gulim" pitchFamily="34" charset="-127"/>
              </a:rPr>
              <a:t> x = 0;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 err="1">
                <a:ea typeface="Gulim" pitchFamily="34" charset="-127"/>
              </a:rPr>
              <a:t>Int</a:t>
            </a:r>
            <a:r>
              <a:rPr lang="pt-BR" sz="1600" b="1" dirty="0">
                <a:ea typeface="Gulim" pitchFamily="34" charset="-127"/>
              </a:rPr>
              <a:t> y = raio;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 err="1">
                <a:ea typeface="Gulim" pitchFamily="34" charset="-127"/>
              </a:rPr>
              <a:t>double</a:t>
            </a:r>
            <a:r>
              <a:rPr lang="pt-BR" sz="1600" b="1" dirty="0">
                <a:ea typeface="Gulim" pitchFamily="34" charset="-127"/>
              </a:rPr>
              <a:t> d = 5/4 – raio;   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% </a:t>
            </a:r>
            <a:r>
              <a:rPr lang="pt-BR" sz="1600" b="1" dirty="0" err="1">
                <a:ea typeface="Gulim" pitchFamily="34" charset="-127"/>
              </a:rPr>
              <a:t>Int</a:t>
            </a:r>
            <a:r>
              <a:rPr lang="pt-BR" sz="1600" b="1" dirty="0">
                <a:ea typeface="Gulim" pitchFamily="34" charset="-127"/>
              </a:rPr>
              <a:t> d =(1-raio);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 err="1">
                <a:ea typeface="Gulim" pitchFamily="34" charset="-127"/>
              </a:rPr>
              <a:t>ponto_circulo</a:t>
            </a:r>
            <a:r>
              <a:rPr lang="pt-BR" sz="1600" b="1" dirty="0">
                <a:ea typeface="Gulim" pitchFamily="34" charset="-127"/>
              </a:rPr>
              <a:t> (x, y, valor);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 err="1">
                <a:ea typeface="Gulim" pitchFamily="34" charset="-127"/>
              </a:rPr>
              <a:t>while</a:t>
            </a:r>
            <a:r>
              <a:rPr lang="pt-BR" sz="1600" b="1" dirty="0">
                <a:ea typeface="Gulim" pitchFamily="34" charset="-127"/>
              </a:rPr>
              <a:t> (y &gt; x) {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	</a:t>
            </a:r>
            <a:r>
              <a:rPr lang="pt-BR" sz="1600" b="1" dirty="0" err="1">
                <a:ea typeface="Gulim" pitchFamily="34" charset="-127"/>
              </a:rPr>
              <a:t>If</a:t>
            </a:r>
            <a:r>
              <a:rPr lang="pt-BR" sz="1600" b="1" dirty="0">
                <a:ea typeface="Gulim" pitchFamily="34" charset="-127"/>
              </a:rPr>
              <a:t> (d &lt; 0) /* escolhe E */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		d + = 2.0*x + 3.0;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	</a:t>
            </a:r>
            <a:r>
              <a:rPr lang="pt-BR" sz="1600" b="1" dirty="0" err="1">
                <a:ea typeface="Gulim" pitchFamily="34" charset="-127"/>
              </a:rPr>
              <a:t>else</a:t>
            </a:r>
            <a:r>
              <a:rPr lang="pt-BR" sz="1600" b="1" dirty="0">
                <a:ea typeface="Gulim" pitchFamily="34" charset="-127"/>
              </a:rPr>
              <a:t> {  /* escolhe SE */)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		  d + = 2.0*(x – y) + 5;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		  y - -;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	}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	x ++;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	</a:t>
            </a:r>
            <a:r>
              <a:rPr lang="pt-BR" sz="1600" b="1" dirty="0" err="1">
                <a:ea typeface="Gulim" pitchFamily="34" charset="-127"/>
              </a:rPr>
              <a:t>Ponto_circulo</a:t>
            </a:r>
            <a:r>
              <a:rPr lang="pt-BR" sz="1600" b="1" dirty="0">
                <a:ea typeface="Gulim" pitchFamily="34" charset="-127"/>
              </a:rPr>
              <a:t> (x, y, valor);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} /* </a:t>
            </a:r>
            <a:r>
              <a:rPr lang="pt-BR" sz="1600" b="1" dirty="0" err="1">
                <a:ea typeface="Gulim" pitchFamily="34" charset="-127"/>
              </a:rPr>
              <a:t>while</a:t>
            </a:r>
            <a:r>
              <a:rPr lang="pt-BR" sz="1600" b="1" dirty="0">
                <a:ea typeface="Gulim" pitchFamily="34" charset="-127"/>
              </a:rPr>
              <a:t>*/</a:t>
            </a:r>
          </a:p>
          <a:p>
            <a:pPr eaLnBrk="1" latin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pt-BR" sz="1600" b="1" dirty="0">
                <a:ea typeface="Gulim" pitchFamily="34" charset="-127"/>
              </a:rPr>
              <a:t>} /*</a:t>
            </a:r>
            <a:r>
              <a:rPr lang="pt-BR" sz="1600" b="1" dirty="0" err="1">
                <a:ea typeface="Gulim" pitchFamily="34" charset="-127"/>
              </a:rPr>
              <a:t>pontomedio</a:t>
            </a:r>
            <a:r>
              <a:rPr lang="pt-BR" sz="1600" b="1" dirty="0">
                <a:ea typeface="Gulim" pitchFamily="34" charset="-127"/>
              </a:rPr>
              <a:t>*/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pt-BR" sz="1600" dirty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4724400" y="1828800"/>
            <a:ext cx="4267200" cy="364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void ponto_circulo(int x, int y, int valor)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{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	Writepixel(x, y, valor);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	Writepixel(y, x, valor)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	Writepixel(y, -x, valor)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	Writepixel(x,-y , valor)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	Writepixel(-x, -y, valor)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	Writepixel(-y, -x, valor)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	Writepixel(-y, x, valor)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	Writepixel(-x, y, valor)</a:t>
            </a:r>
          </a:p>
          <a:p>
            <a:pPr latinLnBrk="1">
              <a:spcBef>
                <a:spcPct val="20000"/>
              </a:spcBef>
            </a:pPr>
            <a:r>
              <a:rPr lang="pt-BR" sz="1600" b="1">
                <a:solidFill>
                  <a:srgbClr val="FF0000"/>
                </a:solidFill>
                <a:ea typeface="Gulim" pitchFamily="34" charset="-127"/>
              </a:rPr>
              <a:t>} /*ponto_circulo*/</a:t>
            </a:r>
          </a:p>
          <a:p>
            <a:pPr>
              <a:spcBef>
                <a:spcPct val="50000"/>
              </a:spcBef>
            </a:pPr>
            <a:endParaRPr lang="pt-BR" sz="1600" b="1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z="2800"/>
              <a:t>EXEMPLO</a:t>
            </a:r>
          </a:p>
        </p:txBody>
      </p:sp>
      <p:sp>
        <p:nvSpPr>
          <p:cNvPr id="19459" name="Espaço Reservado para Conteúdo 2"/>
          <p:cNvSpPr>
            <a:spLocks noGrp="1"/>
          </p:cNvSpPr>
          <p:nvPr>
            <p:ph idx="1"/>
          </p:nvPr>
        </p:nvSpPr>
        <p:spPr>
          <a:xfrm>
            <a:off x="928688" y="1643063"/>
            <a:ext cx="7772400" cy="4530725"/>
          </a:xfrm>
        </p:spPr>
        <p:txBody>
          <a:bodyPr/>
          <a:lstStyle/>
          <a:p>
            <a:pPr eaLnBrk="1" hangingPunct="1"/>
            <a:r>
              <a:rPr lang="pt-BR" sz="2000"/>
              <a:t>Dado um circulo de raio 10 centrado na origem, converta por varredura usando o algoritmo de </a:t>
            </a:r>
            <a:r>
              <a:rPr lang="pt-BR" sz="2000" i="1"/>
              <a:t>Bresenham</a:t>
            </a:r>
            <a:r>
              <a:rPr lang="pt-BR" sz="2000"/>
              <a:t>.</a:t>
            </a:r>
          </a:p>
          <a:p>
            <a:pPr eaLnBrk="1" hangingPunct="1"/>
            <a:endParaRPr lang="pt-BR" sz="2000"/>
          </a:p>
          <a:p>
            <a:pPr eaLnBrk="1" hangingPunct="1"/>
            <a:endParaRPr lang="pt-BR" sz="200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928688" y="2714625"/>
          <a:ext cx="392909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9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/>
                        <a:t> 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498" name="CaixaDeTexto 5"/>
          <p:cNvSpPr txBox="1">
            <a:spLocks noChangeArrowheads="1"/>
          </p:cNvSpPr>
          <p:nvPr/>
        </p:nvSpPr>
        <p:spPr bwMode="auto">
          <a:xfrm>
            <a:off x="4929188" y="2714625"/>
            <a:ext cx="371475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d_</a:t>
            </a:r>
            <a:r>
              <a:rPr lang="pt-BR" sz="1000"/>
              <a:t>init </a:t>
            </a:r>
            <a:r>
              <a:rPr lang="pt-BR"/>
              <a:t>= 1- raio = -9</a:t>
            </a:r>
          </a:p>
          <a:p>
            <a:r>
              <a:rPr lang="pt-BR"/>
              <a:t>∆_</a:t>
            </a:r>
            <a:r>
              <a:rPr lang="pt-BR" sz="1000"/>
              <a:t>E</a:t>
            </a:r>
            <a:r>
              <a:rPr lang="pt-BR"/>
              <a:t> = 2x</a:t>
            </a:r>
            <a:r>
              <a:rPr lang="pt-BR" sz="1000"/>
              <a:t>p</a:t>
            </a:r>
            <a:r>
              <a:rPr lang="pt-BR"/>
              <a:t> + 3</a:t>
            </a:r>
          </a:p>
          <a:p>
            <a:r>
              <a:rPr lang="pt-BR"/>
              <a:t>∆_</a:t>
            </a:r>
            <a:r>
              <a:rPr lang="pt-BR" sz="1000"/>
              <a:t>SE</a:t>
            </a:r>
            <a:r>
              <a:rPr lang="pt-BR"/>
              <a:t> = 2x</a:t>
            </a:r>
            <a:r>
              <a:rPr lang="pt-BR" sz="1000"/>
              <a:t>p</a:t>
            </a:r>
            <a:r>
              <a:rPr lang="pt-BR"/>
              <a:t> – 2y</a:t>
            </a:r>
            <a:r>
              <a:rPr lang="pt-BR" sz="1000"/>
              <a:t>p</a:t>
            </a:r>
            <a:r>
              <a:rPr lang="pt-BR"/>
              <a:t> +5</a:t>
            </a:r>
          </a:p>
          <a:p>
            <a:endParaRPr lang="pt-BR"/>
          </a:p>
          <a:p>
            <a:endParaRPr lang="pt-BR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Referências Bibliográficas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_tradnl" sz="2000" dirty="0">
                <a:cs typeface="Times New Roman" pitchFamily="18" charset="0"/>
              </a:rPr>
              <a:t>FOLEY, J. et al. </a:t>
            </a:r>
            <a:r>
              <a:rPr lang="en-US" sz="2000" b="1" dirty="0">
                <a:cs typeface="Times New Roman" pitchFamily="18" charset="0"/>
              </a:rPr>
              <a:t>Computer graphics</a:t>
            </a:r>
            <a:r>
              <a:rPr lang="en-US" sz="2000" dirty="0">
                <a:cs typeface="Times New Roman" pitchFamily="18" charset="0"/>
              </a:rPr>
              <a:t> </a:t>
            </a:r>
            <a:r>
              <a:rPr lang="en-US" sz="2000" b="1" dirty="0">
                <a:cs typeface="Times New Roman" pitchFamily="18" charset="0"/>
              </a:rPr>
              <a:t>: principles and practice</a:t>
            </a:r>
            <a:r>
              <a:rPr lang="en-US" sz="2000" dirty="0">
                <a:cs typeface="Times New Roman" pitchFamily="18" charset="0"/>
              </a:rPr>
              <a:t>. 3. ed. Addison-Wesley, 2014.</a:t>
            </a:r>
          </a:p>
          <a:p>
            <a:pPr eaLnBrk="1" hangingPunct="1"/>
            <a:endParaRPr lang="en-US" sz="2000" dirty="0">
              <a:cs typeface="Times New Roman" pitchFamily="18" charset="0"/>
            </a:endParaRPr>
          </a:p>
          <a:p>
            <a:pPr eaLnBrk="1" hangingPunct="1"/>
            <a:r>
              <a:rPr lang="en-US" sz="2000" dirty="0">
                <a:cs typeface="Times New Roman" pitchFamily="18" charset="0"/>
              </a:rPr>
              <a:t>HEARN, D., BAKER, M. P. </a:t>
            </a:r>
            <a:r>
              <a:rPr lang="en-US" sz="2000" b="1" dirty="0">
                <a:cs typeface="Times New Roman" pitchFamily="18" charset="0"/>
              </a:rPr>
              <a:t>Computer Graphics With </a:t>
            </a:r>
            <a:r>
              <a:rPr lang="en-US" sz="2000" b="1" dirty="0" err="1">
                <a:cs typeface="Times New Roman" pitchFamily="18" charset="0"/>
              </a:rPr>
              <a:t>OpenGl</a:t>
            </a:r>
            <a:r>
              <a:rPr lang="en-US" sz="2000" dirty="0">
                <a:cs typeface="Times New Roman" pitchFamily="18" charset="0"/>
              </a:rPr>
              <a:t>, 4. ed.: Prentice-Hall, 2011. </a:t>
            </a:r>
          </a:p>
          <a:p>
            <a:pPr eaLnBrk="1" hangingPunct="1"/>
            <a:endParaRPr lang="en-US" sz="2000" dirty="0">
              <a:cs typeface="Times New Roman" pitchFamily="18" charset="0"/>
            </a:endParaRPr>
          </a:p>
          <a:p>
            <a:pPr eaLnBrk="1" hangingPunct="1"/>
            <a:r>
              <a:rPr lang="en-US" sz="2000" dirty="0"/>
              <a:t>TRAIMA,A. J. M.; OLIVEIRA, M. C. F. </a:t>
            </a:r>
            <a:r>
              <a:rPr lang="en-US" sz="2000" b="1" dirty="0" err="1"/>
              <a:t>Apostila</a:t>
            </a:r>
            <a:r>
              <a:rPr lang="en-US" sz="2000" b="1" dirty="0"/>
              <a:t> de </a:t>
            </a:r>
            <a:r>
              <a:rPr lang="en-US" sz="2000" b="1" dirty="0" err="1"/>
              <a:t>Computação</a:t>
            </a:r>
            <a:r>
              <a:rPr lang="en-US" sz="2000" b="1" dirty="0"/>
              <a:t> </a:t>
            </a:r>
            <a:r>
              <a:rPr lang="en-US" sz="2000" b="1" dirty="0" err="1"/>
              <a:t>Gráfica</a:t>
            </a:r>
            <a:r>
              <a:rPr lang="en-US" sz="2000" b="1" dirty="0"/>
              <a:t>, </a:t>
            </a:r>
            <a:r>
              <a:rPr lang="en-US" sz="2000" dirty="0" err="1"/>
              <a:t>Universidade</a:t>
            </a:r>
            <a:r>
              <a:rPr lang="en-US" sz="2000" dirty="0"/>
              <a:t> de São Paulo – USP – </a:t>
            </a:r>
            <a:r>
              <a:rPr lang="en-US" sz="2000" dirty="0" err="1"/>
              <a:t>Março</a:t>
            </a:r>
            <a:r>
              <a:rPr lang="en-US" sz="2000" dirty="0"/>
              <a:t> de 2004.</a:t>
            </a:r>
            <a:endParaRPr lang="pt-BR" sz="2000" dirty="0"/>
          </a:p>
          <a:p>
            <a:pPr eaLnBrk="1" hangingPunct="1"/>
            <a:endParaRPr lang="en-US" sz="2000" dirty="0">
              <a:cs typeface="Times New Roman" pitchFamily="18" charset="0"/>
            </a:endParaRPr>
          </a:p>
          <a:p>
            <a:pPr eaLnBrk="1" hangingPunct="1"/>
            <a:endParaRPr lang="en-US" sz="2000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 eaLnBrk="1" hangingPunct="1">
              <a:buNone/>
            </a:pPr>
            <a:endParaRPr lang="en-US" sz="2000" dirty="0">
              <a:solidFill>
                <a:srgbClr val="00000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pt-BR" sz="20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amadas">
  <a:themeElements>
    <a:clrScheme name="Camadas 13">
      <a:dk1>
        <a:srgbClr val="000000"/>
      </a:dk1>
      <a:lt1>
        <a:srgbClr val="FFFFFF"/>
      </a:lt1>
      <a:dk2>
        <a:srgbClr val="000000"/>
      </a:dk2>
      <a:lt2>
        <a:srgbClr val="891411"/>
      </a:lt2>
      <a:accent1>
        <a:srgbClr val="94141A"/>
      </a:accent1>
      <a:accent2>
        <a:srgbClr val="CC9900"/>
      </a:accent2>
      <a:accent3>
        <a:srgbClr val="FFFFFF"/>
      </a:accent3>
      <a:accent4>
        <a:srgbClr val="000000"/>
      </a:accent4>
      <a:accent5>
        <a:srgbClr val="C8AAAB"/>
      </a:accent5>
      <a:accent6>
        <a:srgbClr val="B98A00"/>
      </a:accent6>
      <a:hlink>
        <a:srgbClr val="5A84D8"/>
      </a:hlink>
      <a:folHlink>
        <a:srgbClr val="ADA9AB"/>
      </a:folHlink>
    </a:clrScheme>
    <a:fontScheme name="Camadas">
      <a:majorFont>
        <a:latin typeface="Arial"/>
        <a:ea typeface="Times New Roman"/>
        <a:cs typeface="Arial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amada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1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94141A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8AAAB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2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94141A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8AAAB"/>
        </a:accent5>
        <a:accent6>
          <a:srgbClr val="B98A00"/>
        </a:accent6>
        <a:hlink>
          <a:srgbClr val="5A84D8"/>
        </a:hlink>
        <a:folHlink>
          <a:srgbClr val="EB6B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3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94141A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C8AAAB"/>
        </a:accent5>
        <a:accent6>
          <a:srgbClr val="B98A00"/>
        </a:accent6>
        <a:hlink>
          <a:srgbClr val="5A84D8"/>
        </a:hlink>
        <a:folHlink>
          <a:srgbClr val="ADA9A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Camadas</Template>
  <TotalTime>2442</TotalTime>
  <Words>1220</Words>
  <Application>Microsoft Office PowerPoint</Application>
  <PresentationFormat>Apresentação na tela (4:3)</PresentationFormat>
  <Paragraphs>195</Paragraphs>
  <Slides>18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6" baseType="lpstr">
      <vt:lpstr>Arial</vt:lpstr>
      <vt:lpstr>Tahoma</vt:lpstr>
      <vt:lpstr>Times New Roman</vt:lpstr>
      <vt:lpstr>Wingdings</vt:lpstr>
      <vt:lpstr>명조</vt:lpstr>
      <vt:lpstr>신명조</vt:lpstr>
      <vt:lpstr>Camadas</vt:lpstr>
      <vt:lpstr>Equation</vt:lpstr>
      <vt:lpstr>Conversão Matricial da Circunferência</vt:lpstr>
      <vt:lpstr>Circunferência</vt:lpstr>
      <vt:lpstr>Simetria de Ordem 8</vt:lpstr>
      <vt:lpstr>Simetria de Ordem 8</vt:lpstr>
      <vt:lpstr>Traçados de Círculos</vt:lpstr>
      <vt:lpstr>Traçados de Círculos</vt:lpstr>
      <vt:lpstr>Método polinomial</vt:lpstr>
      <vt:lpstr>Traçados de Círculos</vt:lpstr>
      <vt:lpstr>Método trigonométrico</vt:lpstr>
      <vt:lpstr>Algoritmo  do   ponto    médio    para conversão da circunferência </vt:lpstr>
      <vt:lpstr>Conversão Matricial da Circunferência</vt:lpstr>
      <vt:lpstr>Conversão Matricial da Circunferência</vt:lpstr>
      <vt:lpstr>Gerando a Variável de Decisão</vt:lpstr>
      <vt:lpstr>Conversão Matricial da Circunferência</vt:lpstr>
      <vt:lpstr>Conversão por Varredura da Circunferência</vt:lpstr>
      <vt:lpstr>Conversão por Varredura da Circunferência</vt:lpstr>
      <vt:lpstr>EXEMPLO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Staner</dc:creator>
  <cp:lastModifiedBy>robson sousa</cp:lastModifiedBy>
  <cp:revision>152</cp:revision>
  <dcterms:created xsi:type="dcterms:W3CDTF">2002-08-14T13:51:42Z</dcterms:created>
  <dcterms:modified xsi:type="dcterms:W3CDTF">2021-12-14T23:09:40Z</dcterms:modified>
</cp:coreProperties>
</file>